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7" r:id="rId1"/>
  </p:sldMasterIdLst>
  <p:notesMasterIdLst>
    <p:notesMasterId r:id="rId41"/>
  </p:notesMasterIdLst>
  <p:handoutMasterIdLst>
    <p:handoutMasterId r:id="rId42"/>
  </p:handoutMasterIdLst>
  <p:sldIdLst>
    <p:sldId id="258" r:id="rId2"/>
    <p:sldId id="337" r:id="rId3"/>
    <p:sldId id="338" r:id="rId4"/>
    <p:sldId id="339" r:id="rId5"/>
    <p:sldId id="340" r:id="rId6"/>
    <p:sldId id="341" r:id="rId7"/>
    <p:sldId id="342" r:id="rId8"/>
    <p:sldId id="343" r:id="rId9"/>
    <p:sldId id="344" r:id="rId10"/>
    <p:sldId id="345" r:id="rId11"/>
    <p:sldId id="353" r:id="rId12"/>
    <p:sldId id="346" r:id="rId13"/>
    <p:sldId id="354" r:id="rId14"/>
    <p:sldId id="355" r:id="rId15"/>
    <p:sldId id="356" r:id="rId16"/>
    <p:sldId id="357" r:id="rId17"/>
    <p:sldId id="393" r:id="rId18"/>
    <p:sldId id="347" r:id="rId19"/>
    <p:sldId id="348" r:id="rId20"/>
    <p:sldId id="394" r:id="rId21"/>
    <p:sldId id="349" r:id="rId22"/>
    <p:sldId id="350" r:id="rId23"/>
    <p:sldId id="351" r:id="rId24"/>
    <p:sldId id="352" r:id="rId25"/>
    <p:sldId id="358" r:id="rId26"/>
    <p:sldId id="359" r:id="rId27"/>
    <p:sldId id="360" r:id="rId28"/>
    <p:sldId id="361" r:id="rId29"/>
    <p:sldId id="362" r:id="rId30"/>
    <p:sldId id="363" r:id="rId31"/>
    <p:sldId id="364" r:id="rId32"/>
    <p:sldId id="365" r:id="rId33"/>
    <p:sldId id="396" r:id="rId34"/>
    <p:sldId id="395" r:id="rId35"/>
    <p:sldId id="397" r:id="rId36"/>
    <p:sldId id="366" r:id="rId37"/>
    <p:sldId id="367" r:id="rId38"/>
    <p:sldId id="368" r:id="rId39"/>
    <p:sldId id="369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5D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CE0387-D903-4636-9E29-545B52481EA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18E387-1A03-4E36-A8E1-52AE74CE66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6044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C81AB1-E714-4487-974F-AC7515280523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0C4CD-F19C-4C17-BDAC-31C4C8B7A6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650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4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F728790C-C52E-446B-8E14-F8AF40282E12}" type="slidenum">
              <a:rPr lang="en-GB"/>
              <a:pPr/>
              <a:t>1</a:t>
            </a:fld>
            <a:endParaRPr lang="en-GB"/>
          </a:p>
        </p:txBody>
      </p:sp>
      <p:sp>
        <p:nvSpPr>
          <p:cNvPr id="66561" name="Text Box 1"/>
          <p:cNvSpPr txBox="1">
            <a:spLocks noChangeArrowheads="1"/>
          </p:cNvSpPr>
          <p:nvPr/>
        </p:nvSpPr>
        <p:spPr bwMode="auto">
          <a:xfrm>
            <a:off x="1566863" y="525463"/>
            <a:ext cx="6164262" cy="263048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56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1239838" y="3330575"/>
            <a:ext cx="6781800" cy="31464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8829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C7DDA047-C8BA-400F-8178-0E396803A340}" type="slidenum">
              <a:rPr lang="en-US">
                <a:latin typeface="Calibri" panose="020F0502020204030204" pitchFamily="34" charset="0"/>
              </a:rPr>
              <a:pPr/>
              <a:t>2</a:t>
            </a:fld>
            <a:endParaRPr 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16476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C7DDA047-C8BA-400F-8178-0E396803A340}" type="slidenum">
              <a:rPr lang="en-US">
                <a:latin typeface="Calibri" panose="020F0502020204030204" pitchFamily="34" charset="0"/>
              </a:rPr>
              <a:pPr/>
              <a:t>3</a:t>
            </a:fld>
            <a:endParaRPr 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54066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C7DDA047-C8BA-400F-8178-0E396803A340}" type="slidenum">
              <a:rPr lang="en-US">
                <a:latin typeface="Calibri" panose="020F0502020204030204" pitchFamily="34" charset="0"/>
              </a:rPr>
              <a:pPr/>
              <a:t>4</a:t>
            </a:fld>
            <a:endParaRPr 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33005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C7DDA047-C8BA-400F-8178-0E396803A340}" type="slidenum">
              <a:rPr lang="en-US">
                <a:latin typeface="Calibri" panose="020F0502020204030204" pitchFamily="34" charset="0"/>
              </a:rPr>
              <a:pPr/>
              <a:t>5</a:t>
            </a:fld>
            <a:endParaRPr 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87210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C7DDA047-C8BA-400F-8178-0E396803A340}" type="slidenum">
              <a:rPr lang="en-US">
                <a:latin typeface="Calibri" panose="020F0502020204030204" pitchFamily="34" charset="0"/>
              </a:rPr>
              <a:pPr/>
              <a:t>6</a:t>
            </a:fld>
            <a:endParaRPr 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6079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C7DDA047-C8BA-400F-8178-0E396803A340}" type="slidenum">
              <a:rPr lang="en-US">
                <a:latin typeface="Calibri" panose="020F0502020204030204" pitchFamily="34" charset="0"/>
              </a:rPr>
              <a:pPr/>
              <a:t>7</a:t>
            </a:fld>
            <a:endParaRPr 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35865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C7DDA047-C8BA-400F-8178-0E396803A340}" type="slidenum">
              <a:rPr lang="en-US">
                <a:latin typeface="Calibri" panose="020F0502020204030204" pitchFamily="34" charset="0"/>
              </a:rPr>
              <a:pPr/>
              <a:t>8</a:t>
            </a:fld>
            <a:endParaRPr 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03379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C7DDA047-C8BA-400F-8178-0E396803A340}" type="slidenum">
              <a:rPr lang="en-US">
                <a:latin typeface="Calibri" panose="020F0502020204030204" pitchFamily="34" charset="0"/>
              </a:rPr>
              <a:pPr/>
              <a:t>9</a:t>
            </a:fld>
            <a:endParaRPr 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71301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C7DDA047-C8BA-400F-8178-0E396803A340}" type="slidenum">
              <a:rPr lang="en-US">
                <a:latin typeface="Calibri" panose="020F0502020204030204" pitchFamily="34" charset="0"/>
              </a:rPr>
              <a:pPr/>
              <a:t>10</a:t>
            </a:fld>
            <a:endParaRPr 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74943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C7DDA047-C8BA-400F-8178-0E396803A340}" type="slidenum">
              <a:rPr lang="en-US">
                <a:latin typeface="Calibri" panose="020F0502020204030204" pitchFamily="34" charset="0"/>
              </a:rPr>
              <a:pPr/>
              <a:t>11</a:t>
            </a:fld>
            <a:endParaRPr 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06849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C7DDA047-C8BA-400F-8178-0E396803A340}" type="slidenum">
              <a:rPr lang="en-US">
                <a:latin typeface="Calibri" panose="020F0502020204030204" pitchFamily="34" charset="0"/>
              </a:rPr>
              <a:pPr/>
              <a:t>12</a:t>
            </a:fld>
            <a:endParaRPr 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11209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C7DDA047-C8BA-400F-8178-0E396803A340}" type="slidenum">
              <a:rPr lang="en-US">
                <a:latin typeface="Calibri" panose="020F0502020204030204" pitchFamily="34" charset="0"/>
              </a:rPr>
              <a:pPr/>
              <a:t>13</a:t>
            </a:fld>
            <a:endParaRPr 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83695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C7DDA047-C8BA-400F-8178-0E396803A340}" type="slidenum">
              <a:rPr lang="en-US">
                <a:latin typeface="Calibri" panose="020F0502020204030204" pitchFamily="34" charset="0"/>
              </a:rPr>
              <a:pPr/>
              <a:t>14</a:t>
            </a:fld>
            <a:endParaRPr 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20892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C7DDA047-C8BA-400F-8178-0E396803A340}" type="slidenum">
              <a:rPr lang="en-US">
                <a:latin typeface="Calibri" panose="020F0502020204030204" pitchFamily="34" charset="0"/>
              </a:rPr>
              <a:pPr/>
              <a:t>15</a:t>
            </a:fld>
            <a:endParaRPr 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41603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C7DDA047-C8BA-400F-8178-0E396803A340}" type="slidenum">
              <a:rPr lang="en-US">
                <a:latin typeface="Calibri" panose="020F0502020204030204" pitchFamily="34" charset="0"/>
              </a:rPr>
              <a:pPr/>
              <a:t>16</a:t>
            </a:fld>
            <a:endParaRPr 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94079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C7DDA047-C8BA-400F-8178-0E396803A340}" type="slidenum">
              <a:rPr lang="en-US">
                <a:latin typeface="Calibri" panose="020F0502020204030204" pitchFamily="34" charset="0"/>
              </a:rPr>
              <a:pPr/>
              <a:t>18</a:t>
            </a:fld>
            <a:endParaRPr 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76471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C7DDA047-C8BA-400F-8178-0E396803A340}" type="slidenum">
              <a:rPr lang="en-US">
                <a:latin typeface="Calibri" panose="020F0502020204030204" pitchFamily="34" charset="0"/>
              </a:rPr>
              <a:pPr/>
              <a:t>19</a:t>
            </a:fld>
            <a:endParaRPr 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99127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C7DDA047-C8BA-400F-8178-0E396803A340}" type="slidenum">
              <a:rPr lang="en-US">
                <a:latin typeface="Calibri" panose="020F0502020204030204" pitchFamily="34" charset="0"/>
              </a:rPr>
              <a:pPr/>
              <a:t>21</a:t>
            </a:fld>
            <a:endParaRPr 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916004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C7DDA047-C8BA-400F-8178-0E396803A340}" type="slidenum">
              <a:rPr lang="en-US">
                <a:latin typeface="Calibri" panose="020F0502020204030204" pitchFamily="34" charset="0"/>
              </a:rPr>
              <a:pPr/>
              <a:t>22</a:t>
            </a:fld>
            <a:endParaRPr 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4243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C7DDA047-C8BA-400F-8178-0E396803A340}" type="slidenum">
              <a:rPr lang="en-US">
                <a:latin typeface="Calibri" panose="020F0502020204030204" pitchFamily="34" charset="0"/>
              </a:rPr>
              <a:pPr/>
              <a:t>23</a:t>
            </a:fld>
            <a:endParaRPr 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703961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C7DDA047-C8BA-400F-8178-0E396803A340}" type="slidenum">
              <a:rPr lang="en-US">
                <a:latin typeface="Calibri" panose="020F0502020204030204" pitchFamily="34" charset="0"/>
              </a:rPr>
              <a:pPr/>
              <a:t>24</a:t>
            </a:fld>
            <a:endParaRPr 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320006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C7DDA047-C8BA-400F-8178-0E396803A340}" type="slidenum">
              <a:rPr lang="en-US">
                <a:latin typeface="Calibri" panose="020F0502020204030204" pitchFamily="34" charset="0"/>
              </a:rPr>
              <a:pPr/>
              <a:t>25</a:t>
            </a:fld>
            <a:endParaRPr 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732876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C7DDA047-C8BA-400F-8178-0E396803A340}" type="slidenum">
              <a:rPr lang="en-US">
                <a:latin typeface="Calibri" panose="020F0502020204030204" pitchFamily="34" charset="0"/>
              </a:rPr>
              <a:pPr/>
              <a:t>26</a:t>
            </a:fld>
            <a:endParaRPr 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629096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C7DDA047-C8BA-400F-8178-0E396803A340}" type="slidenum">
              <a:rPr lang="en-US">
                <a:latin typeface="Calibri" panose="020F0502020204030204" pitchFamily="34" charset="0"/>
              </a:rPr>
              <a:pPr/>
              <a:t>27</a:t>
            </a:fld>
            <a:endParaRPr 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514834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C7DDA047-C8BA-400F-8178-0E396803A340}" type="slidenum">
              <a:rPr lang="en-US">
                <a:latin typeface="Calibri" panose="020F0502020204030204" pitchFamily="34" charset="0"/>
              </a:rPr>
              <a:pPr/>
              <a:t>28</a:t>
            </a:fld>
            <a:endParaRPr 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774756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C7DDA047-C8BA-400F-8178-0E396803A340}" type="slidenum">
              <a:rPr lang="en-US">
                <a:latin typeface="Calibri" panose="020F0502020204030204" pitchFamily="34" charset="0"/>
              </a:rPr>
              <a:pPr/>
              <a:t>29</a:t>
            </a:fld>
            <a:endParaRPr 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31039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C7DDA047-C8BA-400F-8178-0E396803A340}" type="slidenum">
              <a:rPr lang="en-US">
                <a:latin typeface="Calibri" panose="020F0502020204030204" pitchFamily="34" charset="0"/>
              </a:rPr>
              <a:pPr/>
              <a:t>30</a:t>
            </a:fld>
            <a:endParaRPr 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879171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C7DDA047-C8BA-400F-8178-0E396803A340}" type="slidenum">
              <a:rPr lang="en-US">
                <a:latin typeface="Calibri" panose="020F0502020204030204" pitchFamily="34" charset="0"/>
              </a:rPr>
              <a:pPr/>
              <a:t>31</a:t>
            </a:fld>
            <a:endParaRPr 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296250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C7DDA047-C8BA-400F-8178-0E396803A340}" type="slidenum">
              <a:rPr lang="en-US">
                <a:latin typeface="Calibri" panose="020F0502020204030204" pitchFamily="34" charset="0"/>
              </a:rPr>
              <a:pPr/>
              <a:t>32</a:t>
            </a:fld>
            <a:endParaRPr 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848555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C7DDA047-C8BA-400F-8178-0E396803A340}" type="slidenum">
              <a:rPr lang="en-US">
                <a:latin typeface="Calibri" panose="020F0502020204030204" pitchFamily="34" charset="0"/>
              </a:rPr>
              <a:pPr/>
              <a:t>36</a:t>
            </a:fld>
            <a:endParaRPr 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791879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C7DDA047-C8BA-400F-8178-0E396803A340}" type="slidenum">
              <a:rPr lang="en-US">
                <a:latin typeface="Calibri" panose="020F0502020204030204" pitchFamily="34" charset="0"/>
              </a:rPr>
              <a:pPr/>
              <a:t>37</a:t>
            </a:fld>
            <a:endParaRPr 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521161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C7DDA047-C8BA-400F-8178-0E396803A340}" type="slidenum">
              <a:rPr lang="en-US">
                <a:latin typeface="Calibri" panose="020F0502020204030204" pitchFamily="34" charset="0"/>
              </a:rPr>
              <a:pPr/>
              <a:t>38</a:t>
            </a:fld>
            <a:endParaRPr 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094528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C7DDA047-C8BA-400F-8178-0E396803A340}" type="slidenum">
              <a:rPr lang="en-US">
                <a:latin typeface="Calibri" panose="020F0502020204030204" pitchFamily="34" charset="0"/>
              </a:rPr>
              <a:pPr/>
              <a:t>39</a:t>
            </a:fld>
            <a:endParaRPr 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41056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041400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541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029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6226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900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418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274638"/>
            <a:ext cx="10515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0" y="2193925"/>
            <a:ext cx="5156200" cy="3978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3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3" y="2193925"/>
            <a:ext cx="5157787" cy="3978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469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53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836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007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4689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409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704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522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w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gif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gif"/><Relationship Id="rId3" Type="http://schemas.openxmlformats.org/officeDocument/2006/relationships/image" Target="../media/image6.png"/><Relationship Id="rId7" Type="http://schemas.openxmlformats.org/officeDocument/2006/relationships/image" Target="../media/image5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gi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g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gif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gif"/><Relationship Id="rId4" Type="http://schemas.openxmlformats.org/officeDocument/2006/relationships/image" Target="../media/image5.gi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gif"/><Relationship Id="rId4" Type="http://schemas.openxmlformats.org/officeDocument/2006/relationships/image" Target="../media/image5.gi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gi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gif"/><Relationship Id="rId4" Type="http://schemas.openxmlformats.org/officeDocument/2006/relationships/image" Target="../media/image5.gi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gif"/><Relationship Id="rId4" Type="http://schemas.openxmlformats.org/officeDocument/2006/relationships/image" Target="../media/image5.gi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gif"/><Relationship Id="rId4" Type="http://schemas.openxmlformats.org/officeDocument/2006/relationships/image" Target="../media/image5.gi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gif"/><Relationship Id="rId4" Type="http://schemas.openxmlformats.org/officeDocument/2006/relationships/image" Target="../media/image20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2.bin"/><Relationship Id="rId7" Type="http://schemas.openxmlformats.org/officeDocument/2006/relationships/image" Target="../media/image23.png"/><Relationship Id="rId12" Type="http://schemas.openxmlformats.org/officeDocument/2006/relationships/image" Target="../media/image5.gi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wmf"/><Relationship Id="rId11" Type="http://schemas.openxmlformats.org/officeDocument/2006/relationships/image" Target="../media/image25.wmf"/><Relationship Id="rId5" Type="http://schemas.openxmlformats.org/officeDocument/2006/relationships/oleObject" Target="../embeddings/oleObject3.bin"/><Relationship Id="rId10" Type="http://schemas.openxmlformats.org/officeDocument/2006/relationships/oleObject" Target="../embeddings/oleObject5.bin"/><Relationship Id="rId4" Type="http://schemas.openxmlformats.org/officeDocument/2006/relationships/image" Target="../media/image21.wmf"/><Relationship Id="rId9" Type="http://schemas.openxmlformats.org/officeDocument/2006/relationships/image" Target="../media/image24.wmf"/><Relationship Id="rId14" Type="http://schemas.openxmlformats.org/officeDocument/2006/relationships/image" Target="../media/image26.w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gi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gi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gif"/><Relationship Id="rId5" Type="http://schemas.openxmlformats.org/officeDocument/2006/relationships/image" Target="../media/image31.wmf"/><Relationship Id="rId4" Type="http://schemas.openxmlformats.org/officeDocument/2006/relationships/oleObject" Target="../embeddings/oleObject7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gi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gi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gi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gi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gif"/><Relationship Id="rId3" Type="http://schemas.openxmlformats.org/officeDocument/2006/relationships/image" Target="../media/image30.jpeg"/><Relationship Id="rId7" Type="http://schemas.openxmlformats.org/officeDocument/2006/relationships/image" Target="../media/image33.w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32.wmf"/><Relationship Id="rId4" Type="http://schemas.openxmlformats.org/officeDocument/2006/relationships/oleObject" Target="../embeddings/oleObject8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18000" t="30000" r="20000" b="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54287-FD5A-47B2-81BA-3B67C59D4BF9}" type="slidenum">
              <a:rPr lang="en-GB"/>
              <a:pPr/>
              <a:t>1</a:t>
            </a:fld>
            <a:endParaRPr lang="en-GB"/>
          </a:p>
        </p:txBody>
      </p:sp>
      <p:sp>
        <p:nvSpPr>
          <p:cNvPr id="6149" name="Text Box 5"/>
          <p:cNvSpPr txBox="1">
            <a:spLocks noChangeArrowheads="1"/>
          </p:cNvSpPr>
          <p:nvPr/>
        </p:nvSpPr>
        <p:spPr bwMode="auto">
          <a:xfrm>
            <a:off x="4038600" y="381000"/>
            <a:ext cx="39624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6150" name="Text Box 6"/>
          <p:cNvSpPr txBox="1">
            <a:spLocks noChangeArrowheads="1"/>
          </p:cNvSpPr>
          <p:nvPr/>
        </p:nvSpPr>
        <p:spPr bwMode="auto">
          <a:xfrm>
            <a:off x="2971800" y="304800"/>
            <a:ext cx="60960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defTabSz="449263"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defTabSz="449263"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defTabSz="449263"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defTabSz="449263"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70000"/>
              </a:lnSpc>
              <a:spcBef>
                <a:spcPts val="700"/>
              </a:spcBef>
              <a:buClr>
                <a:srgbClr val="3333CC"/>
              </a:buClr>
            </a:pPr>
            <a:r>
              <a:rPr lang="en-GB" sz="3600" dirty="0">
                <a:latin typeface="Tahoma" panose="020B0604030504040204" pitchFamily="34" charset="0"/>
              </a:rPr>
              <a:t>            </a:t>
            </a:r>
            <a:endParaRPr lang="en-GB" sz="3200" dirty="0">
              <a:solidFill>
                <a:srgbClr val="FF00FF"/>
              </a:solidFill>
              <a:latin typeface="Monotype Corsiva" panose="03010101010201010101" pitchFamily="66" charset="0"/>
            </a:endParaRPr>
          </a:p>
        </p:txBody>
      </p:sp>
      <p:pic>
        <p:nvPicPr>
          <p:cNvPr id="12" name="Picture 11" descr="MCAN04187_0000[1]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55774" y="4746630"/>
            <a:ext cx="1403350" cy="695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9" descr="MCAN04187_0000[1]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00423" y="2984500"/>
            <a:ext cx="1403350" cy="695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4" name="Picture 9" descr="MCAN04187_0000[1]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23974" y="1652588"/>
            <a:ext cx="1403350" cy="695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6" name="标题 1"/>
          <p:cNvSpPr txBox="1">
            <a:spLocks/>
          </p:cNvSpPr>
          <p:nvPr/>
        </p:nvSpPr>
        <p:spPr>
          <a:xfrm>
            <a:off x="0" y="-3175"/>
            <a:ext cx="12192000" cy="1655763"/>
          </a:xfrm>
          <a:prstGeom prst="rect">
            <a:avLst/>
          </a:prstGeom>
          <a:solidFill>
            <a:srgbClr val="0070C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Ant Colony Optimization to solve Traveling Salesman Problem</a:t>
            </a:r>
          </a:p>
        </p:txBody>
      </p:sp>
      <p:sp>
        <p:nvSpPr>
          <p:cNvPr id="17" name="灯片编号占位符 3"/>
          <p:cNvSpPr txBox="1">
            <a:spLocks/>
          </p:cNvSpPr>
          <p:nvPr/>
        </p:nvSpPr>
        <p:spPr bwMode="auto">
          <a:xfrm>
            <a:off x="8103323" y="6524625"/>
            <a:ext cx="4116387" cy="196850"/>
          </a:xfrm>
          <a:prstGeom prst="rect">
            <a:avLst/>
          </a:prstGeom>
          <a:solidFill>
            <a:srgbClr val="0070C0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228600" indent="-228600" algn="r" defTabSz="4572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514600" indent="-228600" algn="l" defTabSz="457200" rtl="0" eaLnBrk="0" fontAlgn="base" latinLnBrk="0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2971800" indent="-228600" algn="l" defTabSz="457200" rtl="0" eaLnBrk="0" fontAlgn="base" latinLnBrk="0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3429000" indent="-228600" algn="l" defTabSz="457200" rtl="0" eaLnBrk="0" fontAlgn="base" latinLnBrk="0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3886200" indent="-228600" algn="l" defTabSz="457200" rtl="0" eaLnBrk="0" fontAlgn="base" latinLnBrk="0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Md. Forhad Hossain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21150" y="6524625"/>
            <a:ext cx="3954463" cy="196850"/>
          </a:xfrm>
          <a:solidFill>
            <a:schemeClr val="accent1">
              <a:lumMod val="75000"/>
            </a:schemeClr>
          </a:solidFill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B. M. Junaed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日期占位符 5"/>
          <p:cNvSpPr>
            <a:spLocks noGrp="1"/>
          </p:cNvSpPr>
          <p:nvPr>
            <p:ph type="dt" sz="quarter" idx="10"/>
          </p:nvPr>
        </p:nvSpPr>
        <p:spPr bwMode="auto">
          <a:xfrm>
            <a:off x="0" y="6524625"/>
            <a:ext cx="4121150" cy="196850"/>
          </a:xfrm>
          <a:solidFill>
            <a:schemeClr val="accent1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 A. H. Akhand	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0488514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8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3.33333E-6 L -0.20768 0.07754 C -0.12812 0.05092 -0.57812 0.19328 -0.49883 0.16597 C -0.49362 0.19977 -0.60377 0.09652 -0.5987 0.12963 C -0.59323 0.09652 -0.69817 0.10486 -0.69349 0.07361 C -0.68828 0.10486 -0.81718 0.01088 -0.81302 0.04421 C -0.80742 0.01088 -0.86211 0.15555 -0.85625 0.12245 C -0.85052 0.15555 -0.89284 0.21365 -0.88698 0.24652 C -0.88099 0.21365 -0.95429 0.41689 -0.9487 0.38426 C -0.94284 0.41689 -1.00299 0.51666 -0.99739 0.54861 C -0.99153 0.51666 -0.90729 0.56967 -0.90143 0.5375 C -0.89622 0.56967 -0.79127 0.54421 -0.78607 0.57662 C -0.78099 0.54421 -0.69218 0.59953 -0.68672 0.56759 C -0.68099 0.59953 -0.56146 0.56481 -0.55651 0.5949 C -0.55169 0.56481 -0.46198 0.62014 -0.45612 0.58889 C -0.45273 0.62014 -0.48164 0.35046 -0.47825 0.38217 C -0.47187 0.35046 -0.49362 0.19213 -0.48724 0.16088 " pathEditMode="relative" rAng="0" ptsTypes="AAAAAAAAAAAAAAAAA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9896" y="29931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4.07407E-6 L -0.07969 0.03333 L -0.15156 0.425 L -0.72813 0.41944 L -1.06094 0.38056 L -1.0125 0.06921 L -0.95469 -0.08611 L -0.91094 -0.21111 L -0.86094 -0.33333 L -0.81875 -0.44167 L -0.70013 -0.37778 L -0.58594 -0.33056 L -0.48281 -0.28611 L -0.48125 -0.13056 L -0.46719 0.03866 L -0.4625 0.15833 L -0.63906 0.12477 L -0.76563 0.11389 L -0.9125 0.09699 L -1.01875 0.07778 " pathEditMode="relative" ptsTypes="AAAAAAAAAAAAAAAAAAAA">
                                      <p:cBhvr>
                                        <p:cTn id="8" dur="1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2.59259E-6 L -0.325 0.16111 L -0.34219 0.4 L -0.60313 0.40278 L -0.61563 0.23056 L -0.62656 0.06667 L -0.6375 -0.03055 L -0.76875 -0.09166 L -0.88594 -0.14166 L -0.97031 -0.18889 L -1.04844 0.03889 L -1.125 0.23611 L -1.16094 0.34167 L -1.05938 0.34445 L -0.94063 0.35834 L -0.81094 0.37778 L -0.69063 0.38889 L -0.60156 0.40556 " pathEditMode="relative" ptsTypes="AAAAAAAAAAAAAAAAAA">
                                      <p:cBhvr>
                                        <p:cTn id="10" dur="1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28688"/>
            <a:ext cx="10515600" cy="5595937"/>
          </a:xfrm>
        </p:spPr>
        <p:txBody>
          <a:bodyPr rtlCol="0">
            <a:normAutofit lnSpcReduction="10000"/>
          </a:bodyPr>
          <a:lstStyle/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Here, We are going to discuss about the following things</a:t>
            </a:r>
          </a:p>
          <a:p>
            <a:pPr marL="514350" indent="-514350"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History of Ant Colony Optimization (ACO)</a:t>
            </a:r>
          </a:p>
          <a:p>
            <a:pPr marL="514350" indent="-514350">
              <a:buFont typeface="Arial" panose="020B0604020202020204" pitchFamily="34" charset="0"/>
              <a:buAutoNum type="arabicPeriod"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Ant’s Behavior</a:t>
            </a:r>
          </a:p>
          <a:p>
            <a:pPr marL="514350" indent="-514350"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Concept of Ant System</a:t>
            </a:r>
          </a:p>
          <a:p>
            <a:pPr marL="514350" indent="-514350">
              <a:buFont typeface="Arial" panose="020B0604020202020204" pitchFamily="34" charset="0"/>
              <a:buAutoNum type="arabicPeriod"/>
              <a:defRPr/>
            </a:pPr>
            <a:r>
              <a:rPr lang="en-US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ACO System Concept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Pheromone Update Formula</a:t>
            </a:r>
          </a:p>
          <a:p>
            <a:pPr marL="514350" indent="-514350"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 Colony Optimization Algorithm</a:t>
            </a:r>
          </a:p>
          <a:p>
            <a:pPr marL="514350" indent="-514350"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Ant Colony Optimization Algorithm to solve Traveling Salesman Problem</a:t>
            </a:r>
          </a:p>
          <a:p>
            <a:pPr marL="514350" indent="-514350"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of a Simple AS to solve TSP</a:t>
            </a:r>
          </a:p>
          <a:p>
            <a:pPr marL="514350" indent="-514350"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of ACO</a:t>
            </a:r>
          </a:p>
          <a:p>
            <a:pPr marL="514350" indent="-514350"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 and Disadvantages</a:t>
            </a:r>
          </a:p>
          <a:p>
            <a:pPr marL="514350" indent="-514350"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3" name="标题 1"/>
          <p:cNvSpPr>
            <a:spLocks noGrp="1"/>
          </p:cNvSpPr>
          <p:nvPr>
            <p:ph type="title"/>
          </p:nvPr>
        </p:nvSpPr>
        <p:spPr>
          <a:xfrm>
            <a:off x="0" y="-3175"/>
            <a:ext cx="12192000" cy="808038"/>
          </a:xfrm>
          <a:solidFill>
            <a:srgbClr val="0070C0"/>
          </a:solidFill>
        </p:spPr>
        <p:txBody>
          <a:bodyPr/>
          <a:lstStyle/>
          <a:p>
            <a:pPr algn="ctr" eaLnBrk="1" hangingPunct="1"/>
            <a:r>
              <a:rPr lang="en-US" sz="4000" b="1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We are going to discuss….</a:t>
            </a:r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12"/>
          </p:nvPr>
        </p:nvSpPr>
        <p:spPr bwMode="auto">
          <a:xfrm>
            <a:off x="8075613" y="6524625"/>
            <a:ext cx="4116387" cy="196850"/>
          </a:xfrm>
          <a:solidFill>
            <a:srgbClr val="0070C0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Md. Forhad Hossain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21150" y="6524625"/>
            <a:ext cx="3954463" cy="196850"/>
          </a:xfrm>
          <a:solidFill>
            <a:schemeClr val="accent1">
              <a:lumMod val="75000"/>
            </a:schemeClr>
          </a:solidFill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B. M. Junaed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6" name="日期占位符 5"/>
          <p:cNvSpPr>
            <a:spLocks noGrp="1"/>
          </p:cNvSpPr>
          <p:nvPr>
            <p:ph type="dt" sz="quarter" idx="10"/>
          </p:nvPr>
        </p:nvSpPr>
        <p:spPr bwMode="auto">
          <a:xfrm>
            <a:off x="0" y="6524625"/>
            <a:ext cx="4121150" cy="196850"/>
          </a:xfrm>
          <a:solidFill>
            <a:schemeClr val="accent1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 A. H. Akhand	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3750305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5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5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5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3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6" presetID="5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3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0"/>
                            </p:stCondLst>
                            <p:childTnLst>
                              <p:par>
                                <p:cTn id="42" presetID="5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4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4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6000"/>
                            </p:stCondLst>
                            <p:childTnLst>
                              <p:par>
                                <p:cTn id="48" presetID="5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5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5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7000"/>
                            </p:stCondLst>
                            <p:childTnLst>
                              <p:par>
                                <p:cTn id="54" presetID="5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5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5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8000"/>
                            </p:stCondLst>
                            <p:childTnLst>
                              <p:par>
                                <p:cTn id="60" presetID="5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6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6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28688"/>
            <a:ext cx="10515600" cy="5595937"/>
          </a:xfrm>
        </p:spPr>
        <p:txBody>
          <a:bodyPr rtlCol="0">
            <a:normAutofit/>
          </a:bodyPr>
          <a:lstStyle/>
          <a:p>
            <a:pPr algn="just">
              <a:lnSpc>
                <a:spcPct val="100000"/>
              </a:lnSpc>
              <a:spcBef>
                <a:spcPts val="800"/>
              </a:spcBef>
            </a:pPr>
            <a:r>
              <a:rPr lang="en-US" altLang="zh-TW" dirty="0"/>
              <a:t>The first ACO system was introduced by </a:t>
            </a:r>
            <a:r>
              <a:rPr lang="en-US" altLang="zh-TW" dirty="0">
                <a:solidFill>
                  <a:srgbClr val="FF00FF"/>
                </a:solidFill>
              </a:rPr>
              <a:t>Marco </a:t>
            </a:r>
            <a:r>
              <a:rPr lang="en-US" altLang="zh-TW" dirty="0" err="1">
                <a:solidFill>
                  <a:srgbClr val="FF00FF"/>
                </a:solidFill>
              </a:rPr>
              <a:t>Dorigo</a:t>
            </a:r>
            <a:r>
              <a:rPr lang="en-US" altLang="zh-TW" dirty="0"/>
              <a:t> in his Ph.D. thesis (1992), </a:t>
            </a:r>
          </a:p>
          <a:p>
            <a:pPr algn="just">
              <a:lnSpc>
                <a:spcPct val="100000"/>
              </a:lnSpc>
              <a:spcBef>
                <a:spcPts val="800"/>
              </a:spcBef>
            </a:pPr>
            <a:r>
              <a:rPr lang="en-US" altLang="zh-TW" dirty="0"/>
              <a:t>It was called Ant System (AS). </a:t>
            </a:r>
          </a:p>
          <a:p>
            <a:pPr algn="just">
              <a:lnSpc>
                <a:spcPct val="100000"/>
              </a:lnSpc>
              <a:spcBef>
                <a:spcPts val="800"/>
              </a:spcBef>
            </a:pPr>
            <a:r>
              <a:rPr lang="en-US" altLang="zh-TW" dirty="0"/>
              <a:t>AS was </a:t>
            </a:r>
            <a:r>
              <a:rPr lang="en-US" altLang="zh-TW" dirty="0">
                <a:solidFill>
                  <a:srgbClr val="9900CC"/>
                </a:solidFill>
              </a:rPr>
              <a:t>initially applied to the traveling salesman problem</a:t>
            </a:r>
            <a:r>
              <a:rPr lang="en-US" altLang="zh-TW" dirty="0"/>
              <a:t>. </a:t>
            </a:r>
            <a:endParaRPr lang="en-US" dirty="0"/>
          </a:p>
          <a:p>
            <a:pPr algn="just">
              <a:lnSpc>
                <a:spcPct val="100000"/>
              </a:lnSpc>
              <a:spcBef>
                <a:spcPts val="800"/>
              </a:spcBef>
            </a:pPr>
            <a:r>
              <a:rPr lang="en-US" dirty="0"/>
              <a:t>Applied later to various hard optimization problems</a:t>
            </a:r>
            <a:endParaRPr lang="en-US" altLang="zh-TW" dirty="0"/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3" name="标题 1"/>
          <p:cNvSpPr>
            <a:spLocks noGrp="1"/>
          </p:cNvSpPr>
          <p:nvPr>
            <p:ph type="title"/>
          </p:nvPr>
        </p:nvSpPr>
        <p:spPr>
          <a:xfrm>
            <a:off x="0" y="-3175"/>
            <a:ext cx="12192000" cy="808038"/>
          </a:xfrm>
          <a:solidFill>
            <a:srgbClr val="0070C0"/>
          </a:solidFill>
        </p:spPr>
        <p:txBody>
          <a:bodyPr/>
          <a:lstStyle/>
          <a:p>
            <a:pPr algn="ctr"/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History of Ant Colony Optimization</a:t>
            </a:r>
            <a:endParaRPr lang="en-US" sz="4000" b="1" dirty="0">
              <a:solidFill>
                <a:schemeClr val="bg1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12"/>
          </p:nvPr>
        </p:nvSpPr>
        <p:spPr bwMode="auto">
          <a:xfrm>
            <a:off x="8075613" y="6524625"/>
            <a:ext cx="4116387" cy="196850"/>
          </a:xfrm>
          <a:solidFill>
            <a:srgbClr val="0070C0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Md. Forhad Hossain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21150" y="6524625"/>
            <a:ext cx="3954463" cy="196850"/>
          </a:xfrm>
          <a:solidFill>
            <a:schemeClr val="accent1">
              <a:lumMod val="75000"/>
            </a:schemeClr>
          </a:solidFill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B. M. Junaed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6" name="日期占位符 5"/>
          <p:cNvSpPr>
            <a:spLocks noGrp="1"/>
          </p:cNvSpPr>
          <p:nvPr>
            <p:ph type="dt" sz="quarter" idx="10"/>
          </p:nvPr>
        </p:nvSpPr>
        <p:spPr bwMode="auto">
          <a:xfrm>
            <a:off x="0" y="6524625"/>
            <a:ext cx="4121150" cy="196850"/>
          </a:xfrm>
          <a:solidFill>
            <a:schemeClr val="accent1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 A. H. Akhand	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12" descr="ScreenHunter_0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446464" y="3581400"/>
            <a:ext cx="1735137" cy="236220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8" name="Picture 14" descr="ScreenHunter_01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384926" y="3657600"/>
            <a:ext cx="1768475" cy="220980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9" name="Rectangle 16"/>
          <p:cNvSpPr>
            <a:spLocks noChangeArrowheads="1"/>
          </p:cNvSpPr>
          <p:nvPr/>
        </p:nvSpPr>
        <p:spPr bwMode="auto">
          <a:xfrm>
            <a:off x="3505200" y="5881688"/>
            <a:ext cx="17526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defTabSz="914400"/>
            <a:r>
              <a:rPr lang="en-US" altLang="zh-CN" sz="1800">
                <a:solidFill>
                  <a:schemeClr val="tx2"/>
                </a:solidFill>
                <a:latin typeface="Verdana" panose="020B0604030504040204" pitchFamily="34" charset="0"/>
                <a:ea typeface="SimSun" panose="02010600030101010101" pitchFamily="2" charset="-122"/>
              </a:rPr>
              <a:t>Macro Dorigo</a:t>
            </a:r>
          </a:p>
        </p:txBody>
      </p:sp>
      <p:sp>
        <p:nvSpPr>
          <p:cNvPr id="10" name="Rectangle 17"/>
          <p:cNvSpPr>
            <a:spLocks noChangeArrowheads="1"/>
          </p:cNvSpPr>
          <p:nvPr/>
        </p:nvSpPr>
        <p:spPr bwMode="auto">
          <a:xfrm>
            <a:off x="6400800" y="5881688"/>
            <a:ext cx="17526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defTabSz="914400"/>
            <a:r>
              <a:rPr lang="en-US" altLang="zh-CN" sz="1800">
                <a:solidFill>
                  <a:schemeClr val="tx2"/>
                </a:solidFill>
                <a:latin typeface="Verdana" panose="020B0604030504040204" pitchFamily="34" charset="0"/>
                <a:ea typeface="SimSun" panose="02010600030101010101" pitchFamily="2" charset="-122"/>
              </a:rPr>
              <a:t>Gambardella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30552" y="5791201"/>
            <a:ext cx="932129" cy="63917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55038" y="5938338"/>
            <a:ext cx="932129" cy="639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39891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0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868 0.01111 L 1.11119 0.02199 L 1.10742 0.22315 L -0.02683 0.17338 L -0.02513 -0.00393 L -0.02513 -2.22222E-6 " pathEditMode="relative" rAng="0" ptsTypes="AAAAAA">
                                      <p:cBhvr>
                                        <p:cTn id="18" dur="25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487" y="9838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repeatCount="indefinite" accel="50000" decel="50000" fill="hold" nodeType="withEffect">
                                  <p:stCondLst>
                                    <p:cond delay="110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0.02188 -1.11022E-16 L 1.15052 0.00995 L 1.14661 0.19444 L -0.00977 0.14884 L -0.00807 -0.01389 L -0.00807 -0.01042 " pathEditMode="relative" rAng="0" ptsTypes="AAAAAA">
                                      <p:cBhvr>
                                        <p:cTn id="20" dur="25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620" y="902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28688"/>
            <a:ext cx="10515600" cy="5595937"/>
          </a:xfrm>
        </p:spPr>
        <p:txBody>
          <a:bodyPr rtlCol="0">
            <a:normAutofit/>
          </a:bodyPr>
          <a:lstStyle/>
          <a:p>
            <a:pPr algn="just">
              <a:lnSpc>
                <a:spcPct val="100000"/>
              </a:lnSpc>
              <a:spcBef>
                <a:spcPct val="75000"/>
              </a:spcBef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dirty="0">
                <a:latin typeface="Arial" panose="020B0604020202020204" pitchFamily="34" charset="0"/>
              </a:rPr>
              <a:t>Natural behavior of 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</a:rPr>
              <a:t>ants</a:t>
            </a:r>
            <a:r>
              <a:rPr lang="en-US" dirty="0">
                <a:solidFill>
                  <a:srgbClr val="CC00FF"/>
                </a:solidFill>
                <a:latin typeface="Arial" panose="020B0604020202020204" pitchFamily="34" charset="0"/>
              </a:rPr>
              <a:t> have inspired scientists</a:t>
            </a:r>
            <a:r>
              <a:rPr lang="en-US" dirty="0">
                <a:latin typeface="Arial" panose="020B0604020202020204" pitchFamily="34" charset="0"/>
              </a:rPr>
              <a:t> to mimic insect operational methods to solve real-life complex problems. </a:t>
            </a:r>
          </a:p>
          <a:p>
            <a:pPr algn="just">
              <a:lnSpc>
                <a:spcPct val="100000"/>
              </a:lnSpc>
              <a:spcBef>
                <a:spcPct val="75000"/>
              </a:spcBef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dirty="0">
                <a:latin typeface="Arial" panose="020B0604020202020204" pitchFamily="34" charset="0"/>
              </a:rPr>
              <a:t>By observing ant behavior, </a:t>
            </a:r>
            <a:r>
              <a:rPr lang="en-US" dirty="0">
                <a:solidFill>
                  <a:srgbClr val="9900CC"/>
                </a:solidFill>
                <a:latin typeface="Arial" panose="020B0604020202020204" pitchFamily="34" charset="0"/>
              </a:rPr>
              <a:t>scientists have begun to understand their means of communication. </a:t>
            </a:r>
          </a:p>
          <a:p>
            <a:pPr algn="just">
              <a:lnSpc>
                <a:spcPct val="100000"/>
              </a:lnSpc>
              <a:spcBef>
                <a:spcPct val="75000"/>
              </a:spcBef>
              <a:buClr>
                <a:schemeClr val="tx1"/>
              </a:buClr>
              <a:buFont typeface="Wingdings" panose="05000000000000000000" pitchFamily="2" charset="2"/>
              <a:buChar char="q"/>
            </a:pPr>
            <a:endParaRPr lang="en-US" dirty="0">
              <a:solidFill>
                <a:srgbClr val="9900CC"/>
              </a:solidFill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35000"/>
              </a:spcBef>
            </a:pPr>
            <a:r>
              <a:rPr lang="en-US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Ants </a:t>
            </a:r>
            <a:r>
              <a:rPr lang="en-US" dirty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choose paths</a:t>
            </a:r>
            <a:r>
              <a:rPr lang="en-US" dirty="0">
                <a:solidFill>
                  <a:srgbClr val="CC00FF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FF00FF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depending on pheromone</a:t>
            </a:r>
          </a:p>
          <a:p>
            <a:pPr algn="just">
              <a:lnSpc>
                <a:spcPct val="100000"/>
              </a:lnSpc>
              <a:spcBef>
                <a:spcPct val="35000"/>
              </a:spcBef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After collecting food, paths are marked</a:t>
            </a:r>
            <a:endParaRPr lang="en-US" dirty="0">
              <a:solidFill>
                <a:srgbClr val="9900CC"/>
              </a:solidFill>
              <a:highlight>
                <a:srgbClr val="FFFF00"/>
              </a:highlight>
              <a:latin typeface="Arial" panose="020B0604020202020204" pitchFamily="34" charset="0"/>
            </a:endParaRPr>
          </a:p>
          <a:p>
            <a:pPr algn="just">
              <a:lnSpc>
                <a:spcPct val="100000"/>
              </a:lnSpc>
              <a:spcBef>
                <a:spcPct val="35000"/>
              </a:spcBef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Pheromone</a:t>
            </a:r>
            <a:r>
              <a:rPr lang="en-US" dirty="0">
                <a:highlight>
                  <a:srgbClr val="FFFF00"/>
                </a:highlight>
                <a:latin typeface="Arial" panose="020B0604020202020204" pitchFamily="34" charset="0"/>
              </a:rPr>
              <a:t> accumulation is faster on the </a:t>
            </a:r>
            <a:r>
              <a:rPr lang="en-US" dirty="0">
                <a:solidFill>
                  <a:srgbClr val="9900CC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shorter path</a:t>
            </a:r>
            <a:r>
              <a:rPr lang="en-US" dirty="0">
                <a:highlight>
                  <a:srgbClr val="FFFF00"/>
                </a:highlight>
                <a:latin typeface="Arial" panose="020B0604020202020204" pitchFamily="34" charset="0"/>
              </a:rPr>
              <a:t> </a:t>
            </a:r>
            <a:endParaRPr lang="en-US" dirty="0">
              <a:solidFill>
                <a:srgbClr val="FF0066"/>
              </a:solidFill>
              <a:highlight>
                <a:srgbClr val="FFFF00"/>
              </a:highlight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35000"/>
              </a:spcBef>
            </a:pPr>
            <a:r>
              <a:rPr lang="en-US" dirty="0">
                <a:solidFill>
                  <a:srgbClr val="FF0066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After some time, the shortest path has the highest probability</a:t>
            </a:r>
            <a:endParaRPr lang="en-US" dirty="0">
              <a:highlight>
                <a:srgbClr val="FFFF00"/>
              </a:highlight>
              <a:latin typeface="Arial" panose="020B0604020202020204" pitchFamily="34" charset="0"/>
            </a:endParaRP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3" name="标题 1"/>
          <p:cNvSpPr>
            <a:spLocks noGrp="1"/>
          </p:cNvSpPr>
          <p:nvPr>
            <p:ph type="title"/>
          </p:nvPr>
        </p:nvSpPr>
        <p:spPr>
          <a:xfrm>
            <a:off x="0" y="-3175"/>
            <a:ext cx="12192000" cy="808038"/>
          </a:xfrm>
          <a:solidFill>
            <a:srgbClr val="0070C0"/>
          </a:solidFill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 Ant’s Behavior</a:t>
            </a:r>
            <a:endParaRPr lang="en-GB" sz="4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12"/>
          </p:nvPr>
        </p:nvSpPr>
        <p:spPr bwMode="auto">
          <a:xfrm>
            <a:off x="8075613" y="6524625"/>
            <a:ext cx="4116387" cy="196850"/>
          </a:xfrm>
          <a:solidFill>
            <a:srgbClr val="0070C0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Md. Forhad Hossain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21150" y="6524625"/>
            <a:ext cx="3954463" cy="196850"/>
          </a:xfrm>
          <a:solidFill>
            <a:schemeClr val="accent1">
              <a:lumMod val="75000"/>
            </a:schemeClr>
          </a:solidFill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B. M. Junaed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6" name="日期占位符 5"/>
          <p:cNvSpPr>
            <a:spLocks noGrp="1"/>
          </p:cNvSpPr>
          <p:nvPr>
            <p:ph type="dt" sz="quarter" idx="10"/>
          </p:nvPr>
        </p:nvSpPr>
        <p:spPr bwMode="auto">
          <a:xfrm>
            <a:off x="0" y="6524625"/>
            <a:ext cx="4121150" cy="196850"/>
          </a:xfrm>
          <a:solidFill>
            <a:schemeClr val="accent1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 A. H. Akhand	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30552" y="5791201"/>
            <a:ext cx="932129" cy="63917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55038" y="5938338"/>
            <a:ext cx="932129" cy="639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39778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868 0.01111 L 1.11119 0.02199 L 1.10742 0.22315 L -0.02683 0.17338 L -0.02513 -0.00393 L -0.02513 -2.22222E-6 " pathEditMode="relative" rAng="0" ptsTypes="AAAAAA">
                                      <p:cBhvr>
                                        <p:cTn id="6" dur="25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487" y="983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repeatCount="indefinite" accel="50000" decel="50000" fill="hold" nodeType="withEffect">
                                  <p:stCondLst>
                                    <p:cond delay="110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0.02188 -1.11022E-16 L 1.15052 0.00995 L 1.14661 0.19444 L -0.00977 0.14884 L -0.00807 -0.01389 L -0.00807 -0.01042 " pathEditMode="relative" rAng="0" ptsTypes="AAAAAA">
                                      <p:cBhvr>
                                        <p:cTn id="8" dur="25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620" y="902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28688"/>
            <a:ext cx="10515600" cy="5595937"/>
          </a:xfrm>
        </p:spPr>
        <p:txBody>
          <a:bodyPr rtlCol="0">
            <a:normAutofit/>
          </a:bodyPr>
          <a:lstStyle/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3" name="标题 1"/>
          <p:cNvSpPr>
            <a:spLocks noGrp="1"/>
          </p:cNvSpPr>
          <p:nvPr>
            <p:ph type="title"/>
          </p:nvPr>
        </p:nvSpPr>
        <p:spPr>
          <a:xfrm>
            <a:off x="0" y="-3175"/>
            <a:ext cx="12192000" cy="808038"/>
          </a:xfrm>
          <a:solidFill>
            <a:srgbClr val="0070C0"/>
          </a:solidFill>
        </p:spPr>
        <p:txBody>
          <a:bodyPr/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 Ant’s Behavior</a:t>
            </a:r>
            <a:endParaRPr lang="en-US" sz="4000" b="1" dirty="0">
              <a:solidFill>
                <a:schemeClr val="bg1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12"/>
          </p:nvPr>
        </p:nvSpPr>
        <p:spPr bwMode="auto">
          <a:xfrm>
            <a:off x="8075613" y="6524625"/>
            <a:ext cx="4116387" cy="196850"/>
          </a:xfrm>
          <a:solidFill>
            <a:srgbClr val="0070C0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Md. Forhad Hossain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21150" y="6524625"/>
            <a:ext cx="3954463" cy="196850"/>
          </a:xfrm>
          <a:solidFill>
            <a:schemeClr val="accent1">
              <a:lumMod val="75000"/>
            </a:schemeClr>
          </a:solidFill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B. M. Junaed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6" name="日期占位符 5"/>
          <p:cNvSpPr>
            <a:spLocks noGrp="1"/>
          </p:cNvSpPr>
          <p:nvPr>
            <p:ph type="dt" sz="quarter" idx="10"/>
          </p:nvPr>
        </p:nvSpPr>
        <p:spPr bwMode="auto">
          <a:xfrm>
            <a:off x="0" y="6524625"/>
            <a:ext cx="4121150" cy="196850"/>
          </a:xfrm>
          <a:solidFill>
            <a:schemeClr val="accent1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 A. H. Akhand	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2" descr="Ant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643" y="1513681"/>
            <a:ext cx="4114800" cy="1260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3" descr="Ant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7886" y="1513681"/>
            <a:ext cx="4038600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Ant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9686" y="3952081"/>
            <a:ext cx="4343400" cy="21399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5" descr="Ant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1686" y="3723481"/>
            <a:ext cx="4343400" cy="2362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Group 7"/>
          <p:cNvGrpSpPr>
            <a:grpSpLocks/>
          </p:cNvGrpSpPr>
          <p:nvPr/>
        </p:nvGrpSpPr>
        <p:grpSpPr bwMode="auto">
          <a:xfrm>
            <a:off x="5916386" y="5022056"/>
            <a:ext cx="2209800" cy="914400"/>
            <a:chOff x="2880" y="3456"/>
            <a:chExt cx="1392" cy="576"/>
          </a:xfrm>
        </p:grpSpPr>
        <p:sp>
          <p:nvSpPr>
            <p:cNvPr id="12" name="AutoShape 8"/>
            <p:cNvSpPr>
              <a:spLocks noChangeArrowheads="1"/>
            </p:cNvSpPr>
            <p:nvPr/>
          </p:nvSpPr>
          <p:spPr bwMode="auto">
            <a:xfrm>
              <a:off x="2880" y="3456"/>
              <a:ext cx="1392" cy="576"/>
            </a:xfrm>
            <a:prstGeom prst="irregularSeal2">
              <a:avLst/>
            </a:prstGeom>
            <a:solidFill>
              <a:srgbClr val="FFFF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Rectangle 9"/>
            <p:cNvSpPr>
              <a:spLocks noChangeArrowheads="1"/>
            </p:cNvSpPr>
            <p:nvPr/>
          </p:nvSpPr>
          <p:spPr bwMode="auto">
            <a:xfrm>
              <a:off x="2976" y="3552"/>
              <a:ext cx="129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kumimoji="1" lang="en-US" altLang="zh-TW" sz="2800" b="1" dirty="0">
                  <a:solidFill>
                    <a:srgbClr val="FF0000"/>
                  </a:solidFill>
                  <a:ea typeface="新細明體" panose="02020500000000000000" pitchFamily="18" charset="-120"/>
                </a:rPr>
                <a:t>pheromone</a:t>
              </a:r>
              <a:endParaRPr kumimoji="1" lang="zh-TW" altLang="en-US" sz="2800" b="1" dirty="0">
                <a:solidFill>
                  <a:srgbClr val="FF0000"/>
                </a:solidFill>
                <a:ea typeface="新細明體" panose="02020500000000000000" pitchFamily="18" charset="-120"/>
              </a:endParaRPr>
            </a:p>
          </p:txBody>
        </p:sp>
      </p:grpSp>
      <p:pic>
        <p:nvPicPr>
          <p:cNvPr id="14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30552" y="5791201"/>
            <a:ext cx="932129" cy="63917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55038" y="5938338"/>
            <a:ext cx="932129" cy="639174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19250" y="2817812"/>
            <a:ext cx="15621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88618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868 0.01111 L 1.11119 0.02199 L 1.10742 0.22315 L -0.02683 0.17338 L -0.02513 -0.00393 L -0.02513 -2.22222E-6 " pathEditMode="relative" rAng="0" ptsTypes="AAAAAA">
                                      <p:cBhvr>
                                        <p:cTn id="6" dur="25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487" y="983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repeatCount="indefinite" accel="50000" decel="50000" fill="hold" nodeType="withEffect">
                                  <p:stCondLst>
                                    <p:cond delay="110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0.02188 -1.11022E-16 L 1.15052 0.00995 L 1.14661 0.19444 L -0.00977 0.14884 L -0.00807 -0.01389 L -0.00807 -0.01042 " pathEditMode="relative" rAng="0" ptsTypes="AAAAAA">
                                      <p:cBhvr>
                                        <p:cTn id="8" dur="25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620" y="9028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3.46945E-18 2.96296E-6 L 0.075 -0.16944 L 0.15938 -0.31667 L 0.34063 -0.30556 L 0.69844 -0.33333 L 0.98125 -0.31667 L 0.97344 -0.07778 L 0.82344 -0.01944 L 0.36875 0.00833 L 0.12031 -0.04167 L -0.00313 0.00556 L -0.00625 0.01389 " pathEditMode="relative" ptsTypes="AAAAAAAAAAAA">
                                      <p:cBhvr>
                                        <p:cTn id="10" dur="3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28688"/>
            <a:ext cx="10515600" cy="5595937"/>
          </a:xfrm>
        </p:spPr>
        <p:txBody>
          <a:bodyPr rtlCol="0">
            <a:normAutofit/>
          </a:bodyPr>
          <a:lstStyle/>
          <a:p>
            <a:pPr algn="just"/>
            <a:r>
              <a:rPr lang="en-US" altLang="zh-TW" dirty="0"/>
              <a:t>Ants (blind) navigate from nest to food source</a:t>
            </a:r>
          </a:p>
          <a:p>
            <a:pPr algn="just"/>
            <a:r>
              <a:rPr lang="en-US" altLang="zh-TW" dirty="0">
                <a:highlight>
                  <a:srgbClr val="FFFF00"/>
                </a:highlight>
              </a:rPr>
              <a:t>Shortest path is discovered </a:t>
            </a:r>
            <a:r>
              <a:rPr lang="en-US" altLang="zh-TW" dirty="0">
                <a:solidFill>
                  <a:srgbClr val="9900CC"/>
                </a:solidFill>
                <a:highlight>
                  <a:srgbClr val="FFFF00"/>
                </a:highlight>
              </a:rPr>
              <a:t>via pheromone trails</a:t>
            </a:r>
          </a:p>
          <a:p>
            <a:pPr lvl="1" algn="just"/>
            <a:r>
              <a:rPr lang="en-US" altLang="zh-TW" sz="2800" dirty="0"/>
              <a:t>each </a:t>
            </a:r>
            <a:r>
              <a:rPr lang="en-US" altLang="zh-TW" sz="2800" dirty="0">
                <a:solidFill>
                  <a:srgbClr val="FF33CC"/>
                </a:solidFill>
              </a:rPr>
              <a:t>ant moves at random</a:t>
            </a:r>
          </a:p>
          <a:p>
            <a:pPr lvl="1" algn="just"/>
            <a:r>
              <a:rPr lang="en-US" altLang="zh-TW" sz="2800" dirty="0">
                <a:solidFill>
                  <a:srgbClr val="9900CC"/>
                </a:solidFill>
              </a:rPr>
              <a:t>pheromone is deposited on path</a:t>
            </a:r>
          </a:p>
          <a:p>
            <a:pPr lvl="1" algn="just"/>
            <a:r>
              <a:rPr lang="en-US" altLang="zh-TW" sz="2800" dirty="0"/>
              <a:t>ants detect lead ant’s path, inclined to follow</a:t>
            </a:r>
          </a:p>
          <a:p>
            <a:pPr lvl="1" algn="just"/>
            <a:r>
              <a:rPr lang="en-US" altLang="zh-TW" sz="2800" dirty="0">
                <a:highlight>
                  <a:srgbClr val="FFFF00"/>
                </a:highlight>
              </a:rPr>
              <a:t>more pheromone on path increases the probability of path being followed</a:t>
            </a:r>
          </a:p>
          <a:p>
            <a:pPr lvl="1" algn="just"/>
            <a:endParaRPr lang="en-US" altLang="zh-TW" sz="2800" dirty="0"/>
          </a:p>
          <a:p>
            <a:pPr algn="just"/>
            <a:r>
              <a:rPr lang="en-GB" dirty="0"/>
              <a:t>These pheromones </a:t>
            </a:r>
            <a:r>
              <a:rPr lang="en-GB" dirty="0">
                <a:solidFill>
                  <a:srgbClr val="CC00FF"/>
                </a:solidFill>
              </a:rPr>
              <a:t>evaporate with time</a:t>
            </a:r>
            <a:r>
              <a:rPr lang="en-GB" dirty="0"/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3" name="标题 1"/>
          <p:cNvSpPr>
            <a:spLocks noGrp="1"/>
          </p:cNvSpPr>
          <p:nvPr>
            <p:ph type="title"/>
          </p:nvPr>
        </p:nvSpPr>
        <p:spPr>
          <a:xfrm>
            <a:off x="0" y="-3175"/>
            <a:ext cx="12192000" cy="808038"/>
          </a:xfrm>
          <a:solidFill>
            <a:srgbClr val="0070C0"/>
          </a:solidFill>
        </p:spPr>
        <p:txBody>
          <a:bodyPr/>
          <a:lstStyle/>
          <a:p>
            <a:pPr algn="ctr">
              <a:defRPr/>
            </a:pPr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Concept of Ant System</a:t>
            </a:r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12"/>
          </p:nvPr>
        </p:nvSpPr>
        <p:spPr bwMode="auto">
          <a:xfrm>
            <a:off x="8075613" y="6524625"/>
            <a:ext cx="4116387" cy="196850"/>
          </a:xfrm>
          <a:solidFill>
            <a:srgbClr val="0070C0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Md. Forhad Hossain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21150" y="6524625"/>
            <a:ext cx="3954463" cy="196850"/>
          </a:xfrm>
          <a:solidFill>
            <a:schemeClr val="accent1">
              <a:lumMod val="75000"/>
            </a:schemeClr>
          </a:solidFill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B. M. Junaed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6" name="日期占位符 5"/>
          <p:cNvSpPr>
            <a:spLocks noGrp="1"/>
          </p:cNvSpPr>
          <p:nvPr>
            <p:ph type="dt" sz="quarter" idx="10"/>
          </p:nvPr>
        </p:nvSpPr>
        <p:spPr bwMode="auto">
          <a:xfrm>
            <a:off x="0" y="6524625"/>
            <a:ext cx="4121150" cy="196850"/>
          </a:xfrm>
          <a:solidFill>
            <a:schemeClr val="accent1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 A. H. Akhand	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30552" y="5791201"/>
            <a:ext cx="932129" cy="63917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55038" y="5938338"/>
            <a:ext cx="932129" cy="639174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43649" y="3879056"/>
            <a:ext cx="1016794" cy="101679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42191" y="4055113"/>
            <a:ext cx="1016794" cy="101679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81419" y="4115490"/>
            <a:ext cx="1016794" cy="1016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86934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868 0.01111 L 1.11119 0.02199 L 1.10742 0.22315 L -0.02683 0.17338 L -0.02513 -0.00393 L -0.02513 -2.22222E-6 " pathEditMode="relative" rAng="0" ptsTypes="AAAAAA">
                                      <p:cBhvr>
                                        <p:cTn id="6" dur="2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487" y="983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repeatCount="indefinite" accel="50000" decel="50000" fill="hold" nodeType="withEffect">
                                  <p:stCondLst>
                                    <p:cond delay="110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0.02188 -1.11022E-16 L 1.15052 0.00995 L 1.14661 0.19444 L -0.00977 0.14884 L -0.00807 -0.01389 L -0.00807 -0.01042 " pathEditMode="relative" rAng="0" ptsTypes="AAAAAA">
                                      <p:cBhvr>
                                        <p:cTn id="8" dur="25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620" y="9028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656 0.0338 L 1.0875 0.02824 L 1.20156 0.42547 L 0.92344 0.59769 L -0.15625 0.5588 L -0.04219 0.03936 L -0.04219 0.03959 " pathEditMode="relative" rAng="0" ptsTypes="AAAAAAA">
                                      <p:cBhvr>
                                        <p:cTn id="10" dur="3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922" y="27917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repeatCount="indefinite" accel="50000" decel="50000" fill="hold" nodeType="withEffect">
                                  <p:stCondLst>
                                    <p:cond delay="100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0.01406 0.00578 L 1.1 0.00023 L 1.21406 0.39745 L 0.93594 0.56967 L -0.14375 0.53078 L -0.02969 0.01134 L -0.02969 0.01157 " pathEditMode="relative" rAng="0" ptsTypes="AAAAAAA">
                                      <p:cBhvr>
                                        <p:cTn id="12" dur="3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922" y="27917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repeatCount="indefinite" accel="50000" decel="50000" fill="hold" nodeType="withEffect">
                                  <p:stCondLst>
                                    <p:cond delay="200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4.79167E-6 -4.07407E-6 L 1.11407 -0.00555 L 1.22813 0.39167 L 0.95 0.56389 L -0.12968 0.525 L -0.01562 0.00556 L -0.01562 0.00579 " pathEditMode="relative" rAng="0" ptsTypes="AAAAAAA">
                                      <p:cBhvr>
                                        <p:cTn id="14" dur="3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922" y="279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28688"/>
            <a:ext cx="10515600" cy="5595937"/>
          </a:xfrm>
        </p:spPr>
        <p:txBody>
          <a:bodyPr rtlCol="0">
            <a:normAutofit lnSpcReduction="10000"/>
          </a:bodyPr>
          <a:lstStyle/>
          <a:p>
            <a:pPr>
              <a:lnSpc>
                <a:spcPct val="98000"/>
              </a:lnSpc>
            </a:pPr>
            <a:r>
              <a:rPr lang="en-GB" dirty="0"/>
              <a:t>The shorter path will be reinforced by the pheromones further.</a:t>
            </a:r>
          </a:p>
          <a:p>
            <a:pPr>
              <a:lnSpc>
                <a:spcPct val="97000"/>
              </a:lnSpc>
            </a:pPr>
            <a:r>
              <a:rPr lang="en-GB" dirty="0"/>
              <a:t>Finally , </a:t>
            </a:r>
            <a:r>
              <a:rPr lang="en-GB" dirty="0">
                <a:solidFill>
                  <a:srgbClr val="FF33CC"/>
                </a:solidFill>
              </a:rPr>
              <a:t>the ants arrive at the shortest path</a:t>
            </a:r>
            <a:r>
              <a:rPr lang="en-GB" dirty="0"/>
              <a:t>.</a:t>
            </a:r>
          </a:p>
          <a:p>
            <a:pPr>
              <a:lnSpc>
                <a:spcPct val="110000"/>
              </a:lnSpc>
            </a:pPr>
            <a:r>
              <a:rPr lang="en-US" altLang="zh-TW" dirty="0"/>
              <a:t>Starting node selected at random</a:t>
            </a:r>
          </a:p>
          <a:p>
            <a:pPr>
              <a:lnSpc>
                <a:spcPct val="110000"/>
              </a:lnSpc>
            </a:pPr>
            <a:r>
              <a:rPr lang="en-US" altLang="zh-TW" dirty="0"/>
              <a:t>Path selected at random</a:t>
            </a:r>
          </a:p>
          <a:p>
            <a:pPr lvl="1">
              <a:lnSpc>
                <a:spcPct val="110000"/>
              </a:lnSpc>
            </a:pPr>
            <a:r>
              <a:rPr lang="en-US" altLang="zh-TW" sz="1800" dirty="0"/>
              <a:t>based on amount of “trail” present on possible paths from starting node</a:t>
            </a:r>
          </a:p>
          <a:p>
            <a:pPr marL="342900" indent="-342900" algn="just">
              <a:lnSpc>
                <a:spcPct val="10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FF0000"/>
                </a:solidFill>
              </a:rPr>
              <a:t>.\\</a:t>
            </a:r>
            <a:r>
              <a:rPr lang="en-GB" sz="1800" dirty="0">
                <a:solidFill>
                  <a:srgbClr val="FF0000"/>
                </a:solidFill>
              </a:rPr>
              <a:t> A </a:t>
            </a:r>
            <a:r>
              <a:rPr lang="en-GB" sz="1800" b="1" dirty="0">
                <a:solidFill>
                  <a:srgbClr val="FF0000"/>
                </a:solidFill>
              </a:rPr>
              <a:t>trail</a:t>
            </a:r>
            <a:r>
              <a:rPr lang="en-GB" sz="1800" dirty="0">
                <a:solidFill>
                  <a:srgbClr val="FF0000"/>
                </a:solidFill>
              </a:rPr>
              <a:t> is the </a:t>
            </a:r>
            <a:r>
              <a:rPr lang="en-GB" sz="1800" b="1" dirty="0">
                <a:solidFill>
                  <a:srgbClr val="FF0000"/>
                </a:solidFill>
              </a:rPr>
              <a:t>path or line on the ground</a:t>
            </a:r>
            <a:r>
              <a:rPr lang="en-GB" sz="1800" dirty="0">
                <a:solidFill>
                  <a:srgbClr val="FF0000"/>
                </a:solidFill>
              </a:rPr>
              <a:t> that ants mark by depositing </a:t>
            </a:r>
            <a:r>
              <a:rPr lang="en-GB" sz="1800" b="1" dirty="0">
                <a:solidFill>
                  <a:srgbClr val="FF0000"/>
                </a:solidFill>
              </a:rPr>
              <a:t>pheromones</a:t>
            </a:r>
            <a:r>
              <a:rPr lang="en-GB" sz="1800" dirty="0">
                <a:solidFill>
                  <a:srgbClr val="FF0000"/>
                </a:solidFill>
              </a:rPr>
              <a:t> (special chemical signals).</a:t>
            </a:r>
            <a:r>
              <a:rPr lang="en-US" sz="1800" dirty="0">
                <a:solidFill>
                  <a:srgbClr val="FF0000"/>
                </a:solidFill>
              </a:rPr>
              <a:t>\\</a:t>
            </a:r>
          </a:p>
          <a:p>
            <a:pPr lvl="1">
              <a:lnSpc>
                <a:spcPct val="110000"/>
              </a:lnSpc>
            </a:pPr>
            <a:endParaRPr lang="en-US" altLang="zh-TW" sz="1800" dirty="0"/>
          </a:p>
          <a:p>
            <a:pPr lvl="1">
              <a:lnSpc>
                <a:spcPct val="110000"/>
              </a:lnSpc>
            </a:pPr>
            <a:r>
              <a:rPr lang="en-US" altLang="zh-TW" sz="1800" dirty="0">
                <a:highlight>
                  <a:srgbClr val="FFFF00"/>
                </a:highlight>
              </a:rPr>
              <a:t>higher probability for paths with more “trail”</a:t>
            </a:r>
          </a:p>
          <a:p>
            <a:pPr>
              <a:lnSpc>
                <a:spcPct val="110000"/>
              </a:lnSpc>
            </a:pPr>
            <a:r>
              <a:rPr lang="en-US" altLang="zh-TW" dirty="0"/>
              <a:t>Ant reaches next node, selects next path</a:t>
            </a:r>
          </a:p>
          <a:p>
            <a:pPr>
              <a:lnSpc>
                <a:spcPct val="110000"/>
              </a:lnSpc>
            </a:pPr>
            <a:r>
              <a:rPr lang="en-US" altLang="zh-TW" dirty="0"/>
              <a:t>Continues until reaches starting node</a:t>
            </a:r>
          </a:p>
          <a:p>
            <a:pPr>
              <a:lnSpc>
                <a:spcPct val="110000"/>
              </a:lnSpc>
            </a:pPr>
            <a:r>
              <a:rPr lang="en-US" altLang="zh-TW" dirty="0">
                <a:solidFill>
                  <a:srgbClr val="FF00FF"/>
                </a:solidFill>
              </a:rPr>
              <a:t>Finished “tour” is a solution</a:t>
            </a:r>
            <a:endParaRPr lang="zh-TW" altLang="en-US" sz="2000" dirty="0">
              <a:solidFill>
                <a:srgbClr val="FF00FF"/>
              </a:solidFill>
            </a:endParaRP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3" name="标题 1"/>
          <p:cNvSpPr>
            <a:spLocks noGrp="1"/>
          </p:cNvSpPr>
          <p:nvPr>
            <p:ph type="title"/>
          </p:nvPr>
        </p:nvSpPr>
        <p:spPr>
          <a:xfrm>
            <a:off x="0" y="-3175"/>
            <a:ext cx="12192000" cy="808038"/>
          </a:xfrm>
          <a:solidFill>
            <a:srgbClr val="0070C0"/>
          </a:solidFill>
        </p:spPr>
        <p:txBody>
          <a:bodyPr/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Concept of Ant System</a:t>
            </a:r>
            <a:endParaRPr lang="en-US" sz="4000" b="1" dirty="0">
              <a:solidFill>
                <a:schemeClr val="bg1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12"/>
          </p:nvPr>
        </p:nvSpPr>
        <p:spPr bwMode="auto">
          <a:xfrm>
            <a:off x="8075613" y="6524625"/>
            <a:ext cx="4116387" cy="196850"/>
          </a:xfrm>
          <a:solidFill>
            <a:srgbClr val="0070C0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Md. Forhad Hossain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21150" y="6524625"/>
            <a:ext cx="3954463" cy="196850"/>
          </a:xfrm>
          <a:solidFill>
            <a:schemeClr val="accent1">
              <a:lumMod val="75000"/>
            </a:schemeClr>
          </a:solidFill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B. M. Junaed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6" name="日期占位符 5"/>
          <p:cNvSpPr>
            <a:spLocks noGrp="1"/>
          </p:cNvSpPr>
          <p:nvPr>
            <p:ph type="dt" sz="quarter" idx="10"/>
          </p:nvPr>
        </p:nvSpPr>
        <p:spPr bwMode="auto">
          <a:xfrm>
            <a:off x="0" y="6524625"/>
            <a:ext cx="4121150" cy="196850"/>
          </a:xfrm>
          <a:solidFill>
            <a:schemeClr val="accent1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 A. H. Akhand	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30552" y="5791201"/>
            <a:ext cx="932129" cy="63917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55038" y="5938338"/>
            <a:ext cx="932129" cy="639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51656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868 0.01111 L 1.11119 0.02199 L 1.10742 0.22315 L -0.02683 0.17338 L -0.02513 -0.00393 L -0.02513 -2.22222E-6 " pathEditMode="relative" rAng="0" ptsTypes="AAAAAA">
                                      <p:cBhvr>
                                        <p:cTn id="6" dur="2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487" y="983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repeatCount="indefinite" accel="50000" decel="50000" fill="hold" nodeType="withEffect">
                                  <p:stCondLst>
                                    <p:cond delay="110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0.02188 -1.11022E-16 L 1.15052 0.00995 L 1.14661 0.19444 L -0.00977 0.14884 L -0.00807 -0.01389 L -0.00807 -0.01042 " pathEditMode="relative" rAng="0" ptsTypes="AAAAAA">
                                      <p:cBhvr>
                                        <p:cTn id="8" dur="25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620" y="902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28688"/>
            <a:ext cx="10515600" cy="5595937"/>
          </a:xfrm>
        </p:spPr>
        <p:txBody>
          <a:bodyPr rtlCol="0">
            <a:normAutofit/>
          </a:bodyPr>
          <a:lstStyle/>
          <a:p>
            <a:pPr marL="342900" indent="-342900" algn="just">
              <a:lnSpc>
                <a:spcPct val="100000"/>
              </a:lnSpc>
              <a:spcBef>
                <a:spcPct val="45000"/>
              </a:spcBef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completed tour is analyzed for optimality</a:t>
            </a:r>
          </a:p>
          <a:p>
            <a:pPr marL="342900" indent="-342900" algn="just">
              <a:lnSpc>
                <a:spcPct val="100000"/>
              </a:lnSpc>
              <a:spcBef>
                <a:spcPct val="45000"/>
              </a:spcBef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“Trail” amount adjusted to favor better solutions</a:t>
            </a:r>
          </a:p>
          <a:p>
            <a:pPr marL="742950" lvl="1" indent="-285750" algn="just">
              <a:lnSpc>
                <a:spcPct val="100000"/>
              </a:lnSpc>
              <a:spcBef>
                <a:spcPct val="45000"/>
              </a:spcBef>
            </a:pPr>
            <a:r>
              <a:rPr lang="en-US" altLang="zh-TW" sz="2800" dirty="0">
                <a:solidFill>
                  <a:srgbClr val="99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better solutions receive more trail</a:t>
            </a:r>
          </a:p>
          <a:p>
            <a:pPr marL="742950" lvl="1" indent="-285750" algn="just">
              <a:lnSpc>
                <a:spcPct val="100000"/>
              </a:lnSpc>
              <a:spcBef>
                <a:spcPct val="45000"/>
              </a:spcBef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worse solutions receive less trail</a:t>
            </a:r>
          </a:p>
          <a:p>
            <a:pPr marL="742950" lvl="1" indent="-285750" algn="just">
              <a:lnSpc>
                <a:spcPct val="100000"/>
              </a:lnSpc>
              <a:spcBef>
                <a:spcPct val="45000"/>
              </a:spcBef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probability of ant selecting path that is part of a better-performing tour</a:t>
            </a:r>
          </a:p>
          <a:p>
            <a:pPr marL="342900" indent="-342900" algn="just">
              <a:lnSpc>
                <a:spcPct val="100000"/>
              </a:lnSpc>
              <a:spcBef>
                <a:spcPct val="45000"/>
              </a:spcBef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cycle is performed</a:t>
            </a:r>
          </a:p>
          <a:p>
            <a:pPr marL="342900" indent="-342900" algn="just">
              <a:lnSpc>
                <a:spcPct val="100000"/>
              </a:lnSpc>
              <a:spcBef>
                <a:spcPct val="45000"/>
              </a:spcBef>
            </a:pPr>
            <a:r>
              <a:rPr lang="en-US" altLang="zh-TW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Repeated until most ants select the same tour on every cycle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.(optimal path found)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3" name="标题 1"/>
          <p:cNvSpPr>
            <a:spLocks noGrp="1"/>
          </p:cNvSpPr>
          <p:nvPr>
            <p:ph type="title"/>
          </p:nvPr>
        </p:nvSpPr>
        <p:spPr>
          <a:xfrm>
            <a:off x="0" y="-3175"/>
            <a:ext cx="12192000" cy="808038"/>
          </a:xfrm>
          <a:solidFill>
            <a:srgbClr val="0070C0"/>
          </a:solidFill>
        </p:spPr>
        <p:txBody>
          <a:bodyPr/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Concept of Ant System</a:t>
            </a:r>
            <a:endParaRPr lang="en-US" sz="4000" b="1" dirty="0">
              <a:solidFill>
                <a:schemeClr val="bg1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12"/>
          </p:nvPr>
        </p:nvSpPr>
        <p:spPr bwMode="auto">
          <a:xfrm>
            <a:off x="8075613" y="6524625"/>
            <a:ext cx="4116387" cy="196850"/>
          </a:xfrm>
          <a:solidFill>
            <a:srgbClr val="0070C0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Md. Forhad Hossain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21150" y="6524625"/>
            <a:ext cx="3954463" cy="196850"/>
          </a:xfrm>
          <a:solidFill>
            <a:schemeClr val="accent1">
              <a:lumMod val="75000"/>
            </a:schemeClr>
          </a:solidFill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B. M. Junaed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6" name="日期占位符 5"/>
          <p:cNvSpPr>
            <a:spLocks noGrp="1"/>
          </p:cNvSpPr>
          <p:nvPr>
            <p:ph type="dt" sz="quarter" idx="10"/>
          </p:nvPr>
        </p:nvSpPr>
        <p:spPr bwMode="auto">
          <a:xfrm>
            <a:off x="0" y="6524625"/>
            <a:ext cx="4121150" cy="196850"/>
          </a:xfrm>
          <a:solidFill>
            <a:schemeClr val="accent1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 A. H. Akhand	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30552" y="5791201"/>
            <a:ext cx="932129" cy="63917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55038" y="5938338"/>
            <a:ext cx="932129" cy="63917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00799" y="3879056"/>
            <a:ext cx="1016794" cy="101679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42191" y="4036063"/>
            <a:ext cx="1016794" cy="101679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67169" y="4058340"/>
            <a:ext cx="1016794" cy="1016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1803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868 0.01111 L 1.11119 0.02199 L 1.10742 0.22315 L -0.02683 0.17338 L -0.02513 -0.00393 L -0.02513 -2.22222E-6 " pathEditMode="relative" rAng="0" ptsTypes="AAAAAA">
                                      <p:cBhvr>
                                        <p:cTn id="6" dur="2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487" y="983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repeatCount="indefinite" accel="50000" decel="50000" fill="hold" nodeType="withEffect">
                                  <p:stCondLst>
                                    <p:cond delay="110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0.02188 -1.11022E-16 L 1.15052 0.00995 L 1.14661 0.19444 L -0.00977 0.14884 L -0.00807 -0.01389 L -0.00807 -0.01042 " pathEditMode="relative" rAng="0" ptsTypes="AAAAAA">
                                      <p:cBhvr>
                                        <p:cTn id="8" dur="25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620" y="9028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656 0.0338 L 1.0875 0.02824 L 1.20156 0.42547 L 0.92344 0.59769 L -0.15625 0.5588 L -0.04219 0.03936 L -0.04219 0.03959 " pathEditMode="relative" rAng="0" ptsTypes="AAAAAAA">
                                      <p:cBhvr>
                                        <p:cTn id="10" dur="3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922" y="27917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repeatCount="indefinite" accel="50000" decel="50000" fill="hold" nodeType="withEffect">
                                  <p:stCondLst>
                                    <p:cond delay="100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0.01406 0.00579 L 1.1 0.00023 L 1.21406 0.39745 L 0.93594 0.56968 L -0.14375 0.53079 L -0.02969 0.01134 L -0.02969 0.01157 " pathEditMode="relative" rAng="0" ptsTypes="AAAAAAA">
                                      <p:cBhvr>
                                        <p:cTn id="12" dur="3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922" y="27917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repeatCount="indefinite" accel="50000" decel="50000" fill="hold" nodeType="withEffect">
                                  <p:stCondLst>
                                    <p:cond delay="200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2.70833E-6 -7.40741E-7 L 1.11406 -0.00555 L 1.22812 0.39167 L 0.95 0.56389 L -0.12969 0.525 L -0.01563 0.00556 L -0.01563 0.00579 " pathEditMode="relative" rAng="0" ptsTypes="AAAAAAA">
                                      <p:cBhvr>
                                        <p:cTn id="14" dur="3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922" y="279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28688"/>
            <a:ext cx="10515600" cy="5595937"/>
          </a:xfrm>
        </p:spPr>
        <p:txBody>
          <a:bodyPr rtlCol="0">
            <a:normAutofit/>
          </a:bodyPr>
          <a:lstStyle/>
          <a:p>
            <a:pPr marL="342900" indent="-342900" algn="just">
              <a:lnSpc>
                <a:spcPct val="100000"/>
              </a:lnSpc>
              <a:spcBef>
                <a:spcPts val="600"/>
              </a:spcBef>
            </a:pPr>
            <a:r>
              <a:rPr lang="en-US" dirty="0"/>
              <a:t>Algorithm was </a:t>
            </a:r>
            <a:r>
              <a:rPr lang="en-US" dirty="0">
                <a:solidFill>
                  <a:srgbClr val="FF0066"/>
                </a:solidFill>
              </a:rPr>
              <a:t>inspired</a:t>
            </a:r>
            <a:r>
              <a:rPr lang="en-US" dirty="0"/>
              <a:t> by observation of </a:t>
            </a:r>
            <a:r>
              <a:rPr lang="en-US" dirty="0">
                <a:solidFill>
                  <a:srgbClr val="FF0066"/>
                </a:solidFill>
              </a:rPr>
              <a:t>real ant</a:t>
            </a:r>
            <a:r>
              <a:rPr lang="en-US" dirty="0"/>
              <a:t> colonies.</a:t>
            </a:r>
          </a:p>
          <a:p>
            <a:pPr marL="342900" indent="-342900" algn="just">
              <a:lnSpc>
                <a:spcPct val="100000"/>
              </a:lnSpc>
              <a:spcBef>
                <a:spcPts val="600"/>
              </a:spcBef>
            </a:pPr>
            <a:r>
              <a:rPr lang="en-US" dirty="0"/>
              <a:t>Ants are essentially </a:t>
            </a:r>
            <a:r>
              <a:rPr lang="en-US" dirty="0">
                <a:solidFill>
                  <a:srgbClr val="CC3300"/>
                </a:solidFill>
              </a:rPr>
              <a:t>blind, deaf and dumb</a:t>
            </a:r>
            <a:r>
              <a:rPr lang="en-US" dirty="0"/>
              <a:t>.</a:t>
            </a:r>
          </a:p>
          <a:p>
            <a:pPr marL="342900" indent="-342900" algn="just">
              <a:lnSpc>
                <a:spcPct val="100000"/>
              </a:lnSpc>
              <a:spcBef>
                <a:spcPts val="600"/>
              </a:spcBef>
            </a:pPr>
            <a:r>
              <a:rPr lang="en-US" dirty="0">
                <a:solidFill>
                  <a:schemeClr val="tx1"/>
                </a:solidFill>
              </a:rPr>
              <a:t>Q:</a:t>
            </a:r>
            <a:r>
              <a:rPr lang="en-US" dirty="0">
                <a:solidFill>
                  <a:srgbClr val="FF00FF"/>
                </a:solidFill>
              </a:rPr>
              <a:t> </a:t>
            </a:r>
            <a:r>
              <a:rPr lang="en-US" dirty="0">
                <a:solidFill>
                  <a:srgbClr val="9900CC"/>
                </a:solidFill>
              </a:rPr>
              <a:t>how can ants find the shortest path to food sources?</a:t>
            </a:r>
          </a:p>
          <a:p>
            <a:pPr marL="342900" indent="-342900" algn="just">
              <a:lnSpc>
                <a:spcPct val="100000"/>
              </a:lnSpc>
              <a:spcBef>
                <a:spcPts val="600"/>
              </a:spcBef>
            </a:pPr>
            <a:r>
              <a:rPr lang="en-US" dirty="0"/>
              <a:t>Ants deposit </a:t>
            </a:r>
            <a:r>
              <a:rPr lang="en-US" i="1" dirty="0">
                <a:solidFill>
                  <a:srgbClr val="FF0066"/>
                </a:solidFill>
              </a:rPr>
              <a:t>pheromones</a:t>
            </a:r>
            <a:r>
              <a:rPr lang="en-US" dirty="0"/>
              <a:t> on ground that form a trail. The trail </a:t>
            </a:r>
            <a:r>
              <a:rPr lang="en-US" dirty="0">
                <a:solidFill>
                  <a:srgbClr val="FF0066"/>
                </a:solidFill>
              </a:rPr>
              <a:t>attracts </a:t>
            </a:r>
            <a:r>
              <a:rPr lang="en-US" dirty="0"/>
              <a:t>other ants</a:t>
            </a:r>
            <a:r>
              <a:rPr lang="en-US" sz="2000" dirty="0">
                <a:solidFill>
                  <a:srgbClr val="FF0000"/>
                </a:solidFill>
              </a:rPr>
              <a:t>.\\</a:t>
            </a:r>
            <a:r>
              <a:rPr lang="en-GB" sz="2000" dirty="0">
                <a:solidFill>
                  <a:srgbClr val="FF0000"/>
                </a:solidFill>
              </a:rPr>
              <a:t> A </a:t>
            </a:r>
            <a:r>
              <a:rPr lang="en-GB" sz="2000" b="1" dirty="0">
                <a:solidFill>
                  <a:srgbClr val="FF0000"/>
                </a:solidFill>
              </a:rPr>
              <a:t>trail</a:t>
            </a:r>
            <a:r>
              <a:rPr lang="en-GB" sz="2000" dirty="0">
                <a:solidFill>
                  <a:srgbClr val="FF0000"/>
                </a:solidFill>
              </a:rPr>
              <a:t> is the </a:t>
            </a:r>
            <a:r>
              <a:rPr lang="en-GB" sz="2000" b="1" dirty="0">
                <a:solidFill>
                  <a:srgbClr val="FF0000"/>
                </a:solidFill>
              </a:rPr>
              <a:t>path or line on the ground</a:t>
            </a:r>
            <a:r>
              <a:rPr lang="en-GB" sz="2000" dirty="0">
                <a:solidFill>
                  <a:srgbClr val="FF0000"/>
                </a:solidFill>
              </a:rPr>
              <a:t> that ants mark by depositing </a:t>
            </a:r>
            <a:r>
              <a:rPr lang="en-GB" sz="2000" b="1" dirty="0">
                <a:solidFill>
                  <a:srgbClr val="FF0000"/>
                </a:solidFill>
              </a:rPr>
              <a:t>pheromones</a:t>
            </a:r>
            <a:r>
              <a:rPr lang="en-GB" sz="2000" dirty="0">
                <a:solidFill>
                  <a:srgbClr val="FF0000"/>
                </a:solidFill>
              </a:rPr>
              <a:t> (special chemical signals).</a:t>
            </a:r>
          </a:p>
          <a:p>
            <a:pPr marL="342900" indent="-342900" algn="just">
              <a:lnSpc>
                <a:spcPct val="100000"/>
              </a:lnSpc>
              <a:spcBef>
                <a:spcPts val="600"/>
              </a:spcBef>
            </a:pPr>
            <a:r>
              <a:rPr lang="en-US" sz="2000" dirty="0">
                <a:solidFill>
                  <a:srgbClr val="FF0000"/>
                </a:solidFill>
              </a:rPr>
              <a:t>\\</a:t>
            </a:r>
          </a:p>
          <a:p>
            <a:pPr marL="342900" indent="-342900" algn="just">
              <a:lnSpc>
                <a:spcPct val="100000"/>
              </a:lnSpc>
              <a:spcBef>
                <a:spcPts val="600"/>
              </a:spcBef>
            </a:pPr>
            <a:endParaRPr lang="en-US" dirty="0"/>
          </a:p>
          <a:p>
            <a:pPr marL="342900" indent="-342900" algn="just">
              <a:lnSpc>
                <a:spcPct val="100000"/>
              </a:lnSpc>
              <a:spcBef>
                <a:spcPts val="600"/>
              </a:spcBef>
            </a:pPr>
            <a:r>
              <a:rPr lang="en-US" dirty="0"/>
              <a:t>The ants </a:t>
            </a:r>
            <a:r>
              <a:rPr lang="en-US" dirty="0">
                <a:solidFill>
                  <a:schemeClr val="tx1"/>
                </a:solidFill>
              </a:rPr>
              <a:t>evaluate the cost of the paths</a:t>
            </a:r>
            <a:r>
              <a:rPr lang="en-US" dirty="0"/>
              <a:t> they have traversed.</a:t>
            </a:r>
          </a:p>
          <a:p>
            <a:pPr marL="342900" indent="-342900" algn="just">
              <a:lnSpc>
                <a:spcPct val="100000"/>
              </a:lnSpc>
              <a:spcBef>
                <a:spcPts val="600"/>
              </a:spcBef>
            </a:pPr>
            <a:r>
              <a:rPr lang="en-US" dirty="0"/>
              <a:t>The </a:t>
            </a:r>
            <a:r>
              <a:rPr lang="en-US" dirty="0">
                <a:solidFill>
                  <a:srgbClr val="FF0066"/>
                </a:solidFill>
              </a:rPr>
              <a:t>shorter paths will receive a greater deposit</a:t>
            </a:r>
            <a:r>
              <a:rPr lang="en-US" dirty="0"/>
              <a:t> </a:t>
            </a:r>
            <a:r>
              <a:rPr lang="en-US" dirty="0">
                <a:solidFill>
                  <a:srgbClr val="FF0066"/>
                </a:solidFill>
              </a:rPr>
              <a:t>of pheromones</a:t>
            </a:r>
            <a:r>
              <a:rPr lang="en-US" dirty="0"/>
              <a:t>.  </a:t>
            </a:r>
          </a:p>
          <a:p>
            <a:pPr marL="342900" indent="-342900" algn="just">
              <a:lnSpc>
                <a:spcPct val="100000"/>
              </a:lnSpc>
              <a:spcBef>
                <a:spcPts val="600"/>
              </a:spcBef>
            </a:pPr>
            <a:r>
              <a:rPr lang="en-US" dirty="0"/>
              <a:t>An </a:t>
            </a:r>
            <a:r>
              <a:rPr lang="en-US" dirty="0">
                <a:solidFill>
                  <a:srgbClr val="9900CC"/>
                </a:solidFill>
              </a:rPr>
              <a:t>evaporation rule</a:t>
            </a:r>
            <a:r>
              <a:rPr lang="en-US" dirty="0"/>
              <a:t> will be tied with the pheromones, which will </a:t>
            </a:r>
            <a:r>
              <a:rPr lang="en-US" dirty="0">
                <a:solidFill>
                  <a:srgbClr val="FF00FF"/>
                </a:solidFill>
              </a:rPr>
              <a:t>reduce the chance for poor quality solutions.</a:t>
            </a:r>
            <a:r>
              <a:rPr lang="en-US" dirty="0">
                <a:solidFill>
                  <a:srgbClr val="9900CC"/>
                </a:solidFill>
              </a:rPr>
              <a:t> 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3" name="标题 1"/>
          <p:cNvSpPr>
            <a:spLocks noGrp="1"/>
          </p:cNvSpPr>
          <p:nvPr>
            <p:ph type="title"/>
          </p:nvPr>
        </p:nvSpPr>
        <p:spPr>
          <a:xfrm>
            <a:off x="0" y="-3175"/>
            <a:ext cx="12192000" cy="808038"/>
          </a:xfrm>
          <a:solidFill>
            <a:srgbClr val="0070C0"/>
          </a:solidFill>
        </p:spPr>
        <p:txBody>
          <a:bodyPr/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Ant Colony Algorithms</a:t>
            </a:r>
            <a:endParaRPr lang="en-US" sz="4000" b="1" dirty="0">
              <a:solidFill>
                <a:schemeClr val="bg1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12"/>
          </p:nvPr>
        </p:nvSpPr>
        <p:spPr bwMode="auto">
          <a:xfrm>
            <a:off x="8075613" y="6524625"/>
            <a:ext cx="4116387" cy="196850"/>
          </a:xfrm>
          <a:solidFill>
            <a:srgbClr val="0070C0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Md. Forhad Hossain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21150" y="6524625"/>
            <a:ext cx="3954463" cy="196850"/>
          </a:xfrm>
          <a:solidFill>
            <a:schemeClr val="accent1">
              <a:lumMod val="75000"/>
            </a:schemeClr>
          </a:solidFill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B. M. Junaed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6" name="日期占位符 5"/>
          <p:cNvSpPr>
            <a:spLocks noGrp="1"/>
          </p:cNvSpPr>
          <p:nvPr>
            <p:ph type="dt" sz="quarter" idx="10"/>
          </p:nvPr>
        </p:nvSpPr>
        <p:spPr bwMode="auto">
          <a:xfrm>
            <a:off x="0" y="6524625"/>
            <a:ext cx="4121150" cy="196850"/>
          </a:xfrm>
          <a:solidFill>
            <a:schemeClr val="accent1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 A. H. Akhand	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30552" y="5791201"/>
            <a:ext cx="932129" cy="63917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55038" y="5938338"/>
            <a:ext cx="932129" cy="63917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38949" y="3174206"/>
            <a:ext cx="1016794" cy="101679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42191" y="3293113"/>
            <a:ext cx="1016794" cy="101679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67169" y="3829740"/>
            <a:ext cx="1016794" cy="1016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65231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868 0.01111 L 1.11119 0.02199 L 1.10742 0.22315 L -0.02683 0.17338 L -0.02513 -0.00393 L -0.02513 -2.22222E-6 " pathEditMode="relative" rAng="0" ptsTypes="AAAAAA">
                                      <p:cBhvr>
                                        <p:cTn id="6" dur="2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487" y="983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repeatCount="indefinite" accel="50000" decel="50000" fill="hold" nodeType="withEffect">
                                  <p:stCondLst>
                                    <p:cond delay="110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0.02188 -1.11022E-16 L 1.15052 0.00995 L 1.14661 0.19444 L -0.00977 0.14884 L -0.00807 -0.01389 L -0.00807 -0.01042 " pathEditMode="relative" rAng="0" ptsTypes="AAAAAA">
                                      <p:cBhvr>
                                        <p:cTn id="8" dur="25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620" y="9028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656 0.03379 L 1.0875 0.02824 L 1.20157 0.42546 L 0.92344 0.59768 L -0.15625 0.55879 L -0.04218 0.03935 L -0.04218 0.03958 " pathEditMode="relative" rAng="0" ptsTypes="AAAAAAA">
                                      <p:cBhvr>
                                        <p:cTn id="10" dur="3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922" y="27917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repeatCount="indefinite" accel="50000" decel="50000" fill="hold" nodeType="withEffect">
                                  <p:stCondLst>
                                    <p:cond delay="100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0.01406 0.00578 L 1.1 0.00023 L 1.21406 0.39745 L 0.93594 0.56967 L -0.14375 0.53078 L -0.02969 0.01134 L -0.02969 0.01157 " pathEditMode="relative" rAng="0" ptsTypes="AAAAAAA">
                                      <p:cBhvr>
                                        <p:cTn id="12" dur="3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922" y="27917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repeatCount="indefinite" accel="50000" decel="50000" fill="hold" nodeType="withEffect">
                                  <p:stCondLst>
                                    <p:cond delay="200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2.70833E-6 -0.075 L 1.11406 -0.08056 L 1.22812 0.31666 L 0.95 0.48889 L -0.12969 0.45 L -0.01563 -0.06945 L -0.01563 -0.06922 " pathEditMode="relative" rAng="0" ptsTypes="AAAAAAA">
                                      <p:cBhvr>
                                        <p:cTn id="14" dur="3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922" y="279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28688"/>
            <a:ext cx="10515600" cy="5595937"/>
          </a:xfrm>
        </p:spPr>
        <p:txBody>
          <a:bodyPr rtlCol="0">
            <a:normAutofit/>
          </a:bodyPr>
          <a:lstStyle/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3" name="标题 1"/>
          <p:cNvSpPr>
            <a:spLocks noGrp="1"/>
          </p:cNvSpPr>
          <p:nvPr>
            <p:ph type="title"/>
          </p:nvPr>
        </p:nvSpPr>
        <p:spPr>
          <a:xfrm>
            <a:off x="0" y="-3175"/>
            <a:ext cx="12192000" cy="808038"/>
          </a:xfrm>
          <a:solidFill>
            <a:srgbClr val="0070C0"/>
          </a:solidFill>
        </p:spPr>
        <p:txBody>
          <a:bodyPr/>
          <a:lstStyle/>
          <a:p>
            <a:pPr algn="ctr" eaLnBrk="1" hangingPunct="1"/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How Ants find foods</a:t>
            </a:r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12"/>
          </p:nvPr>
        </p:nvSpPr>
        <p:spPr bwMode="auto">
          <a:xfrm>
            <a:off x="8075613" y="6524625"/>
            <a:ext cx="4116387" cy="196850"/>
          </a:xfrm>
          <a:solidFill>
            <a:srgbClr val="0070C0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Md. Forhad Hossain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21150" y="6524625"/>
            <a:ext cx="3954463" cy="196850"/>
          </a:xfrm>
          <a:solidFill>
            <a:schemeClr val="accent1">
              <a:lumMod val="75000"/>
            </a:schemeClr>
          </a:solidFill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B. M. Junaed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6" name="日期占位符 5"/>
          <p:cNvSpPr>
            <a:spLocks noGrp="1"/>
          </p:cNvSpPr>
          <p:nvPr>
            <p:ph type="dt" sz="quarter" idx="10"/>
          </p:nvPr>
        </p:nvSpPr>
        <p:spPr bwMode="auto">
          <a:xfrm>
            <a:off x="0" y="6524625"/>
            <a:ext cx="4121150" cy="196850"/>
          </a:xfrm>
          <a:solidFill>
            <a:schemeClr val="accent1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 A. H. Akhand	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7710096"/>
              </p:ext>
            </p:extLst>
          </p:nvPr>
        </p:nvGraphicFramePr>
        <p:xfrm>
          <a:off x="1413328" y="928688"/>
          <a:ext cx="9365343" cy="53194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6304762" imgH="3580952" progId="PBrush">
                  <p:embed/>
                </p:oleObj>
              </mc:Choice>
              <mc:Fallback>
                <p:oleObj name="Bitmap Image" r:id="rId3" imgW="6304762" imgH="3580952" progId="PBrush">
                  <p:embed/>
                  <p:pic>
                    <p:nvPicPr>
                      <p:cNvPr id="7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3328" y="928688"/>
                        <a:ext cx="9365343" cy="531944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30552" y="5791201"/>
            <a:ext cx="932129" cy="63917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55038" y="5938338"/>
            <a:ext cx="932129" cy="639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26610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868 0.01111 L 1.11119 0.02199 L 1.10742 0.22315 L -0.02683 0.17338 L -0.02513 -0.00393 L -0.02513 -2.22222E-6 " pathEditMode="relative" rAng="0" ptsTypes="AAAAAA">
                                      <p:cBhvr>
                                        <p:cTn id="6" dur="25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487" y="983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repeatCount="indefinite" accel="50000" decel="50000" fill="hold" nodeType="withEffect">
                                  <p:stCondLst>
                                    <p:cond delay="110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0.02188 -1.11022E-16 L 1.15052 0.00995 L 1.14661 0.19444 L -0.00977 0.14884 L -0.00807 -0.01389 L -0.00807 -0.01042 " pathEditMode="relative" rAng="0" ptsTypes="AAAAAA">
                                      <p:cBhvr>
                                        <p:cTn id="8" dur="25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620" y="902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28688"/>
            <a:ext cx="10515600" cy="5595937"/>
          </a:xfrm>
        </p:spPr>
        <p:txBody>
          <a:bodyPr rtlCol="0">
            <a:normAutofit/>
          </a:bodyPr>
          <a:lstStyle/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3" name="标题 1"/>
          <p:cNvSpPr>
            <a:spLocks noGrp="1"/>
          </p:cNvSpPr>
          <p:nvPr>
            <p:ph type="title"/>
          </p:nvPr>
        </p:nvSpPr>
        <p:spPr>
          <a:xfrm>
            <a:off x="0" y="-3175"/>
            <a:ext cx="12192000" cy="808038"/>
          </a:xfrm>
          <a:solidFill>
            <a:srgbClr val="0070C0"/>
          </a:solidFill>
        </p:spPr>
        <p:txBody>
          <a:bodyPr/>
          <a:lstStyle/>
          <a:p>
            <a:pPr algn="ctr" eaLnBrk="1" hangingPunct="1"/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How Ants find foods</a:t>
            </a:r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12"/>
          </p:nvPr>
        </p:nvSpPr>
        <p:spPr bwMode="auto">
          <a:xfrm>
            <a:off x="8075613" y="6524625"/>
            <a:ext cx="4116387" cy="196850"/>
          </a:xfrm>
          <a:solidFill>
            <a:srgbClr val="0070C0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Md. Forhad Hossain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21150" y="6524625"/>
            <a:ext cx="3954463" cy="196850"/>
          </a:xfrm>
          <a:solidFill>
            <a:schemeClr val="accent1">
              <a:lumMod val="75000"/>
            </a:schemeClr>
          </a:solidFill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B. M. Junaed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6" name="日期占位符 5"/>
          <p:cNvSpPr>
            <a:spLocks noGrp="1"/>
          </p:cNvSpPr>
          <p:nvPr>
            <p:ph type="dt" sz="quarter" idx="10"/>
          </p:nvPr>
        </p:nvSpPr>
        <p:spPr bwMode="auto">
          <a:xfrm>
            <a:off x="0" y="6524625"/>
            <a:ext cx="4121150" cy="196850"/>
          </a:xfrm>
          <a:solidFill>
            <a:schemeClr val="accent1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 A. H. Akhand	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99344" y="804863"/>
            <a:ext cx="8191806" cy="559593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30552" y="5791201"/>
            <a:ext cx="932129" cy="63917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55038" y="5938338"/>
            <a:ext cx="932129" cy="63917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38949" y="3936206"/>
            <a:ext cx="1016794" cy="101679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42191" y="4055113"/>
            <a:ext cx="1016794" cy="101679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67169" y="4591740"/>
            <a:ext cx="1016794" cy="1016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65509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868 0.01111 L 1.11119 0.02199 L 1.10742 0.22315 L -0.02683 0.17338 L -0.02513 -0.00393 L -0.02513 -2.22222E-6 " pathEditMode="relative" rAng="0" ptsTypes="AAAAAA">
                                      <p:cBhvr>
                                        <p:cTn id="6" dur="25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487" y="983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repeatCount="indefinite" accel="50000" decel="50000" fill="hold" nodeType="withEffect">
                                  <p:stCondLst>
                                    <p:cond delay="110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0.02188 -1.11022E-16 L 1.15052 0.00995 L 1.14661 0.19444 L -0.00977 0.14884 L -0.00807 -0.01389 L -0.00807 -0.01042 " pathEditMode="relative" rAng="0" ptsTypes="AAAAAA">
                                      <p:cBhvr>
                                        <p:cTn id="8" dur="25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620" y="9028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656 0.03379 L 1.0875 0.02824 L 1.20157 0.42546 L 0.92344 0.59768 L -0.15625 0.55879 L -0.04218 0.03935 L -0.04218 0.03958 " pathEditMode="relative" rAng="0" ptsTypes="AAAAAAA">
                                      <p:cBhvr>
                                        <p:cTn id="10" dur="3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922" y="27917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repeatCount="indefinite" accel="50000" decel="50000" fill="hold" nodeType="withEffect">
                                  <p:stCondLst>
                                    <p:cond delay="100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0.01406 0.00578 L 1.1 0.00023 L 1.21406 0.39745 L 0.93594 0.56967 L -0.14375 0.53078 L -0.02969 0.01134 L -0.02969 0.01157 " pathEditMode="relative" rAng="0" ptsTypes="AAAAAAA">
                                      <p:cBhvr>
                                        <p:cTn id="12" dur="3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922" y="27917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repeatCount="indefinite" accel="50000" decel="50000" fill="hold" nodeType="withEffect">
                                  <p:stCondLst>
                                    <p:cond delay="200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2.70833E-6 1.48148E-6 L 1.11406 -0.00556 L 1.22812 0.39167 L 0.95 0.56389 L -0.12969 0.525 L -0.01563 0.00555 L -0.01563 0.00579 " pathEditMode="relative" rAng="0" ptsTypes="AAAAAAA">
                                      <p:cBhvr>
                                        <p:cTn id="14" dur="3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922" y="279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28688"/>
            <a:ext cx="10515600" cy="5595937"/>
          </a:xfrm>
        </p:spPr>
        <p:txBody>
          <a:bodyPr rtlCol="0">
            <a:normAutofit/>
          </a:bodyPr>
          <a:lstStyle/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3" name="标题 1"/>
          <p:cNvSpPr>
            <a:spLocks noGrp="1"/>
          </p:cNvSpPr>
          <p:nvPr>
            <p:ph type="title"/>
          </p:nvPr>
        </p:nvSpPr>
        <p:spPr>
          <a:xfrm>
            <a:off x="0" y="-3175"/>
            <a:ext cx="12192000" cy="808038"/>
          </a:xfrm>
          <a:solidFill>
            <a:srgbClr val="0070C0"/>
          </a:solidFill>
        </p:spPr>
        <p:txBody>
          <a:bodyPr/>
          <a:lstStyle/>
          <a:p>
            <a:pPr algn="ctr" eaLnBrk="1" hangingPunct="1"/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How Ants find foods</a:t>
            </a:r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12"/>
          </p:nvPr>
        </p:nvSpPr>
        <p:spPr bwMode="auto">
          <a:xfrm>
            <a:off x="8075613" y="6524625"/>
            <a:ext cx="4116387" cy="196850"/>
          </a:xfrm>
          <a:solidFill>
            <a:srgbClr val="0070C0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Md. Forhad Hossain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21150" y="6524625"/>
            <a:ext cx="3954463" cy="196850"/>
          </a:xfrm>
          <a:solidFill>
            <a:schemeClr val="accent1">
              <a:lumMod val="75000"/>
            </a:schemeClr>
          </a:solidFill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B. M. Junaed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6" name="日期占位符 5"/>
          <p:cNvSpPr>
            <a:spLocks noGrp="1"/>
          </p:cNvSpPr>
          <p:nvPr>
            <p:ph type="dt" sz="quarter" idx="10"/>
          </p:nvPr>
        </p:nvSpPr>
        <p:spPr bwMode="auto">
          <a:xfrm>
            <a:off x="0" y="6524625"/>
            <a:ext cx="4121150" cy="196850"/>
          </a:xfrm>
          <a:solidFill>
            <a:schemeClr val="accent1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 A. H. Akhand	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04955" y="804863"/>
            <a:ext cx="8190494" cy="559593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30552" y="5791201"/>
            <a:ext cx="932129" cy="63917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55038" y="5938338"/>
            <a:ext cx="932129" cy="63917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38949" y="3936206"/>
            <a:ext cx="1016794" cy="101679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42191" y="4055113"/>
            <a:ext cx="1016794" cy="101679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67169" y="4591740"/>
            <a:ext cx="1016794" cy="1016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98585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868 0.01111 L 1.11119 0.02199 L 1.10742 0.22315 L -0.02683 0.17338 L -0.02513 -0.00393 L -0.02513 -2.22222E-6 " pathEditMode="relative" rAng="0" ptsTypes="AAAAAA">
                                      <p:cBhvr>
                                        <p:cTn id="6" dur="25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487" y="983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repeatCount="indefinite" accel="50000" decel="50000" fill="hold" nodeType="withEffect">
                                  <p:stCondLst>
                                    <p:cond delay="110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0.02188 -1.11022E-16 L 1.15052 0.00995 L 1.14661 0.19444 L -0.00977 0.14884 L -0.00807 -0.01389 L -0.00807 -0.01042 " pathEditMode="relative" rAng="0" ptsTypes="AAAAAA">
                                      <p:cBhvr>
                                        <p:cTn id="8" dur="25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620" y="9028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656 0.03379 L 1.0875 0.02824 L 1.20157 0.42546 L 0.92344 0.59768 L -0.15625 0.55879 L -0.04218 0.03935 L -0.04218 0.03958 " pathEditMode="relative" rAng="0" ptsTypes="AAAAAAA">
                                      <p:cBhvr>
                                        <p:cTn id="10" dur="3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922" y="27917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repeatCount="indefinite" accel="50000" decel="50000" fill="hold" nodeType="withEffect">
                                  <p:stCondLst>
                                    <p:cond delay="100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0.01406 0.00578 L 1.1 0.00023 L 1.21406 0.39745 L 0.93594 0.56967 L -0.14375 0.53078 L -0.02969 0.01134 L -0.02969 0.01157 " pathEditMode="relative" rAng="0" ptsTypes="AAAAAAA">
                                      <p:cBhvr>
                                        <p:cTn id="12" dur="3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922" y="27917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repeatCount="indefinite" accel="50000" decel="50000" fill="hold" nodeType="withEffect">
                                  <p:stCondLst>
                                    <p:cond delay="200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2.70833E-6 1.48148E-6 L 1.11406 -0.00556 L 1.22812 0.39167 L 0.95 0.56389 L -0.12969 0.525 L -0.01563 0.00555 L -0.01563 0.00579 " pathEditMode="relative" rAng="0" ptsTypes="AAAAAAA">
                                      <p:cBhvr>
                                        <p:cTn id="14" dur="3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922" y="279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28688"/>
            <a:ext cx="10515600" cy="5595937"/>
          </a:xfrm>
        </p:spPr>
        <p:txBody>
          <a:bodyPr rtlCol="0">
            <a:normAutofit/>
          </a:bodyPr>
          <a:lstStyle/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3" name="标题 1"/>
          <p:cNvSpPr>
            <a:spLocks noGrp="1"/>
          </p:cNvSpPr>
          <p:nvPr>
            <p:ph type="title"/>
          </p:nvPr>
        </p:nvSpPr>
        <p:spPr>
          <a:xfrm>
            <a:off x="0" y="-3175"/>
            <a:ext cx="12192000" cy="808038"/>
          </a:xfrm>
          <a:solidFill>
            <a:srgbClr val="0070C0"/>
          </a:solidFill>
        </p:spPr>
        <p:txBody>
          <a:bodyPr/>
          <a:lstStyle/>
          <a:p>
            <a:pPr algn="ctr" eaLnBrk="1" hangingPunct="1"/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How Ants find foods</a:t>
            </a:r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12"/>
          </p:nvPr>
        </p:nvSpPr>
        <p:spPr bwMode="auto">
          <a:xfrm>
            <a:off x="8075613" y="6524625"/>
            <a:ext cx="4116387" cy="196850"/>
          </a:xfrm>
          <a:solidFill>
            <a:srgbClr val="0070C0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Md. Forhad Hossain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21150" y="6524625"/>
            <a:ext cx="3954463" cy="196850"/>
          </a:xfrm>
          <a:solidFill>
            <a:schemeClr val="accent1">
              <a:lumMod val="75000"/>
            </a:schemeClr>
          </a:solidFill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B. M. Junaed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6" name="日期占位符 5"/>
          <p:cNvSpPr>
            <a:spLocks noGrp="1"/>
          </p:cNvSpPr>
          <p:nvPr>
            <p:ph type="dt" sz="quarter" idx="10"/>
          </p:nvPr>
        </p:nvSpPr>
        <p:spPr bwMode="auto">
          <a:xfrm>
            <a:off x="0" y="6524625"/>
            <a:ext cx="4121150" cy="196850"/>
          </a:xfrm>
          <a:solidFill>
            <a:schemeClr val="accent1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 A. H. Akhand	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01157" y="805415"/>
            <a:ext cx="8189686" cy="559538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38949" y="3936206"/>
            <a:ext cx="1016794" cy="101679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42191" y="4055113"/>
            <a:ext cx="1016794" cy="101679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67169" y="4591740"/>
            <a:ext cx="1016794" cy="1016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47926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656 0.03379 L 1.0875 0.02824 L 1.20157 0.42546 L 0.92344 0.59768 L -0.15625 0.55879 L -0.04218 0.03935 L -0.04218 0.03958 " pathEditMode="relative" rAng="0" ptsTypes="AAAAAAA">
                                      <p:cBhvr>
                                        <p:cTn id="6" dur="3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922" y="27917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repeatCount="indefinite" accel="50000" decel="50000" fill="hold" nodeType="withEffect">
                                  <p:stCondLst>
                                    <p:cond delay="100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0.01406 0.00578 L 1.1 0.00023 L 1.21406 0.39745 L 0.93594 0.56967 L -0.14375 0.53078 L -0.02969 0.01134 L -0.02969 0.01157 " pathEditMode="relative" rAng="0" ptsTypes="AAAAAAA">
                                      <p:cBhvr>
                                        <p:cTn id="8" dur="3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922" y="27917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repeatCount="indefinite" accel="50000" decel="50000" fill="hold" nodeType="withEffect">
                                  <p:stCondLst>
                                    <p:cond delay="200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2.70833E-6 1.48148E-6 L 1.11406 -0.00556 L 1.22812 0.39167 L 0.95 0.56389 L -0.12969 0.525 L -0.01563 0.00555 L -0.01563 0.00579 " pathEditMode="relative" rAng="0" ptsTypes="AAAAAAA">
                                      <p:cBhvr>
                                        <p:cTn id="10" dur="3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922" y="279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28688"/>
            <a:ext cx="10515600" cy="5595937"/>
          </a:xfrm>
        </p:spPr>
        <p:txBody>
          <a:bodyPr rtlCol="0">
            <a:normAutofit/>
          </a:bodyPr>
          <a:lstStyle/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3" name="标题 1"/>
          <p:cNvSpPr>
            <a:spLocks noGrp="1"/>
          </p:cNvSpPr>
          <p:nvPr>
            <p:ph type="title"/>
          </p:nvPr>
        </p:nvSpPr>
        <p:spPr>
          <a:xfrm>
            <a:off x="0" y="-3175"/>
            <a:ext cx="12192000" cy="808038"/>
          </a:xfrm>
          <a:solidFill>
            <a:srgbClr val="0070C0"/>
          </a:solidFill>
        </p:spPr>
        <p:txBody>
          <a:bodyPr/>
          <a:lstStyle/>
          <a:p>
            <a:pPr algn="ctr" eaLnBrk="1" hangingPunct="1"/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How Ants find foods</a:t>
            </a:r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12"/>
          </p:nvPr>
        </p:nvSpPr>
        <p:spPr bwMode="auto">
          <a:xfrm>
            <a:off x="8075613" y="6524625"/>
            <a:ext cx="4116387" cy="196850"/>
          </a:xfrm>
          <a:solidFill>
            <a:srgbClr val="0070C0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Md. Forhad Hossain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21150" y="6524625"/>
            <a:ext cx="3954463" cy="196850"/>
          </a:xfrm>
          <a:solidFill>
            <a:schemeClr val="accent1">
              <a:lumMod val="75000"/>
            </a:schemeClr>
          </a:solidFill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B. M. Junaed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6" name="日期占位符 5"/>
          <p:cNvSpPr>
            <a:spLocks noGrp="1"/>
          </p:cNvSpPr>
          <p:nvPr>
            <p:ph type="dt" sz="quarter" idx="10"/>
          </p:nvPr>
        </p:nvSpPr>
        <p:spPr bwMode="auto">
          <a:xfrm>
            <a:off x="0" y="6524625"/>
            <a:ext cx="4121150" cy="196850"/>
          </a:xfrm>
          <a:solidFill>
            <a:schemeClr val="accent1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 A. H. Akhand	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02971" y="793901"/>
            <a:ext cx="8186057" cy="559238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30552" y="5791201"/>
            <a:ext cx="932129" cy="63917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55038" y="5938338"/>
            <a:ext cx="932129" cy="63917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38949" y="3936206"/>
            <a:ext cx="1016794" cy="101679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42191" y="4055113"/>
            <a:ext cx="1016794" cy="101679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67169" y="4591740"/>
            <a:ext cx="1016794" cy="1016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42178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868 0.01111 L 1.11119 0.02199 L 1.10742 0.22315 L -0.02683 0.17338 L -0.02513 -0.00393 L -0.02513 -2.22222E-6 " pathEditMode="relative" rAng="0" ptsTypes="AAAAAA">
                                      <p:cBhvr>
                                        <p:cTn id="6" dur="25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487" y="983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repeatCount="indefinite" accel="50000" decel="50000" fill="hold" nodeType="withEffect">
                                  <p:stCondLst>
                                    <p:cond delay="110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0.02188 -1.11022E-16 L 1.15052 0.00995 L 1.14661 0.19444 L -0.00977 0.14884 L -0.00807 -0.01389 L -0.00807 -0.01042 " pathEditMode="relative" rAng="0" ptsTypes="AAAAAA">
                                      <p:cBhvr>
                                        <p:cTn id="8" dur="25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620" y="9028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656 0.03379 L 1.0875 0.02824 L 1.20157 0.42546 L 0.92344 0.59768 L -0.15625 0.55879 L -0.04218 0.03935 L -0.04218 0.03958 " pathEditMode="relative" rAng="0" ptsTypes="AAAAAAA">
                                      <p:cBhvr>
                                        <p:cTn id="10" dur="3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922" y="27917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repeatCount="indefinite" accel="50000" decel="50000" fill="hold" nodeType="withEffect">
                                  <p:stCondLst>
                                    <p:cond delay="100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0.01406 0.00578 L 1.1 0.00023 L 1.21406 0.39745 L 0.93594 0.56967 L -0.14375 0.53078 L -0.02969 0.01134 L -0.02969 0.01157 " pathEditMode="relative" rAng="0" ptsTypes="AAAAAAA">
                                      <p:cBhvr>
                                        <p:cTn id="12" dur="3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922" y="27917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repeatCount="indefinite" accel="50000" decel="50000" fill="hold" nodeType="withEffect">
                                  <p:stCondLst>
                                    <p:cond delay="200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2.70833E-6 1.48148E-6 L 1.11406 -0.00556 L 1.22812 0.39167 L 0.95 0.56389 L -0.12969 0.525 L -0.01563 0.00555 L -0.01563 0.00579 " pathEditMode="relative" rAng="0" ptsTypes="AAAAAAA">
                                      <p:cBhvr>
                                        <p:cTn id="14" dur="3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922" y="279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28688"/>
            <a:ext cx="10515600" cy="5595937"/>
          </a:xfrm>
        </p:spPr>
        <p:txBody>
          <a:bodyPr rtlCol="0">
            <a:normAutofit/>
          </a:bodyPr>
          <a:lstStyle/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3" name="标题 1"/>
          <p:cNvSpPr>
            <a:spLocks noGrp="1"/>
          </p:cNvSpPr>
          <p:nvPr>
            <p:ph type="title"/>
          </p:nvPr>
        </p:nvSpPr>
        <p:spPr>
          <a:xfrm>
            <a:off x="0" y="-3175"/>
            <a:ext cx="12192000" cy="808038"/>
          </a:xfrm>
          <a:solidFill>
            <a:srgbClr val="0070C0"/>
          </a:solidFill>
        </p:spPr>
        <p:txBody>
          <a:bodyPr/>
          <a:lstStyle/>
          <a:p>
            <a:pPr algn="ctr" eaLnBrk="1" hangingPunct="1"/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How Ants find foods</a:t>
            </a:r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12"/>
          </p:nvPr>
        </p:nvSpPr>
        <p:spPr bwMode="auto">
          <a:xfrm>
            <a:off x="8075613" y="6524625"/>
            <a:ext cx="4116387" cy="196850"/>
          </a:xfrm>
          <a:solidFill>
            <a:srgbClr val="0070C0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Md. Forhad Hossain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21150" y="6524625"/>
            <a:ext cx="3954463" cy="196850"/>
          </a:xfrm>
          <a:solidFill>
            <a:schemeClr val="accent1">
              <a:lumMod val="75000"/>
            </a:schemeClr>
          </a:solidFill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B. M. Junaed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6" name="日期占位符 5"/>
          <p:cNvSpPr>
            <a:spLocks noGrp="1"/>
          </p:cNvSpPr>
          <p:nvPr>
            <p:ph type="dt" sz="quarter" idx="10"/>
          </p:nvPr>
        </p:nvSpPr>
        <p:spPr bwMode="auto">
          <a:xfrm>
            <a:off x="0" y="6524625"/>
            <a:ext cx="4121150" cy="196850"/>
          </a:xfrm>
          <a:solidFill>
            <a:schemeClr val="accent1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 A. H. Akhand	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05807" y="804863"/>
            <a:ext cx="8190494" cy="559593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30552" y="5791201"/>
            <a:ext cx="932129" cy="63917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55038" y="5938338"/>
            <a:ext cx="932129" cy="63917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38949" y="3936206"/>
            <a:ext cx="1016794" cy="101679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42191" y="4055113"/>
            <a:ext cx="1016794" cy="101679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67169" y="4591740"/>
            <a:ext cx="1016794" cy="1016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88546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868 0.01111 L 1.11119 0.02199 L 1.10742 0.22315 L -0.02683 0.17338 L -0.02513 -0.00393 L -0.02513 -2.22222E-6 " pathEditMode="relative" rAng="0" ptsTypes="AAAAAA">
                                      <p:cBhvr>
                                        <p:cTn id="6" dur="25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487" y="983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repeatCount="indefinite" accel="50000" decel="50000" fill="hold" nodeType="withEffect">
                                  <p:stCondLst>
                                    <p:cond delay="110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0.02188 -1.11022E-16 L 1.15052 0.00995 L 1.14661 0.19444 L -0.00977 0.14884 L -0.00807 -0.01389 L -0.00807 -0.01042 " pathEditMode="relative" rAng="0" ptsTypes="AAAAAA">
                                      <p:cBhvr>
                                        <p:cTn id="8" dur="25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620" y="9028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656 0.03379 L 1.0875 0.02824 L 1.20157 0.42546 L 0.92344 0.59768 L -0.15625 0.55879 L -0.04218 0.03935 L -0.04218 0.03958 " pathEditMode="relative" rAng="0" ptsTypes="AAAAAAA">
                                      <p:cBhvr>
                                        <p:cTn id="10" dur="3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922" y="27917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repeatCount="indefinite" accel="50000" decel="50000" fill="hold" nodeType="withEffect">
                                  <p:stCondLst>
                                    <p:cond delay="100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0.01406 0.00578 L 1.1 0.00023 L 1.21406 0.39745 L 0.93594 0.56967 L -0.14375 0.53078 L -0.02969 0.01134 L -0.02969 0.01157 " pathEditMode="relative" rAng="0" ptsTypes="AAAAAAA">
                                      <p:cBhvr>
                                        <p:cTn id="12" dur="3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922" y="27917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repeatCount="indefinite" accel="50000" decel="50000" fill="hold" nodeType="withEffect">
                                  <p:stCondLst>
                                    <p:cond delay="200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2.70833E-6 1.48148E-6 L 1.11406 -0.00556 L 1.22812 0.39167 L 0.95 0.56389 L -0.12969 0.525 L -0.01563 0.00555 L -0.01563 0.00579 " pathEditMode="relative" rAng="0" ptsTypes="AAAAAAA">
                                      <p:cBhvr>
                                        <p:cTn id="14" dur="3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922" y="279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28688"/>
            <a:ext cx="10515600" cy="5595937"/>
          </a:xfrm>
        </p:spPr>
        <p:txBody>
          <a:bodyPr rtlCol="0">
            <a:normAutofit/>
          </a:bodyPr>
          <a:lstStyle/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3" name="标题 1"/>
          <p:cNvSpPr>
            <a:spLocks noGrp="1"/>
          </p:cNvSpPr>
          <p:nvPr>
            <p:ph type="title"/>
          </p:nvPr>
        </p:nvSpPr>
        <p:spPr>
          <a:xfrm>
            <a:off x="0" y="-3175"/>
            <a:ext cx="12192000" cy="808038"/>
          </a:xfrm>
          <a:solidFill>
            <a:srgbClr val="0070C0"/>
          </a:solidFill>
        </p:spPr>
        <p:txBody>
          <a:bodyPr/>
          <a:lstStyle/>
          <a:p>
            <a:pPr algn="ctr" eaLnBrk="1" hangingPunct="1"/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How Ants find foods</a:t>
            </a:r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12"/>
          </p:nvPr>
        </p:nvSpPr>
        <p:spPr bwMode="auto">
          <a:xfrm>
            <a:off x="8075613" y="6524625"/>
            <a:ext cx="4116387" cy="196850"/>
          </a:xfrm>
          <a:solidFill>
            <a:srgbClr val="0070C0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Md. Forhad Hossain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21150" y="6524625"/>
            <a:ext cx="3954463" cy="196850"/>
          </a:xfrm>
          <a:solidFill>
            <a:schemeClr val="accent1">
              <a:lumMod val="75000"/>
            </a:schemeClr>
          </a:solidFill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B. M. Junaed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6" name="日期占位符 5"/>
          <p:cNvSpPr>
            <a:spLocks noGrp="1"/>
          </p:cNvSpPr>
          <p:nvPr>
            <p:ph type="dt" sz="quarter" idx="10"/>
          </p:nvPr>
        </p:nvSpPr>
        <p:spPr bwMode="auto">
          <a:xfrm>
            <a:off x="0" y="6524625"/>
            <a:ext cx="4121150" cy="196850"/>
          </a:xfrm>
          <a:solidFill>
            <a:schemeClr val="accent1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 A. H. Akhand	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02972" y="804863"/>
            <a:ext cx="8191257" cy="559593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30552" y="5791201"/>
            <a:ext cx="932129" cy="63917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55038" y="5938338"/>
            <a:ext cx="932129" cy="63917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38949" y="3936206"/>
            <a:ext cx="1016794" cy="101679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42191" y="4055113"/>
            <a:ext cx="1016794" cy="101679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67169" y="4591740"/>
            <a:ext cx="1016794" cy="1016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06271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868 0.01111 L 1.11119 0.02199 L 1.10742 0.22315 L -0.02683 0.17338 L -0.02513 -0.00393 L -0.02513 -2.22222E-6 " pathEditMode="relative" rAng="0" ptsTypes="AAAAAA">
                                      <p:cBhvr>
                                        <p:cTn id="6" dur="25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487" y="983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repeatCount="indefinite" accel="50000" decel="50000" fill="hold" nodeType="withEffect">
                                  <p:stCondLst>
                                    <p:cond delay="110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0.02188 -1.11022E-16 L 1.15052 0.00995 L 1.14661 0.19444 L -0.00977 0.14884 L -0.00807 -0.01389 L -0.00807 -0.01042 " pathEditMode="relative" rAng="0" ptsTypes="AAAAAA">
                                      <p:cBhvr>
                                        <p:cTn id="8" dur="25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620" y="9028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656 0.03379 L 1.0875 0.02824 L 1.20157 0.42546 L 0.92344 0.59768 L -0.15625 0.55879 L -0.04218 0.03935 L -0.04218 0.03958 " pathEditMode="relative" rAng="0" ptsTypes="AAAAAAA">
                                      <p:cBhvr>
                                        <p:cTn id="10" dur="3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922" y="27917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repeatCount="indefinite" accel="50000" decel="50000" fill="hold" nodeType="withEffect">
                                  <p:stCondLst>
                                    <p:cond delay="100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0.01406 0.00578 L 1.1 0.00023 L 1.21406 0.39745 L 0.93594 0.56967 L -0.14375 0.53078 L -0.02969 0.01134 L -0.02969 0.01157 " pathEditMode="relative" rAng="0" ptsTypes="AAAAAAA">
                                      <p:cBhvr>
                                        <p:cTn id="12" dur="3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922" y="27917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repeatCount="indefinite" accel="50000" decel="50000" fill="hold" nodeType="withEffect">
                                  <p:stCondLst>
                                    <p:cond delay="200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2.70833E-6 1.48148E-6 L 1.11406 -0.00556 L 1.22812 0.39167 L 0.95 0.56389 L -0.12969 0.525 L -0.01563 0.00555 L -0.01563 0.00579 " pathEditMode="relative" rAng="0" ptsTypes="AAAAAAA">
                                      <p:cBhvr>
                                        <p:cTn id="14" dur="3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922" y="279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Three different versions are proposed:</a:t>
            </a:r>
          </a:p>
          <a:p>
            <a:pPr lvl="1"/>
            <a:r>
              <a:rPr lang="en-US" dirty="0"/>
              <a:t>Ant Density</a:t>
            </a:r>
          </a:p>
          <a:p>
            <a:pPr lvl="1"/>
            <a:r>
              <a:rPr lang="en-US" dirty="0"/>
              <a:t>Ant quantity</a:t>
            </a:r>
          </a:p>
          <a:p>
            <a:pPr lvl="1"/>
            <a:r>
              <a:rPr lang="en-US" dirty="0"/>
              <a:t>Ant cycle</a:t>
            </a:r>
          </a:p>
          <a:p>
            <a:pPr lvl="1"/>
            <a:endParaRPr 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solidFill>
            <a:srgbClr val="0070C0"/>
          </a:solidFill>
        </p:spPr>
        <p:txBody>
          <a:bodyPr/>
          <a:lstStyle/>
          <a:p>
            <a:pPr algn="ctr" eaLnBrk="1" hangingPunct="1"/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Ant System (AS)</a:t>
            </a:r>
          </a:p>
        </p:txBody>
      </p:sp>
      <p:sp>
        <p:nvSpPr>
          <p:cNvPr id="6" name="Right Brace 5"/>
          <p:cNvSpPr/>
          <p:nvPr/>
        </p:nvSpPr>
        <p:spPr>
          <a:xfrm>
            <a:off x="3695700" y="2324100"/>
            <a:ext cx="781050" cy="78105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610100" y="2381250"/>
            <a:ext cx="4495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Pheromone updated after each move of ant </a:t>
            </a:r>
            <a:r>
              <a:rPr lang="en-US" dirty="0"/>
              <a:t>from one city to another</a:t>
            </a:r>
          </a:p>
        </p:txBody>
      </p:sp>
      <p:sp>
        <p:nvSpPr>
          <p:cNvPr id="9" name="Right Brace 8"/>
          <p:cNvSpPr/>
          <p:nvPr/>
        </p:nvSpPr>
        <p:spPr>
          <a:xfrm>
            <a:off x="3752850" y="3162300"/>
            <a:ext cx="895350" cy="5334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4743450" y="3048000"/>
            <a:ext cx="3238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Pheromone updates after all ants construct tour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3981450"/>
            <a:ext cx="91630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/>
            <a:r>
              <a:rPr lang="en-US" sz="2800" dirty="0"/>
              <a:t>Ant cycle is performed much better than other two.</a:t>
            </a:r>
          </a:p>
          <a:p>
            <a:pPr marL="914400" lvl="1" indent="-457200">
              <a:buNone/>
            </a:pPr>
            <a:r>
              <a:rPr lang="en-US" sz="2800" dirty="0"/>
              <a:t>We will present Ant-cycle algorithm</a:t>
            </a:r>
          </a:p>
        </p:txBody>
      </p:sp>
      <p:sp>
        <p:nvSpPr>
          <p:cNvPr id="12" name="灯片编号占位符 3"/>
          <p:cNvSpPr>
            <a:spLocks noGrp="1"/>
          </p:cNvSpPr>
          <p:nvPr>
            <p:ph type="sldNum" sz="quarter" idx="12"/>
          </p:nvPr>
        </p:nvSpPr>
        <p:spPr bwMode="auto">
          <a:xfrm>
            <a:off x="8075613" y="6524625"/>
            <a:ext cx="4116387" cy="196850"/>
          </a:xfrm>
          <a:solidFill>
            <a:srgbClr val="0070C0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Md. Forhad Hossain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21150" y="6524625"/>
            <a:ext cx="3954463" cy="196850"/>
          </a:xfrm>
          <a:solidFill>
            <a:schemeClr val="accent1">
              <a:lumMod val="75000"/>
            </a:schemeClr>
          </a:solidFill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B. M. Junaed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日期占位符 5"/>
          <p:cNvSpPr>
            <a:spLocks noGrp="1"/>
          </p:cNvSpPr>
          <p:nvPr>
            <p:ph type="dt" sz="quarter" idx="10"/>
          </p:nvPr>
        </p:nvSpPr>
        <p:spPr bwMode="auto">
          <a:xfrm>
            <a:off x="0" y="6524625"/>
            <a:ext cx="4121150" cy="196850"/>
          </a:xfrm>
          <a:solidFill>
            <a:schemeClr val="accent1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 A. H. Akhand	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build="allAtOnce"/>
      <p:bldP spid="9" grpId="0" animBg="1"/>
      <p:bldP spid="10" grpId="0" build="allAtOnce"/>
      <p:bldP spid="11" grpId="0" build="allAtOnce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28688"/>
            <a:ext cx="10515600" cy="5595937"/>
          </a:xfrm>
        </p:spPr>
        <p:txBody>
          <a:bodyPr rtlCol="0">
            <a:normAutofit/>
          </a:bodyPr>
          <a:lstStyle/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3" name="标题 1"/>
          <p:cNvSpPr>
            <a:spLocks noGrp="1"/>
          </p:cNvSpPr>
          <p:nvPr>
            <p:ph type="title"/>
          </p:nvPr>
        </p:nvSpPr>
        <p:spPr>
          <a:xfrm>
            <a:off x="0" y="-3175"/>
            <a:ext cx="12192000" cy="808038"/>
          </a:xfrm>
          <a:solidFill>
            <a:srgbClr val="0070C0"/>
          </a:solidFill>
        </p:spPr>
        <p:txBody>
          <a:bodyPr/>
          <a:lstStyle/>
          <a:p>
            <a:pPr algn="ctr" eaLnBrk="0" hangingPunct="0"/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Ant Systems (AS) </a:t>
            </a:r>
            <a:endParaRPr lang="en-US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12"/>
          </p:nvPr>
        </p:nvSpPr>
        <p:spPr bwMode="auto">
          <a:xfrm>
            <a:off x="8075613" y="6524625"/>
            <a:ext cx="4116387" cy="196850"/>
          </a:xfrm>
          <a:solidFill>
            <a:srgbClr val="0070C0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Md. Forhad Hossain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21150" y="6524625"/>
            <a:ext cx="3954463" cy="196850"/>
          </a:xfrm>
          <a:solidFill>
            <a:schemeClr val="accent1">
              <a:lumMod val="75000"/>
            </a:schemeClr>
          </a:solidFill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B. M. Junaed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6" name="日期占位符 5"/>
          <p:cNvSpPr>
            <a:spLocks noGrp="1"/>
          </p:cNvSpPr>
          <p:nvPr>
            <p:ph type="dt" sz="quarter" idx="10"/>
          </p:nvPr>
        </p:nvSpPr>
        <p:spPr bwMode="auto">
          <a:xfrm>
            <a:off x="0" y="6524625"/>
            <a:ext cx="4121150" cy="196850"/>
          </a:xfrm>
          <a:solidFill>
            <a:schemeClr val="accent1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 A. H. Akhand	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798254" y="1181755"/>
            <a:ext cx="592639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defTabSz="914400" eaLnBrk="0" hangingPunct="0">
              <a:lnSpc>
                <a:spcPct val="100000"/>
              </a:lnSpc>
              <a:buClrTx/>
              <a:buSzTx/>
              <a:buFontTx/>
              <a:buNone/>
            </a:pPr>
            <a:r>
              <a:rPr lang="en-US" sz="2800" b="1" dirty="0">
                <a:solidFill>
                  <a:srgbClr val="FF0066"/>
                </a:solidFill>
                <a:latin typeface="Arial" panose="020B0604020202020204" pitchFamily="34" charset="0"/>
              </a:rPr>
              <a:t>Ant Systems for TSP: </a:t>
            </a: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798254" y="1747382"/>
            <a:ext cx="1051560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defTabSz="914400" eaLnBrk="0" hangingPunct="0">
              <a:lnSpc>
                <a:spcPct val="125000"/>
              </a:lnSpc>
              <a:buClrTx/>
              <a:buSzTx/>
              <a:buFontTx/>
              <a:buNone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</a:rPr>
              <a:t>      Graph (N,E): where N = cities/nodes, E = edges </a:t>
            </a:r>
          </a:p>
          <a:p>
            <a:pPr defTabSz="914400" eaLnBrk="0" hangingPunct="0">
              <a:lnSpc>
                <a:spcPct val="125000"/>
              </a:lnSpc>
              <a:buClrTx/>
              <a:buSzTx/>
              <a:buFontTx/>
              <a:buNone/>
            </a:pPr>
            <a:r>
              <a:rPr lang="en-US" i="1" dirty="0">
                <a:solidFill>
                  <a:schemeClr val="tx1"/>
                </a:solidFill>
                <a:latin typeface="Arial" panose="020B0604020202020204" pitchFamily="34" charset="0"/>
              </a:rPr>
              <a:t>             = the tour cost from city </a:t>
            </a:r>
            <a:r>
              <a:rPr lang="en-US" i="1" dirty="0" err="1">
                <a:solidFill>
                  <a:schemeClr val="tx1"/>
                </a:solidFill>
                <a:latin typeface="Arial" panose="020B0604020202020204" pitchFamily="34" charset="0"/>
              </a:rPr>
              <a:t>i</a:t>
            </a:r>
            <a:r>
              <a:rPr lang="en-US" i="1" dirty="0">
                <a:solidFill>
                  <a:schemeClr val="tx1"/>
                </a:solidFill>
                <a:latin typeface="Arial" panose="020B0604020202020204" pitchFamily="34" charset="0"/>
              </a:rPr>
              <a:t> to city j (edge weight)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914400" eaLnBrk="0" hangingPunct="0">
              <a:lnSpc>
                <a:spcPct val="100000"/>
              </a:lnSpc>
              <a:buClrTx/>
              <a:buSzTx/>
              <a:buFontTx/>
              <a:buNone/>
            </a:pPr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914400" eaLnBrk="0" hangingPunct="0">
              <a:lnSpc>
                <a:spcPct val="100000"/>
              </a:lnSpc>
              <a:buClrTx/>
              <a:buSzTx/>
              <a:buFontTx/>
              <a:buNone/>
            </a:pPr>
            <a:r>
              <a:rPr lang="en-US" dirty="0">
                <a:solidFill>
                  <a:srgbClr val="0000FF"/>
                </a:solidFill>
                <a:latin typeface="Arial" panose="020B0604020202020204" pitchFamily="34" charset="0"/>
              </a:rPr>
              <a:t>Ant move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</a:rPr>
              <a:t> from one city</a:t>
            </a:r>
            <a:r>
              <a:rPr lang="en-US" dirty="0">
                <a:solidFill>
                  <a:srgbClr val="FF33CC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FF33CC"/>
                </a:solidFill>
                <a:latin typeface="Arial" panose="020B0604020202020204" pitchFamily="34" charset="0"/>
              </a:rPr>
              <a:t>i</a:t>
            </a:r>
            <a:r>
              <a:rPr lang="en-US" dirty="0">
                <a:solidFill>
                  <a:srgbClr val="FF33CC"/>
                </a:solidFill>
                <a:latin typeface="Arial" panose="020B0604020202020204" pitchFamily="34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</a:rPr>
              <a:t>to the next</a:t>
            </a:r>
            <a:r>
              <a:rPr lang="en-US" dirty="0">
                <a:solidFill>
                  <a:srgbClr val="FF33CC"/>
                </a:solidFill>
                <a:latin typeface="Arial" panose="020B0604020202020204" pitchFamily="34" charset="0"/>
              </a:rPr>
              <a:t> j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</a:rPr>
              <a:t> with some </a:t>
            </a:r>
            <a:r>
              <a:rPr lang="en-US" dirty="0">
                <a:solidFill>
                  <a:srgbClr val="CC00FF"/>
                </a:solidFill>
                <a:latin typeface="Arial" panose="020B0604020202020204" pitchFamily="34" charset="0"/>
              </a:rPr>
              <a:t>transition probability.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  <a:p>
            <a:pPr defTabSz="914400" eaLnBrk="0" hangingPunct="0">
              <a:lnSpc>
                <a:spcPct val="100000"/>
              </a:lnSpc>
              <a:buClrTx/>
              <a:buSzTx/>
              <a:buFontTx/>
              <a:buNone/>
            </a:pPr>
            <a:endParaRPr 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pSp>
        <p:nvGrpSpPr>
          <p:cNvPr id="9" name="Group 27"/>
          <p:cNvGrpSpPr>
            <a:grpSpLocks/>
          </p:cNvGrpSpPr>
          <p:nvPr/>
        </p:nvGrpSpPr>
        <p:grpSpPr bwMode="auto">
          <a:xfrm>
            <a:off x="3465254" y="3581394"/>
            <a:ext cx="4775200" cy="2743200"/>
            <a:chOff x="768" y="2496"/>
            <a:chExt cx="3008" cy="1728"/>
          </a:xfrm>
        </p:grpSpPr>
        <p:pic>
          <p:nvPicPr>
            <p:cNvPr id="10" name="Picture 7" descr="j0215291"/>
            <p:cNvPicPr preferRelativeResize="0"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6" y="2976"/>
              <a:ext cx="272" cy="4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8" descr="j0215291"/>
            <p:cNvPicPr preferRelativeResize="0"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28" y="3792"/>
              <a:ext cx="272" cy="4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9" descr="j0215291"/>
            <p:cNvPicPr preferRelativeResize="0"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04" y="2496"/>
              <a:ext cx="272" cy="4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10" descr="j0233174"/>
            <p:cNvPicPr preferRelativeResize="0"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8" y="3072"/>
              <a:ext cx="294" cy="4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4" name="Group 11"/>
            <p:cNvGrpSpPr>
              <a:grpSpLocks/>
            </p:cNvGrpSpPr>
            <p:nvPr/>
          </p:nvGrpSpPr>
          <p:grpSpPr bwMode="auto">
            <a:xfrm>
              <a:off x="1152" y="2976"/>
              <a:ext cx="2304" cy="1008"/>
              <a:chOff x="1152" y="2976"/>
              <a:chExt cx="2304" cy="1008"/>
            </a:xfrm>
          </p:grpSpPr>
          <p:sp>
            <p:nvSpPr>
              <p:cNvPr id="16" name="Oval 12"/>
              <p:cNvSpPr>
                <a:spLocks noChangeArrowheads="1"/>
              </p:cNvSpPr>
              <p:nvPr/>
            </p:nvSpPr>
            <p:spPr bwMode="auto">
              <a:xfrm>
                <a:off x="1152" y="3072"/>
                <a:ext cx="192" cy="192"/>
              </a:xfrm>
              <a:prstGeom prst="ellipse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" name="Line 13"/>
              <p:cNvSpPr>
                <a:spLocks noChangeShapeType="1"/>
              </p:cNvSpPr>
              <p:nvPr/>
            </p:nvSpPr>
            <p:spPr bwMode="auto">
              <a:xfrm flipV="1">
                <a:off x="1344" y="3072"/>
                <a:ext cx="1104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8" name="Line 14"/>
              <p:cNvSpPr>
                <a:spLocks noChangeShapeType="1"/>
              </p:cNvSpPr>
              <p:nvPr/>
            </p:nvSpPr>
            <p:spPr bwMode="auto">
              <a:xfrm>
                <a:off x="1296" y="3264"/>
                <a:ext cx="768" cy="5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9" name="Line 15"/>
              <p:cNvSpPr>
                <a:spLocks noChangeShapeType="1"/>
              </p:cNvSpPr>
              <p:nvPr/>
            </p:nvSpPr>
            <p:spPr bwMode="auto">
              <a:xfrm>
                <a:off x="1344" y="3216"/>
                <a:ext cx="192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0" name="Line 16"/>
              <p:cNvSpPr>
                <a:spLocks noChangeShapeType="1"/>
              </p:cNvSpPr>
              <p:nvPr/>
            </p:nvSpPr>
            <p:spPr bwMode="auto">
              <a:xfrm flipV="1">
                <a:off x="2112" y="3168"/>
                <a:ext cx="384" cy="6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1" name="Line 17"/>
              <p:cNvSpPr>
                <a:spLocks noChangeShapeType="1"/>
              </p:cNvSpPr>
              <p:nvPr/>
            </p:nvSpPr>
            <p:spPr bwMode="auto">
              <a:xfrm>
                <a:off x="2592" y="3120"/>
                <a:ext cx="72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2" name="Line 18"/>
              <p:cNvSpPr>
                <a:spLocks noChangeShapeType="1"/>
              </p:cNvSpPr>
              <p:nvPr/>
            </p:nvSpPr>
            <p:spPr bwMode="auto">
              <a:xfrm flipV="1">
                <a:off x="2160" y="3552"/>
                <a:ext cx="1104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3" name="Oval 19"/>
              <p:cNvSpPr>
                <a:spLocks noChangeArrowheads="1"/>
              </p:cNvSpPr>
              <p:nvPr/>
            </p:nvSpPr>
            <p:spPr bwMode="auto">
              <a:xfrm>
                <a:off x="2016" y="3792"/>
                <a:ext cx="192" cy="192"/>
              </a:xfrm>
              <a:prstGeom prst="ellipse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" name="Oval 20"/>
              <p:cNvSpPr>
                <a:spLocks noChangeArrowheads="1"/>
              </p:cNvSpPr>
              <p:nvPr/>
            </p:nvSpPr>
            <p:spPr bwMode="auto">
              <a:xfrm>
                <a:off x="3264" y="3408"/>
                <a:ext cx="192" cy="192"/>
              </a:xfrm>
              <a:prstGeom prst="ellipse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" name="Oval 21"/>
              <p:cNvSpPr>
                <a:spLocks noChangeArrowheads="1"/>
              </p:cNvSpPr>
              <p:nvPr/>
            </p:nvSpPr>
            <p:spPr bwMode="auto">
              <a:xfrm>
                <a:off x="2400" y="2976"/>
                <a:ext cx="192" cy="192"/>
              </a:xfrm>
              <a:prstGeom prst="ellipse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" name="Text Box 22"/>
              <p:cNvSpPr txBox="1">
                <a:spLocks noChangeArrowheads="1"/>
              </p:cNvSpPr>
              <p:nvPr/>
            </p:nvSpPr>
            <p:spPr bwMode="auto">
              <a:xfrm>
                <a:off x="1152" y="3072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1pPr>
                <a:lvl2pPr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2pPr>
                <a:lvl3pPr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3pPr>
                <a:lvl4pPr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4pPr>
                <a:lvl5pPr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5pPr>
                <a:lvl6pPr fontAlgn="base">
                  <a:lnSpc>
                    <a:spcPct val="25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6pPr>
                <a:lvl7pPr fontAlgn="base">
                  <a:lnSpc>
                    <a:spcPct val="25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7pPr>
                <a:lvl8pPr fontAlgn="base">
                  <a:lnSpc>
                    <a:spcPct val="25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8pPr>
                <a:lvl9pPr fontAlgn="base">
                  <a:lnSpc>
                    <a:spcPct val="25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defTabSz="914400"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sz="1400">
                    <a:solidFill>
                      <a:schemeClr val="tx1"/>
                    </a:solidFill>
                  </a:rPr>
                  <a:t>A</a:t>
                </a:r>
              </a:p>
            </p:txBody>
          </p:sp>
          <p:sp>
            <p:nvSpPr>
              <p:cNvPr id="27" name="Text Box 23"/>
              <p:cNvSpPr txBox="1">
                <a:spLocks noChangeArrowheads="1"/>
              </p:cNvSpPr>
              <p:nvPr/>
            </p:nvSpPr>
            <p:spPr bwMode="auto">
              <a:xfrm>
                <a:off x="3264" y="3408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1pPr>
                <a:lvl2pPr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2pPr>
                <a:lvl3pPr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3pPr>
                <a:lvl4pPr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4pPr>
                <a:lvl5pPr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5pPr>
                <a:lvl6pPr fontAlgn="base">
                  <a:lnSpc>
                    <a:spcPct val="25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6pPr>
                <a:lvl7pPr fontAlgn="base">
                  <a:lnSpc>
                    <a:spcPct val="25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7pPr>
                <a:lvl8pPr fontAlgn="base">
                  <a:lnSpc>
                    <a:spcPct val="25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8pPr>
                <a:lvl9pPr fontAlgn="base">
                  <a:lnSpc>
                    <a:spcPct val="25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defTabSz="914400"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sz="1400">
                    <a:solidFill>
                      <a:schemeClr val="tx1"/>
                    </a:solidFill>
                  </a:rPr>
                  <a:t>D</a:t>
                </a:r>
              </a:p>
            </p:txBody>
          </p:sp>
          <p:sp>
            <p:nvSpPr>
              <p:cNvPr id="28" name="Text Box 24"/>
              <p:cNvSpPr txBox="1">
                <a:spLocks noChangeArrowheads="1"/>
              </p:cNvSpPr>
              <p:nvPr/>
            </p:nvSpPr>
            <p:spPr bwMode="auto">
              <a:xfrm>
                <a:off x="2016" y="3792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1pPr>
                <a:lvl2pPr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2pPr>
                <a:lvl3pPr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3pPr>
                <a:lvl4pPr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4pPr>
                <a:lvl5pPr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5pPr>
                <a:lvl6pPr fontAlgn="base">
                  <a:lnSpc>
                    <a:spcPct val="25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6pPr>
                <a:lvl7pPr fontAlgn="base">
                  <a:lnSpc>
                    <a:spcPct val="25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7pPr>
                <a:lvl8pPr fontAlgn="base">
                  <a:lnSpc>
                    <a:spcPct val="25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8pPr>
                <a:lvl9pPr fontAlgn="base">
                  <a:lnSpc>
                    <a:spcPct val="25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defTabSz="914400"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sz="1400">
                    <a:solidFill>
                      <a:schemeClr val="tx1"/>
                    </a:solidFill>
                  </a:rPr>
                  <a:t>C</a:t>
                </a:r>
              </a:p>
            </p:txBody>
          </p:sp>
          <p:sp>
            <p:nvSpPr>
              <p:cNvPr id="29" name="Text Box 25"/>
              <p:cNvSpPr txBox="1">
                <a:spLocks noChangeArrowheads="1"/>
              </p:cNvSpPr>
              <p:nvPr/>
            </p:nvSpPr>
            <p:spPr bwMode="auto">
              <a:xfrm>
                <a:off x="2400" y="2976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1pPr>
                <a:lvl2pPr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2pPr>
                <a:lvl3pPr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3pPr>
                <a:lvl4pPr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4pPr>
                <a:lvl5pPr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5pPr>
                <a:lvl6pPr fontAlgn="base">
                  <a:lnSpc>
                    <a:spcPct val="25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6pPr>
                <a:lvl7pPr fontAlgn="base">
                  <a:lnSpc>
                    <a:spcPct val="25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7pPr>
                <a:lvl8pPr fontAlgn="base">
                  <a:lnSpc>
                    <a:spcPct val="25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8pPr>
                <a:lvl9pPr fontAlgn="base">
                  <a:lnSpc>
                    <a:spcPct val="25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400">
                    <a:solidFill>
                      <a:srgbClr val="0000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defTabSz="914400"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sz="1400">
                    <a:solidFill>
                      <a:schemeClr val="tx1"/>
                    </a:solidFill>
                  </a:rPr>
                  <a:t>B</a:t>
                </a:r>
              </a:p>
            </p:txBody>
          </p:sp>
        </p:grpSp>
        <p:pic>
          <p:nvPicPr>
            <p:cNvPr id="15" name="Picture 26" descr="j0215291"/>
            <p:cNvPicPr preferRelativeResize="0"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04" y="3312"/>
              <a:ext cx="272" cy="4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30" name="Picture 2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30552" y="5791201"/>
            <a:ext cx="932129" cy="639174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55038" y="5938338"/>
            <a:ext cx="932129" cy="639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77460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868 0.01111 L 1.11119 0.02199 L 1.10742 0.22315 L -0.02683 0.17338 L -0.02513 -0.00393 L -0.02513 -2.22222E-6 " pathEditMode="relative" rAng="0" ptsTypes="AAAAAA">
                                      <p:cBhvr>
                                        <p:cTn id="6" dur="25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487" y="983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repeatCount="indefinite" accel="50000" decel="50000" fill="hold" nodeType="withEffect">
                                  <p:stCondLst>
                                    <p:cond delay="110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0.02188 -1.11022E-16 L 1.15052 0.00995 L 1.14661 0.19444 L -0.00977 0.14884 L -0.00807 -0.01389 L -0.00807 -0.01042 " pathEditMode="relative" rAng="0" ptsTypes="AAAAAA">
                                      <p:cBhvr>
                                        <p:cTn id="8" dur="25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620" y="902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28688"/>
            <a:ext cx="10515600" cy="5595937"/>
          </a:xfrm>
        </p:spPr>
        <p:txBody>
          <a:bodyPr rtlCol="0">
            <a:normAutofit/>
          </a:bodyPr>
          <a:lstStyle/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3" name="标题 1"/>
          <p:cNvSpPr>
            <a:spLocks noGrp="1"/>
          </p:cNvSpPr>
          <p:nvPr>
            <p:ph type="title"/>
          </p:nvPr>
        </p:nvSpPr>
        <p:spPr>
          <a:xfrm>
            <a:off x="0" y="-3175"/>
            <a:ext cx="12192000" cy="808038"/>
          </a:xfrm>
          <a:solidFill>
            <a:srgbClr val="0070C0"/>
          </a:solidFill>
        </p:spPr>
        <p:txBody>
          <a:bodyPr/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Tour Construction</a:t>
            </a:r>
            <a:endParaRPr lang="en-US" sz="4000" b="1" dirty="0">
              <a:solidFill>
                <a:schemeClr val="bg1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12"/>
          </p:nvPr>
        </p:nvSpPr>
        <p:spPr bwMode="auto">
          <a:xfrm>
            <a:off x="8075613" y="6524625"/>
            <a:ext cx="4116387" cy="196850"/>
          </a:xfrm>
          <a:solidFill>
            <a:srgbClr val="0070C0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Md. Forhad Hossain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21150" y="6524625"/>
            <a:ext cx="3954463" cy="196850"/>
          </a:xfrm>
          <a:solidFill>
            <a:schemeClr val="accent1">
              <a:lumMod val="75000"/>
            </a:schemeClr>
          </a:solidFill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B. M. Junaed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6" name="日期占位符 5"/>
          <p:cNvSpPr>
            <a:spLocks noGrp="1"/>
          </p:cNvSpPr>
          <p:nvPr>
            <p:ph type="dt" sz="quarter" idx="10"/>
          </p:nvPr>
        </p:nvSpPr>
        <p:spPr bwMode="auto">
          <a:xfrm>
            <a:off x="0" y="6524625"/>
            <a:ext cx="4121150" cy="196850"/>
          </a:xfrm>
          <a:solidFill>
            <a:schemeClr val="accent1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 A. H. Akhand	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838200" y="1004094"/>
            <a:ext cx="10515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defTabSz="914400" eaLnBrk="0" hangingPunct="0">
              <a:lnSpc>
                <a:spcPct val="100000"/>
              </a:lnSpc>
              <a:buClrTx/>
              <a:buSzTx/>
              <a:buFontTx/>
              <a:buNone/>
            </a:pPr>
            <a:r>
              <a:rPr lang="en-US" dirty="0">
                <a:solidFill>
                  <a:schemeClr val="tx1"/>
                </a:solidFill>
              </a:rPr>
              <a:t>1. Initially, each ant is put  on some randomly chosen city.</a:t>
            </a:r>
          </a:p>
          <a:p>
            <a:pPr defTabSz="914400" eaLnBrk="0" hangingPunct="0">
              <a:lnSpc>
                <a:spcPct val="100000"/>
              </a:lnSpc>
              <a:buClrTx/>
              <a:buSzTx/>
              <a:buFontTx/>
              <a:buNone/>
            </a:pPr>
            <a:r>
              <a:rPr lang="en-US" dirty="0">
                <a:solidFill>
                  <a:schemeClr val="tx1"/>
                </a:solidFill>
              </a:rPr>
              <a:t>2. 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</a:rPr>
              <a:t>Tabu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</a:rPr>
              <a:t> list:       set of all cities that ant k has not visited</a:t>
            </a: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838200" y="2002980"/>
            <a:ext cx="8726700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914400" indent="-457200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371600" indent="-457200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828800" indent="-457200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286000" indent="-457200"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743200" indent="-457200"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3200400" indent="-457200"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657600" indent="-457200"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4114800" indent="-457200"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defTabSz="914400" eaLnBrk="0" hangingPunct="0">
              <a:lnSpc>
                <a:spcPct val="100000"/>
              </a:lnSpc>
              <a:buClrTx/>
              <a:buSzTx/>
              <a:buFontTx/>
              <a:buAutoNum type="arabicPeriod" startAt="2"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</a:rPr>
              <a:t>    =           , </a:t>
            </a: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</a:rPr>
              <a:t>visibility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</a:rPr>
              <a:t>: Heuristic desirability of choosing city j when in city 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</a:rPr>
              <a:t>i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defTabSz="914400" eaLnBrk="0" hangingPunct="0">
              <a:lnSpc>
                <a:spcPct val="100000"/>
              </a:lnSpc>
              <a:buClrTx/>
              <a:buSzTx/>
              <a:buFontTx/>
              <a:buNone/>
            </a:pP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        </a:t>
            </a:r>
          </a:p>
        </p:txBody>
      </p:sp>
      <p:graphicFrame>
        <p:nvGraphicFramePr>
          <p:cNvPr id="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8547339"/>
              </p:ext>
            </p:extLst>
          </p:nvPr>
        </p:nvGraphicFramePr>
        <p:xfrm>
          <a:off x="1316038" y="1993900"/>
          <a:ext cx="3143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77480" imgH="241200" progId="Equation.3">
                  <p:embed/>
                </p:oleObj>
              </mc:Choice>
              <mc:Fallback>
                <p:oleObj name="Equation" r:id="rId3" imgW="177480" imgH="241200" progId="Equation.3">
                  <p:embed/>
                  <p:pic>
                    <p:nvPicPr>
                      <p:cNvPr id="9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6038" y="1993900"/>
                        <a:ext cx="314325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1419447"/>
              </p:ext>
            </p:extLst>
          </p:nvPr>
        </p:nvGraphicFramePr>
        <p:xfrm>
          <a:off x="1955790" y="1923150"/>
          <a:ext cx="76200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42603" imgH="355292" progId="Equation.3">
                  <p:embed/>
                </p:oleObj>
              </mc:Choice>
              <mc:Fallback>
                <p:oleObj name="Equation" r:id="rId5" imgW="342603" imgH="355292" progId="Equation.3">
                  <p:embed/>
                  <p:pic>
                    <p:nvPicPr>
                      <p:cNvPr id="1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5790" y="1923150"/>
                        <a:ext cx="762000" cy="565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838200" y="3124200"/>
            <a:ext cx="10515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defTabSz="914400" eaLnBrk="0" hangingPunct="0">
              <a:lnSpc>
                <a:spcPct val="100000"/>
              </a:lnSpc>
              <a:buClrTx/>
              <a:buSzTx/>
              <a:buFontTx/>
              <a:buNone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</a:rPr>
              <a:t>3. </a:t>
            </a: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</a:rPr>
              <a:t>Pheromone trail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</a:rPr>
              <a:t>:         This is a global type of information</a:t>
            </a:r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838200" y="3733800"/>
            <a:ext cx="1008896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defTabSz="914400" eaLnBrk="0" hangingPunct="0">
              <a:lnSpc>
                <a:spcPct val="100000"/>
              </a:lnSpc>
              <a:buClrTx/>
              <a:buSzTx/>
              <a:buFontTx/>
              <a:buNone/>
            </a:pP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</a:rPr>
              <a:t>Transition probability: 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</a:rPr>
              <a:t>Ant </a:t>
            </a:r>
            <a:r>
              <a:rPr lang="en-US" i="1" dirty="0">
                <a:solidFill>
                  <a:schemeClr val="tx1"/>
                </a:solidFill>
                <a:latin typeface="Arial" panose="020B0604020202020204" pitchFamily="34" charset="0"/>
              </a:rPr>
              <a:t>k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</a:rPr>
              <a:t>, currently at city </a:t>
            </a:r>
            <a:r>
              <a:rPr lang="en-US" i="1" dirty="0" err="1">
                <a:solidFill>
                  <a:schemeClr val="tx1"/>
                </a:solidFill>
                <a:latin typeface="Arial" panose="020B0604020202020204" pitchFamily="34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</a:rPr>
              <a:t>, chooses to go to city </a:t>
            </a:r>
            <a:r>
              <a:rPr lang="en-US" i="1" dirty="0">
                <a:solidFill>
                  <a:schemeClr val="tx1"/>
                </a:solidFill>
                <a:latin typeface="Arial" panose="020B0604020202020204" pitchFamily="34" charset="0"/>
              </a:rPr>
              <a:t>j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</a:rPr>
              <a:t> at </a:t>
            </a:r>
            <a:r>
              <a:rPr lang="en-US" i="1" dirty="0">
                <a:solidFill>
                  <a:schemeClr val="tx1"/>
                </a:solidFill>
                <a:latin typeface="Arial" panose="020B0604020202020204" pitchFamily="34" charset="0"/>
              </a:rPr>
              <a:t>t 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</a:rPr>
              <a:t>th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</a:rPr>
              <a:t> iteration is:</a:t>
            </a:r>
            <a:endParaRPr 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13" name="Picture 11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E6406"/>
              </a:clrFrom>
              <a:clrTo>
                <a:srgbClr val="FE640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0300" y="4368798"/>
            <a:ext cx="3219450" cy="1247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7362491"/>
              </p:ext>
            </p:extLst>
          </p:nvPr>
        </p:nvGraphicFramePr>
        <p:xfrm>
          <a:off x="3733782" y="3124200"/>
          <a:ext cx="609600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42751" imgH="241195" progId="Equation.3">
                  <p:embed/>
                </p:oleObj>
              </mc:Choice>
              <mc:Fallback>
                <p:oleObj name="Equation" r:id="rId8" imgW="342751" imgH="241195" progId="Equation.3">
                  <p:embed/>
                  <p:pic>
                    <p:nvPicPr>
                      <p:cNvPr id="1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782" y="3124200"/>
                        <a:ext cx="609600" cy="487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13"/>
          <p:cNvSpPr txBox="1">
            <a:spLocks noChangeArrowheads="1"/>
          </p:cNvSpPr>
          <p:nvPr/>
        </p:nvSpPr>
        <p:spPr bwMode="auto">
          <a:xfrm>
            <a:off x="838200" y="5699125"/>
            <a:ext cx="1008896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ctr" defTabSz="914400" eaLnBrk="0" hangingPunct="0">
              <a:lnSpc>
                <a:spcPct val="100000"/>
              </a:lnSpc>
              <a:buClrTx/>
              <a:buSzTx/>
              <a:buFontTx/>
              <a:buNone/>
            </a:pPr>
            <a:r>
              <a:rPr lang="en-US" dirty="0">
                <a:solidFill>
                  <a:srgbClr val="FF0066"/>
                </a:solidFill>
              </a:rPr>
              <a:t>Closest cities are selected based on </a:t>
            </a:r>
            <a:r>
              <a:rPr lang="en-US" dirty="0">
                <a:solidFill>
                  <a:schemeClr val="accent2"/>
                </a:solidFill>
              </a:rPr>
              <a:t>pheromone</a:t>
            </a:r>
            <a:r>
              <a:rPr lang="en-US" dirty="0">
                <a:solidFill>
                  <a:srgbClr val="FF0066"/>
                </a:solidFill>
              </a:rPr>
              <a:t> and </a:t>
            </a:r>
            <a:r>
              <a:rPr lang="en-US" dirty="0">
                <a:solidFill>
                  <a:schemeClr val="accent2"/>
                </a:solidFill>
              </a:rPr>
              <a:t>distance</a:t>
            </a:r>
            <a:r>
              <a:rPr lang="en-US" dirty="0">
                <a:solidFill>
                  <a:srgbClr val="FF0066"/>
                </a:solidFill>
              </a:rPr>
              <a:t>.</a:t>
            </a:r>
          </a:p>
        </p:txBody>
      </p:sp>
      <p:graphicFrame>
        <p:nvGraphicFramePr>
          <p:cNvPr id="1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3587167"/>
              </p:ext>
            </p:extLst>
          </p:nvPr>
        </p:nvGraphicFramePr>
        <p:xfrm>
          <a:off x="2479675" y="1414463"/>
          <a:ext cx="431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28600" imgH="241200" progId="Equation.3">
                  <p:embed/>
                </p:oleObj>
              </mc:Choice>
              <mc:Fallback>
                <p:oleObj name="Equation" r:id="rId10" imgW="228600" imgH="241200" progId="Equation.3">
                  <p:embed/>
                  <p:pic>
                    <p:nvPicPr>
                      <p:cNvPr id="1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9675" y="1414463"/>
                        <a:ext cx="4318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" name="Picture 16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30552" y="5791201"/>
            <a:ext cx="932129" cy="639174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55038" y="5938338"/>
            <a:ext cx="932129" cy="63917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743700" y="4648200"/>
            <a:ext cx="2228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If  j</a:t>
            </a:r>
            <a:r>
              <a:rPr lang="en-US" dirty="0"/>
              <a:t> </a:t>
            </a:r>
            <a:r>
              <a:rPr lang="en-US" i="1" dirty="0"/>
              <a:t>Є</a:t>
            </a:r>
            <a:endParaRPr lang="en-US" dirty="0"/>
          </a:p>
        </p:txBody>
      </p:sp>
      <p:graphicFrame>
        <p:nvGraphicFramePr>
          <p:cNvPr id="21582" name="Object 78"/>
          <p:cNvGraphicFramePr>
            <a:graphicFrameLocks noChangeAspect="1"/>
          </p:cNvGraphicFramePr>
          <p:nvPr/>
        </p:nvGraphicFramePr>
        <p:xfrm>
          <a:off x="7337425" y="4614863"/>
          <a:ext cx="431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28600" imgH="241200" progId="Equation.3">
                  <p:embed/>
                </p:oleObj>
              </mc:Choice>
              <mc:Fallback>
                <p:oleObj name="Equation" r:id="rId13" imgW="228600" imgH="241200" progId="Equation.3">
                  <p:embed/>
                  <p:pic>
                    <p:nvPicPr>
                      <p:cNvPr id="21582" name="Object 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37425" y="4614863"/>
                        <a:ext cx="4318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026914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0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868 0.01111 L 1.11119 0.02199 L 1.10742 0.22315 L -0.02683 0.17338 L -0.02513 -0.00393 L -0.02513 -2.22222E-6 " pathEditMode="relative" rAng="0" ptsTypes="AAAAAA">
                                      <p:cBhvr>
                                        <p:cTn id="18" dur="25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487" y="9838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repeatCount="indefinite" accel="50000" decel="50000" fill="hold" nodeType="withEffect">
                                  <p:stCondLst>
                                    <p:cond delay="110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0.02188 -1.11022E-16 L 1.15052 0.00995 L 1.14661 0.19444 L -0.00977 0.14884 L -0.00807 -0.01389 L -0.00807 -0.01042 " pathEditMode="relative" rAng="0" ptsTypes="AAAAAA">
                                      <p:cBhvr>
                                        <p:cTn id="20" dur="25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620" y="902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utoUpdateAnimBg="0"/>
      <p:bldP spid="15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l-GR" dirty="0"/>
              <a:t>α</a:t>
            </a:r>
            <a:r>
              <a:rPr lang="en-US" dirty="0"/>
              <a:t>,</a:t>
            </a:r>
            <a:r>
              <a:rPr lang="el-GR" dirty="0"/>
              <a:t>β</a:t>
            </a:r>
            <a:r>
              <a:rPr lang="en-US" dirty="0"/>
              <a:t> determines relative influence of pheromone trail and heuristic information</a:t>
            </a:r>
          </a:p>
          <a:p>
            <a:r>
              <a:rPr lang="en-US" dirty="0"/>
              <a:t>If </a:t>
            </a:r>
            <a:r>
              <a:rPr lang="el-GR" dirty="0"/>
              <a:t>α</a:t>
            </a:r>
            <a:r>
              <a:rPr lang="en-US" dirty="0"/>
              <a:t>=0, closest cities are more likely to be selected. Approaches to greedy algorithm</a:t>
            </a:r>
          </a:p>
          <a:p>
            <a:r>
              <a:rPr lang="en-US" dirty="0"/>
              <a:t> If </a:t>
            </a:r>
            <a:r>
              <a:rPr lang="el-GR" dirty="0"/>
              <a:t>β</a:t>
            </a:r>
            <a:r>
              <a:rPr lang="en-US" dirty="0"/>
              <a:t>=0, only pheromone amplification is at work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70C0"/>
          </a:solidFill>
        </p:spPr>
        <p:txBody>
          <a:bodyPr/>
          <a:lstStyle/>
          <a:p>
            <a:pPr algn="ctr" eaLnBrk="0" hangingPunct="0"/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Trail pheromone in AS </a:t>
            </a:r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 bwMode="auto">
          <a:xfrm>
            <a:off x="8075613" y="6524625"/>
            <a:ext cx="4116387" cy="196850"/>
          </a:xfrm>
          <a:solidFill>
            <a:srgbClr val="0070C0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Md. </a:t>
            </a:r>
            <a:r>
              <a:rPr lang="en-US" altLang="zh-CN" sz="1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Forhad</a:t>
            </a:r>
            <a:r>
              <a:rPr lang="en-US" altLang="zh-C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Hossain</a:t>
            </a:r>
            <a:endParaRPr lang="zh-CN" alt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21150" y="6524625"/>
            <a:ext cx="3954463" cy="196850"/>
          </a:xfrm>
          <a:solidFill>
            <a:schemeClr val="accent1">
              <a:lumMod val="75000"/>
            </a:schemeClr>
          </a:solidFill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r>
              <a:rPr lang="en-US" altLang="zh-C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B. M. </a:t>
            </a:r>
            <a:r>
              <a:rPr lang="en-US" altLang="zh-CN" sz="1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Junaed</a:t>
            </a:r>
            <a:endParaRPr lang="zh-CN" alt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日期占位符 5"/>
          <p:cNvSpPr>
            <a:spLocks noGrp="1"/>
          </p:cNvSpPr>
          <p:nvPr>
            <p:ph type="dt" sz="quarter" idx="10"/>
          </p:nvPr>
        </p:nvSpPr>
        <p:spPr bwMode="auto">
          <a:xfrm>
            <a:off x="0" y="6524625"/>
            <a:ext cx="4121150" cy="196850"/>
          </a:xfrm>
          <a:solidFill>
            <a:schemeClr val="accent1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 A. H. </a:t>
            </a:r>
            <a:r>
              <a:rPr lang="en-US" altLang="zh-CN" sz="1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Akhand</a:t>
            </a:r>
            <a:r>
              <a:rPr lang="en-US" altLang="zh-C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zh-CN" alt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28688"/>
            <a:ext cx="10515600" cy="5595937"/>
          </a:xfrm>
        </p:spPr>
        <p:txBody>
          <a:bodyPr rtlCol="0">
            <a:normAutofit/>
          </a:bodyPr>
          <a:lstStyle/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12"/>
          </p:nvPr>
        </p:nvSpPr>
        <p:spPr bwMode="auto">
          <a:xfrm>
            <a:off x="8075613" y="6524625"/>
            <a:ext cx="4116387" cy="196850"/>
          </a:xfrm>
          <a:solidFill>
            <a:srgbClr val="0070C0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Md. </a:t>
            </a:r>
            <a:r>
              <a:rPr lang="en-US" altLang="zh-CN" sz="1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Forhad</a:t>
            </a:r>
            <a:r>
              <a:rPr lang="en-US" altLang="zh-C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Hossain</a:t>
            </a:r>
            <a:endParaRPr lang="zh-CN" alt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21150" y="6524625"/>
            <a:ext cx="3954463" cy="196850"/>
          </a:xfrm>
          <a:solidFill>
            <a:schemeClr val="accent1">
              <a:lumMod val="75000"/>
            </a:schemeClr>
          </a:solidFill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r>
              <a:rPr lang="en-US" altLang="zh-C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B. M. </a:t>
            </a:r>
            <a:r>
              <a:rPr lang="en-US" altLang="zh-CN" sz="1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Junaed</a:t>
            </a:r>
            <a:endParaRPr lang="zh-CN" alt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6" name="日期占位符 5"/>
          <p:cNvSpPr>
            <a:spLocks noGrp="1"/>
          </p:cNvSpPr>
          <p:nvPr>
            <p:ph type="dt" sz="quarter" idx="10"/>
          </p:nvPr>
        </p:nvSpPr>
        <p:spPr bwMode="auto">
          <a:xfrm>
            <a:off x="0" y="6524625"/>
            <a:ext cx="4121150" cy="196850"/>
          </a:xfrm>
          <a:solidFill>
            <a:schemeClr val="accent1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 A. H. </a:t>
            </a:r>
            <a:r>
              <a:rPr lang="en-US" altLang="zh-CN" sz="1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Akhand</a:t>
            </a:r>
            <a:r>
              <a:rPr lang="en-US" altLang="zh-C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zh-CN" alt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838200" y="1295400"/>
            <a:ext cx="1051560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marL="342900" indent="-342900" defTabSz="914400" eaLnBrk="0" hangingPunct="0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66"/>
                </a:solidFill>
                <a:latin typeface="Arial" panose="020B0604020202020204" pitchFamily="34" charset="0"/>
              </a:rPr>
              <a:t>After all ants constructed their tours, pheromone trails are updated. </a:t>
            </a:r>
          </a:p>
          <a:p>
            <a:pPr marL="342900" indent="-342900" defTabSz="914400" eaLnBrk="0" hangingPunct="0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66"/>
                </a:solidFill>
                <a:latin typeface="Arial" panose="020B0604020202020204" pitchFamily="34" charset="0"/>
              </a:rPr>
              <a:t>It is done by </a:t>
            </a:r>
          </a:p>
          <a:p>
            <a:pPr marL="800100" lvl="1" indent="-342900" defTabSz="914400" eaLnBrk="0" hangingPunct="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66"/>
                </a:solidFill>
                <a:latin typeface="Arial" panose="020B0604020202020204" pitchFamily="34" charset="0"/>
              </a:rPr>
              <a:t>Firstly, lowering the pheromone strength on all arcs by a constant factor</a:t>
            </a:r>
          </a:p>
          <a:p>
            <a:pPr marL="800100" lvl="1" indent="-342900" defTabSz="914400" eaLnBrk="0" hangingPunct="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66"/>
                </a:solidFill>
                <a:latin typeface="Arial" panose="020B0604020202020204" pitchFamily="34" charset="0"/>
              </a:rPr>
              <a:t>Secondly, allowing each ant to add pheromone on the arcs it has visited.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</a:rPr>
              <a:t>               </a:t>
            </a: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1553915" y="4324350"/>
            <a:ext cx="341087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defTabSz="914400" eaLnBrk="0" hangingPunct="0">
              <a:lnSpc>
                <a:spcPct val="100000"/>
              </a:lnSpc>
              <a:buClrTx/>
              <a:buSzTx/>
              <a:buFontTx/>
              <a:buNone/>
            </a:pPr>
            <a:r>
              <a:rPr lang="en-US" dirty="0">
                <a:solidFill>
                  <a:schemeClr val="tx1"/>
                </a:solidFill>
              </a:rPr>
              <a:t>Trail pheromone decay =  </a:t>
            </a:r>
          </a:p>
        </p:txBody>
      </p:sp>
      <p:sp>
        <p:nvSpPr>
          <p:cNvPr id="14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238250"/>
          </a:xfrm>
          <a:solidFill>
            <a:srgbClr val="0070C0"/>
          </a:solidFill>
        </p:spPr>
        <p:txBody>
          <a:bodyPr/>
          <a:lstStyle/>
          <a:p>
            <a:pPr algn="ctr" eaLnBrk="1" hangingPunct="1"/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Pheromone Update Rule</a:t>
            </a:r>
          </a:p>
        </p:txBody>
      </p:sp>
      <p:pic>
        <p:nvPicPr>
          <p:cNvPr id="70657" name="Picture 1" descr="D:\Junaed\ACO\pheromone update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409824" y="3500438"/>
            <a:ext cx="8448675" cy="962025"/>
          </a:xfrm>
          <a:prstGeom prst="rect">
            <a:avLst/>
          </a:prstGeom>
          <a:noFill/>
        </p:spPr>
      </p:pic>
      <p:pic>
        <p:nvPicPr>
          <p:cNvPr id="70658" name="Picture 2" descr="D:\Junaed\ACO\pheromone evaporate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885950" y="4762500"/>
            <a:ext cx="9620250" cy="1143000"/>
          </a:xfrm>
          <a:prstGeom prst="rect">
            <a:avLst/>
          </a:prstGeom>
          <a:noFill/>
        </p:spPr>
      </p:pic>
      <p:sp>
        <p:nvSpPr>
          <p:cNvPr id="17" name="TextBox 16"/>
          <p:cNvSpPr txBox="1"/>
          <p:nvPr/>
        </p:nvSpPr>
        <p:spPr>
          <a:xfrm>
            <a:off x="1314450" y="5715000"/>
            <a:ext cx="10553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             is length of </a:t>
            </a:r>
            <a:r>
              <a:rPr lang="en-US" sz="2400" i="1" dirty="0" err="1"/>
              <a:t>k</a:t>
            </a:r>
            <a:r>
              <a:rPr lang="en-US" sz="2400" dirty="0" err="1"/>
              <a:t>th</a:t>
            </a:r>
            <a:r>
              <a:rPr lang="en-US" sz="2400" dirty="0"/>
              <a:t> ant’s tour.    0 &lt; </a:t>
            </a:r>
            <a:r>
              <a:rPr lang="el-GR" sz="2400" dirty="0"/>
              <a:t>ρ</a:t>
            </a:r>
            <a:r>
              <a:rPr lang="en-US" sz="2400" dirty="0"/>
              <a:t> &lt;= 1 is pheromone trail evaporation.</a:t>
            </a:r>
          </a:p>
        </p:txBody>
      </p:sp>
      <p:pic>
        <p:nvPicPr>
          <p:cNvPr id="70659" name="Picture 3" descr="D:\Junaed\ACO\l.pn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347788" y="5667375"/>
            <a:ext cx="695325" cy="5524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54786424"/>
      </p:ext>
    </p:extLst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28688"/>
            <a:ext cx="10515600" cy="5595937"/>
          </a:xfrm>
        </p:spPr>
        <p:txBody>
          <a:bodyPr rtlCol="0">
            <a:normAutofit/>
          </a:bodyPr>
          <a:lstStyle/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better the ant’s tour is, more pheromone is received by arcs belonging to the tour.</a:t>
            </a:r>
          </a:p>
          <a:p>
            <a:pPr marL="514350" indent="-514350"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general, arcs used by many ants and contained in shorter tours will receive more pheromone.</a:t>
            </a:r>
          </a:p>
          <a:p>
            <a:pPr marL="514350" indent="-514350"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3" name="标题 1"/>
          <p:cNvSpPr>
            <a:spLocks noGrp="1"/>
          </p:cNvSpPr>
          <p:nvPr>
            <p:ph type="title"/>
          </p:nvPr>
        </p:nvSpPr>
        <p:spPr>
          <a:xfrm>
            <a:off x="19050" y="-3175"/>
            <a:ext cx="12192000" cy="808038"/>
          </a:xfrm>
          <a:solidFill>
            <a:srgbClr val="0070C0"/>
          </a:solidFill>
        </p:spPr>
        <p:txBody>
          <a:bodyPr/>
          <a:lstStyle/>
          <a:p>
            <a:pPr algn="ctr" eaLnBrk="1" hangingPunct="1"/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Pheromone Update Rule	</a:t>
            </a:r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12"/>
          </p:nvPr>
        </p:nvSpPr>
        <p:spPr bwMode="auto">
          <a:xfrm>
            <a:off x="8075613" y="6524625"/>
            <a:ext cx="4116387" cy="196850"/>
          </a:xfrm>
          <a:solidFill>
            <a:srgbClr val="0070C0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Md. Forhad Hossain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21150" y="6524625"/>
            <a:ext cx="3954463" cy="196850"/>
          </a:xfrm>
          <a:solidFill>
            <a:schemeClr val="accent1">
              <a:lumMod val="75000"/>
            </a:schemeClr>
          </a:solidFill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B. M. Junaed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6" name="日期占位符 5"/>
          <p:cNvSpPr>
            <a:spLocks noGrp="1"/>
          </p:cNvSpPr>
          <p:nvPr>
            <p:ph type="dt" sz="quarter" idx="10"/>
          </p:nvPr>
        </p:nvSpPr>
        <p:spPr bwMode="auto">
          <a:xfrm>
            <a:off x="0" y="6524625"/>
            <a:ext cx="4121150" cy="196850"/>
          </a:xfrm>
          <a:solidFill>
            <a:schemeClr val="accent1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 A. H. Akhand	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30552" y="5791201"/>
            <a:ext cx="932129" cy="63917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55038" y="5938338"/>
            <a:ext cx="932129" cy="639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325985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868 0.01111 L 1.11119 0.02199 L 1.10742 0.22315 L -0.02683 0.17338 L -0.02513 -0.00393 L -0.02513 -2.22222E-6 " pathEditMode="relative" rAng="0" ptsTypes="AAAAAA">
                                      <p:cBhvr>
                                        <p:cTn id="6" dur="25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487" y="983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repeatCount="indefinite" accel="50000" decel="50000" fill="hold" nodeType="withEffect">
                                  <p:stCondLst>
                                    <p:cond delay="110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0.02188 -1.11022E-16 L 1.15052 0.00995 L 1.14661 0.19444 L -0.00977 0.14884 L -0.00807 -0.01389 L -0.00807 -0.01042 " pathEditMode="relative" rAng="0" ptsTypes="AAAAAA">
                                      <p:cBhvr>
                                        <p:cTn id="8" dur="25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620" y="902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28688"/>
            <a:ext cx="10515600" cy="5595937"/>
          </a:xfrm>
        </p:spPr>
        <p:txBody>
          <a:bodyPr rtlCol="0">
            <a:noAutofit/>
          </a:bodyPr>
          <a:lstStyle/>
          <a:p>
            <a:pPr marL="342900" indent="-342900" algn="just">
              <a:lnSpc>
                <a:spcPct val="125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Comic Sans MS" panose="030F0702030302020204" pitchFamily="66" charset="0"/>
              </a:rPr>
              <a:t>Trail intensity is given by value of </a:t>
            </a:r>
            <a:r>
              <a:rPr lang="en-US" sz="2400" b="1" i="1" dirty="0">
                <a:solidFill>
                  <a:srgbClr val="FF0066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</a:t>
            </a:r>
            <a:r>
              <a:rPr lang="en-US" sz="2400" b="1" i="1" baseline="-25000" dirty="0" err="1">
                <a:solidFill>
                  <a:srgbClr val="FF0066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ij</a:t>
            </a:r>
            <a:r>
              <a:rPr 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 which indicates the intensity of the pheromone on the trail segment, (</a:t>
            </a:r>
            <a:r>
              <a:rPr lang="en-US" sz="2400" i="1" dirty="0" err="1">
                <a:latin typeface="Comic Sans MS" panose="030F0702030302020204" pitchFamily="66" charset="0"/>
                <a:sym typeface="Symbol" panose="05050102010706020507" pitchFamily="18" charset="2"/>
              </a:rPr>
              <a:t>ij</a:t>
            </a:r>
            <a:r>
              <a:rPr 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)</a:t>
            </a:r>
          </a:p>
          <a:p>
            <a:pPr marL="342900" indent="-342900" algn="just">
              <a:lnSpc>
                <a:spcPct val="125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Trail visibility is </a:t>
            </a:r>
            <a:r>
              <a:rPr lang="en-US" sz="2400" b="1" i="1" dirty="0">
                <a:solidFill>
                  <a:srgbClr val="FF0066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</a:t>
            </a:r>
            <a:r>
              <a:rPr lang="en-US" sz="2400" b="1" i="1" baseline="-25000" dirty="0" err="1">
                <a:solidFill>
                  <a:srgbClr val="FF0066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ij</a:t>
            </a:r>
            <a:r>
              <a:rPr lang="en-US" sz="2400" b="1" dirty="0">
                <a:solidFill>
                  <a:srgbClr val="FF0066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= 1/</a:t>
            </a:r>
            <a:r>
              <a:rPr lang="en-US" sz="2400" b="1" i="1" dirty="0" err="1">
                <a:solidFill>
                  <a:srgbClr val="FF0066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d</a:t>
            </a:r>
            <a:r>
              <a:rPr lang="en-US" sz="2400" b="1" i="1" baseline="-25000" dirty="0" err="1">
                <a:solidFill>
                  <a:srgbClr val="FF0066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ij</a:t>
            </a:r>
            <a:r>
              <a:rPr 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 : a </a:t>
            </a:r>
            <a:r>
              <a:rPr lang="en-US" sz="2400" dirty="0">
                <a:latin typeface="Comic Sans MS" panose="030F0702030302020204" pitchFamily="66" charset="0"/>
              </a:rPr>
              <a:t>heuristic function of the desirability of adding edge</a:t>
            </a:r>
            <a:r>
              <a:rPr 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 (</a:t>
            </a:r>
            <a:r>
              <a:rPr lang="en-US" sz="2400" i="1" dirty="0" err="1">
                <a:latin typeface="Comic Sans MS" panose="030F0702030302020204" pitchFamily="66" charset="0"/>
                <a:sym typeface="Symbol" panose="05050102010706020507" pitchFamily="18" charset="2"/>
              </a:rPr>
              <a:t>d</a:t>
            </a:r>
            <a:r>
              <a:rPr lang="en-US" sz="2400" i="1" baseline="-25000" dirty="0" err="1">
                <a:latin typeface="Comic Sans MS" panose="030F0702030302020204" pitchFamily="66" charset="0"/>
                <a:sym typeface="Symbol" panose="05050102010706020507" pitchFamily="18" charset="2"/>
              </a:rPr>
              <a:t>ij</a:t>
            </a:r>
            <a:r>
              <a:rPr 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 is distance from </a:t>
            </a:r>
            <a:r>
              <a:rPr lang="en-US" sz="2400" dirty="0" err="1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 to j)</a:t>
            </a:r>
          </a:p>
          <a:p>
            <a:pPr marL="342900" indent="-342900" algn="just">
              <a:lnSpc>
                <a:spcPct val="125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importance of the </a:t>
            </a:r>
            <a:r>
              <a:rPr lang="en-US" sz="2400" dirty="0">
                <a:solidFill>
                  <a:srgbClr val="FF0066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intensity </a:t>
            </a:r>
            <a:r>
              <a:rPr 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in the probabilistic transition is </a:t>
            </a:r>
            <a:r>
              <a:rPr lang="en-US" sz="2400" b="1" i="1" dirty="0">
                <a:solidFill>
                  <a:srgbClr val="FF0066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</a:t>
            </a:r>
          </a:p>
          <a:p>
            <a:pPr marL="342900" indent="-342900" algn="just">
              <a:lnSpc>
                <a:spcPct val="125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The importance of the </a:t>
            </a:r>
            <a:r>
              <a:rPr lang="en-US" sz="2400" dirty="0">
                <a:solidFill>
                  <a:srgbClr val="FF0066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visibility</a:t>
            </a:r>
            <a:r>
              <a:rPr 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 of the trail segment is </a:t>
            </a:r>
            <a:r>
              <a:rPr lang="en-US" sz="2400" b="1" i="1" dirty="0">
                <a:solidFill>
                  <a:srgbClr val="FF0066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</a:t>
            </a:r>
            <a:r>
              <a:rPr lang="en-US" sz="2400" b="1" dirty="0">
                <a:solidFill>
                  <a:srgbClr val="FF0066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</a:t>
            </a:r>
          </a:p>
          <a:p>
            <a:pPr marL="342900" indent="-342900" algn="just">
              <a:lnSpc>
                <a:spcPct val="125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The trail persistence or </a:t>
            </a:r>
            <a:r>
              <a:rPr lang="en-US" sz="2400" dirty="0">
                <a:solidFill>
                  <a:srgbClr val="FF0066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evaporation rate</a:t>
            </a:r>
            <a:r>
              <a:rPr 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 is given as </a:t>
            </a:r>
            <a:r>
              <a:rPr lang="en-US" sz="2400" b="1" i="1" dirty="0">
                <a:solidFill>
                  <a:srgbClr val="FF0066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</a:t>
            </a:r>
            <a:r>
              <a:rPr lang="en-US" sz="2400" b="1" dirty="0">
                <a:solidFill>
                  <a:srgbClr val="FF0066"/>
                </a:solidFill>
                <a:latin typeface="Comic Sans MS" panose="030F0702030302020204" pitchFamily="66" charset="0"/>
              </a:rPr>
              <a:t> </a:t>
            </a:r>
          </a:p>
          <a:p>
            <a:pPr marL="342900" indent="-342900" algn="just">
              <a:lnSpc>
                <a:spcPct val="125000"/>
              </a:lnSpc>
              <a:buFont typeface="Wingdings" panose="05000000000000000000" pitchFamily="2" charset="2"/>
              <a:buChar char="q"/>
            </a:pPr>
            <a:r>
              <a:rPr lang="en-US" sz="2400" i="1" dirty="0">
                <a:solidFill>
                  <a:srgbClr val="FF0066"/>
                </a:solidFill>
                <a:latin typeface="Comic Sans MS" panose="030F0702030302020204" pitchFamily="66" charset="0"/>
              </a:rPr>
              <a:t>Q</a:t>
            </a:r>
            <a:r>
              <a:rPr lang="en-US" sz="2400" dirty="0">
                <a:latin typeface="Comic Sans MS" panose="030F0702030302020204" pitchFamily="66" charset="0"/>
              </a:rPr>
              <a:t> is a constant and the amount of pheromone laid on a trail segment employed by an ant</a:t>
            </a:r>
          </a:p>
          <a:p>
            <a:pPr marL="342900" indent="-342900" algn="just">
              <a:lnSpc>
                <a:spcPct val="125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Comic Sans MS" panose="030F0702030302020204" pitchFamily="66" charset="0"/>
              </a:rPr>
              <a:t>Initial pheromone is a small amount on all edges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3" name="标题 1"/>
          <p:cNvSpPr>
            <a:spLocks noGrp="1"/>
          </p:cNvSpPr>
          <p:nvPr>
            <p:ph type="title"/>
          </p:nvPr>
        </p:nvSpPr>
        <p:spPr>
          <a:xfrm>
            <a:off x="0" y="-3175"/>
            <a:ext cx="12192000" cy="808038"/>
          </a:xfrm>
          <a:solidFill>
            <a:srgbClr val="0070C0"/>
          </a:solidFill>
        </p:spPr>
        <p:txBody>
          <a:bodyPr/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Key Parameters</a:t>
            </a:r>
            <a:endParaRPr lang="en-US" sz="4000" b="1" dirty="0">
              <a:solidFill>
                <a:schemeClr val="bg1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12"/>
          </p:nvPr>
        </p:nvSpPr>
        <p:spPr bwMode="auto">
          <a:xfrm>
            <a:off x="8075613" y="6524625"/>
            <a:ext cx="4116387" cy="196850"/>
          </a:xfrm>
          <a:solidFill>
            <a:srgbClr val="0070C0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Md. Forhad Hossain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21150" y="6524625"/>
            <a:ext cx="3954463" cy="196850"/>
          </a:xfrm>
          <a:solidFill>
            <a:schemeClr val="accent1">
              <a:lumMod val="75000"/>
            </a:schemeClr>
          </a:solidFill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B. M. Junaed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6" name="日期占位符 5"/>
          <p:cNvSpPr>
            <a:spLocks noGrp="1"/>
          </p:cNvSpPr>
          <p:nvPr>
            <p:ph type="dt" sz="quarter" idx="10"/>
          </p:nvPr>
        </p:nvSpPr>
        <p:spPr bwMode="auto">
          <a:xfrm>
            <a:off x="0" y="6524625"/>
            <a:ext cx="4121150" cy="196850"/>
          </a:xfrm>
          <a:solidFill>
            <a:schemeClr val="accent1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 A. H. Akhand	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30552" y="5791201"/>
            <a:ext cx="932129" cy="63917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55038" y="5938338"/>
            <a:ext cx="932129" cy="639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72482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868 0.01111 L 1.11119 0.02199 L 1.10742 0.22315 L -0.02683 0.17338 L -0.02513 -0.00393 L -0.02513 -2.22222E-6 " pathEditMode="relative" rAng="0" ptsTypes="AAAAAA">
                                      <p:cBhvr>
                                        <p:cTn id="6" dur="2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487" y="983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repeatCount="indefinite" accel="50000" decel="50000" fill="hold" nodeType="withEffect">
                                  <p:stCondLst>
                                    <p:cond delay="110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0.02188 -1.11022E-16 L 1.15052 0.00995 L 1.14661 0.19444 L -0.00977 0.14884 L -0.00807 -0.01389 L -0.00807 -0.01042 " pathEditMode="relative" rAng="0" ptsTypes="AAAAAA">
                                      <p:cBhvr>
                                        <p:cTn id="8" dur="25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620" y="902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28688"/>
            <a:ext cx="10515600" cy="5595937"/>
          </a:xfrm>
        </p:spPr>
        <p:txBody>
          <a:bodyPr rtlCol="0">
            <a:normAutofit/>
          </a:bodyPr>
          <a:lstStyle/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3" name="标题 1"/>
          <p:cNvSpPr>
            <a:spLocks noGrp="1"/>
          </p:cNvSpPr>
          <p:nvPr>
            <p:ph type="title"/>
          </p:nvPr>
        </p:nvSpPr>
        <p:spPr>
          <a:xfrm>
            <a:off x="0" y="-3175"/>
            <a:ext cx="12192000" cy="808038"/>
          </a:xfrm>
          <a:solidFill>
            <a:srgbClr val="0070C0"/>
          </a:solidFill>
        </p:spPr>
        <p:txBody>
          <a:bodyPr/>
          <a:lstStyle/>
          <a:p>
            <a:pPr algn="ctr">
              <a:defRPr/>
            </a:pPr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of a Simple AS to solve TSP</a:t>
            </a:r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12"/>
          </p:nvPr>
        </p:nvSpPr>
        <p:spPr bwMode="auto">
          <a:xfrm>
            <a:off x="8075613" y="6524625"/>
            <a:ext cx="4116387" cy="196850"/>
          </a:xfrm>
          <a:solidFill>
            <a:srgbClr val="0070C0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Md. Forhad Hossain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21150" y="6524625"/>
            <a:ext cx="3954463" cy="196850"/>
          </a:xfrm>
          <a:solidFill>
            <a:schemeClr val="accent1">
              <a:lumMod val="75000"/>
            </a:schemeClr>
          </a:solidFill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B. M. Junaed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6" name="日期占位符 5"/>
          <p:cNvSpPr>
            <a:spLocks noGrp="1"/>
          </p:cNvSpPr>
          <p:nvPr>
            <p:ph type="dt" sz="quarter" idx="10"/>
          </p:nvPr>
        </p:nvSpPr>
        <p:spPr bwMode="auto">
          <a:xfrm>
            <a:off x="0" y="6524625"/>
            <a:ext cx="4121150" cy="196850"/>
          </a:xfrm>
          <a:solidFill>
            <a:schemeClr val="accent1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 A. H. Akhand	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val 3"/>
          <p:cNvSpPr>
            <a:spLocks noChangeArrowheads="1"/>
          </p:cNvSpPr>
          <p:nvPr/>
        </p:nvSpPr>
        <p:spPr bwMode="auto">
          <a:xfrm>
            <a:off x="4307088" y="1661892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Oval 4"/>
          <p:cNvSpPr>
            <a:spLocks noChangeArrowheads="1"/>
          </p:cNvSpPr>
          <p:nvPr/>
        </p:nvSpPr>
        <p:spPr bwMode="auto">
          <a:xfrm>
            <a:off x="7888488" y="1661892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Oval 5"/>
          <p:cNvSpPr>
            <a:spLocks noChangeArrowheads="1"/>
          </p:cNvSpPr>
          <p:nvPr/>
        </p:nvSpPr>
        <p:spPr bwMode="auto">
          <a:xfrm>
            <a:off x="3468888" y="4481292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Oval 6"/>
          <p:cNvSpPr>
            <a:spLocks noChangeArrowheads="1"/>
          </p:cNvSpPr>
          <p:nvPr/>
        </p:nvSpPr>
        <p:spPr bwMode="auto">
          <a:xfrm>
            <a:off x="5907288" y="2957292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Oval 7"/>
          <p:cNvSpPr>
            <a:spLocks noChangeArrowheads="1"/>
          </p:cNvSpPr>
          <p:nvPr/>
        </p:nvSpPr>
        <p:spPr bwMode="auto">
          <a:xfrm>
            <a:off x="7736088" y="4862292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Text Box 8"/>
          <p:cNvSpPr txBox="1">
            <a:spLocks noChangeArrowheads="1"/>
          </p:cNvSpPr>
          <p:nvPr/>
        </p:nvSpPr>
        <p:spPr bwMode="auto">
          <a:xfrm>
            <a:off x="4291213" y="1850805"/>
            <a:ext cx="336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defTabSz="914400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TW" sz="1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A</a:t>
            </a:r>
          </a:p>
        </p:txBody>
      </p:sp>
      <p:sp>
        <p:nvSpPr>
          <p:cNvPr id="15" name="Text Box 9"/>
          <p:cNvSpPr txBox="1">
            <a:spLocks noChangeArrowheads="1"/>
          </p:cNvSpPr>
          <p:nvPr/>
        </p:nvSpPr>
        <p:spPr bwMode="auto">
          <a:xfrm>
            <a:off x="7736088" y="5167092"/>
            <a:ext cx="336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defTabSz="914400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TW" sz="1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E</a:t>
            </a:r>
          </a:p>
        </p:txBody>
      </p:sp>
      <p:sp>
        <p:nvSpPr>
          <p:cNvPr id="16" name="Text Box 10"/>
          <p:cNvSpPr txBox="1">
            <a:spLocks noChangeArrowheads="1"/>
          </p:cNvSpPr>
          <p:nvPr/>
        </p:nvSpPr>
        <p:spPr bwMode="auto">
          <a:xfrm>
            <a:off x="3392688" y="4862292"/>
            <a:ext cx="349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defTabSz="914400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TW" sz="1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D</a:t>
            </a:r>
          </a:p>
        </p:txBody>
      </p:sp>
      <p:sp>
        <p:nvSpPr>
          <p:cNvPr id="17" name="Text Box 11"/>
          <p:cNvSpPr txBox="1">
            <a:spLocks noChangeArrowheads="1"/>
          </p:cNvSpPr>
          <p:nvPr/>
        </p:nvSpPr>
        <p:spPr bwMode="auto">
          <a:xfrm>
            <a:off x="5907288" y="3262092"/>
            <a:ext cx="349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defTabSz="914400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TW" sz="1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C</a:t>
            </a:r>
          </a:p>
        </p:txBody>
      </p:sp>
      <p:sp>
        <p:nvSpPr>
          <p:cNvPr id="18" name="Text Box 12"/>
          <p:cNvSpPr txBox="1">
            <a:spLocks noChangeArrowheads="1"/>
          </p:cNvSpPr>
          <p:nvPr/>
        </p:nvSpPr>
        <p:spPr bwMode="auto">
          <a:xfrm>
            <a:off x="7888488" y="1966692"/>
            <a:ext cx="336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defTabSz="914400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TW" sz="1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B</a:t>
            </a:r>
          </a:p>
        </p:txBody>
      </p:sp>
      <p:grpSp>
        <p:nvGrpSpPr>
          <p:cNvPr id="19" name="Group 13"/>
          <p:cNvGrpSpPr>
            <a:grpSpLocks/>
          </p:cNvGrpSpPr>
          <p:nvPr/>
        </p:nvGrpSpPr>
        <p:grpSpPr bwMode="auto">
          <a:xfrm>
            <a:off x="1563888" y="1357092"/>
            <a:ext cx="914400" cy="1143000"/>
            <a:chOff x="1008" y="864"/>
            <a:chExt cx="576" cy="720"/>
          </a:xfrm>
        </p:grpSpPr>
        <p:pic>
          <p:nvPicPr>
            <p:cNvPr id="20" name="Picture 14" descr="oneant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8" y="960"/>
              <a:ext cx="472" cy="6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1" name="Text Box 15"/>
            <p:cNvSpPr txBox="1">
              <a:spLocks noChangeArrowheads="1"/>
            </p:cNvSpPr>
            <p:nvPr/>
          </p:nvSpPr>
          <p:spPr bwMode="auto">
            <a:xfrm>
              <a:off x="1056" y="912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endParaRPr lang="zh-TW" altLang="en-US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endParaRPr>
            </a:p>
          </p:txBody>
        </p:sp>
        <p:sp>
          <p:nvSpPr>
            <p:cNvPr id="22" name="Text Box 16"/>
            <p:cNvSpPr txBox="1">
              <a:spLocks noChangeArrowheads="1"/>
            </p:cNvSpPr>
            <p:nvPr/>
          </p:nvSpPr>
          <p:spPr bwMode="auto">
            <a:xfrm>
              <a:off x="1104" y="1344"/>
              <a:ext cx="169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zh-TW" sz="1200" b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1</a:t>
              </a:r>
            </a:p>
          </p:txBody>
        </p:sp>
        <p:sp>
          <p:nvSpPr>
            <p:cNvPr id="23" name="Text Box 17"/>
            <p:cNvSpPr txBox="1">
              <a:spLocks noChangeArrowheads="1"/>
            </p:cNvSpPr>
            <p:nvPr/>
          </p:nvSpPr>
          <p:spPr bwMode="auto">
            <a:xfrm>
              <a:off x="1152" y="864"/>
              <a:ext cx="196" cy="198"/>
            </a:xfrm>
            <a:prstGeom prst="rect">
              <a:avLst/>
            </a:prstGeom>
            <a:noFill/>
            <a:ln w="9525">
              <a:solidFill>
                <a:srgbClr val="9933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zh-TW" sz="1400" b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[]</a:t>
              </a:r>
            </a:p>
          </p:txBody>
        </p:sp>
      </p:grpSp>
      <p:grpSp>
        <p:nvGrpSpPr>
          <p:cNvPr id="24" name="Group 18"/>
          <p:cNvGrpSpPr>
            <a:grpSpLocks/>
          </p:cNvGrpSpPr>
          <p:nvPr/>
        </p:nvGrpSpPr>
        <p:grpSpPr bwMode="auto">
          <a:xfrm>
            <a:off x="9564888" y="2195292"/>
            <a:ext cx="914400" cy="1143000"/>
            <a:chOff x="1008" y="864"/>
            <a:chExt cx="576" cy="720"/>
          </a:xfrm>
        </p:grpSpPr>
        <p:pic>
          <p:nvPicPr>
            <p:cNvPr id="25" name="Picture 19" descr="oneant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8" y="960"/>
              <a:ext cx="472" cy="6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6" name="Text Box 20"/>
            <p:cNvSpPr txBox="1">
              <a:spLocks noChangeArrowheads="1"/>
            </p:cNvSpPr>
            <p:nvPr/>
          </p:nvSpPr>
          <p:spPr bwMode="auto">
            <a:xfrm>
              <a:off x="1056" y="912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endParaRPr lang="zh-TW" altLang="en-US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endParaRPr>
            </a:p>
          </p:txBody>
        </p:sp>
        <p:sp>
          <p:nvSpPr>
            <p:cNvPr id="27" name="Text Box 21"/>
            <p:cNvSpPr txBox="1">
              <a:spLocks noChangeArrowheads="1"/>
            </p:cNvSpPr>
            <p:nvPr/>
          </p:nvSpPr>
          <p:spPr bwMode="auto">
            <a:xfrm>
              <a:off x="1104" y="1344"/>
              <a:ext cx="169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zh-TW" sz="1200" b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4</a:t>
              </a:r>
            </a:p>
          </p:txBody>
        </p:sp>
        <p:sp>
          <p:nvSpPr>
            <p:cNvPr id="28" name="Text Box 22"/>
            <p:cNvSpPr txBox="1">
              <a:spLocks noChangeArrowheads="1"/>
            </p:cNvSpPr>
            <p:nvPr/>
          </p:nvSpPr>
          <p:spPr bwMode="auto">
            <a:xfrm>
              <a:off x="1152" y="864"/>
              <a:ext cx="196" cy="198"/>
            </a:xfrm>
            <a:prstGeom prst="rect">
              <a:avLst/>
            </a:prstGeom>
            <a:noFill/>
            <a:ln w="9525">
              <a:solidFill>
                <a:srgbClr val="9933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zh-TW" sz="1400" b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[]</a:t>
              </a:r>
            </a:p>
          </p:txBody>
        </p:sp>
      </p:grpSp>
      <p:grpSp>
        <p:nvGrpSpPr>
          <p:cNvPr id="29" name="Group 23"/>
          <p:cNvGrpSpPr>
            <a:grpSpLocks/>
          </p:cNvGrpSpPr>
          <p:nvPr/>
        </p:nvGrpSpPr>
        <p:grpSpPr bwMode="auto">
          <a:xfrm>
            <a:off x="1487688" y="4024092"/>
            <a:ext cx="914400" cy="1143000"/>
            <a:chOff x="1008" y="864"/>
            <a:chExt cx="576" cy="720"/>
          </a:xfrm>
        </p:grpSpPr>
        <p:pic>
          <p:nvPicPr>
            <p:cNvPr id="30" name="Picture 24" descr="oneant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8" y="960"/>
              <a:ext cx="472" cy="6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31" name="Text Box 25"/>
            <p:cNvSpPr txBox="1">
              <a:spLocks noChangeArrowheads="1"/>
            </p:cNvSpPr>
            <p:nvPr/>
          </p:nvSpPr>
          <p:spPr bwMode="auto">
            <a:xfrm>
              <a:off x="1056" y="912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endParaRPr lang="zh-TW" altLang="en-US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endParaRPr>
            </a:p>
          </p:txBody>
        </p:sp>
        <p:sp>
          <p:nvSpPr>
            <p:cNvPr id="32" name="Text Box 26"/>
            <p:cNvSpPr txBox="1">
              <a:spLocks noChangeArrowheads="1"/>
            </p:cNvSpPr>
            <p:nvPr/>
          </p:nvSpPr>
          <p:spPr bwMode="auto">
            <a:xfrm>
              <a:off x="1104" y="1344"/>
              <a:ext cx="169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zh-TW" sz="1200" b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3</a:t>
              </a:r>
            </a:p>
          </p:txBody>
        </p:sp>
        <p:sp>
          <p:nvSpPr>
            <p:cNvPr id="33" name="Text Box 27"/>
            <p:cNvSpPr txBox="1">
              <a:spLocks noChangeArrowheads="1"/>
            </p:cNvSpPr>
            <p:nvPr/>
          </p:nvSpPr>
          <p:spPr bwMode="auto">
            <a:xfrm>
              <a:off x="1152" y="864"/>
              <a:ext cx="196" cy="198"/>
            </a:xfrm>
            <a:prstGeom prst="rect">
              <a:avLst/>
            </a:prstGeom>
            <a:noFill/>
            <a:ln w="9525">
              <a:solidFill>
                <a:srgbClr val="9933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zh-TW" sz="1400" b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[]</a:t>
              </a:r>
            </a:p>
          </p:txBody>
        </p:sp>
      </p:grpSp>
      <p:grpSp>
        <p:nvGrpSpPr>
          <p:cNvPr id="34" name="Group 28"/>
          <p:cNvGrpSpPr>
            <a:grpSpLocks/>
          </p:cNvGrpSpPr>
          <p:nvPr/>
        </p:nvGrpSpPr>
        <p:grpSpPr bwMode="auto">
          <a:xfrm>
            <a:off x="1563888" y="2652492"/>
            <a:ext cx="914400" cy="1143000"/>
            <a:chOff x="1008" y="864"/>
            <a:chExt cx="576" cy="720"/>
          </a:xfrm>
        </p:grpSpPr>
        <p:pic>
          <p:nvPicPr>
            <p:cNvPr id="35" name="Picture 29" descr="oneant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8" y="960"/>
              <a:ext cx="472" cy="6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36" name="Text Box 30"/>
            <p:cNvSpPr txBox="1">
              <a:spLocks noChangeArrowheads="1"/>
            </p:cNvSpPr>
            <p:nvPr/>
          </p:nvSpPr>
          <p:spPr bwMode="auto">
            <a:xfrm>
              <a:off x="1056" y="912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endParaRPr lang="zh-TW" altLang="en-US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endParaRPr>
            </a:p>
          </p:txBody>
        </p:sp>
        <p:sp>
          <p:nvSpPr>
            <p:cNvPr id="37" name="Text Box 31"/>
            <p:cNvSpPr txBox="1">
              <a:spLocks noChangeArrowheads="1"/>
            </p:cNvSpPr>
            <p:nvPr/>
          </p:nvSpPr>
          <p:spPr bwMode="auto">
            <a:xfrm>
              <a:off x="1104" y="1344"/>
              <a:ext cx="169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zh-TW" sz="1200" b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2</a:t>
              </a:r>
            </a:p>
          </p:txBody>
        </p:sp>
        <p:sp>
          <p:nvSpPr>
            <p:cNvPr id="38" name="Text Box 32"/>
            <p:cNvSpPr txBox="1">
              <a:spLocks noChangeArrowheads="1"/>
            </p:cNvSpPr>
            <p:nvPr/>
          </p:nvSpPr>
          <p:spPr bwMode="auto">
            <a:xfrm>
              <a:off x="1152" y="864"/>
              <a:ext cx="196" cy="198"/>
            </a:xfrm>
            <a:prstGeom prst="rect">
              <a:avLst/>
            </a:prstGeom>
            <a:noFill/>
            <a:ln w="9525">
              <a:solidFill>
                <a:srgbClr val="9933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zh-TW" sz="1400" b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[]</a:t>
              </a:r>
            </a:p>
          </p:txBody>
        </p:sp>
      </p:grpSp>
      <p:grpSp>
        <p:nvGrpSpPr>
          <p:cNvPr id="39" name="Group 33"/>
          <p:cNvGrpSpPr>
            <a:grpSpLocks/>
          </p:cNvGrpSpPr>
          <p:nvPr/>
        </p:nvGrpSpPr>
        <p:grpSpPr bwMode="auto">
          <a:xfrm>
            <a:off x="9564888" y="3719292"/>
            <a:ext cx="914400" cy="1143000"/>
            <a:chOff x="1008" y="864"/>
            <a:chExt cx="576" cy="720"/>
          </a:xfrm>
        </p:grpSpPr>
        <p:pic>
          <p:nvPicPr>
            <p:cNvPr id="40" name="Picture 34" descr="oneant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8" y="960"/>
              <a:ext cx="472" cy="6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41" name="Text Box 35"/>
            <p:cNvSpPr txBox="1">
              <a:spLocks noChangeArrowheads="1"/>
            </p:cNvSpPr>
            <p:nvPr/>
          </p:nvSpPr>
          <p:spPr bwMode="auto">
            <a:xfrm>
              <a:off x="1056" y="912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endParaRPr lang="zh-TW" altLang="en-US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endParaRPr>
            </a:p>
          </p:txBody>
        </p:sp>
        <p:sp>
          <p:nvSpPr>
            <p:cNvPr id="42" name="Text Box 36"/>
            <p:cNvSpPr txBox="1">
              <a:spLocks noChangeArrowheads="1"/>
            </p:cNvSpPr>
            <p:nvPr/>
          </p:nvSpPr>
          <p:spPr bwMode="auto">
            <a:xfrm>
              <a:off x="1104" y="1344"/>
              <a:ext cx="169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zh-TW" sz="1200" b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5</a:t>
              </a:r>
            </a:p>
          </p:txBody>
        </p:sp>
        <p:sp>
          <p:nvSpPr>
            <p:cNvPr id="43" name="Text Box 37"/>
            <p:cNvSpPr txBox="1">
              <a:spLocks noChangeArrowheads="1"/>
            </p:cNvSpPr>
            <p:nvPr/>
          </p:nvSpPr>
          <p:spPr bwMode="auto">
            <a:xfrm>
              <a:off x="1152" y="864"/>
              <a:ext cx="196" cy="198"/>
            </a:xfrm>
            <a:prstGeom prst="rect">
              <a:avLst/>
            </a:prstGeom>
            <a:noFill/>
            <a:ln w="9525">
              <a:solidFill>
                <a:srgbClr val="9933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zh-TW" sz="1400" b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[]</a:t>
              </a:r>
            </a:p>
          </p:txBody>
        </p:sp>
      </p:grpSp>
      <p:sp>
        <p:nvSpPr>
          <p:cNvPr id="44" name="Text Box 38"/>
          <p:cNvSpPr txBox="1">
            <a:spLocks noChangeArrowheads="1"/>
          </p:cNvSpPr>
          <p:nvPr/>
        </p:nvSpPr>
        <p:spPr bwMode="auto">
          <a:xfrm>
            <a:off x="4611888" y="5548092"/>
            <a:ext cx="2971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defTabSz="914400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TW" sz="1600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d</a:t>
            </a:r>
            <a:r>
              <a:rPr lang="en-US" altLang="zh-TW" sz="1600" b="1" baseline="-25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AB </a:t>
            </a:r>
            <a:r>
              <a:rPr lang="en-US" altLang="zh-TW" sz="1600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=100;d</a:t>
            </a:r>
            <a:r>
              <a:rPr lang="en-US" altLang="zh-TW" sz="1600" b="1" baseline="-25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BC </a:t>
            </a:r>
            <a:r>
              <a:rPr lang="en-US" altLang="zh-TW" sz="1600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= 60…;d</a:t>
            </a:r>
            <a:r>
              <a:rPr lang="en-US" altLang="zh-TW" sz="1600" b="1" baseline="-25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DE </a:t>
            </a:r>
            <a:r>
              <a:rPr lang="en-US" altLang="zh-TW" sz="1600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=150</a:t>
            </a:r>
          </a:p>
        </p:txBody>
      </p:sp>
      <p:pic>
        <p:nvPicPr>
          <p:cNvPr id="45" name="Picture 4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30552" y="5791201"/>
            <a:ext cx="932129" cy="639174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55038" y="5938338"/>
            <a:ext cx="932129" cy="639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61715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868 0.01111 L 1.11119 0.02199 L 1.10742 0.22315 L -0.02683 0.17338 L -0.02513 -0.00393 L -0.02513 -2.22222E-6 " pathEditMode="relative" rAng="0" ptsTypes="AAAAAA">
                                      <p:cBhvr>
                                        <p:cTn id="6" dur="25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487" y="983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repeatCount="indefinite" accel="50000" decel="50000" fill="hold" nodeType="withEffect">
                                  <p:stCondLst>
                                    <p:cond delay="110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0.02188 -1.11022E-16 L 1.15052 0.00995 L 1.14661 0.19444 L -0.00977 0.14884 L -0.00807 -0.01389 L -0.00807 -0.01042 " pathEditMode="relative" rAng="0" ptsTypes="AAAAAA">
                                      <p:cBhvr>
                                        <p:cTn id="8" dur="25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620" y="902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28688"/>
            <a:ext cx="10515600" cy="5595937"/>
          </a:xfrm>
        </p:spPr>
        <p:txBody>
          <a:bodyPr rtlCol="0">
            <a:normAutofit/>
          </a:bodyPr>
          <a:lstStyle/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3" name="标题 1"/>
          <p:cNvSpPr>
            <a:spLocks noGrp="1"/>
          </p:cNvSpPr>
          <p:nvPr>
            <p:ph type="title"/>
          </p:nvPr>
        </p:nvSpPr>
        <p:spPr>
          <a:xfrm>
            <a:off x="0" y="-3175"/>
            <a:ext cx="12192000" cy="808038"/>
          </a:xfrm>
          <a:solidFill>
            <a:srgbClr val="0070C0"/>
          </a:solidFill>
        </p:spPr>
        <p:txBody>
          <a:bodyPr/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of a Simple AS to solve TSP</a:t>
            </a:r>
            <a:endParaRPr lang="en-US" sz="4000" b="1" dirty="0">
              <a:solidFill>
                <a:schemeClr val="bg1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12"/>
          </p:nvPr>
        </p:nvSpPr>
        <p:spPr bwMode="auto">
          <a:xfrm>
            <a:off x="8075613" y="6524625"/>
            <a:ext cx="4116387" cy="196850"/>
          </a:xfrm>
          <a:solidFill>
            <a:srgbClr val="0070C0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Md. Forhad Hossain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21150" y="6524625"/>
            <a:ext cx="3954463" cy="196850"/>
          </a:xfrm>
          <a:solidFill>
            <a:schemeClr val="accent1">
              <a:lumMod val="75000"/>
            </a:schemeClr>
          </a:solidFill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B. M. Junaed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6" name="日期占位符 5"/>
          <p:cNvSpPr>
            <a:spLocks noGrp="1"/>
          </p:cNvSpPr>
          <p:nvPr>
            <p:ph type="dt" sz="quarter" idx="10"/>
          </p:nvPr>
        </p:nvSpPr>
        <p:spPr bwMode="auto">
          <a:xfrm>
            <a:off x="0" y="6524625"/>
            <a:ext cx="4121150" cy="196850"/>
          </a:xfrm>
          <a:solidFill>
            <a:schemeClr val="accent1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 A. H. Akhand	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val 3"/>
          <p:cNvSpPr>
            <a:spLocks noChangeArrowheads="1"/>
          </p:cNvSpPr>
          <p:nvPr/>
        </p:nvSpPr>
        <p:spPr bwMode="auto">
          <a:xfrm>
            <a:off x="4307088" y="1661892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Oval 4"/>
          <p:cNvSpPr>
            <a:spLocks noChangeArrowheads="1"/>
          </p:cNvSpPr>
          <p:nvPr/>
        </p:nvSpPr>
        <p:spPr bwMode="auto">
          <a:xfrm>
            <a:off x="7888488" y="1661892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Oval 5"/>
          <p:cNvSpPr>
            <a:spLocks noChangeArrowheads="1"/>
          </p:cNvSpPr>
          <p:nvPr/>
        </p:nvSpPr>
        <p:spPr bwMode="auto">
          <a:xfrm>
            <a:off x="3468888" y="4481292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Oval 6"/>
          <p:cNvSpPr>
            <a:spLocks noChangeArrowheads="1"/>
          </p:cNvSpPr>
          <p:nvPr/>
        </p:nvSpPr>
        <p:spPr bwMode="auto">
          <a:xfrm>
            <a:off x="5907288" y="2957292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Oval 7"/>
          <p:cNvSpPr>
            <a:spLocks noChangeArrowheads="1"/>
          </p:cNvSpPr>
          <p:nvPr/>
        </p:nvSpPr>
        <p:spPr bwMode="auto">
          <a:xfrm>
            <a:off x="7736088" y="4862292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Text Box 8"/>
          <p:cNvSpPr txBox="1">
            <a:spLocks noChangeArrowheads="1"/>
          </p:cNvSpPr>
          <p:nvPr/>
        </p:nvSpPr>
        <p:spPr bwMode="auto">
          <a:xfrm>
            <a:off x="4291213" y="1850805"/>
            <a:ext cx="336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defTabSz="914400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TW" sz="1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A</a:t>
            </a:r>
          </a:p>
        </p:txBody>
      </p:sp>
      <p:sp>
        <p:nvSpPr>
          <p:cNvPr id="14" name="Text Box 9"/>
          <p:cNvSpPr txBox="1">
            <a:spLocks noChangeArrowheads="1"/>
          </p:cNvSpPr>
          <p:nvPr/>
        </p:nvSpPr>
        <p:spPr bwMode="auto">
          <a:xfrm>
            <a:off x="7736088" y="5167092"/>
            <a:ext cx="336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defTabSz="914400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TW" sz="1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E</a:t>
            </a:r>
          </a:p>
        </p:txBody>
      </p:sp>
      <p:sp>
        <p:nvSpPr>
          <p:cNvPr id="15" name="Text Box 10"/>
          <p:cNvSpPr txBox="1">
            <a:spLocks noChangeArrowheads="1"/>
          </p:cNvSpPr>
          <p:nvPr/>
        </p:nvSpPr>
        <p:spPr bwMode="auto">
          <a:xfrm>
            <a:off x="3392688" y="4862292"/>
            <a:ext cx="349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defTabSz="914400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TW" sz="1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D</a:t>
            </a: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5907288" y="3262092"/>
            <a:ext cx="349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defTabSz="914400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TW" sz="1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C</a:t>
            </a:r>
          </a:p>
        </p:txBody>
      </p:sp>
      <p:sp>
        <p:nvSpPr>
          <p:cNvPr id="17" name="Text Box 12"/>
          <p:cNvSpPr txBox="1">
            <a:spLocks noChangeArrowheads="1"/>
          </p:cNvSpPr>
          <p:nvPr/>
        </p:nvSpPr>
        <p:spPr bwMode="auto">
          <a:xfrm>
            <a:off x="7888488" y="1966692"/>
            <a:ext cx="336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defTabSz="914400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TW" sz="1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B</a:t>
            </a:r>
          </a:p>
        </p:txBody>
      </p:sp>
      <p:grpSp>
        <p:nvGrpSpPr>
          <p:cNvPr id="18" name="Group 13"/>
          <p:cNvGrpSpPr>
            <a:grpSpLocks/>
          </p:cNvGrpSpPr>
          <p:nvPr/>
        </p:nvGrpSpPr>
        <p:grpSpPr bwMode="auto">
          <a:xfrm>
            <a:off x="3545088" y="1052292"/>
            <a:ext cx="914400" cy="1143000"/>
            <a:chOff x="1008" y="864"/>
            <a:chExt cx="576" cy="720"/>
          </a:xfrm>
        </p:grpSpPr>
        <p:pic>
          <p:nvPicPr>
            <p:cNvPr id="19" name="Picture 14" descr="oneant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8" y="960"/>
              <a:ext cx="472" cy="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" name="Text Box 15"/>
            <p:cNvSpPr txBox="1">
              <a:spLocks noChangeArrowheads="1"/>
            </p:cNvSpPr>
            <p:nvPr/>
          </p:nvSpPr>
          <p:spPr bwMode="auto">
            <a:xfrm>
              <a:off x="1056" y="912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endParaRPr lang="zh-TW" altLang="en-US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endParaRPr>
            </a:p>
          </p:txBody>
        </p:sp>
        <p:sp>
          <p:nvSpPr>
            <p:cNvPr id="21" name="Text Box 16"/>
            <p:cNvSpPr txBox="1">
              <a:spLocks noChangeArrowheads="1"/>
            </p:cNvSpPr>
            <p:nvPr/>
          </p:nvSpPr>
          <p:spPr bwMode="auto">
            <a:xfrm>
              <a:off x="1104" y="1344"/>
              <a:ext cx="169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zh-TW" sz="1200" b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1</a:t>
              </a:r>
            </a:p>
          </p:txBody>
        </p:sp>
        <p:sp>
          <p:nvSpPr>
            <p:cNvPr id="22" name="Text Box 17"/>
            <p:cNvSpPr txBox="1">
              <a:spLocks noChangeArrowheads="1"/>
            </p:cNvSpPr>
            <p:nvPr/>
          </p:nvSpPr>
          <p:spPr bwMode="auto">
            <a:xfrm>
              <a:off x="1152" y="864"/>
              <a:ext cx="277" cy="198"/>
            </a:xfrm>
            <a:prstGeom prst="rect">
              <a:avLst/>
            </a:prstGeom>
            <a:noFill/>
            <a:ln w="9525">
              <a:solidFill>
                <a:srgbClr val="9933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zh-TW" sz="1400" b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[A]</a:t>
              </a:r>
            </a:p>
          </p:txBody>
        </p:sp>
      </p:grpSp>
      <p:grpSp>
        <p:nvGrpSpPr>
          <p:cNvPr id="23" name="Group 18"/>
          <p:cNvGrpSpPr>
            <a:grpSpLocks/>
          </p:cNvGrpSpPr>
          <p:nvPr/>
        </p:nvGrpSpPr>
        <p:grpSpPr bwMode="auto">
          <a:xfrm>
            <a:off x="6945513" y="4176492"/>
            <a:ext cx="866775" cy="1482725"/>
            <a:chOff x="1038" y="864"/>
            <a:chExt cx="546" cy="934"/>
          </a:xfrm>
        </p:grpSpPr>
        <p:pic>
          <p:nvPicPr>
            <p:cNvPr id="24" name="Picture 19" descr="oneant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8" y="1098"/>
              <a:ext cx="484" cy="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" name="Text Box 20"/>
            <p:cNvSpPr txBox="1">
              <a:spLocks noChangeArrowheads="1"/>
            </p:cNvSpPr>
            <p:nvPr/>
          </p:nvSpPr>
          <p:spPr bwMode="auto">
            <a:xfrm>
              <a:off x="1056" y="912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endParaRPr lang="zh-TW" altLang="en-US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endParaRPr>
            </a:p>
          </p:txBody>
        </p:sp>
        <p:sp>
          <p:nvSpPr>
            <p:cNvPr id="26" name="Text Box 21"/>
            <p:cNvSpPr txBox="1">
              <a:spLocks noChangeArrowheads="1"/>
            </p:cNvSpPr>
            <p:nvPr/>
          </p:nvSpPr>
          <p:spPr bwMode="auto">
            <a:xfrm>
              <a:off x="1104" y="1344"/>
              <a:ext cx="169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zh-TW" sz="1200" b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5</a:t>
              </a:r>
            </a:p>
          </p:txBody>
        </p:sp>
        <p:sp>
          <p:nvSpPr>
            <p:cNvPr id="27" name="Text Box 22"/>
            <p:cNvSpPr txBox="1">
              <a:spLocks noChangeArrowheads="1"/>
            </p:cNvSpPr>
            <p:nvPr/>
          </p:nvSpPr>
          <p:spPr bwMode="auto">
            <a:xfrm>
              <a:off x="1152" y="864"/>
              <a:ext cx="271" cy="198"/>
            </a:xfrm>
            <a:prstGeom prst="rect">
              <a:avLst/>
            </a:prstGeom>
            <a:noFill/>
            <a:ln w="9525">
              <a:solidFill>
                <a:srgbClr val="9933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zh-TW" sz="1400" b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[E]</a:t>
              </a:r>
            </a:p>
          </p:txBody>
        </p:sp>
      </p:grpSp>
      <p:grpSp>
        <p:nvGrpSpPr>
          <p:cNvPr id="28" name="Group 23"/>
          <p:cNvGrpSpPr>
            <a:grpSpLocks/>
          </p:cNvGrpSpPr>
          <p:nvPr/>
        </p:nvGrpSpPr>
        <p:grpSpPr bwMode="auto">
          <a:xfrm>
            <a:off x="5150051" y="2271492"/>
            <a:ext cx="909637" cy="1250950"/>
            <a:chOff x="1011" y="864"/>
            <a:chExt cx="573" cy="788"/>
          </a:xfrm>
        </p:grpSpPr>
        <p:pic>
          <p:nvPicPr>
            <p:cNvPr id="29" name="Picture 24" descr="oneant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1" y="952"/>
              <a:ext cx="484" cy="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" name="Text Box 25"/>
            <p:cNvSpPr txBox="1">
              <a:spLocks noChangeArrowheads="1"/>
            </p:cNvSpPr>
            <p:nvPr/>
          </p:nvSpPr>
          <p:spPr bwMode="auto">
            <a:xfrm>
              <a:off x="1056" y="912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endParaRPr lang="zh-TW" altLang="en-US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endParaRPr>
            </a:p>
          </p:txBody>
        </p:sp>
        <p:sp>
          <p:nvSpPr>
            <p:cNvPr id="31" name="Text Box 26"/>
            <p:cNvSpPr txBox="1">
              <a:spLocks noChangeArrowheads="1"/>
            </p:cNvSpPr>
            <p:nvPr/>
          </p:nvSpPr>
          <p:spPr bwMode="auto">
            <a:xfrm>
              <a:off x="1104" y="1344"/>
              <a:ext cx="169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zh-TW" sz="1200" b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3</a:t>
              </a:r>
            </a:p>
          </p:txBody>
        </p:sp>
        <p:sp>
          <p:nvSpPr>
            <p:cNvPr id="32" name="Text Box 27"/>
            <p:cNvSpPr txBox="1">
              <a:spLocks noChangeArrowheads="1"/>
            </p:cNvSpPr>
            <p:nvPr/>
          </p:nvSpPr>
          <p:spPr bwMode="auto">
            <a:xfrm>
              <a:off x="1152" y="864"/>
              <a:ext cx="277" cy="198"/>
            </a:xfrm>
            <a:prstGeom prst="rect">
              <a:avLst/>
            </a:prstGeom>
            <a:noFill/>
            <a:ln w="9525">
              <a:solidFill>
                <a:srgbClr val="9933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zh-TW" sz="1400" b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[C]</a:t>
              </a:r>
            </a:p>
          </p:txBody>
        </p:sp>
      </p:grpSp>
      <p:grpSp>
        <p:nvGrpSpPr>
          <p:cNvPr id="33" name="Group 28"/>
          <p:cNvGrpSpPr>
            <a:grpSpLocks/>
          </p:cNvGrpSpPr>
          <p:nvPr/>
        </p:nvGrpSpPr>
        <p:grpSpPr bwMode="auto">
          <a:xfrm>
            <a:off x="7126488" y="976092"/>
            <a:ext cx="914400" cy="1143000"/>
            <a:chOff x="1008" y="864"/>
            <a:chExt cx="576" cy="720"/>
          </a:xfrm>
        </p:grpSpPr>
        <p:pic>
          <p:nvPicPr>
            <p:cNvPr id="34" name="Picture 29" descr="oneant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8" y="960"/>
              <a:ext cx="472" cy="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" name="Text Box 30"/>
            <p:cNvSpPr txBox="1">
              <a:spLocks noChangeArrowheads="1"/>
            </p:cNvSpPr>
            <p:nvPr/>
          </p:nvSpPr>
          <p:spPr bwMode="auto">
            <a:xfrm>
              <a:off x="1056" y="912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endParaRPr lang="zh-TW" altLang="en-US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endParaRPr>
            </a:p>
          </p:txBody>
        </p:sp>
        <p:sp>
          <p:nvSpPr>
            <p:cNvPr id="36" name="Text Box 31"/>
            <p:cNvSpPr txBox="1">
              <a:spLocks noChangeArrowheads="1"/>
            </p:cNvSpPr>
            <p:nvPr/>
          </p:nvSpPr>
          <p:spPr bwMode="auto">
            <a:xfrm>
              <a:off x="1104" y="1344"/>
              <a:ext cx="169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zh-TW" sz="1200" b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2</a:t>
              </a:r>
            </a:p>
          </p:txBody>
        </p:sp>
        <p:sp>
          <p:nvSpPr>
            <p:cNvPr id="37" name="Text Box 32"/>
            <p:cNvSpPr txBox="1">
              <a:spLocks noChangeArrowheads="1"/>
            </p:cNvSpPr>
            <p:nvPr/>
          </p:nvSpPr>
          <p:spPr bwMode="auto">
            <a:xfrm>
              <a:off x="1152" y="864"/>
              <a:ext cx="277" cy="198"/>
            </a:xfrm>
            <a:prstGeom prst="rect">
              <a:avLst/>
            </a:prstGeom>
            <a:noFill/>
            <a:ln w="9525">
              <a:solidFill>
                <a:srgbClr val="9933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zh-TW" sz="1400" b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[B]</a:t>
              </a:r>
            </a:p>
          </p:txBody>
        </p:sp>
      </p:grpSp>
      <p:grpSp>
        <p:nvGrpSpPr>
          <p:cNvPr id="38" name="Group 33"/>
          <p:cNvGrpSpPr>
            <a:grpSpLocks/>
          </p:cNvGrpSpPr>
          <p:nvPr/>
        </p:nvGrpSpPr>
        <p:grpSpPr bwMode="auto">
          <a:xfrm>
            <a:off x="2497338" y="4252692"/>
            <a:ext cx="971550" cy="1490663"/>
            <a:chOff x="972" y="864"/>
            <a:chExt cx="612" cy="939"/>
          </a:xfrm>
        </p:grpSpPr>
        <p:pic>
          <p:nvPicPr>
            <p:cNvPr id="39" name="Picture 34" descr="oneant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2" y="1104"/>
              <a:ext cx="483" cy="6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0" name="Text Box 35"/>
            <p:cNvSpPr txBox="1">
              <a:spLocks noChangeArrowheads="1"/>
            </p:cNvSpPr>
            <p:nvPr/>
          </p:nvSpPr>
          <p:spPr bwMode="auto">
            <a:xfrm>
              <a:off x="1056" y="912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endParaRPr lang="zh-TW" altLang="en-US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endParaRPr>
            </a:p>
          </p:txBody>
        </p:sp>
        <p:sp>
          <p:nvSpPr>
            <p:cNvPr id="41" name="Text Box 36"/>
            <p:cNvSpPr txBox="1">
              <a:spLocks noChangeArrowheads="1"/>
            </p:cNvSpPr>
            <p:nvPr/>
          </p:nvSpPr>
          <p:spPr bwMode="auto">
            <a:xfrm>
              <a:off x="1104" y="1344"/>
              <a:ext cx="169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zh-TW" sz="1200" b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4</a:t>
              </a:r>
            </a:p>
          </p:txBody>
        </p:sp>
        <p:sp>
          <p:nvSpPr>
            <p:cNvPr id="42" name="Text Box 37"/>
            <p:cNvSpPr txBox="1">
              <a:spLocks noChangeArrowheads="1"/>
            </p:cNvSpPr>
            <p:nvPr/>
          </p:nvSpPr>
          <p:spPr bwMode="auto">
            <a:xfrm>
              <a:off x="1152" y="864"/>
              <a:ext cx="277" cy="198"/>
            </a:xfrm>
            <a:prstGeom prst="rect">
              <a:avLst/>
            </a:prstGeom>
            <a:noFill/>
            <a:ln w="9525">
              <a:solidFill>
                <a:srgbClr val="9933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zh-TW" sz="1400" b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[D]</a:t>
              </a:r>
            </a:p>
          </p:txBody>
        </p:sp>
      </p:grpSp>
      <p:pic>
        <p:nvPicPr>
          <p:cNvPr id="43" name="Picture 4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30552" y="5791201"/>
            <a:ext cx="932129" cy="639174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55038" y="5938338"/>
            <a:ext cx="932129" cy="639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92557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868 0.01111 L 1.11119 0.02199 L 1.10742 0.22315 L -0.02683 0.17338 L -0.02513 -0.00393 L -0.02513 -2.22222E-6 " pathEditMode="relative" rAng="0" ptsTypes="AAAAAA">
                                      <p:cBhvr>
                                        <p:cTn id="6" dur="25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487" y="983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repeatCount="indefinite" accel="50000" decel="50000" fill="hold" nodeType="withEffect">
                                  <p:stCondLst>
                                    <p:cond delay="110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0.02188 -1.11022E-16 L 1.15052 0.00995 L 1.14661 0.19444 L -0.00977 0.14884 L -0.00807 -0.01389 L -0.00807 -0.01042 " pathEditMode="relative" rAng="0" ptsTypes="AAAAAA">
                                      <p:cBhvr>
                                        <p:cTn id="8" dur="25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620" y="902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28688"/>
            <a:ext cx="10515600" cy="5595937"/>
          </a:xfrm>
        </p:spPr>
        <p:txBody>
          <a:bodyPr rtlCol="0">
            <a:normAutofit/>
          </a:bodyPr>
          <a:lstStyle/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3" name="标题 1"/>
          <p:cNvSpPr>
            <a:spLocks noGrp="1"/>
          </p:cNvSpPr>
          <p:nvPr>
            <p:ph type="title"/>
          </p:nvPr>
        </p:nvSpPr>
        <p:spPr>
          <a:xfrm>
            <a:off x="0" y="-3175"/>
            <a:ext cx="12192000" cy="808038"/>
          </a:xfrm>
          <a:solidFill>
            <a:srgbClr val="0070C0"/>
          </a:solidFill>
        </p:spPr>
        <p:txBody>
          <a:bodyPr/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of a Simple AS to solve TSP</a:t>
            </a:r>
            <a:endParaRPr lang="en-US" sz="4000" b="1" dirty="0">
              <a:solidFill>
                <a:schemeClr val="bg1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12"/>
          </p:nvPr>
        </p:nvSpPr>
        <p:spPr bwMode="auto">
          <a:xfrm>
            <a:off x="8075613" y="6524625"/>
            <a:ext cx="4116387" cy="196850"/>
          </a:xfrm>
          <a:solidFill>
            <a:srgbClr val="0070C0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Md. Forhad Hossain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21150" y="6524625"/>
            <a:ext cx="3954463" cy="196850"/>
          </a:xfrm>
          <a:solidFill>
            <a:schemeClr val="accent1">
              <a:lumMod val="75000"/>
            </a:schemeClr>
          </a:solidFill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B. M. Junaed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6" name="日期占位符 5"/>
          <p:cNvSpPr>
            <a:spLocks noGrp="1"/>
          </p:cNvSpPr>
          <p:nvPr>
            <p:ph type="dt" sz="quarter" idx="10"/>
          </p:nvPr>
        </p:nvSpPr>
        <p:spPr bwMode="auto">
          <a:xfrm>
            <a:off x="0" y="6524625"/>
            <a:ext cx="4121150" cy="196850"/>
          </a:xfrm>
          <a:solidFill>
            <a:schemeClr val="accent1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 A. H. Akhand	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val 3"/>
          <p:cNvSpPr>
            <a:spLocks noChangeArrowheads="1"/>
          </p:cNvSpPr>
          <p:nvPr/>
        </p:nvSpPr>
        <p:spPr bwMode="auto">
          <a:xfrm>
            <a:off x="4307088" y="1661892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Oval 4"/>
          <p:cNvSpPr>
            <a:spLocks noChangeArrowheads="1"/>
          </p:cNvSpPr>
          <p:nvPr/>
        </p:nvSpPr>
        <p:spPr bwMode="auto">
          <a:xfrm>
            <a:off x="7888488" y="1661892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Oval 5"/>
          <p:cNvSpPr>
            <a:spLocks noChangeArrowheads="1"/>
          </p:cNvSpPr>
          <p:nvPr/>
        </p:nvSpPr>
        <p:spPr bwMode="auto">
          <a:xfrm>
            <a:off x="3468888" y="4481292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Oval 6"/>
          <p:cNvSpPr>
            <a:spLocks noChangeArrowheads="1"/>
          </p:cNvSpPr>
          <p:nvPr/>
        </p:nvSpPr>
        <p:spPr bwMode="auto">
          <a:xfrm>
            <a:off x="5907288" y="2957292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Oval 7"/>
          <p:cNvSpPr>
            <a:spLocks noChangeArrowheads="1"/>
          </p:cNvSpPr>
          <p:nvPr/>
        </p:nvSpPr>
        <p:spPr bwMode="auto">
          <a:xfrm>
            <a:off x="7736088" y="4862292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Text Box 8"/>
          <p:cNvSpPr txBox="1">
            <a:spLocks noChangeArrowheads="1"/>
          </p:cNvSpPr>
          <p:nvPr/>
        </p:nvSpPr>
        <p:spPr bwMode="auto">
          <a:xfrm>
            <a:off x="4291213" y="1850805"/>
            <a:ext cx="336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defTabSz="914400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TW" sz="1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A</a:t>
            </a:r>
          </a:p>
        </p:txBody>
      </p:sp>
      <p:sp>
        <p:nvSpPr>
          <p:cNvPr id="14" name="Text Box 9"/>
          <p:cNvSpPr txBox="1">
            <a:spLocks noChangeArrowheads="1"/>
          </p:cNvSpPr>
          <p:nvPr/>
        </p:nvSpPr>
        <p:spPr bwMode="auto">
          <a:xfrm>
            <a:off x="7736088" y="5167092"/>
            <a:ext cx="336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defTabSz="914400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TW" sz="1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E</a:t>
            </a:r>
          </a:p>
        </p:txBody>
      </p:sp>
      <p:sp>
        <p:nvSpPr>
          <p:cNvPr id="15" name="Text Box 10"/>
          <p:cNvSpPr txBox="1">
            <a:spLocks noChangeArrowheads="1"/>
          </p:cNvSpPr>
          <p:nvPr/>
        </p:nvSpPr>
        <p:spPr bwMode="auto">
          <a:xfrm>
            <a:off x="3392688" y="4862292"/>
            <a:ext cx="349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defTabSz="914400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TW" sz="1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D</a:t>
            </a: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5907288" y="3262092"/>
            <a:ext cx="349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defTabSz="914400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TW" sz="1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C</a:t>
            </a:r>
          </a:p>
        </p:txBody>
      </p:sp>
      <p:sp>
        <p:nvSpPr>
          <p:cNvPr id="17" name="Text Box 12"/>
          <p:cNvSpPr txBox="1">
            <a:spLocks noChangeArrowheads="1"/>
          </p:cNvSpPr>
          <p:nvPr/>
        </p:nvSpPr>
        <p:spPr bwMode="auto">
          <a:xfrm>
            <a:off x="7888488" y="1966692"/>
            <a:ext cx="336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defTabSz="914400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TW" sz="1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B</a:t>
            </a:r>
          </a:p>
        </p:txBody>
      </p:sp>
      <p:grpSp>
        <p:nvGrpSpPr>
          <p:cNvPr id="18" name="Group 13"/>
          <p:cNvGrpSpPr>
            <a:grpSpLocks/>
          </p:cNvGrpSpPr>
          <p:nvPr/>
        </p:nvGrpSpPr>
        <p:grpSpPr bwMode="auto">
          <a:xfrm>
            <a:off x="3545088" y="1052292"/>
            <a:ext cx="914400" cy="1143000"/>
            <a:chOff x="1008" y="864"/>
            <a:chExt cx="576" cy="720"/>
          </a:xfrm>
        </p:grpSpPr>
        <p:pic>
          <p:nvPicPr>
            <p:cNvPr id="19" name="Picture 14" descr="oneant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8" y="960"/>
              <a:ext cx="472" cy="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" name="Text Box 15"/>
            <p:cNvSpPr txBox="1">
              <a:spLocks noChangeArrowheads="1"/>
            </p:cNvSpPr>
            <p:nvPr/>
          </p:nvSpPr>
          <p:spPr bwMode="auto">
            <a:xfrm>
              <a:off x="1056" y="912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endParaRPr lang="zh-TW" altLang="en-US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endParaRPr>
            </a:p>
          </p:txBody>
        </p:sp>
        <p:sp>
          <p:nvSpPr>
            <p:cNvPr id="21" name="Text Box 16"/>
            <p:cNvSpPr txBox="1">
              <a:spLocks noChangeArrowheads="1"/>
            </p:cNvSpPr>
            <p:nvPr/>
          </p:nvSpPr>
          <p:spPr bwMode="auto">
            <a:xfrm>
              <a:off x="1104" y="1344"/>
              <a:ext cx="169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zh-TW" sz="1200" b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1</a:t>
              </a:r>
            </a:p>
          </p:txBody>
        </p:sp>
        <p:sp>
          <p:nvSpPr>
            <p:cNvPr id="22" name="Text Box 17"/>
            <p:cNvSpPr txBox="1">
              <a:spLocks noChangeArrowheads="1"/>
            </p:cNvSpPr>
            <p:nvPr/>
          </p:nvSpPr>
          <p:spPr bwMode="auto">
            <a:xfrm>
              <a:off x="1152" y="864"/>
              <a:ext cx="277" cy="198"/>
            </a:xfrm>
            <a:prstGeom prst="rect">
              <a:avLst/>
            </a:prstGeom>
            <a:noFill/>
            <a:ln w="9525">
              <a:solidFill>
                <a:srgbClr val="9933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zh-TW" sz="1400" b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[A]</a:t>
              </a:r>
            </a:p>
          </p:txBody>
        </p:sp>
      </p:grpSp>
      <p:grpSp>
        <p:nvGrpSpPr>
          <p:cNvPr id="23" name="Group 18"/>
          <p:cNvGrpSpPr>
            <a:grpSpLocks/>
          </p:cNvGrpSpPr>
          <p:nvPr/>
        </p:nvGrpSpPr>
        <p:grpSpPr bwMode="auto">
          <a:xfrm>
            <a:off x="3121226" y="2119092"/>
            <a:ext cx="957262" cy="1231900"/>
            <a:chOff x="981" y="864"/>
            <a:chExt cx="603" cy="776"/>
          </a:xfrm>
        </p:grpSpPr>
        <p:pic>
          <p:nvPicPr>
            <p:cNvPr id="24" name="Picture 19" descr="oneant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1" y="940"/>
              <a:ext cx="483" cy="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" name="Text Box 20"/>
            <p:cNvSpPr txBox="1">
              <a:spLocks noChangeArrowheads="1"/>
            </p:cNvSpPr>
            <p:nvPr/>
          </p:nvSpPr>
          <p:spPr bwMode="auto">
            <a:xfrm>
              <a:off x="1056" y="912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endParaRPr lang="zh-TW" altLang="en-US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endParaRPr>
            </a:p>
          </p:txBody>
        </p:sp>
        <p:sp>
          <p:nvSpPr>
            <p:cNvPr id="26" name="Text Box 21"/>
            <p:cNvSpPr txBox="1">
              <a:spLocks noChangeArrowheads="1"/>
            </p:cNvSpPr>
            <p:nvPr/>
          </p:nvSpPr>
          <p:spPr bwMode="auto">
            <a:xfrm>
              <a:off x="1104" y="1344"/>
              <a:ext cx="169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zh-TW" sz="1200" b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1</a:t>
              </a:r>
            </a:p>
          </p:txBody>
        </p:sp>
        <p:sp>
          <p:nvSpPr>
            <p:cNvPr id="27" name="Text Box 22"/>
            <p:cNvSpPr txBox="1">
              <a:spLocks noChangeArrowheads="1"/>
            </p:cNvSpPr>
            <p:nvPr/>
          </p:nvSpPr>
          <p:spPr bwMode="auto">
            <a:xfrm>
              <a:off x="1152" y="864"/>
              <a:ext cx="277" cy="198"/>
            </a:xfrm>
            <a:prstGeom prst="rect">
              <a:avLst/>
            </a:prstGeom>
            <a:noFill/>
            <a:ln w="9525">
              <a:solidFill>
                <a:srgbClr val="9933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zh-TW" sz="1400" b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[A]</a:t>
              </a:r>
            </a:p>
          </p:txBody>
        </p:sp>
      </p:grpSp>
      <p:grpSp>
        <p:nvGrpSpPr>
          <p:cNvPr id="28" name="Group 23"/>
          <p:cNvGrpSpPr>
            <a:grpSpLocks/>
          </p:cNvGrpSpPr>
          <p:nvPr/>
        </p:nvGrpSpPr>
        <p:grpSpPr bwMode="auto">
          <a:xfrm>
            <a:off x="4057851" y="3947892"/>
            <a:ext cx="935037" cy="1454150"/>
            <a:chOff x="995" y="864"/>
            <a:chExt cx="589" cy="916"/>
          </a:xfrm>
        </p:grpSpPr>
        <p:pic>
          <p:nvPicPr>
            <p:cNvPr id="29" name="Picture 24" descr="oneant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5" y="1080"/>
              <a:ext cx="483" cy="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" name="Text Box 25"/>
            <p:cNvSpPr txBox="1">
              <a:spLocks noChangeArrowheads="1"/>
            </p:cNvSpPr>
            <p:nvPr/>
          </p:nvSpPr>
          <p:spPr bwMode="auto">
            <a:xfrm>
              <a:off x="1056" y="912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endParaRPr lang="zh-TW" altLang="en-US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endParaRPr>
            </a:p>
          </p:txBody>
        </p:sp>
        <p:sp>
          <p:nvSpPr>
            <p:cNvPr id="31" name="Text Box 26"/>
            <p:cNvSpPr txBox="1">
              <a:spLocks noChangeArrowheads="1"/>
            </p:cNvSpPr>
            <p:nvPr/>
          </p:nvSpPr>
          <p:spPr bwMode="auto">
            <a:xfrm>
              <a:off x="1104" y="1344"/>
              <a:ext cx="169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zh-TW" sz="1200" b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1</a:t>
              </a:r>
            </a:p>
          </p:txBody>
        </p:sp>
        <p:sp>
          <p:nvSpPr>
            <p:cNvPr id="32" name="Text Box 27"/>
            <p:cNvSpPr txBox="1">
              <a:spLocks noChangeArrowheads="1"/>
            </p:cNvSpPr>
            <p:nvPr/>
          </p:nvSpPr>
          <p:spPr bwMode="auto">
            <a:xfrm>
              <a:off x="1152" y="864"/>
              <a:ext cx="277" cy="198"/>
            </a:xfrm>
            <a:prstGeom prst="rect">
              <a:avLst/>
            </a:prstGeom>
            <a:noFill/>
            <a:ln w="9525">
              <a:solidFill>
                <a:srgbClr val="9933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zh-TW" sz="1400" b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[A]</a:t>
              </a:r>
            </a:p>
          </p:txBody>
        </p:sp>
      </p:grpSp>
      <p:grpSp>
        <p:nvGrpSpPr>
          <p:cNvPr id="33" name="Group 28"/>
          <p:cNvGrpSpPr>
            <a:grpSpLocks/>
          </p:cNvGrpSpPr>
          <p:nvPr/>
        </p:nvGrpSpPr>
        <p:grpSpPr bwMode="auto">
          <a:xfrm>
            <a:off x="3043438" y="3033492"/>
            <a:ext cx="958850" cy="1343025"/>
            <a:chOff x="980" y="864"/>
            <a:chExt cx="604" cy="846"/>
          </a:xfrm>
        </p:grpSpPr>
        <p:pic>
          <p:nvPicPr>
            <p:cNvPr id="34" name="Picture 29" descr="oneant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0" y="1010"/>
              <a:ext cx="483" cy="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" name="Text Box 30"/>
            <p:cNvSpPr txBox="1">
              <a:spLocks noChangeArrowheads="1"/>
            </p:cNvSpPr>
            <p:nvPr/>
          </p:nvSpPr>
          <p:spPr bwMode="auto">
            <a:xfrm>
              <a:off x="1056" y="912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endParaRPr lang="zh-TW" altLang="en-US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endParaRPr>
            </a:p>
          </p:txBody>
        </p:sp>
        <p:sp>
          <p:nvSpPr>
            <p:cNvPr id="36" name="Text Box 31"/>
            <p:cNvSpPr txBox="1">
              <a:spLocks noChangeArrowheads="1"/>
            </p:cNvSpPr>
            <p:nvPr/>
          </p:nvSpPr>
          <p:spPr bwMode="auto">
            <a:xfrm>
              <a:off x="1104" y="1344"/>
              <a:ext cx="169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zh-TW" sz="1200" b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1</a:t>
              </a:r>
            </a:p>
          </p:txBody>
        </p:sp>
        <p:sp>
          <p:nvSpPr>
            <p:cNvPr id="37" name="Text Box 32"/>
            <p:cNvSpPr txBox="1">
              <a:spLocks noChangeArrowheads="1"/>
            </p:cNvSpPr>
            <p:nvPr/>
          </p:nvSpPr>
          <p:spPr bwMode="auto">
            <a:xfrm>
              <a:off x="1152" y="864"/>
              <a:ext cx="277" cy="198"/>
            </a:xfrm>
            <a:prstGeom prst="rect">
              <a:avLst/>
            </a:prstGeom>
            <a:noFill/>
            <a:ln w="9525">
              <a:solidFill>
                <a:srgbClr val="9933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zh-TW" sz="1400" b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[A]</a:t>
              </a:r>
            </a:p>
          </p:txBody>
        </p:sp>
      </p:grpSp>
      <p:grpSp>
        <p:nvGrpSpPr>
          <p:cNvPr id="38" name="Group 33"/>
          <p:cNvGrpSpPr>
            <a:grpSpLocks/>
          </p:cNvGrpSpPr>
          <p:nvPr/>
        </p:nvGrpSpPr>
        <p:grpSpPr bwMode="auto">
          <a:xfrm>
            <a:off x="3902276" y="3871692"/>
            <a:ext cx="938212" cy="1444625"/>
            <a:chOff x="993" y="864"/>
            <a:chExt cx="591" cy="910"/>
          </a:xfrm>
        </p:grpSpPr>
        <p:pic>
          <p:nvPicPr>
            <p:cNvPr id="39" name="Picture 34" descr="oneant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" y="1074"/>
              <a:ext cx="483" cy="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0" name="Text Box 35"/>
            <p:cNvSpPr txBox="1">
              <a:spLocks noChangeArrowheads="1"/>
            </p:cNvSpPr>
            <p:nvPr/>
          </p:nvSpPr>
          <p:spPr bwMode="auto">
            <a:xfrm>
              <a:off x="1056" y="912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endParaRPr lang="zh-TW" altLang="en-US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endParaRPr>
            </a:p>
          </p:txBody>
        </p:sp>
        <p:sp>
          <p:nvSpPr>
            <p:cNvPr id="41" name="Text Box 36"/>
            <p:cNvSpPr txBox="1">
              <a:spLocks noChangeArrowheads="1"/>
            </p:cNvSpPr>
            <p:nvPr/>
          </p:nvSpPr>
          <p:spPr bwMode="auto">
            <a:xfrm>
              <a:off x="1104" y="1344"/>
              <a:ext cx="169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zh-TW" sz="1200" b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1</a:t>
              </a:r>
            </a:p>
          </p:txBody>
        </p:sp>
        <p:sp>
          <p:nvSpPr>
            <p:cNvPr id="42" name="Text Box 37"/>
            <p:cNvSpPr txBox="1">
              <a:spLocks noChangeArrowheads="1"/>
            </p:cNvSpPr>
            <p:nvPr/>
          </p:nvSpPr>
          <p:spPr bwMode="auto">
            <a:xfrm>
              <a:off x="1152" y="864"/>
              <a:ext cx="389" cy="198"/>
            </a:xfrm>
            <a:prstGeom prst="rect">
              <a:avLst/>
            </a:prstGeom>
            <a:noFill/>
            <a:ln w="9525">
              <a:solidFill>
                <a:srgbClr val="9933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zh-TW" sz="1400" b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[A,D]</a:t>
              </a:r>
            </a:p>
          </p:txBody>
        </p:sp>
      </p:grpSp>
      <p:sp>
        <p:nvSpPr>
          <p:cNvPr id="43" name="Line 38"/>
          <p:cNvSpPr>
            <a:spLocks noChangeShapeType="1"/>
          </p:cNvSpPr>
          <p:nvPr/>
        </p:nvSpPr>
        <p:spPr bwMode="auto">
          <a:xfrm flipH="1">
            <a:off x="3621288" y="1814292"/>
            <a:ext cx="762000" cy="2743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" name="Line 39"/>
          <p:cNvSpPr>
            <a:spLocks noChangeShapeType="1"/>
          </p:cNvSpPr>
          <p:nvPr/>
        </p:nvSpPr>
        <p:spPr bwMode="auto">
          <a:xfrm>
            <a:off x="4383288" y="1738092"/>
            <a:ext cx="160020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" name="Line 40"/>
          <p:cNvSpPr>
            <a:spLocks noChangeShapeType="1"/>
          </p:cNvSpPr>
          <p:nvPr/>
        </p:nvSpPr>
        <p:spPr bwMode="auto">
          <a:xfrm>
            <a:off x="4459488" y="1738092"/>
            <a:ext cx="3505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" name="Line 41"/>
          <p:cNvSpPr>
            <a:spLocks noChangeShapeType="1"/>
          </p:cNvSpPr>
          <p:nvPr/>
        </p:nvSpPr>
        <p:spPr bwMode="auto">
          <a:xfrm>
            <a:off x="4383288" y="1814292"/>
            <a:ext cx="3429000" cy="3200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47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9894647"/>
              </p:ext>
            </p:extLst>
          </p:nvPr>
        </p:nvGraphicFramePr>
        <p:xfrm>
          <a:off x="2173488" y="2804892"/>
          <a:ext cx="7772400" cy="228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984500" imgH="1041400" progId="Equation.3">
                  <p:embed/>
                </p:oleObj>
              </mc:Choice>
              <mc:Fallback>
                <p:oleObj name="Equation" r:id="rId4" imgW="2984500" imgH="1041400" progId="Equation.3">
                  <p:embed/>
                  <p:pic>
                    <p:nvPicPr>
                      <p:cNvPr id="47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3488" y="2804892"/>
                        <a:ext cx="7772400" cy="2286000"/>
                      </a:xfrm>
                      <a:prstGeom prst="rect">
                        <a:avLst/>
                      </a:prstGeom>
                      <a:solidFill>
                        <a:srgbClr val="D5D5FF"/>
                      </a:solidFill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8" name="Picture 4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30552" y="5791201"/>
            <a:ext cx="932129" cy="639174"/>
          </a:xfrm>
          <a:prstGeom prst="rect">
            <a:avLst/>
          </a:prstGeom>
        </p:spPr>
      </p:pic>
      <p:pic>
        <p:nvPicPr>
          <p:cNvPr id="49" name="Picture 4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55038" y="5938338"/>
            <a:ext cx="932129" cy="639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4438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" presetClass="exit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1" presetClass="exit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0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868 0.01111 L 1.11119 0.02199 L 1.10742 0.22315 L -0.02683 0.17338 L -0.02513 -0.00393 L -0.02513 -2.22222E-6 " pathEditMode="relative" rAng="0" ptsTypes="AAAAAA">
                                      <p:cBhvr>
                                        <p:cTn id="56" dur="25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487" y="9838"/>
                                    </p:animMotion>
                                  </p:childTnLst>
                                </p:cTn>
                              </p:par>
                              <p:par>
                                <p:cTn id="57" presetID="0" presetClass="path" presetSubtype="0" repeatCount="indefinite" accel="50000" decel="50000" fill="hold" nodeType="withEffect">
                                  <p:stCondLst>
                                    <p:cond delay="110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0.02188 -1.11022E-16 L 1.15052 0.00995 L 1.14661 0.19444 L -0.00977 0.14884 L -0.00807 -0.01389 L -0.00807 -0.01042 " pathEditMode="relative" rAng="0" ptsTypes="AAAAAA">
                                      <p:cBhvr>
                                        <p:cTn id="58" dur="25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620" y="902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 animBg="1"/>
      <p:bldP spid="45" grpId="0" animBg="1"/>
      <p:bldP spid="4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28688"/>
            <a:ext cx="10515600" cy="5595937"/>
          </a:xfrm>
        </p:spPr>
        <p:txBody>
          <a:bodyPr rtlCol="0">
            <a:normAutofit/>
          </a:bodyPr>
          <a:lstStyle/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3" name="标题 1"/>
          <p:cNvSpPr>
            <a:spLocks noGrp="1"/>
          </p:cNvSpPr>
          <p:nvPr>
            <p:ph type="title"/>
          </p:nvPr>
        </p:nvSpPr>
        <p:spPr>
          <a:xfrm>
            <a:off x="0" y="-3175"/>
            <a:ext cx="12192000" cy="808038"/>
          </a:xfrm>
          <a:solidFill>
            <a:srgbClr val="0070C0"/>
          </a:solidFill>
        </p:spPr>
        <p:txBody>
          <a:bodyPr/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of a Simple AS to solve TSP</a:t>
            </a:r>
            <a:endParaRPr lang="en-US" sz="4000" b="1" dirty="0">
              <a:solidFill>
                <a:schemeClr val="bg1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12"/>
          </p:nvPr>
        </p:nvSpPr>
        <p:spPr bwMode="auto">
          <a:xfrm>
            <a:off x="8075613" y="6524625"/>
            <a:ext cx="4116387" cy="196850"/>
          </a:xfrm>
          <a:solidFill>
            <a:srgbClr val="0070C0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Md. Forhad Hossain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21150" y="6524625"/>
            <a:ext cx="3954463" cy="196850"/>
          </a:xfrm>
          <a:solidFill>
            <a:schemeClr val="accent1">
              <a:lumMod val="75000"/>
            </a:schemeClr>
          </a:solidFill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B. M. Junaed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6" name="日期占位符 5"/>
          <p:cNvSpPr>
            <a:spLocks noGrp="1"/>
          </p:cNvSpPr>
          <p:nvPr>
            <p:ph type="dt" sz="quarter" idx="10"/>
          </p:nvPr>
        </p:nvSpPr>
        <p:spPr bwMode="auto">
          <a:xfrm>
            <a:off x="0" y="6524625"/>
            <a:ext cx="4121150" cy="196850"/>
          </a:xfrm>
          <a:solidFill>
            <a:schemeClr val="accent1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 A. H. Akhand	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val 3"/>
          <p:cNvSpPr>
            <a:spLocks noChangeArrowheads="1"/>
          </p:cNvSpPr>
          <p:nvPr/>
        </p:nvSpPr>
        <p:spPr bwMode="auto">
          <a:xfrm>
            <a:off x="4307088" y="1661892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Oval 4"/>
          <p:cNvSpPr>
            <a:spLocks noChangeArrowheads="1"/>
          </p:cNvSpPr>
          <p:nvPr/>
        </p:nvSpPr>
        <p:spPr bwMode="auto">
          <a:xfrm>
            <a:off x="7888488" y="1661892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Oval 5"/>
          <p:cNvSpPr>
            <a:spLocks noChangeArrowheads="1"/>
          </p:cNvSpPr>
          <p:nvPr/>
        </p:nvSpPr>
        <p:spPr bwMode="auto">
          <a:xfrm>
            <a:off x="3468888" y="4481292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Oval 6"/>
          <p:cNvSpPr>
            <a:spLocks noChangeArrowheads="1"/>
          </p:cNvSpPr>
          <p:nvPr/>
        </p:nvSpPr>
        <p:spPr bwMode="auto">
          <a:xfrm>
            <a:off x="5907288" y="2957292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Oval 7"/>
          <p:cNvSpPr>
            <a:spLocks noChangeArrowheads="1"/>
          </p:cNvSpPr>
          <p:nvPr/>
        </p:nvSpPr>
        <p:spPr bwMode="auto">
          <a:xfrm>
            <a:off x="7736088" y="4862292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Text Box 8"/>
          <p:cNvSpPr txBox="1">
            <a:spLocks noChangeArrowheads="1"/>
          </p:cNvSpPr>
          <p:nvPr/>
        </p:nvSpPr>
        <p:spPr bwMode="auto">
          <a:xfrm>
            <a:off x="4291213" y="1850805"/>
            <a:ext cx="336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defTabSz="914400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TW" sz="1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A</a:t>
            </a:r>
          </a:p>
        </p:txBody>
      </p:sp>
      <p:sp>
        <p:nvSpPr>
          <p:cNvPr id="14" name="Text Box 9"/>
          <p:cNvSpPr txBox="1">
            <a:spLocks noChangeArrowheads="1"/>
          </p:cNvSpPr>
          <p:nvPr/>
        </p:nvSpPr>
        <p:spPr bwMode="auto">
          <a:xfrm>
            <a:off x="7736088" y="5167092"/>
            <a:ext cx="336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defTabSz="914400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TW" sz="1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E</a:t>
            </a:r>
          </a:p>
        </p:txBody>
      </p:sp>
      <p:sp>
        <p:nvSpPr>
          <p:cNvPr id="15" name="Text Box 10"/>
          <p:cNvSpPr txBox="1">
            <a:spLocks noChangeArrowheads="1"/>
          </p:cNvSpPr>
          <p:nvPr/>
        </p:nvSpPr>
        <p:spPr bwMode="auto">
          <a:xfrm>
            <a:off x="3392688" y="4862292"/>
            <a:ext cx="349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defTabSz="914400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TW" sz="1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D</a:t>
            </a: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5907288" y="3262092"/>
            <a:ext cx="349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defTabSz="914400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TW" sz="1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C</a:t>
            </a:r>
          </a:p>
        </p:txBody>
      </p:sp>
      <p:sp>
        <p:nvSpPr>
          <p:cNvPr id="17" name="Text Box 12"/>
          <p:cNvSpPr txBox="1">
            <a:spLocks noChangeArrowheads="1"/>
          </p:cNvSpPr>
          <p:nvPr/>
        </p:nvSpPr>
        <p:spPr bwMode="auto">
          <a:xfrm>
            <a:off x="7888488" y="1966692"/>
            <a:ext cx="336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defTabSz="914400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TW" sz="1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B</a:t>
            </a:r>
          </a:p>
        </p:txBody>
      </p:sp>
      <p:grpSp>
        <p:nvGrpSpPr>
          <p:cNvPr id="18" name="Group 13"/>
          <p:cNvGrpSpPr>
            <a:grpSpLocks/>
          </p:cNvGrpSpPr>
          <p:nvPr/>
        </p:nvGrpSpPr>
        <p:grpSpPr bwMode="auto">
          <a:xfrm>
            <a:off x="8269488" y="1052292"/>
            <a:ext cx="914400" cy="1143000"/>
            <a:chOff x="1008" y="864"/>
            <a:chExt cx="576" cy="720"/>
          </a:xfrm>
        </p:grpSpPr>
        <p:pic>
          <p:nvPicPr>
            <p:cNvPr id="19" name="Picture 14" descr="oneant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8" y="960"/>
              <a:ext cx="472" cy="6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0" name="Text Box 15"/>
            <p:cNvSpPr txBox="1">
              <a:spLocks noChangeArrowheads="1"/>
            </p:cNvSpPr>
            <p:nvPr/>
          </p:nvSpPr>
          <p:spPr bwMode="auto">
            <a:xfrm>
              <a:off x="1056" y="912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endParaRPr lang="zh-TW" altLang="en-US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endParaRPr>
            </a:p>
          </p:txBody>
        </p:sp>
        <p:sp>
          <p:nvSpPr>
            <p:cNvPr id="21" name="Text Box 16"/>
            <p:cNvSpPr txBox="1">
              <a:spLocks noChangeArrowheads="1"/>
            </p:cNvSpPr>
            <p:nvPr/>
          </p:nvSpPr>
          <p:spPr bwMode="auto">
            <a:xfrm>
              <a:off x="1104" y="1344"/>
              <a:ext cx="169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zh-TW" sz="1200" b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3</a:t>
              </a:r>
            </a:p>
          </p:txBody>
        </p:sp>
        <p:sp>
          <p:nvSpPr>
            <p:cNvPr id="22" name="Text Box 17"/>
            <p:cNvSpPr txBox="1">
              <a:spLocks noChangeArrowheads="1"/>
            </p:cNvSpPr>
            <p:nvPr/>
          </p:nvSpPr>
          <p:spPr bwMode="auto">
            <a:xfrm>
              <a:off x="1152" y="864"/>
              <a:ext cx="389" cy="198"/>
            </a:xfrm>
            <a:prstGeom prst="rect">
              <a:avLst/>
            </a:prstGeom>
            <a:noFill/>
            <a:ln w="9525">
              <a:solidFill>
                <a:srgbClr val="9933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zh-TW" sz="1400" b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[C,B]</a:t>
              </a:r>
            </a:p>
          </p:txBody>
        </p:sp>
      </p:grpSp>
      <p:grpSp>
        <p:nvGrpSpPr>
          <p:cNvPr id="23" name="Group 18"/>
          <p:cNvGrpSpPr>
            <a:grpSpLocks/>
          </p:cNvGrpSpPr>
          <p:nvPr/>
        </p:nvGrpSpPr>
        <p:grpSpPr bwMode="auto">
          <a:xfrm>
            <a:off x="3468888" y="976092"/>
            <a:ext cx="914400" cy="1143000"/>
            <a:chOff x="1008" y="864"/>
            <a:chExt cx="576" cy="720"/>
          </a:xfrm>
        </p:grpSpPr>
        <p:pic>
          <p:nvPicPr>
            <p:cNvPr id="24" name="Picture 19" descr="oneant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8" y="960"/>
              <a:ext cx="472" cy="6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5" name="Text Box 20"/>
            <p:cNvSpPr txBox="1">
              <a:spLocks noChangeArrowheads="1"/>
            </p:cNvSpPr>
            <p:nvPr/>
          </p:nvSpPr>
          <p:spPr bwMode="auto">
            <a:xfrm>
              <a:off x="1056" y="912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endParaRPr lang="zh-TW" altLang="en-US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endParaRPr>
            </a:p>
          </p:txBody>
        </p:sp>
        <p:sp>
          <p:nvSpPr>
            <p:cNvPr id="26" name="Text Box 21"/>
            <p:cNvSpPr txBox="1">
              <a:spLocks noChangeArrowheads="1"/>
            </p:cNvSpPr>
            <p:nvPr/>
          </p:nvSpPr>
          <p:spPr bwMode="auto">
            <a:xfrm>
              <a:off x="1104" y="1344"/>
              <a:ext cx="169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zh-TW" sz="1200" b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5</a:t>
              </a:r>
            </a:p>
          </p:txBody>
        </p:sp>
        <p:sp>
          <p:nvSpPr>
            <p:cNvPr id="27" name="Text Box 22"/>
            <p:cNvSpPr txBox="1">
              <a:spLocks noChangeArrowheads="1"/>
            </p:cNvSpPr>
            <p:nvPr/>
          </p:nvSpPr>
          <p:spPr bwMode="auto">
            <a:xfrm>
              <a:off x="1152" y="864"/>
              <a:ext cx="383" cy="198"/>
            </a:xfrm>
            <a:prstGeom prst="rect">
              <a:avLst/>
            </a:prstGeom>
            <a:noFill/>
            <a:ln w="9525">
              <a:solidFill>
                <a:srgbClr val="9933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zh-TW" sz="1400" b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[E,A]</a:t>
              </a:r>
            </a:p>
          </p:txBody>
        </p:sp>
      </p:grpSp>
      <p:grpSp>
        <p:nvGrpSpPr>
          <p:cNvPr id="28" name="Group 23"/>
          <p:cNvGrpSpPr>
            <a:grpSpLocks/>
          </p:cNvGrpSpPr>
          <p:nvPr/>
        </p:nvGrpSpPr>
        <p:grpSpPr bwMode="auto">
          <a:xfrm>
            <a:off x="2575126" y="3871692"/>
            <a:ext cx="969962" cy="1444625"/>
            <a:chOff x="973" y="864"/>
            <a:chExt cx="611" cy="910"/>
          </a:xfrm>
        </p:grpSpPr>
        <p:pic>
          <p:nvPicPr>
            <p:cNvPr id="29" name="Picture 24" descr="oneant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3" y="1074"/>
              <a:ext cx="483" cy="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" name="Text Box 25"/>
            <p:cNvSpPr txBox="1">
              <a:spLocks noChangeArrowheads="1"/>
            </p:cNvSpPr>
            <p:nvPr/>
          </p:nvSpPr>
          <p:spPr bwMode="auto">
            <a:xfrm>
              <a:off x="1056" y="912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endParaRPr lang="zh-TW" altLang="en-US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endParaRPr>
            </a:p>
          </p:txBody>
        </p:sp>
        <p:sp>
          <p:nvSpPr>
            <p:cNvPr id="31" name="Text Box 26"/>
            <p:cNvSpPr txBox="1">
              <a:spLocks noChangeArrowheads="1"/>
            </p:cNvSpPr>
            <p:nvPr/>
          </p:nvSpPr>
          <p:spPr bwMode="auto">
            <a:xfrm>
              <a:off x="1104" y="1344"/>
              <a:ext cx="169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zh-TW" sz="1200" b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1</a:t>
              </a:r>
            </a:p>
          </p:txBody>
        </p:sp>
        <p:sp>
          <p:nvSpPr>
            <p:cNvPr id="32" name="Text Box 27"/>
            <p:cNvSpPr txBox="1">
              <a:spLocks noChangeArrowheads="1"/>
            </p:cNvSpPr>
            <p:nvPr/>
          </p:nvSpPr>
          <p:spPr bwMode="auto">
            <a:xfrm>
              <a:off x="1152" y="864"/>
              <a:ext cx="389" cy="198"/>
            </a:xfrm>
            <a:prstGeom prst="rect">
              <a:avLst/>
            </a:prstGeom>
            <a:noFill/>
            <a:ln w="9525">
              <a:solidFill>
                <a:srgbClr val="9933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zh-TW" sz="1400" b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[A,D]</a:t>
              </a:r>
            </a:p>
          </p:txBody>
        </p:sp>
      </p:grpSp>
      <p:grpSp>
        <p:nvGrpSpPr>
          <p:cNvPr id="33" name="Group 28"/>
          <p:cNvGrpSpPr>
            <a:grpSpLocks/>
          </p:cNvGrpSpPr>
          <p:nvPr/>
        </p:nvGrpSpPr>
        <p:grpSpPr bwMode="auto">
          <a:xfrm>
            <a:off x="4994476" y="2423892"/>
            <a:ext cx="912812" cy="1268413"/>
            <a:chOff x="1009" y="864"/>
            <a:chExt cx="575" cy="799"/>
          </a:xfrm>
        </p:grpSpPr>
        <p:pic>
          <p:nvPicPr>
            <p:cNvPr id="34" name="Picture 29" descr="oneant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9" y="963"/>
              <a:ext cx="483" cy="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" name="Text Box 30"/>
            <p:cNvSpPr txBox="1">
              <a:spLocks noChangeArrowheads="1"/>
            </p:cNvSpPr>
            <p:nvPr/>
          </p:nvSpPr>
          <p:spPr bwMode="auto">
            <a:xfrm>
              <a:off x="1056" y="912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endParaRPr lang="zh-TW" altLang="en-US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endParaRPr>
            </a:p>
          </p:txBody>
        </p:sp>
        <p:sp>
          <p:nvSpPr>
            <p:cNvPr id="36" name="Text Box 31"/>
            <p:cNvSpPr txBox="1">
              <a:spLocks noChangeArrowheads="1"/>
            </p:cNvSpPr>
            <p:nvPr/>
          </p:nvSpPr>
          <p:spPr bwMode="auto">
            <a:xfrm>
              <a:off x="1104" y="1344"/>
              <a:ext cx="169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zh-TW" sz="1200" b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2</a:t>
              </a:r>
            </a:p>
          </p:txBody>
        </p:sp>
        <p:sp>
          <p:nvSpPr>
            <p:cNvPr id="37" name="Text Box 32"/>
            <p:cNvSpPr txBox="1">
              <a:spLocks noChangeArrowheads="1"/>
            </p:cNvSpPr>
            <p:nvPr/>
          </p:nvSpPr>
          <p:spPr bwMode="auto">
            <a:xfrm>
              <a:off x="1152" y="864"/>
              <a:ext cx="389" cy="198"/>
            </a:xfrm>
            <a:prstGeom prst="rect">
              <a:avLst/>
            </a:prstGeom>
            <a:noFill/>
            <a:ln w="9525">
              <a:solidFill>
                <a:srgbClr val="9933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zh-TW" sz="1400" b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[B,C]</a:t>
              </a:r>
            </a:p>
          </p:txBody>
        </p:sp>
      </p:grpSp>
      <p:grpSp>
        <p:nvGrpSpPr>
          <p:cNvPr id="38" name="Group 33"/>
          <p:cNvGrpSpPr>
            <a:grpSpLocks/>
          </p:cNvGrpSpPr>
          <p:nvPr/>
        </p:nvGrpSpPr>
        <p:grpSpPr bwMode="auto">
          <a:xfrm>
            <a:off x="6945513" y="4176492"/>
            <a:ext cx="866775" cy="1482725"/>
            <a:chOff x="1038" y="864"/>
            <a:chExt cx="546" cy="934"/>
          </a:xfrm>
        </p:grpSpPr>
        <p:pic>
          <p:nvPicPr>
            <p:cNvPr id="39" name="Picture 34" descr="oneant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8" y="1098"/>
              <a:ext cx="484" cy="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0" name="Text Box 35"/>
            <p:cNvSpPr txBox="1">
              <a:spLocks noChangeArrowheads="1"/>
            </p:cNvSpPr>
            <p:nvPr/>
          </p:nvSpPr>
          <p:spPr bwMode="auto">
            <a:xfrm>
              <a:off x="1056" y="912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endParaRPr lang="zh-TW" altLang="en-US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endParaRPr>
            </a:p>
          </p:txBody>
        </p:sp>
        <p:sp>
          <p:nvSpPr>
            <p:cNvPr id="41" name="Text Box 36"/>
            <p:cNvSpPr txBox="1">
              <a:spLocks noChangeArrowheads="1"/>
            </p:cNvSpPr>
            <p:nvPr/>
          </p:nvSpPr>
          <p:spPr bwMode="auto">
            <a:xfrm>
              <a:off x="1104" y="1344"/>
              <a:ext cx="169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zh-TW" sz="1200" b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4</a:t>
              </a:r>
            </a:p>
          </p:txBody>
        </p:sp>
        <p:sp>
          <p:nvSpPr>
            <p:cNvPr id="42" name="Text Box 37"/>
            <p:cNvSpPr txBox="1">
              <a:spLocks noChangeArrowheads="1"/>
            </p:cNvSpPr>
            <p:nvPr/>
          </p:nvSpPr>
          <p:spPr bwMode="auto">
            <a:xfrm>
              <a:off x="1152" y="864"/>
              <a:ext cx="383" cy="198"/>
            </a:xfrm>
            <a:prstGeom prst="rect">
              <a:avLst/>
            </a:prstGeom>
            <a:noFill/>
            <a:ln w="9525">
              <a:solidFill>
                <a:srgbClr val="9933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zh-TW" sz="1400" b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[D,E]</a:t>
              </a:r>
            </a:p>
          </p:txBody>
        </p:sp>
      </p:grpSp>
      <p:pic>
        <p:nvPicPr>
          <p:cNvPr id="43" name="Picture 4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30552" y="5791201"/>
            <a:ext cx="932129" cy="639174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55038" y="5938338"/>
            <a:ext cx="932129" cy="639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12647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868 0.01111 L 1.11119 0.02199 L 1.10742 0.22315 L -0.02683 0.17338 L -0.02513 -0.00393 L -0.02513 -2.22222E-6 " pathEditMode="relative" rAng="0" ptsTypes="AAAAAA">
                                      <p:cBhvr>
                                        <p:cTn id="6" dur="25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487" y="983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repeatCount="indefinite" accel="50000" decel="50000" fill="hold" nodeType="withEffect">
                                  <p:stCondLst>
                                    <p:cond delay="110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0.02188 -1.11022E-16 L 1.15052 0.00995 L 1.14661 0.19444 L -0.00977 0.14884 L -0.00807 -0.01389 L -0.00807 -0.01042 " pathEditMode="relative" rAng="0" ptsTypes="AAAAAA">
                                      <p:cBhvr>
                                        <p:cTn id="8" dur="25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620" y="902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28688"/>
            <a:ext cx="10515600" cy="5595937"/>
          </a:xfrm>
        </p:spPr>
        <p:txBody>
          <a:bodyPr rtlCol="0">
            <a:normAutofit/>
          </a:bodyPr>
          <a:lstStyle/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3" name="标题 1"/>
          <p:cNvSpPr>
            <a:spLocks noGrp="1"/>
          </p:cNvSpPr>
          <p:nvPr>
            <p:ph type="title"/>
          </p:nvPr>
        </p:nvSpPr>
        <p:spPr>
          <a:xfrm>
            <a:off x="0" y="-3175"/>
            <a:ext cx="12192000" cy="808038"/>
          </a:xfrm>
          <a:solidFill>
            <a:srgbClr val="0070C0"/>
          </a:solidFill>
        </p:spPr>
        <p:txBody>
          <a:bodyPr/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of a Simple AS to solve TSP</a:t>
            </a:r>
            <a:endParaRPr lang="en-US" sz="4000" b="1" dirty="0">
              <a:solidFill>
                <a:schemeClr val="bg1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12"/>
          </p:nvPr>
        </p:nvSpPr>
        <p:spPr bwMode="auto">
          <a:xfrm>
            <a:off x="8075613" y="6524625"/>
            <a:ext cx="4116387" cy="196850"/>
          </a:xfrm>
          <a:solidFill>
            <a:srgbClr val="0070C0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Md. Forhad Hossain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21150" y="6524625"/>
            <a:ext cx="3954463" cy="196850"/>
          </a:xfrm>
          <a:solidFill>
            <a:schemeClr val="accent1">
              <a:lumMod val="75000"/>
            </a:schemeClr>
          </a:solidFill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B. M. Junaed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6" name="日期占位符 5"/>
          <p:cNvSpPr>
            <a:spLocks noGrp="1"/>
          </p:cNvSpPr>
          <p:nvPr>
            <p:ph type="dt" sz="quarter" idx="10"/>
          </p:nvPr>
        </p:nvSpPr>
        <p:spPr bwMode="auto">
          <a:xfrm>
            <a:off x="0" y="6524625"/>
            <a:ext cx="4121150" cy="196850"/>
          </a:xfrm>
          <a:solidFill>
            <a:schemeClr val="accent1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 A. H. Akhand	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val 3"/>
          <p:cNvSpPr>
            <a:spLocks noChangeArrowheads="1"/>
          </p:cNvSpPr>
          <p:nvPr/>
        </p:nvSpPr>
        <p:spPr bwMode="auto">
          <a:xfrm>
            <a:off x="4307088" y="1661892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Oval 4"/>
          <p:cNvSpPr>
            <a:spLocks noChangeArrowheads="1"/>
          </p:cNvSpPr>
          <p:nvPr/>
        </p:nvSpPr>
        <p:spPr bwMode="auto">
          <a:xfrm>
            <a:off x="7888488" y="1661892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Oval 5"/>
          <p:cNvSpPr>
            <a:spLocks noChangeArrowheads="1"/>
          </p:cNvSpPr>
          <p:nvPr/>
        </p:nvSpPr>
        <p:spPr bwMode="auto">
          <a:xfrm>
            <a:off x="3468888" y="4481292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Oval 6"/>
          <p:cNvSpPr>
            <a:spLocks noChangeArrowheads="1"/>
          </p:cNvSpPr>
          <p:nvPr/>
        </p:nvSpPr>
        <p:spPr bwMode="auto">
          <a:xfrm>
            <a:off x="5907288" y="2957292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Oval 7"/>
          <p:cNvSpPr>
            <a:spLocks noChangeArrowheads="1"/>
          </p:cNvSpPr>
          <p:nvPr/>
        </p:nvSpPr>
        <p:spPr bwMode="auto">
          <a:xfrm>
            <a:off x="7736088" y="4862292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Text Box 8"/>
          <p:cNvSpPr txBox="1">
            <a:spLocks noChangeArrowheads="1"/>
          </p:cNvSpPr>
          <p:nvPr/>
        </p:nvSpPr>
        <p:spPr bwMode="auto">
          <a:xfrm>
            <a:off x="4291213" y="1850805"/>
            <a:ext cx="336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defTabSz="914400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TW" sz="1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A</a:t>
            </a:r>
          </a:p>
        </p:txBody>
      </p:sp>
      <p:sp>
        <p:nvSpPr>
          <p:cNvPr id="14" name="Text Box 9"/>
          <p:cNvSpPr txBox="1">
            <a:spLocks noChangeArrowheads="1"/>
          </p:cNvSpPr>
          <p:nvPr/>
        </p:nvSpPr>
        <p:spPr bwMode="auto">
          <a:xfrm>
            <a:off x="7736088" y="5167092"/>
            <a:ext cx="336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defTabSz="914400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TW" sz="1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E</a:t>
            </a:r>
          </a:p>
        </p:txBody>
      </p:sp>
      <p:sp>
        <p:nvSpPr>
          <p:cNvPr id="15" name="Text Box 10"/>
          <p:cNvSpPr txBox="1">
            <a:spLocks noChangeArrowheads="1"/>
          </p:cNvSpPr>
          <p:nvPr/>
        </p:nvSpPr>
        <p:spPr bwMode="auto">
          <a:xfrm>
            <a:off x="3392688" y="4862292"/>
            <a:ext cx="349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defTabSz="914400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TW" sz="1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D</a:t>
            </a: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5907288" y="3262092"/>
            <a:ext cx="349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defTabSz="914400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TW" sz="1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C</a:t>
            </a:r>
          </a:p>
        </p:txBody>
      </p:sp>
      <p:sp>
        <p:nvSpPr>
          <p:cNvPr id="17" name="Text Box 12"/>
          <p:cNvSpPr txBox="1">
            <a:spLocks noChangeArrowheads="1"/>
          </p:cNvSpPr>
          <p:nvPr/>
        </p:nvSpPr>
        <p:spPr bwMode="auto">
          <a:xfrm>
            <a:off x="7888488" y="1966692"/>
            <a:ext cx="336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defTabSz="914400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TW" sz="1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B</a:t>
            </a:r>
          </a:p>
        </p:txBody>
      </p:sp>
      <p:grpSp>
        <p:nvGrpSpPr>
          <p:cNvPr id="18" name="Group 13"/>
          <p:cNvGrpSpPr>
            <a:grpSpLocks/>
          </p:cNvGrpSpPr>
          <p:nvPr/>
        </p:nvGrpSpPr>
        <p:grpSpPr bwMode="auto">
          <a:xfrm>
            <a:off x="3545088" y="1052292"/>
            <a:ext cx="954088" cy="990600"/>
            <a:chOff x="1008" y="864"/>
            <a:chExt cx="814" cy="720"/>
          </a:xfrm>
        </p:grpSpPr>
        <p:pic>
          <p:nvPicPr>
            <p:cNvPr id="19" name="Picture 14" descr="oneant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8" y="960"/>
              <a:ext cx="472" cy="6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0" name="Text Box 15"/>
            <p:cNvSpPr txBox="1">
              <a:spLocks noChangeArrowheads="1"/>
            </p:cNvSpPr>
            <p:nvPr/>
          </p:nvSpPr>
          <p:spPr bwMode="auto">
            <a:xfrm>
              <a:off x="1055" y="912"/>
              <a:ext cx="529" cy="3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endParaRPr lang="zh-TW" altLang="en-US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endParaRPr>
            </a:p>
          </p:txBody>
        </p:sp>
        <p:sp>
          <p:nvSpPr>
            <p:cNvPr id="21" name="Text Box 16"/>
            <p:cNvSpPr txBox="1">
              <a:spLocks noChangeArrowheads="1"/>
            </p:cNvSpPr>
            <p:nvPr/>
          </p:nvSpPr>
          <p:spPr bwMode="auto">
            <a:xfrm>
              <a:off x="1104" y="1344"/>
              <a:ext cx="229" cy="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zh-TW" sz="1200" b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4</a:t>
              </a:r>
            </a:p>
          </p:txBody>
        </p:sp>
        <p:sp>
          <p:nvSpPr>
            <p:cNvPr id="22" name="Text Box 17"/>
            <p:cNvSpPr txBox="1">
              <a:spLocks noChangeArrowheads="1"/>
            </p:cNvSpPr>
            <p:nvPr/>
          </p:nvSpPr>
          <p:spPr bwMode="auto">
            <a:xfrm>
              <a:off x="1152" y="864"/>
              <a:ext cx="670" cy="228"/>
            </a:xfrm>
            <a:prstGeom prst="rect">
              <a:avLst/>
            </a:prstGeom>
            <a:noFill/>
            <a:ln w="9525">
              <a:solidFill>
                <a:srgbClr val="9933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zh-TW" sz="1400" b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[D,E,A]</a:t>
              </a:r>
            </a:p>
          </p:txBody>
        </p:sp>
      </p:grpSp>
      <p:grpSp>
        <p:nvGrpSpPr>
          <p:cNvPr id="23" name="Group 18"/>
          <p:cNvGrpSpPr>
            <a:grpSpLocks/>
          </p:cNvGrpSpPr>
          <p:nvPr/>
        </p:nvGrpSpPr>
        <p:grpSpPr bwMode="auto">
          <a:xfrm>
            <a:off x="8325051" y="1128492"/>
            <a:ext cx="898525" cy="939800"/>
            <a:chOff x="1055" y="864"/>
            <a:chExt cx="767" cy="683"/>
          </a:xfrm>
        </p:grpSpPr>
        <p:pic>
          <p:nvPicPr>
            <p:cNvPr id="24" name="Picture 19" descr="oneant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7" y="864"/>
              <a:ext cx="466" cy="6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5" name="Text Box 20"/>
            <p:cNvSpPr txBox="1">
              <a:spLocks noChangeArrowheads="1"/>
            </p:cNvSpPr>
            <p:nvPr/>
          </p:nvSpPr>
          <p:spPr bwMode="auto">
            <a:xfrm>
              <a:off x="1055" y="912"/>
              <a:ext cx="529" cy="3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endParaRPr lang="zh-TW" altLang="en-US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endParaRPr>
            </a:p>
          </p:txBody>
        </p:sp>
        <p:sp>
          <p:nvSpPr>
            <p:cNvPr id="26" name="Text Box 21"/>
            <p:cNvSpPr txBox="1">
              <a:spLocks noChangeArrowheads="1"/>
            </p:cNvSpPr>
            <p:nvPr/>
          </p:nvSpPr>
          <p:spPr bwMode="auto">
            <a:xfrm>
              <a:off x="1104" y="1344"/>
              <a:ext cx="229" cy="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zh-TW" sz="1200" b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5</a:t>
              </a:r>
            </a:p>
          </p:txBody>
        </p:sp>
        <p:sp>
          <p:nvSpPr>
            <p:cNvPr id="27" name="Text Box 22"/>
            <p:cNvSpPr txBox="1">
              <a:spLocks noChangeArrowheads="1"/>
            </p:cNvSpPr>
            <p:nvPr/>
          </p:nvSpPr>
          <p:spPr bwMode="auto">
            <a:xfrm>
              <a:off x="1152" y="864"/>
              <a:ext cx="670" cy="228"/>
            </a:xfrm>
            <a:prstGeom prst="rect">
              <a:avLst/>
            </a:prstGeom>
            <a:noFill/>
            <a:ln w="9525">
              <a:solidFill>
                <a:srgbClr val="9933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zh-TW" sz="1400" b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[E,A,B]</a:t>
              </a:r>
            </a:p>
          </p:txBody>
        </p:sp>
      </p:grpSp>
      <p:grpSp>
        <p:nvGrpSpPr>
          <p:cNvPr id="28" name="Group 23"/>
          <p:cNvGrpSpPr>
            <a:grpSpLocks/>
          </p:cNvGrpSpPr>
          <p:nvPr/>
        </p:nvGrpSpPr>
        <p:grpSpPr bwMode="auto">
          <a:xfrm>
            <a:off x="7102676" y="4252692"/>
            <a:ext cx="901700" cy="1320800"/>
            <a:chOff x="1053" y="864"/>
            <a:chExt cx="769" cy="960"/>
          </a:xfrm>
        </p:grpSpPr>
        <p:pic>
          <p:nvPicPr>
            <p:cNvPr id="29" name="Picture 24" descr="oneant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3" y="1124"/>
              <a:ext cx="482" cy="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" name="Text Box 25"/>
            <p:cNvSpPr txBox="1">
              <a:spLocks noChangeArrowheads="1"/>
            </p:cNvSpPr>
            <p:nvPr/>
          </p:nvSpPr>
          <p:spPr bwMode="auto">
            <a:xfrm>
              <a:off x="1055" y="912"/>
              <a:ext cx="529" cy="3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endParaRPr lang="zh-TW" altLang="en-US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endParaRPr>
            </a:p>
          </p:txBody>
        </p:sp>
        <p:sp>
          <p:nvSpPr>
            <p:cNvPr id="31" name="Text Box 26"/>
            <p:cNvSpPr txBox="1">
              <a:spLocks noChangeArrowheads="1"/>
            </p:cNvSpPr>
            <p:nvPr/>
          </p:nvSpPr>
          <p:spPr bwMode="auto">
            <a:xfrm>
              <a:off x="1104" y="1344"/>
              <a:ext cx="229" cy="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zh-TW" sz="1200" b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3</a:t>
              </a:r>
            </a:p>
          </p:txBody>
        </p:sp>
        <p:sp>
          <p:nvSpPr>
            <p:cNvPr id="32" name="Text Box 27"/>
            <p:cNvSpPr txBox="1">
              <a:spLocks noChangeArrowheads="1"/>
            </p:cNvSpPr>
            <p:nvPr/>
          </p:nvSpPr>
          <p:spPr bwMode="auto">
            <a:xfrm>
              <a:off x="1152" y="864"/>
              <a:ext cx="670" cy="228"/>
            </a:xfrm>
            <a:prstGeom prst="rect">
              <a:avLst/>
            </a:prstGeom>
            <a:noFill/>
            <a:ln w="9525">
              <a:solidFill>
                <a:srgbClr val="9933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zh-TW" sz="1400" b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[C,B,E]</a:t>
              </a:r>
            </a:p>
          </p:txBody>
        </p:sp>
      </p:grpSp>
      <p:grpSp>
        <p:nvGrpSpPr>
          <p:cNvPr id="33" name="Group 28"/>
          <p:cNvGrpSpPr>
            <a:grpSpLocks/>
          </p:cNvGrpSpPr>
          <p:nvPr/>
        </p:nvGrpSpPr>
        <p:grpSpPr bwMode="auto">
          <a:xfrm>
            <a:off x="3745113" y="4024092"/>
            <a:ext cx="992188" cy="1292225"/>
            <a:chOff x="984" y="864"/>
            <a:chExt cx="846" cy="939"/>
          </a:xfrm>
        </p:grpSpPr>
        <p:pic>
          <p:nvPicPr>
            <p:cNvPr id="34" name="Picture 29" descr="oneant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4" y="1103"/>
              <a:ext cx="484" cy="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" name="Text Box 30"/>
            <p:cNvSpPr txBox="1">
              <a:spLocks noChangeArrowheads="1"/>
            </p:cNvSpPr>
            <p:nvPr/>
          </p:nvSpPr>
          <p:spPr bwMode="auto">
            <a:xfrm>
              <a:off x="1055" y="912"/>
              <a:ext cx="529" cy="3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endParaRPr lang="zh-TW" altLang="en-US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endParaRPr>
            </a:p>
          </p:txBody>
        </p:sp>
        <p:sp>
          <p:nvSpPr>
            <p:cNvPr id="36" name="Text Box 31"/>
            <p:cNvSpPr txBox="1">
              <a:spLocks noChangeArrowheads="1"/>
            </p:cNvSpPr>
            <p:nvPr/>
          </p:nvSpPr>
          <p:spPr bwMode="auto">
            <a:xfrm>
              <a:off x="1104" y="1344"/>
              <a:ext cx="229" cy="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zh-TW" sz="1200" b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2</a:t>
              </a:r>
            </a:p>
          </p:txBody>
        </p:sp>
        <p:sp>
          <p:nvSpPr>
            <p:cNvPr id="37" name="Text Box 32"/>
            <p:cNvSpPr txBox="1">
              <a:spLocks noChangeArrowheads="1"/>
            </p:cNvSpPr>
            <p:nvPr/>
          </p:nvSpPr>
          <p:spPr bwMode="auto">
            <a:xfrm>
              <a:off x="1152" y="864"/>
              <a:ext cx="678" cy="228"/>
            </a:xfrm>
            <a:prstGeom prst="rect">
              <a:avLst/>
            </a:prstGeom>
            <a:noFill/>
            <a:ln w="9525">
              <a:solidFill>
                <a:srgbClr val="9933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zh-TW" sz="1400" b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[B,C,D]</a:t>
              </a:r>
            </a:p>
          </p:txBody>
        </p:sp>
      </p:grpSp>
      <p:grpSp>
        <p:nvGrpSpPr>
          <p:cNvPr id="38" name="Group 33"/>
          <p:cNvGrpSpPr>
            <a:grpSpLocks/>
          </p:cNvGrpSpPr>
          <p:nvPr/>
        </p:nvGrpSpPr>
        <p:grpSpPr bwMode="auto">
          <a:xfrm>
            <a:off x="5307213" y="2423892"/>
            <a:ext cx="954088" cy="1098550"/>
            <a:chOff x="1016" y="864"/>
            <a:chExt cx="814" cy="798"/>
          </a:xfrm>
        </p:grpSpPr>
        <p:pic>
          <p:nvPicPr>
            <p:cNvPr id="39" name="Picture 34" descr="oneant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6" y="962"/>
              <a:ext cx="484" cy="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0" name="Text Box 35"/>
            <p:cNvSpPr txBox="1">
              <a:spLocks noChangeArrowheads="1"/>
            </p:cNvSpPr>
            <p:nvPr/>
          </p:nvSpPr>
          <p:spPr bwMode="auto">
            <a:xfrm>
              <a:off x="1055" y="912"/>
              <a:ext cx="529" cy="3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endParaRPr lang="zh-TW" altLang="en-US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endParaRPr>
            </a:p>
          </p:txBody>
        </p:sp>
        <p:sp>
          <p:nvSpPr>
            <p:cNvPr id="41" name="Text Box 36"/>
            <p:cNvSpPr txBox="1">
              <a:spLocks noChangeArrowheads="1"/>
            </p:cNvSpPr>
            <p:nvPr/>
          </p:nvSpPr>
          <p:spPr bwMode="auto">
            <a:xfrm>
              <a:off x="1104" y="1344"/>
              <a:ext cx="229" cy="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zh-TW" sz="1200" b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1</a:t>
              </a:r>
            </a:p>
          </p:txBody>
        </p:sp>
        <p:sp>
          <p:nvSpPr>
            <p:cNvPr id="42" name="Text Box 37"/>
            <p:cNvSpPr txBox="1">
              <a:spLocks noChangeArrowheads="1"/>
            </p:cNvSpPr>
            <p:nvPr/>
          </p:nvSpPr>
          <p:spPr bwMode="auto">
            <a:xfrm>
              <a:off x="1152" y="864"/>
              <a:ext cx="678" cy="228"/>
            </a:xfrm>
            <a:prstGeom prst="rect">
              <a:avLst/>
            </a:prstGeom>
            <a:noFill/>
            <a:ln w="9525">
              <a:solidFill>
                <a:srgbClr val="9933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zh-TW" sz="1400" b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[A,D,C]</a:t>
              </a:r>
            </a:p>
          </p:txBody>
        </p:sp>
      </p:grpSp>
      <p:pic>
        <p:nvPicPr>
          <p:cNvPr id="43" name="Picture 4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30552" y="5791201"/>
            <a:ext cx="932129" cy="639174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55038" y="5938338"/>
            <a:ext cx="932129" cy="639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59903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868 0.01111 L 1.11119 0.02199 L 1.10742 0.22315 L -0.02683 0.17338 L -0.02513 -0.00393 L -0.02513 -2.22222E-6 " pathEditMode="relative" rAng="0" ptsTypes="AAAAAA">
                                      <p:cBhvr>
                                        <p:cTn id="6" dur="25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487" y="983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repeatCount="indefinite" accel="50000" decel="50000" fill="hold" nodeType="withEffect">
                                  <p:stCondLst>
                                    <p:cond delay="110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0.02188 -1.11022E-16 L 1.15052 0.00995 L 1.14661 0.19444 L -0.00977 0.14884 L -0.00807 -0.01389 L -0.00807 -0.01042 " pathEditMode="relative" rAng="0" ptsTypes="AAAAAA">
                                      <p:cBhvr>
                                        <p:cTn id="8" dur="25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620" y="902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28688"/>
            <a:ext cx="10515600" cy="5595937"/>
          </a:xfrm>
        </p:spPr>
        <p:txBody>
          <a:bodyPr rtlCol="0">
            <a:normAutofit/>
          </a:bodyPr>
          <a:lstStyle/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3" name="标题 1"/>
          <p:cNvSpPr>
            <a:spLocks noGrp="1"/>
          </p:cNvSpPr>
          <p:nvPr>
            <p:ph type="title"/>
          </p:nvPr>
        </p:nvSpPr>
        <p:spPr>
          <a:xfrm>
            <a:off x="0" y="-3175"/>
            <a:ext cx="12192000" cy="808038"/>
          </a:xfrm>
          <a:solidFill>
            <a:srgbClr val="0070C0"/>
          </a:solidFill>
        </p:spPr>
        <p:txBody>
          <a:bodyPr/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of a Simple AS to solve TSP</a:t>
            </a:r>
            <a:endParaRPr lang="en-US" sz="4000" b="1" dirty="0">
              <a:solidFill>
                <a:schemeClr val="bg1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12"/>
          </p:nvPr>
        </p:nvSpPr>
        <p:spPr bwMode="auto">
          <a:xfrm>
            <a:off x="8075613" y="6524625"/>
            <a:ext cx="4116387" cy="196850"/>
          </a:xfrm>
          <a:solidFill>
            <a:srgbClr val="0070C0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Md. Forhad Hossain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21150" y="6524625"/>
            <a:ext cx="3954463" cy="196850"/>
          </a:xfrm>
          <a:solidFill>
            <a:schemeClr val="accent1">
              <a:lumMod val="75000"/>
            </a:schemeClr>
          </a:solidFill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B. M. Junaed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6" name="日期占位符 5"/>
          <p:cNvSpPr>
            <a:spLocks noGrp="1"/>
          </p:cNvSpPr>
          <p:nvPr>
            <p:ph type="dt" sz="quarter" idx="10"/>
          </p:nvPr>
        </p:nvSpPr>
        <p:spPr bwMode="auto">
          <a:xfrm>
            <a:off x="0" y="6524625"/>
            <a:ext cx="4121150" cy="196850"/>
          </a:xfrm>
          <a:solidFill>
            <a:schemeClr val="accent1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 A. H. Akhand	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Oval 3"/>
          <p:cNvSpPr>
            <a:spLocks noChangeArrowheads="1"/>
          </p:cNvSpPr>
          <p:nvPr/>
        </p:nvSpPr>
        <p:spPr bwMode="auto">
          <a:xfrm>
            <a:off x="4307088" y="1661892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" name="Oval 4"/>
          <p:cNvSpPr>
            <a:spLocks noChangeArrowheads="1"/>
          </p:cNvSpPr>
          <p:nvPr/>
        </p:nvSpPr>
        <p:spPr bwMode="auto">
          <a:xfrm>
            <a:off x="7888488" y="1661892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" name="Oval 5"/>
          <p:cNvSpPr>
            <a:spLocks noChangeArrowheads="1"/>
          </p:cNvSpPr>
          <p:nvPr/>
        </p:nvSpPr>
        <p:spPr bwMode="auto">
          <a:xfrm>
            <a:off x="3468888" y="4481292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6" name="Oval 6"/>
          <p:cNvSpPr>
            <a:spLocks noChangeArrowheads="1"/>
          </p:cNvSpPr>
          <p:nvPr/>
        </p:nvSpPr>
        <p:spPr bwMode="auto">
          <a:xfrm>
            <a:off x="5907288" y="2957292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" name="Oval 7"/>
          <p:cNvSpPr>
            <a:spLocks noChangeArrowheads="1"/>
          </p:cNvSpPr>
          <p:nvPr/>
        </p:nvSpPr>
        <p:spPr bwMode="auto">
          <a:xfrm>
            <a:off x="7736088" y="4862292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" name="Text Box 8"/>
          <p:cNvSpPr txBox="1">
            <a:spLocks noChangeArrowheads="1"/>
          </p:cNvSpPr>
          <p:nvPr/>
        </p:nvSpPr>
        <p:spPr bwMode="auto">
          <a:xfrm>
            <a:off x="4291213" y="1850805"/>
            <a:ext cx="336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defTabSz="914400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TW" sz="1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A</a:t>
            </a:r>
          </a:p>
        </p:txBody>
      </p:sp>
      <p:sp>
        <p:nvSpPr>
          <p:cNvPr id="49" name="Text Box 9"/>
          <p:cNvSpPr txBox="1">
            <a:spLocks noChangeArrowheads="1"/>
          </p:cNvSpPr>
          <p:nvPr/>
        </p:nvSpPr>
        <p:spPr bwMode="auto">
          <a:xfrm>
            <a:off x="7736088" y="5167092"/>
            <a:ext cx="336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defTabSz="914400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TW" sz="1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E</a:t>
            </a:r>
          </a:p>
        </p:txBody>
      </p:sp>
      <p:sp>
        <p:nvSpPr>
          <p:cNvPr id="50" name="Text Box 10"/>
          <p:cNvSpPr txBox="1">
            <a:spLocks noChangeArrowheads="1"/>
          </p:cNvSpPr>
          <p:nvPr/>
        </p:nvSpPr>
        <p:spPr bwMode="auto">
          <a:xfrm>
            <a:off x="3392688" y="4862292"/>
            <a:ext cx="349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defTabSz="914400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TW" sz="1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D</a:t>
            </a:r>
          </a:p>
        </p:txBody>
      </p:sp>
      <p:sp>
        <p:nvSpPr>
          <p:cNvPr id="51" name="Text Box 11"/>
          <p:cNvSpPr txBox="1">
            <a:spLocks noChangeArrowheads="1"/>
          </p:cNvSpPr>
          <p:nvPr/>
        </p:nvSpPr>
        <p:spPr bwMode="auto">
          <a:xfrm>
            <a:off x="5907288" y="3262092"/>
            <a:ext cx="349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defTabSz="914400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TW" sz="1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C</a:t>
            </a:r>
          </a:p>
        </p:txBody>
      </p:sp>
      <p:sp>
        <p:nvSpPr>
          <p:cNvPr id="52" name="Text Box 12"/>
          <p:cNvSpPr txBox="1">
            <a:spLocks noChangeArrowheads="1"/>
          </p:cNvSpPr>
          <p:nvPr/>
        </p:nvSpPr>
        <p:spPr bwMode="auto">
          <a:xfrm>
            <a:off x="7888488" y="1966692"/>
            <a:ext cx="336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defTabSz="914400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TW" sz="1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B</a:t>
            </a:r>
          </a:p>
        </p:txBody>
      </p:sp>
      <p:grpSp>
        <p:nvGrpSpPr>
          <p:cNvPr id="53" name="Group 13"/>
          <p:cNvGrpSpPr>
            <a:grpSpLocks/>
          </p:cNvGrpSpPr>
          <p:nvPr/>
        </p:nvGrpSpPr>
        <p:grpSpPr bwMode="auto">
          <a:xfrm>
            <a:off x="8345688" y="976092"/>
            <a:ext cx="1192213" cy="1143000"/>
            <a:chOff x="1008" y="864"/>
            <a:chExt cx="751" cy="720"/>
          </a:xfrm>
        </p:grpSpPr>
        <p:pic>
          <p:nvPicPr>
            <p:cNvPr id="54" name="Picture 14" descr="oneant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8" y="960"/>
              <a:ext cx="472" cy="6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55" name="Text Box 15"/>
            <p:cNvSpPr txBox="1">
              <a:spLocks noChangeArrowheads="1"/>
            </p:cNvSpPr>
            <p:nvPr/>
          </p:nvSpPr>
          <p:spPr bwMode="auto">
            <a:xfrm>
              <a:off x="1056" y="912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endParaRPr lang="zh-TW" altLang="en-US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endParaRPr>
            </a:p>
          </p:txBody>
        </p:sp>
        <p:sp>
          <p:nvSpPr>
            <p:cNvPr id="56" name="Text Box 16"/>
            <p:cNvSpPr txBox="1">
              <a:spLocks noChangeArrowheads="1"/>
            </p:cNvSpPr>
            <p:nvPr/>
          </p:nvSpPr>
          <p:spPr bwMode="auto">
            <a:xfrm>
              <a:off x="1104" y="1344"/>
              <a:ext cx="169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zh-TW" sz="1200" b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4</a:t>
              </a:r>
            </a:p>
          </p:txBody>
        </p:sp>
        <p:sp>
          <p:nvSpPr>
            <p:cNvPr id="57" name="Text Box 17"/>
            <p:cNvSpPr txBox="1">
              <a:spLocks noChangeArrowheads="1"/>
            </p:cNvSpPr>
            <p:nvPr/>
          </p:nvSpPr>
          <p:spPr bwMode="auto">
            <a:xfrm>
              <a:off x="1152" y="864"/>
              <a:ext cx="607" cy="198"/>
            </a:xfrm>
            <a:prstGeom prst="rect">
              <a:avLst/>
            </a:prstGeom>
            <a:noFill/>
            <a:ln w="9525">
              <a:solidFill>
                <a:srgbClr val="9933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zh-TW" sz="1400" b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[D,E,A,B]</a:t>
              </a:r>
            </a:p>
          </p:txBody>
        </p:sp>
      </p:grpSp>
      <p:grpSp>
        <p:nvGrpSpPr>
          <p:cNvPr id="58" name="Group 18"/>
          <p:cNvGrpSpPr>
            <a:grpSpLocks/>
          </p:cNvGrpSpPr>
          <p:nvPr/>
        </p:nvGrpSpPr>
        <p:grpSpPr bwMode="auto">
          <a:xfrm>
            <a:off x="3392688" y="976092"/>
            <a:ext cx="1201738" cy="1143000"/>
            <a:chOff x="1008" y="864"/>
            <a:chExt cx="757" cy="720"/>
          </a:xfrm>
        </p:grpSpPr>
        <p:pic>
          <p:nvPicPr>
            <p:cNvPr id="59" name="Picture 19" descr="oneant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8" y="960"/>
              <a:ext cx="472" cy="6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60" name="Text Box 20"/>
            <p:cNvSpPr txBox="1">
              <a:spLocks noChangeArrowheads="1"/>
            </p:cNvSpPr>
            <p:nvPr/>
          </p:nvSpPr>
          <p:spPr bwMode="auto">
            <a:xfrm>
              <a:off x="1056" y="912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endParaRPr lang="zh-TW" altLang="en-US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endParaRPr>
            </a:p>
          </p:txBody>
        </p:sp>
        <p:sp>
          <p:nvSpPr>
            <p:cNvPr id="61" name="Text Box 21"/>
            <p:cNvSpPr txBox="1">
              <a:spLocks noChangeArrowheads="1"/>
            </p:cNvSpPr>
            <p:nvPr/>
          </p:nvSpPr>
          <p:spPr bwMode="auto">
            <a:xfrm>
              <a:off x="1104" y="1344"/>
              <a:ext cx="169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zh-TW" sz="1200" b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2</a:t>
              </a:r>
            </a:p>
          </p:txBody>
        </p:sp>
        <p:sp>
          <p:nvSpPr>
            <p:cNvPr id="62" name="Text Box 22"/>
            <p:cNvSpPr txBox="1">
              <a:spLocks noChangeArrowheads="1"/>
            </p:cNvSpPr>
            <p:nvPr/>
          </p:nvSpPr>
          <p:spPr bwMode="auto">
            <a:xfrm>
              <a:off x="1152" y="864"/>
              <a:ext cx="613" cy="198"/>
            </a:xfrm>
            <a:prstGeom prst="rect">
              <a:avLst/>
            </a:prstGeom>
            <a:noFill/>
            <a:ln w="9525">
              <a:solidFill>
                <a:srgbClr val="9933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zh-TW" sz="1400" b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[B,C,D,A]</a:t>
              </a:r>
            </a:p>
          </p:txBody>
        </p:sp>
      </p:grpSp>
      <p:grpSp>
        <p:nvGrpSpPr>
          <p:cNvPr id="63" name="Group 23"/>
          <p:cNvGrpSpPr>
            <a:grpSpLocks/>
          </p:cNvGrpSpPr>
          <p:nvPr/>
        </p:nvGrpSpPr>
        <p:grpSpPr bwMode="auto">
          <a:xfrm>
            <a:off x="5150051" y="2347692"/>
            <a:ext cx="1187450" cy="1258888"/>
            <a:chOff x="1011" y="864"/>
            <a:chExt cx="748" cy="793"/>
          </a:xfrm>
        </p:grpSpPr>
        <p:pic>
          <p:nvPicPr>
            <p:cNvPr id="64" name="Picture 24" descr="oneant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1" y="957"/>
              <a:ext cx="484" cy="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" name="Text Box 25"/>
            <p:cNvSpPr txBox="1">
              <a:spLocks noChangeArrowheads="1"/>
            </p:cNvSpPr>
            <p:nvPr/>
          </p:nvSpPr>
          <p:spPr bwMode="auto">
            <a:xfrm>
              <a:off x="1056" y="912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endParaRPr lang="zh-TW" altLang="en-US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endParaRPr>
            </a:p>
          </p:txBody>
        </p:sp>
        <p:sp>
          <p:nvSpPr>
            <p:cNvPr id="66" name="Text Box 26"/>
            <p:cNvSpPr txBox="1">
              <a:spLocks noChangeArrowheads="1"/>
            </p:cNvSpPr>
            <p:nvPr/>
          </p:nvSpPr>
          <p:spPr bwMode="auto">
            <a:xfrm>
              <a:off x="1104" y="1344"/>
              <a:ext cx="169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zh-TW" sz="1200" b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5</a:t>
              </a:r>
            </a:p>
          </p:txBody>
        </p:sp>
        <p:sp>
          <p:nvSpPr>
            <p:cNvPr id="67" name="Text Box 27"/>
            <p:cNvSpPr txBox="1">
              <a:spLocks noChangeArrowheads="1"/>
            </p:cNvSpPr>
            <p:nvPr/>
          </p:nvSpPr>
          <p:spPr bwMode="auto">
            <a:xfrm>
              <a:off x="1152" y="864"/>
              <a:ext cx="607" cy="198"/>
            </a:xfrm>
            <a:prstGeom prst="rect">
              <a:avLst/>
            </a:prstGeom>
            <a:noFill/>
            <a:ln w="9525">
              <a:solidFill>
                <a:srgbClr val="9933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zh-TW" sz="1400" b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[E,A,B,C]</a:t>
              </a:r>
            </a:p>
          </p:txBody>
        </p:sp>
      </p:grpSp>
      <p:grpSp>
        <p:nvGrpSpPr>
          <p:cNvPr id="68" name="Group 28"/>
          <p:cNvGrpSpPr>
            <a:grpSpLocks/>
          </p:cNvGrpSpPr>
          <p:nvPr/>
        </p:nvGrpSpPr>
        <p:grpSpPr bwMode="auto">
          <a:xfrm>
            <a:off x="6945513" y="4252692"/>
            <a:ext cx="1046163" cy="1490663"/>
            <a:chOff x="1038" y="864"/>
            <a:chExt cx="659" cy="939"/>
          </a:xfrm>
        </p:grpSpPr>
        <p:pic>
          <p:nvPicPr>
            <p:cNvPr id="69" name="Picture 29" descr="oneant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8" y="1104"/>
              <a:ext cx="484" cy="6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0" name="Text Box 30"/>
            <p:cNvSpPr txBox="1">
              <a:spLocks noChangeArrowheads="1"/>
            </p:cNvSpPr>
            <p:nvPr/>
          </p:nvSpPr>
          <p:spPr bwMode="auto">
            <a:xfrm>
              <a:off x="1056" y="912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endParaRPr lang="zh-TW" altLang="en-US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endParaRPr>
            </a:p>
          </p:txBody>
        </p:sp>
        <p:sp>
          <p:nvSpPr>
            <p:cNvPr id="71" name="Text Box 31"/>
            <p:cNvSpPr txBox="1">
              <a:spLocks noChangeArrowheads="1"/>
            </p:cNvSpPr>
            <p:nvPr/>
          </p:nvSpPr>
          <p:spPr bwMode="auto">
            <a:xfrm>
              <a:off x="1104" y="1344"/>
              <a:ext cx="169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zh-TW" sz="1200" b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1</a:t>
              </a:r>
            </a:p>
          </p:txBody>
        </p:sp>
        <p:sp>
          <p:nvSpPr>
            <p:cNvPr id="72" name="Text Box 32"/>
            <p:cNvSpPr txBox="1">
              <a:spLocks noChangeArrowheads="1"/>
            </p:cNvSpPr>
            <p:nvPr/>
          </p:nvSpPr>
          <p:spPr bwMode="auto">
            <a:xfrm>
              <a:off x="1152" y="864"/>
              <a:ext cx="545" cy="198"/>
            </a:xfrm>
            <a:prstGeom prst="rect">
              <a:avLst/>
            </a:prstGeom>
            <a:noFill/>
            <a:ln w="9525">
              <a:solidFill>
                <a:srgbClr val="9933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zh-TW" sz="1400" b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[A,DCE]</a:t>
              </a:r>
            </a:p>
          </p:txBody>
        </p:sp>
      </p:grpSp>
      <p:grpSp>
        <p:nvGrpSpPr>
          <p:cNvPr id="73" name="Group 33"/>
          <p:cNvGrpSpPr>
            <a:grpSpLocks/>
          </p:cNvGrpSpPr>
          <p:nvPr/>
        </p:nvGrpSpPr>
        <p:grpSpPr bwMode="auto">
          <a:xfrm>
            <a:off x="3745113" y="4100292"/>
            <a:ext cx="1220788" cy="1473200"/>
            <a:chOff x="990" y="864"/>
            <a:chExt cx="769" cy="928"/>
          </a:xfrm>
        </p:grpSpPr>
        <p:pic>
          <p:nvPicPr>
            <p:cNvPr id="74" name="Picture 34" descr="oneant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0" y="1092"/>
              <a:ext cx="484" cy="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5" name="Text Box 35"/>
            <p:cNvSpPr txBox="1">
              <a:spLocks noChangeArrowheads="1"/>
            </p:cNvSpPr>
            <p:nvPr/>
          </p:nvSpPr>
          <p:spPr bwMode="auto">
            <a:xfrm>
              <a:off x="1056" y="912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endParaRPr lang="zh-TW" altLang="en-US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endParaRPr>
            </a:p>
          </p:txBody>
        </p:sp>
        <p:sp>
          <p:nvSpPr>
            <p:cNvPr id="76" name="Text Box 36"/>
            <p:cNvSpPr txBox="1">
              <a:spLocks noChangeArrowheads="1"/>
            </p:cNvSpPr>
            <p:nvPr/>
          </p:nvSpPr>
          <p:spPr bwMode="auto">
            <a:xfrm>
              <a:off x="1104" y="1344"/>
              <a:ext cx="169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zh-TW" sz="1200" b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3</a:t>
              </a:r>
            </a:p>
          </p:txBody>
        </p:sp>
        <p:sp>
          <p:nvSpPr>
            <p:cNvPr id="77" name="Text Box 37"/>
            <p:cNvSpPr txBox="1">
              <a:spLocks noChangeArrowheads="1"/>
            </p:cNvSpPr>
            <p:nvPr/>
          </p:nvSpPr>
          <p:spPr bwMode="auto">
            <a:xfrm>
              <a:off x="1152" y="864"/>
              <a:ext cx="607" cy="198"/>
            </a:xfrm>
            <a:prstGeom prst="rect">
              <a:avLst/>
            </a:prstGeom>
            <a:noFill/>
            <a:ln w="9525">
              <a:solidFill>
                <a:srgbClr val="9933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zh-TW" sz="1400" b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[C,B,E,D]</a:t>
              </a:r>
            </a:p>
          </p:txBody>
        </p:sp>
      </p:grpSp>
      <p:pic>
        <p:nvPicPr>
          <p:cNvPr id="78" name="Picture 7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30552" y="5791201"/>
            <a:ext cx="932129" cy="639174"/>
          </a:xfrm>
          <a:prstGeom prst="rect">
            <a:avLst/>
          </a:prstGeom>
        </p:spPr>
      </p:pic>
      <p:pic>
        <p:nvPicPr>
          <p:cNvPr id="79" name="Picture 7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55038" y="5938338"/>
            <a:ext cx="932129" cy="639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084415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868 0.01111 L 1.11119 0.02199 L 1.10742 0.22315 L -0.02683 0.17338 L -0.02513 -0.00393 L -0.02513 -2.22222E-6 " pathEditMode="relative" rAng="0" ptsTypes="AAAAAA">
                                      <p:cBhvr>
                                        <p:cTn id="6" dur="25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487" y="983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repeatCount="indefinite" accel="50000" decel="50000" fill="hold" nodeType="withEffect">
                                  <p:stCondLst>
                                    <p:cond delay="110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0.02188 -1.11022E-16 L 1.15052 0.00995 L 1.14661 0.19444 L -0.00977 0.14884 L -0.00807 -0.01389 L -0.00807 -0.01042 " pathEditMode="relative" rAng="0" ptsTypes="AAAAAA">
                                      <p:cBhvr>
                                        <p:cTn id="8" dur="25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620" y="902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28688"/>
            <a:ext cx="10515600" cy="5595937"/>
          </a:xfrm>
        </p:spPr>
        <p:txBody>
          <a:bodyPr rtlCol="0">
            <a:normAutofit/>
          </a:bodyPr>
          <a:lstStyle/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3" name="标题 1"/>
          <p:cNvSpPr>
            <a:spLocks noGrp="1"/>
          </p:cNvSpPr>
          <p:nvPr>
            <p:ph type="title"/>
          </p:nvPr>
        </p:nvSpPr>
        <p:spPr>
          <a:xfrm>
            <a:off x="0" y="-3175"/>
            <a:ext cx="12192000" cy="808038"/>
          </a:xfrm>
          <a:solidFill>
            <a:srgbClr val="0070C0"/>
          </a:solidFill>
        </p:spPr>
        <p:txBody>
          <a:bodyPr/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of a Simple AS to solve TSP</a:t>
            </a:r>
            <a:endParaRPr lang="en-US" sz="4000" b="1" dirty="0">
              <a:solidFill>
                <a:schemeClr val="bg1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12"/>
          </p:nvPr>
        </p:nvSpPr>
        <p:spPr bwMode="auto">
          <a:xfrm>
            <a:off x="8075613" y="6524625"/>
            <a:ext cx="4116387" cy="196850"/>
          </a:xfrm>
          <a:solidFill>
            <a:srgbClr val="0070C0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Md. Forhad Hossain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21150" y="6524625"/>
            <a:ext cx="3954463" cy="196850"/>
          </a:xfrm>
          <a:solidFill>
            <a:schemeClr val="accent1">
              <a:lumMod val="75000"/>
            </a:schemeClr>
          </a:solidFill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B. M. Junaed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6" name="日期占位符 5"/>
          <p:cNvSpPr>
            <a:spLocks noGrp="1"/>
          </p:cNvSpPr>
          <p:nvPr>
            <p:ph type="dt" sz="quarter" idx="10"/>
          </p:nvPr>
        </p:nvSpPr>
        <p:spPr bwMode="auto">
          <a:xfrm>
            <a:off x="0" y="6524625"/>
            <a:ext cx="4121150" cy="196850"/>
          </a:xfrm>
          <a:solidFill>
            <a:schemeClr val="accent1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 A. H. Akhand	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val 3"/>
          <p:cNvSpPr>
            <a:spLocks noChangeArrowheads="1"/>
          </p:cNvSpPr>
          <p:nvPr/>
        </p:nvSpPr>
        <p:spPr bwMode="auto">
          <a:xfrm>
            <a:off x="4307088" y="1661892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Oval 4"/>
          <p:cNvSpPr>
            <a:spLocks noChangeArrowheads="1"/>
          </p:cNvSpPr>
          <p:nvPr/>
        </p:nvSpPr>
        <p:spPr bwMode="auto">
          <a:xfrm>
            <a:off x="7888488" y="1661892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Oval 5"/>
          <p:cNvSpPr>
            <a:spLocks noChangeArrowheads="1"/>
          </p:cNvSpPr>
          <p:nvPr/>
        </p:nvSpPr>
        <p:spPr bwMode="auto">
          <a:xfrm>
            <a:off x="3468888" y="4481292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Oval 6"/>
          <p:cNvSpPr>
            <a:spLocks noChangeArrowheads="1"/>
          </p:cNvSpPr>
          <p:nvPr/>
        </p:nvSpPr>
        <p:spPr bwMode="auto">
          <a:xfrm>
            <a:off x="5907288" y="2957292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Oval 7"/>
          <p:cNvSpPr>
            <a:spLocks noChangeArrowheads="1"/>
          </p:cNvSpPr>
          <p:nvPr/>
        </p:nvSpPr>
        <p:spPr bwMode="auto">
          <a:xfrm>
            <a:off x="7736088" y="4862292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Text Box 8"/>
          <p:cNvSpPr txBox="1">
            <a:spLocks noChangeArrowheads="1"/>
          </p:cNvSpPr>
          <p:nvPr/>
        </p:nvSpPr>
        <p:spPr bwMode="auto">
          <a:xfrm>
            <a:off x="4291213" y="1850805"/>
            <a:ext cx="336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defTabSz="914400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TW" sz="1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A</a:t>
            </a:r>
          </a:p>
        </p:txBody>
      </p:sp>
      <p:sp>
        <p:nvSpPr>
          <p:cNvPr id="14" name="Text Box 9"/>
          <p:cNvSpPr txBox="1">
            <a:spLocks noChangeArrowheads="1"/>
          </p:cNvSpPr>
          <p:nvPr/>
        </p:nvSpPr>
        <p:spPr bwMode="auto">
          <a:xfrm>
            <a:off x="7736088" y="5167092"/>
            <a:ext cx="336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defTabSz="914400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TW" sz="1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E</a:t>
            </a:r>
          </a:p>
        </p:txBody>
      </p:sp>
      <p:sp>
        <p:nvSpPr>
          <p:cNvPr id="15" name="Text Box 10"/>
          <p:cNvSpPr txBox="1">
            <a:spLocks noChangeArrowheads="1"/>
          </p:cNvSpPr>
          <p:nvPr/>
        </p:nvSpPr>
        <p:spPr bwMode="auto">
          <a:xfrm>
            <a:off x="3392688" y="4862292"/>
            <a:ext cx="349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defTabSz="914400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TW" sz="1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D</a:t>
            </a: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5907288" y="3262092"/>
            <a:ext cx="349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defTabSz="914400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TW" sz="1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C</a:t>
            </a:r>
          </a:p>
        </p:txBody>
      </p:sp>
      <p:sp>
        <p:nvSpPr>
          <p:cNvPr id="17" name="Text Box 12"/>
          <p:cNvSpPr txBox="1">
            <a:spLocks noChangeArrowheads="1"/>
          </p:cNvSpPr>
          <p:nvPr/>
        </p:nvSpPr>
        <p:spPr bwMode="auto">
          <a:xfrm>
            <a:off x="7888488" y="1966692"/>
            <a:ext cx="336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defTabSz="914400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TW" sz="1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B</a:t>
            </a:r>
          </a:p>
        </p:txBody>
      </p:sp>
      <p:grpSp>
        <p:nvGrpSpPr>
          <p:cNvPr id="18" name="Group 13"/>
          <p:cNvGrpSpPr>
            <a:grpSpLocks/>
          </p:cNvGrpSpPr>
          <p:nvPr/>
        </p:nvGrpSpPr>
        <p:grpSpPr bwMode="auto">
          <a:xfrm>
            <a:off x="7050288" y="899892"/>
            <a:ext cx="1370013" cy="1143000"/>
            <a:chOff x="1008" y="864"/>
            <a:chExt cx="863" cy="720"/>
          </a:xfrm>
        </p:grpSpPr>
        <p:pic>
          <p:nvPicPr>
            <p:cNvPr id="19" name="Picture 14" descr="oneant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8" y="960"/>
              <a:ext cx="472" cy="6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0" name="Text Box 15"/>
            <p:cNvSpPr txBox="1">
              <a:spLocks noChangeArrowheads="1"/>
            </p:cNvSpPr>
            <p:nvPr/>
          </p:nvSpPr>
          <p:spPr bwMode="auto">
            <a:xfrm>
              <a:off x="1056" y="912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endParaRPr lang="zh-TW" altLang="en-US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endParaRPr>
            </a:p>
          </p:txBody>
        </p:sp>
        <p:sp>
          <p:nvSpPr>
            <p:cNvPr id="21" name="Text Box 16"/>
            <p:cNvSpPr txBox="1">
              <a:spLocks noChangeArrowheads="1"/>
            </p:cNvSpPr>
            <p:nvPr/>
          </p:nvSpPr>
          <p:spPr bwMode="auto">
            <a:xfrm>
              <a:off x="1104" y="1344"/>
              <a:ext cx="169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zh-TW" sz="1200" b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1</a:t>
              </a:r>
            </a:p>
          </p:txBody>
        </p:sp>
        <p:sp>
          <p:nvSpPr>
            <p:cNvPr id="22" name="Text Box 17"/>
            <p:cNvSpPr txBox="1">
              <a:spLocks noChangeArrowheads="1"/>
            </p:cNvSpPr>
            <p:nvPr/>
          </p:nvSpPr>
          <p:spPr bwMode="auto">
            <a:xfrm>
              <a:off x="1152" y="864"/>
              <a:ext cx="719" cy="198"/>
            </a:xfrm>
            <a:prstGeom prst="rect">
              <a:avLst/>
            </a:prstGeom>
            <a:noFill/>
            <a:ln w="9525">
              <a:solidFill>
                <a:srgbClr val="9933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zh-TW" sz="1400" b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[A,D,C,E,B]</a:t>
              </a:r>
            </a:p>
          </p:txBody>
        </p:sp>
      </p:grpSp>
      <p:grpSp>
        <p:nvGrpSpPr>
          <p:cNvPr id="23" name="Group 18"/>
          <p:cNvGrpSpPr>
            <a:grpSpLocks/>
          </p:cNvGrpSpPr>
          <p:nvPr/>
        </p:nvGrpSpPr>
        <p:grpSpPr bwMode="auto">
          <a:xfrm>
            <a:off x="3316488" y="976092"/>
            <a:ext cx="1370013" cy="1143000"/>
            <a:chOff x="1008" y="864"/>
            <a:chExt cx="863" cy="720"/>
          </a:xfrm>
        </p:grpSpPr>
        <p:pic>
          <p:nvPicPr>
            <p:cNvPr id="24" name="Picture 19" descr="oneant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8" y="960"/>
              <a:ext cx="472" cy="6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5" name="Text Box 20"/>
            <p:cNvSpPr txBox="1">
              <a:spLocks noChangeArrowheads="1"/>
            </p:cNvSpPr>
            <p:nvPr/>
          </p:nvSpPr>
          <p:spPr bwMode="auto">
            <a:xfrm>
              <a:off x="1056" y="912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endParaRPr lang="zh-TW" altLang="en-US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endParaRPr>
            </a:p>
          </p:txBody>
        </p:sp>
        <p:sp>
          <p:nvSpPr>
            <p:cNvPr id="26" name="Text Box 21"/>
            <p:cNvSpPr txBox="1">
              <a:spLocks noChangeArrowheads="1"/>
            </p:cNvSpPr>
            <p:nvPr/>
          </p:nvSpPr>
          <p:spPr bwMode="auto">
            <a:xfrm>
              <a:off x="1104" y="1344"/>
              <a:ext cx="169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zh-TW" sz="1200" b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3</a:t>
              </a:r>
            </a:p>
          </p:txBody>
        </p:sp>
        <p:sp>
          <p:nvSpPr>
            <p:cNvPr id="27" name="Text Box 22"/>
            <p:cNvSpPr txBox="1">
              <a:spLocks noChangeArrowheads="1"/>
            </p:cNvSpPr>
            <p:nvPr/>
          </p:nvSpPr>
          <p:spPr bwMode="auto">
            <a:xfrm>
              <a:off x="1152" y="864"/>
              <a:ext cx="719" cy="198"/>
            </a:xfrm>
            <a:prstGeom prst="rect">
              <a:avLst/>
            </a:prstGeom>
            <a:noFill/>
            <a:ln w="9525">
              <a:solidFill>
                <a:srgbClr val="9933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zh-TW" sz="1400" b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[C,B,E,D,A]</a:t>
              </a:r>
            </a:p>
          </p:txBody>
        </p:sp>
      </p:grpSp>
      <p:grpSp>
        <p:nvGrpSpPr>
          <p:cNvPr id="28" name="Group 23"/>
          <p:cNvGrpSpPr>
            <a:grpSpLocks/>
          </p:cNvGrpSpPr>
          <p:nvPr/>
        </p:nvGrpSpPr>
        <p:grpSpPr bwMode="auto">
          <a:xfrm>
            <a:off x="5072263" y="2347692"/>
            <a:ext cx="1366838" cy="1258888"/>
            <a:chOff x="1010" y="864"/>
            <a:chExt cx="861" cy="793"/>
          </a:xfrm>
        </p:grpSpPr>
        <p:pic>
          <p:nvPicPr>
            <p:cNvPr id="29" name="Picture 24" descr="oneant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0" y="957"/>
              <a:ext cx="484" cy="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" name="Text Box 25"/>
            <p:cNvSpPr txBox="1">
              <a:spLocks noChangeArrowheads="1"/>
            </p:cNvSpPr>
            <p:nvPr/>
          </p:nvSpPr>
          <p:spPr bwMode="auto">
            <a:xfrm>
              <a:off x="1056" y="912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endParaRPr lang="zh-TW" altLang="en-US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endParaRPr>
            </a:p>
          </p:txBody>
        </p:sp>
        <p:sp>
          <p:nvSpPr>
            <p:cNvPr id="31" name="Text Box 26"/>
            <p:cNvSpPr txBox="1">
              <a:spLocks noChangeArrowheads="1"/>
            </p:cNvSpPr>
            <p:nvPr/>
          </p:nvSpPr>
          <p:spPr bwMode="auto">
            <a:xfrm>
              <a:off x="1104" y="1344"/>
              <a:ext cx="169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zh-TW" sz="1200" b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4</a:t>
              </a:r>
            </a:p>
          </p:txBody>
        </p:sp>
        <p:sp>
          <p:nvSpPr>
            <p:cNvPr id="32" name="Text Box 27"/>
            <p:cNvSpPr txBox="1">
              <a:spLocks noChangeArrowheads="1"/>
            </p:cNvSpPr>
            <p:nvPr/>
          </p:nvSpPr>
          <p:spPr bwMode="auto">
            <a:xfrm>
              <a:off x="1152" y="864"/>
              <a:ext cx="719" cy="198"/>
            </a:xfrm>
            <a:prstGeom prst="rect">
              <a:avLst/>
            </a:prstGeom>
            <a:noFill/>
            <a:ln w="9525">
              <a:solidFill>
                <a:srgbClr val="9933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zh-TW" sz="1400" b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[D,E,A,B,C]</a:t>
              </a:r>
            </a:p>
          </p:txBody>
        </p:sp>
      </p:grpSp>
      <p:grpSp>
        <p:nvGrpSpPr>
          <p:cNvPr id="33" name="Group 28"/>
          <p:cNvGrpSpPr>
            <a:grpSpLocks/>
          </p:cNvGrpSpPr>
          <p:nvPr/>
        </p:nvGrpSpPr>
        <p:grpSpPr bwMode="auto">
          <a:xfrm>
            <a:off x="8117088" y="4481292"/>
            <a:ext cx="1293813" cy="1519238"/>
            <a:chOff x="1056" y="864"/>
            <a:chExt cx="815" cy="957"/>
          </a:xfrm>
        </p:grpSpPr>
        <p:pic>
          <p:nvPicPr>
            <p:cNvPr id="34" name="Picture 29" descr="oneant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6" y="1121"/>
              <a:ext cx="483" cy="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" name="Text Box 30"/>
            <p:cNvSpPr txBox="1">
              <a:spLocks noChangeArrowheads="1"/>
            </p:cNvSpPr>
            <p:nvPr/>
          </p:nvSpPr>
          <p:spPr bwMode="auto">
            <a:xfrm>
              <a:off x="1056" y="912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endParaRPr lang="zh-TW" altLang="en-US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endParaRPr>
            </a:p>
          </p:txBody>
        </p:sp>
        <p:sp>
          <p:nvSpPr>
            <p:cNvPr id="36" name="Text Box 31"/>
            <p:cNvSpPr txBox="1">
              <a:spLocks noChangeArrowheads="1"/>
            </p:cNvSpPr>
            <p:nvPr/>
          </p:nvSpPr>
          <p:spPr bwMode="auto">
            <a:xfrm>
              <a:off x="1104" y="1344"/>
              <a:ext cx="169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zh-TW" sz="1200" b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2</a:t>
              </a:r>
            </a:p>
          </p:txBody>
        </p:sp>
        <p:sp>
          <p:nvSpPr>
            <p:cNvPr id="37" name="Text Box 32"/>
            <p:cNvSpPr txBox="1">
              <a:spLocks noChangeArrowheads="1"/>
            </p:cNvSpPr>
            <p:nvPr/>
          </p:nvSpPr>
          <p:spPr bwMode="auto">
            <a:xfrm>
              <a:off x="1152" y="864"/>
              <a:ext cx="719" cy="198"/>
            </a:xfrm>
            <a:prstGeom prst="rect">
              <a:avLst/>
            </a:prstGeom>
            <a:noFill/>
            <a:ln w="9525">
              <a:solidFill>
                <a:srgbClr val="9933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zh-TW" sz="1400" b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[B,C,D,A,E]</a:t>
              </a:r>
            </a:p>
          </p:txBody>
        </p:sp>
      </p:grpSp>
      <p:grpSp>
        <p:nvGrpSpPr>
          <p:cNvPr id="38" name="Group 33"/>
          <p:cNvGrpSpPr>
            <a:grpSpLocks/>
          </p:cNvGrpSpPr>
          <p:nvPr/>
        </p:nvGrpSpPr>
        <p:grpSpPr bwMode="auto">
          <a:xfrm>
            <a:off x="3745113" y="4100292"/>
            <a:ext cx="1398588" cy="1473200"/>
            <a:chOff x="990" y="864"/>
            <a:chExt cx="881" cy="928"/>
          </a:xfrm>
        </p:grpSpPr>
        <p:pic>
          <p:nvPicPr>
            <p:cNvPr id="39" name="Picture 34" descr="oneant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0" y="1092"/>
              <a:ext cx="484" cy="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0" name="Text Box 35"/>
            <p:cNvSpPr txBox="1">
              <a:spLocks noChangeArrowheads="1"/>
            </p:cNvSpPr>
            <p:nvPr/>
          </p:nvSpPr>
          <p:spPr bwMode="auto">
            <a:xfrm>
              <a:off x="1056" y="912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endParaRPr lang="zh-TW" altLang="en-US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endParaRPr>
            </a:p>
          </p:txBody>
        </p:sp>
        <p:sp>
          <p:nvSpPr>
            <p:cNvPr id="41" name="Text Box 36"/>
            <p:cNvSpPr txBox="1">
              <a:spLocks noChangeArrowheads="1"/>
            </p:cNvSpPr>
            <p:nvPr/>
          </p:nvSpPr>
          <p:spPr bwMode="auto">
            <a:xfrm>
              <a:off x="1104" y="1344"/>
              <a:ext cx="169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zh-TW" sz="1200" b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5</a:t>
              </a:r>
            </a:p>
          </p:txBody>
        </p:sp>
        <p:sp>
          <p:nvSpPr>
            <p:cNvPr id="42" name="Text Box 37"/>
            <p:cNvSpPr txBox="1">
              <a:spLocks noChangeArrowheads="1"/>
            </p:cNvSpPr>
            <p:nvPr/>
          </p:nvSpPr>
          <p:spPr bwMode="auto">
            <a:xfrm>
              <a:off x="1152" y="864"/>
              <a:ext cx="719" cy="198"/>
            </a:xfrm>
            <a:prstGeom prst="rect">
              <a:avLst/>
            </a:prstGeom>
            <a:noFill/>
            <a:ln w="9525">
              <a:solidFill>
                <a:srgbClr val="9933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zh-TW" sz="1400" b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[E,A,B,C,D]</a:t>
              </a:r>
            </a:p>
          </p:txBody>
        </p:sp>
      </p:grpSp>
      <p:pic>
        <p:nvPicPr>
          <p:cNvPr id="43" name="Picture 4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30552" y="5791201"/>
            <a:ext cx="932129" cy="639174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55038" y="5938338"/>
            <a:ext cx="932129" cy="639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43064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868 0.01111 L 1.11119 0.02199 L 1.10742 0.22315 L -0.02683 0.17338 L -0.02513 -0.00393 L -0.02513 -2.22222E-6 " pathEditMode="relative" rAng="0" ptsTypes="AAAAAA">
                                      <p:cBhvr>
                                        <p:cTn id="6" dur="25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487" y="983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repeatCount="indefinite" accel="50000" decel="50000" fill="hold" nodeType="withEffect">
                                  <p:stCondLst>
                                    <p:cond delay="110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0.02188 -1.11022E-16 L 1.15052 0.00995 L 1.14661 0.19444 L -0.00977 0.14884 L -0.00807 -0.01389 L -0.00807 -0.01042 " pathEditMode="relative" rAng="0" ptsTypes="AAAAAA">
                                      <p:cBhvr>
                                        <p:cTn id="8" dur="25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620" y="902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28688"/>
            <a:ext cx="10515600" cy="5595937"/>
          </a:xfrm>
        </p:spPr>
        <p:txBody>
          <a:bodyPr rtlCol="0">
            <a:normAutofit/>
          </a:bodyPr>
          <a:lstStyle/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3" name="标题 1"/>
          <p:cNvSpPr>
            <a:spLocks noGrp="1"/>
          </p:cNvSpPr>
          <p:nvPr>
            <p:ph type="title"/>
          </p:nvPr>
        </p:nvSpPr>
        <p:spPr>
          <a:xfrm>
            <a:off x="0" y="-3175"/>
            <a:ext cx="12192000" cy="808038"/>
          </a:xfrm>
          <a:solidFill>
            <a:srgbClr val="0070C0"/>
          </a:solidFill>
        </p:spPr>
        <p:txBody>
          <a:bodyPr/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of a Simple AS to solve TSP</a:t>
            </a:r>
            <a:endParaRPr lang="en-US" sz="4000" b="1" dirty="0">
              <a:solidFill>
                <a:schemeClr val="bg1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12"/>
          </p:nvPr>
        </p:nvSpPr>
        <p:spPr bwMode="auto">
          <a:xfrm>
            <a:off x="8075613" y="6524625"/>
            <a:ext cx="4116387" cy="196850"/>
          </a:xfrm>
          <a:solidFill>
            <a:srgbClr val="0070C0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Md. Forhad Hossain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21150" y="6524625"/>
            <a:ext cx="3954463" cy="196850"/>
          </a:xfrm>
          <a:solidFill>
            <a:schemeClr val="accent1">
              <a:lumMod val="75000"/>
            </a:schemeClr>
          </a:solidFill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B. M. Junaed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6" name="日期占位符 5"/>
          <p:cNvSpPr>
            <a:spLocks noGrp="1"/>
          </p:cNvSpPr>
          <p:nvPr>
            <p:ph type="dt" sz="quarter" idx="10"/>
          </p:nvPr>
        </p:nvSpPr>
        <p:spPr bwMode="auto">
          <a:xfrm>
            <a:off x="0" y="6524625"/>
            <a:ext cx="4121150" cy="196850"/>
          </a:xfrm>
          <a:solidFill>
            <a:schemeClr val="accent1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 A. H. Akhand	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5"/>
          <p:cNvSpPr txBox="1">
            <a:spLocks/>
          </p:cNvSpPr>
          <p:nvPr/>
        </p:nvSpPr>
        <p:spPr>
          <a:xfrm>
            <a:off x="8574288" y="6110520"/>
            <a:ext cx="1876425" cy="4556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F332D7-EAFE-4263-A732-4348898F7FF1}" type="slidenum">
              <a:rPr lang="en-GB" smtClean="0"/>
              <a:pPr/>
              <a:t>31</a:t>
            </a:fld>
            <a:endParaRPr lang="en-GB"/>
          </a:p>
        </p:txBody>
      </p:sp>
      <p:grpSp>
        <p:nvGrpSpPr>
          <p:cNvPr id="10" name="Group 3"/>
          <p:cNvGrpSpPr>
            <a:grpSpLocks/>
          </p:cNvGrpSpPr>
          <p:nvPr/>
        </p:nvGrpSpPr>
        <p:grpSpPr bwMode="auto">
          <a:xfrm>
            <a:off x="1716288" y="1233720"/>
            <a:ext cx="1370013" cy="1143000"/>
            <a:chOff x="1008" y="864"/>
            <a:chExt cx="863" cy="720"/>
          </a:xfrm>
        </p:grpSpPr>
        <p:pic>
          <p:nvPicPr>
            <p:cNvPr id="11" name="Picture 4" descr="oneant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8" y="960"/>
              <a:ext cx="472" cy="6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2" name="Text Box 5"/>
            <p:cNvSpPr txBox="1">
              <a:spLocks noChangeArrowheads="1"/>
            </p:cNvSpPr>
            <p:nvPr/>
          </p:nvSpPr>
          <p:spPr bwMode="auto">
            <a:xfrm>
              <a:off x="1056" y="912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endParaRPr lang="zh-TW" altLang="en-US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endParaRPr>
            </a:p>
          </p:txBody>
        </p:sp>
        <p:sp>
          <p:nvSpPr>
            <p:cNvPr id="13" name="Text Box 6"/>
            <p:cNvSpPr txBox="1">
              <a:spLocks noChangeArrowheads="1"/>
            </p:cNvSpPr>
            <p:nvPr/>
          </p:nvSpPr>
          <p:spPr bwMode="auto">
            <a:xfrm>
              <a:off x="1104" y="1344"/>
              <a:ext cx="169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zh-TW" sz="1200" b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1</a:t>
              </a:r>
            </a:p>
          </p:txBody>
        </p:sp>
        <p:sp>
          <p:nvSpPr>
            <p:cNvPr id="14" name="Text Box 7"/>
            <p:cNvSpPr txBox="1">
              <a:spLocks noChangeArrowheads="1"/>
            </p:cNvSpPr>
            <p:nvPr/>
          </p:nvSpPr>
          <p:spPr bwMode="auto">
            <a:xfrm>
              <a:off x="1152" y="864"/>
              <a:ext cx="719" cy="198"/>
            </a:xfrm>
            <a:prstGeom prst="rect">
              <a:avLst/>
            </a:prstGeom>
            <a:noFill/>
            <a:ln w="9525">
              <a:solidFill>
                <a:srgbClr val="9933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zh-TW" sz="1400" b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[A,D,C,E,B]</a:t>
              </a:r>
            </a:p>
          </p:txBody>
        </p:sp>
      </p:grpSp>
      <p:grpSp>
        <p:nvGrpSpPr>
          <p:cNvPr id="15" name="Group 8"/>
          <p:cNvGrpSpPr>
            <a:grpSpLocks/>
          </p:cNvGrpSpPr>
          <p:nvPr/>
        </p:nvGrpSpPr>
        <p:grpSpPr bwMode="auto">
          <a:xfrm>
            <a:off x="4994476" y="4662720"/>
            <a:ext cx="1368425" cy="1538288"/>
            <a:chOff x="1009" y="864"/>
            <a:chExt cx="862" cy="969"/>
          </a:xfrm>
        </p:grpSpPr>
        <p:pic>
          <p:nvPicPr>
            <p:cNvPr id="16" name="Picture 9" descr="oneant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9" y="1133"/>
              <a:ext cx="483" cy="7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7" name="Text Box 10"/>
            <p:cNvSpPr txBox="1">
              <a:spLocks noChangeArrowheads="1"/>
            </p:cNvSpPr>
            <p:nvPr/>
          </p:nvSpPr>
          <p:spPr bwMode="auto">
            <a:xfrm>
              <a:off x="1056" y="912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endParaRPr lang="zh-TW" altLang="en-US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endParaRPr>
            </a:p>
          </p:txBody>
        </p:sp>
        <p:sp>
          <p:nvSpPr>
            <p:cNvPr id="18" name="Text Box 11"/>
            <p:cNvSpPr txBox="1">
              <a:spLocks noChangeArrowheads="1"/>
            </p:cNvSpPr>
            <p:nvPr/>
          </p:nvSpPr>
          <p:spPr bwMode="auto">
            <a:xfrm>
              <a:off x="1104" y="1344"/>
              <a:ext cx="169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zh-TW" sz="1200" b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5</a:t>
              </a:r>
            </a:p>
          </p:txBody>
        </p:sp>
        <p:sp>
          <p:nvSpPr>
            <p:cNvPr id="19" name="Text Box 12"/>
            <p:cNvSpPr txBox="1">
              <a:spLocks noChangeArrowheads="1"/>
            </p:cNvSpPr>
            <p:nvPr/>
          </p:nvSpPr>
          <p:spPr bwMode="auto">
            <a:xfrm>
              <a:off x="1152" y="864"/>
              <a:ext cx="719" cy="198"/>
            </a:xfrm>
            <a:prstGeom prst="rect">
              <a:avLst/>
            </a:prstGeom>
            <a:noFill/>
            <a:ln w="9525">
              <a:solidFill>
                <a:srgbClr val="9933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zh-TW" sz="1400" b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[E,A,B,C,D]</a:t>
              </a:r>
            </a:p>
          </p:txBody>
        </p:sp>
      </p:grpSp>
      <p:sp>
        <p:nvSpPr>
          <p:cNvPr id="20" name="Text Box 13"/>
          <p:cNvSpPr txBox="1">
            <a:spLocks noChangeArrowheads="1"/>
          </p:cNvSpPr>
          <p:nvPr/>
        </p:nvSpPr>
        <p:spPr bwMode="auto">
          <a:xfrm>
            <a:off x="2630688" y="1614720"/>
            <a:ext cx="9858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defTabSz="914400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TW" sz="1800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L</a:t>
            </a:r>
            <a:r>
              <a:rPr lang="en-US" altLang="zh-TW" sz="1800" b="1" baseline="-25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1</a:t>
            </a:r>
            <a:r>
              <a:rPr lang="en-US" altLang="zh-TW" sz="1800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 =300</a:t>
            </a:r>
          </a:p>
        </p:txBody>
      </p:sp>
      <p:graphicFrame>
        <p:nvGraphicFramePr>
          <p:cNvPr id="21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7142184"/>
              </p:ext>
            </p:extLst>
          </p:nvPr>
        </p:nvGraphicFramePr>
        <p:xfrm>
          <a:off x="6288288" y="1309920"/>
          <a:ext cx="3962400" cy="132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52600" imgH="685800" progId="Equation.3">
                  <p:embed/>
                </p:oleObj>
              </mc:Choice>
              <mc:Fallback>
                <p:oleObj name="Equation" r:id="rId4" imgW="1752600" imgH="685800" progId="Equation.3">
                  <p:embed/>
                  <p:pic>
                    <p:nvPicPr>
                      <p:cNvPr id="21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8288" y="1309920"/>
                        <a:ext cx="3962400" cy="1320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15"/>
          <p:cNvSpPr txBox="1">
            <a:spLocks noChangeArrowheads="1"/>
          </p:cNvSpPr>
          <p:nvPr/>
        </p:nvSpPr>
        <p:spPr bwMode="auto">
          <a:xfrm>
            <a:off x="4459488" y="2376720"/>
            <a:ext cx="9858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defTabSz="914400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TW" sz="1800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L</a:t>
            </a:r>
            <a:r>
              <a:rPr lang="en-US" altLang="zh-TW" sz="1800" b="1" baseline="-25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2</a:t>
            </a:r>
            <a:r>
              <a:rPr lang="en-US" altLang="zh-TW" sz="1800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 =450</a:t>
            </a:r>
          </a:p>
        </p:txBody>
      </p:sp>
      <p:sp>
        <p:nvSpPr>
          <p:cNvPr id="23" name="Text Box 16"/>
          <p:cNvSpPr txBox="1">
            <a:spLocks noChangeArrowheads="1"/>
          </p:cNvSpPr>
          <p:nvPr/>
        </p:nvSpPr>
        <p:spPr bwMode="auto">
          <a:xfrm>
            <a:off x="5983488" y="3214920"/>
            <a:ext cx="9858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defTabSz="914400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TW" sz="1800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L</a:t>
            </a:r>
            <a:r>
              <a:rPr lang="en-US" altLang="zh-TW" sz="1800" b="1" baseline="-25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3</a:t>
            </a:r>
            <a:r>
              <a:rPr lang="en-US" altLang="zh-TW" sz="1800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 =260</a:t>
            </a:r>
          </a:p>
        </p:txBody>
      </p:sp>
      <p:sp>
        <p:nvSpPr>
          <p:cNvPr id="24" name="Text Box 17"/>
          <p:cNvSpPr txBox="1">
            <a:spLocks noChangeArrowheads="1"/>
          </p:cNvSpPr>
          <p:nvPr/>
        </p:nvSpPr>
        <p:spPr bwMode="auto">
          <a:xfrm>
            <a:off x="3849888" y="4205520"/>
            <a:ext cx="9858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defTabSz="914400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TW" sz="1800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L</a:t>
            </a:r>
            <a:r>
              <a:rPr lang="en-US" altLang="zh-TW" sz="1800" b="1" baseline="-25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4</a:t>
            </a:r>
            <a:r>
              <a:rPr lang="en-US" altLang="zh-TW" sz="1800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 =280</a:t>
            </a:r>
          </a:p>
        </p:txBody>
      </p:sp>
      <p:sp>
        <p:nvSpPr>
          <p:cNvPr id="25" name="Text Box 18"/>
          <p:cNvSpPr txBox="1">
            <a:spLocks noChangeArrowheads="1"/>
          </p:cNvSpPr>
          <p:nvPr/>
        </p:nvSpPr>
        <p:spPr bwMode="auto">
          <a:xfrm>
            <a:off x="6212088" y="5272320"/>
            <a:ext cx="9858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fontAlgn="base">
              <a:lnSpc>
                <a:spcPct val="2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defTabSz="914400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TW" sz="1800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L</a:t>
            </a:r>
            <a:r>
              <a:rPr lang="en-US" altLang="zh-TW" sz="1800" b="1" baseline="-25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5</a:t>
            </a:r>
            <a:r>
              <a:rPr lang="en-US" altLang="zh-TW" sz="1800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 =420</a:t>
            </a:r>
          </a:p>
        </p:txBody>
      </p:sp>
      <p:grpSp>
        <p:nvGrpSpPr>
          <p:cNvPr id="26" name="Group 19"/>
          <p:cNvGrpSpPr>
            <a:grpSpLocks/>
          </p:cNvGrpSpPr>
          <p:nvPr/>
        </p:nvGrpSpPr>
        <p:grpSpPr bwMode="auto">
          <a:xfrm>
            <a:off x="3589538" y="1843320"/>
            <a:ext cx="1401763" cy="1195388"/>
            <a:chOff x="988" y="864"/>
            <a:chExt cx="883" cy="753"/>
          </a:xfrm>
        </p:grpSpPr>
        <p:pic>
          <p:nvPicPr>
            <p:cNvPr id="27" name="Picture 20" descr="oneant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" y="917"/>
              <a:ext cx="483" cy="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" name="Text Box 21"/>
            <p:cNvSpPr txBox="1">
              <a:spLocks noChangeArrowheads="1"/>
            </p:cNvSpPr>
            <p:nvPr/>
          </p:nvSpPr>
          <p:spPr bwMode="auto">
            <a:xfrm>
              <a:off x="1056" y="912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endParaRPr lang="zh-TW" altLang="en-US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endParaRPr>
            </a:p>
          </p:txBody>
        </p:sp>
        <p:sp>
          <p:nvSpPr>
            <p:cNvPr id="29" name="Text Box 22"/>
            <p:cNvSpPr txBox="1">
              <a:spLocks noChangeArrowheads="1"/>
            </p:cNvSpPr>
            <p:nvPr/>
          </p:nvSpPr>
          <p:spPr bwMode="auto">
            <a:xfrm>
              <a:off x="1104" y="1344"/>
              <a:ext cx="169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zh-TW" sz="1200" b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2</a:t>
              </a:r>
            </a:p>
          </p:txBody>
        </p:sp>
        <p:sp>
          <p:nvSpPr>
            <p:cNvPr id="30" name="Text Box 23"/>
            <p:cNvSpPr txBox="1">
              <a:spLocks noChangeArrowheads="1"/>
            </p:cNvSpPr>
            <p:nvPr/>
          </p:nvSpPr>
          <p:spPr bwMode="auto">
            <a:xfrm>
              <a:off x="1152" y="864"/>
              <a:ext cx="719" cy="198"/>
            </a:xfrm>
            <a:prstGeom prst="rect">
              <a:avLst/>
            </a:prstGeom>
            <a:noFill/>
            <a:ln w="9525">
              <a:solidFill>
                <a:srgbClr val="9933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zh-TW" sz="1400" b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[B,C,D,A,E]</a:t>
              </a:r>
            </a:p>
          </p:txBody>
        </p:sp>
      </p:grpSp>
      <p:grpSp>
        <p:nvGrpSpPr>
          <p:cNvPr id="31" name="Group 24"/>
          <p:cNvGrpSpPr>
            <a:grpSpLocks/>
          </p:cNvGrpSpPr>
          <p:nvPr/>
        </p:nvGrpSpPr>
        <p:grpSpPr bwMode="auto">
          <a:xfrm>
            <a:off x="4603951" y="2910120"/>
            <a:ext cx="1377950" cy="1323975"/>
            <a:chOff x="1003" y="864"/>
            <a:chExt cx="868" cy="834"/>
          </a:xfrm>
        </p:grpSpPr>
        <p:pic>
          <p:nvPicPr>
            <p:cNvPr id="32" name="Picture 25" descr="oneant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3" y="998"/>
              <a:ext cx="484" cy="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3" name="Text Box 26"/>
            <p:cNvSpPr txBox="1">
              <a:spLocks noChangeArrowheads="1"/>
            </p:cNvSpPr>
            <p:nvPr/>
          </p:nvSpPr>
          <p:spPr bwMode="auto">
            <a:xfrm>
              <a:off x="1056" y="912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endParaRPr lang="zh-TW" altLang="en-US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endParaRPr>
            </a:p>
          </p:txBody>
        </p:sp>
        <p:sp>
          <p:nvSpPr>
            <p:cNvPr id="34" name="Text Box 27"/>
            <p:cNvSpPr txBox="1">
              <a:spLocks noChangeArrowheads="1"/>
            </p:cNvSpPr>
            <p:nvPr/>
          </p:nvSpPr>
          <p:spPr bwMode="auto">
            <a:xfrm>
              <a:off x="1104" y="1344"/>
              <a:ext cx="169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zh-TW" sz="1200" b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3</a:t>
              </a:r>
            </a:p>
          </p:txBody>
        </p:sp>
        <p:sp>
          <p:nvSpPr>
            <p:cNvPr id="35" name="Text Box 28"/>
            <p:cNvSpPr txBox="1">
              <a:spLocks noChangeArrowheads="1"/>
            </p:cNvSpPr>
            <p:nvPr/>
          </p:nvSpPr>
          <p:spPr bwMode="auto">
            <a:xfrm>
              <a:off x="1152" y="864"/>
              <a:ext cx="719" cy="198"/>
            </a:xfrm>
            <a:prstGeom prst="rect">
              <a:avLst/>
            </a:prstGeom>
            <a:noFill/>
            <a:ln w="9525">
              <a:solidFill>
                <a:srgbClr val="9933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zh-TW" sz="1400" b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[C,B,E,D,A]</a:t>
              </a:r>
            </a:p>
          </p:txBody>
        </p:sp>
      </p:grpSp>
      <p:grpSp>
        <p:nvGrpSpPr>
          <p:cNvPr id="36" name="Group 29"/>
          <p:cNvGrpSpPr>
            <a:grpSpLocks/>
          </p:cNvGrpSpPr>
          <p:nvPr/>
        </p:nvGrpSpPr>
        <p:grpSpPr bwMode="auto">
          <a:xfrm>
            <a:off x="2340176" y="3824520"/>
            <a:ext cx="1431925" cy="1435100"/>
            <a:chOff x="969" y="864"/>
            <a:chExt cx="902" cy="904"/>
          </a:xfrm>
        </p:grpSpPr>
        <p:pic>
          <p:nvPicPr>
            <p:cNvPr id="37" name="Picture 30" descr="oneant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9" y="1068"/>
              <a:ext cx="484" cy="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" name="Text Box 31"/>
            <p:cNvSpPr txBox="1">
              <a:spLocks noChangeArrowheads="1"/>
            </p:cNvSpPr>
            <p:nvPr/>
          </p:nvSpPr>
          <p:spPr bwMode="auto">
            <a:xfrm>
              <a:off x="1056" y="912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endParaRPr lang="zh-TW" altLang="en-US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endParaRPr>
            </a:p>
          </p:txBody>
        </p:sp>
        <p:sp>
          <p:nvSpPr>
            <p:cNvPr id="39" name="Text Box 32"/>
            <p:cNvSpPr txBox="1">
              <a:spLocks noChangeArrowheads="1"/>
            </p:cNvSpPr>
            <p:nvPr/>
          </p:nvSpPr>
          <p:spPr bwMode="auto">
            <a:xfrm>
              <a:off x="1104" y="1344"/>
              <a:ext cx="169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zh-TW" sz="1200" b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4</a:t>
              </a:r>
            </a:p>
          </p:txBody>
        </p:sp>
        <p:sp>
          <p:nvSpPr>
            <p:cNvPr id="40" name="Text Box 33"/>
            <p:cNvSpPr txBox="1">
              <a:spLocks noChangeArrowheads="1"/>
            </p:cNvSpPr>
            <p:nvPr/>
          </p:nvSpPr>
          <p:spPr bwMode="auto">
            <a:xfrm>
              <a:off x="1152" y="864"/>
              <a:ext cx="719" cy="198"/>
            </a:xfrm>
            <a:prstGeom prst="rect">
              <a:avLst/>
            </a:prstGeom>
            <a:noFill/>
            <a:ln w="9525">
              <a:solidFill>
                <a:srgbClr val="9933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5pPr>
              <a:lvl6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6pPr>
              <a:lvl7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7pPr>
              <a:lvl8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8pPr>
              <a:lvl9pPr fontAlgn="base">
                <a:lnSpc>
                  <a:spcPct val="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zh-TW" sz="1400" b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[D,E,A,B,C]</a:t>
              </a:r>
            </a:p>
          </p:txBody>
        </p:sp>
      </p:grpSp>
      <p:graphicFrame>
        <p:nvGraphicFramePr>
          <p:cNvPr id="41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3205192"/>
              </p:ext>
            </p:extLst>
          </p:nvPr>
        </p:nvGraphicFramePr>
        <p:xfrm>
          <a:off x="2021088" y="3138720"/>
          <a:ext cx="7631113" cy="72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806700" imgH="241300" progId="Equation.3">
                  <p:embed/>
                </p:oleObj>
              </mc:Choice>
              <mc:Fallback>
                <p:oleObj name="Equation" r:id="rId6" imgW="2806700" imgH="241300" progId="Equation.3">
                  <p:embed/>
                  <p:pic>
                    <p:nvPicPr>
                      <p:cNvPr id="41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1088" y="3138720"/>
                        <a:ext cx="7631113" cy="722313"/>
                      </a:xfrm>
                      <a:prstGeom prst="rect">
                        <a:avLst/>
                      </a:prstGeom>
                      <a:solidFill>
                        <a:srgbClr val="6767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2" name="Picture 4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30552" y="5791201"/>
            <a:ext cx="932129" cy="639174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55038" y="5938338"/>
            <a:ext cx="932129" cy="639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38978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0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868 0.01111 L 1.11119 0.02199 L 1.10742 0.22315 L -0.02683 0.17338 L -0.02513 -0.00393 L -0.02513 -2.22222E-6 " pathEditMode="relative" rAng="0" ptsTypes="AAAAAA">
                                      <p:cBhvr>
                                        <p:cTn id="18" dur="25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487" y="9838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repeatCount="indefinite" accel="50000" decel="50000" fill="hold" nodeType="withEffect">
                                  <p:stCondLst>
                                    <p:cond delay="110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0.02188 -1.11022E-16 L 1.15052 0.00995 L 1.14661 0.19444 L -0.00977 0.14884 L -0.00807 -0.01389 L -0.00807 -0.01042 " pathEditMode="relative" rAng="0" ptsTypes="AAAAAA">
                                      <p:cBhvr>
                                        <p:cTn id="20" dur="25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620" y="902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28688"/>
            <a:ext cx="10515600" cy="5595937"/>
          </a:xfrm>
        </p:spPr>
        <p:txBody>
          <a:bodyPr rtlCol="0">
            <a:normAutofit fontScale="92500" lnSpcReduction="20000"/>
          </a:bodyPr>
          <a:lstStyle/>
          <a:p>
            <a:pPr lvl="1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Traveling Salesman Problem (TSP)</a:t>
            </a:r>
          </a:p>
          <a:p>
            <a:pPr lvl="1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 Scheduling Problem (CSP)</a:t>
            </a:r>
          </a:p>
          <a:p>
            <a:pPr lvl="1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 Optimization </a:t>
            </a:r>
          </a:p>
          <a:p>
            <a:pPr lvl="1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Vehicle Routing</a:t>
            </a:r>
          </a:p>
          <a:p>
            <a:pPr lvl="1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Sequential Ordering</a:t>
            </a:r>
          </a:p>
          <a:p>
            <a:pPr lvl="1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Graph Coloring</a:t>
            </a:r>
          </a:p>
          <a:p>
            <a:pPr lvl="1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Frequency Assignment</a:t>
            </a:r>
          </a:p>
          <a:p>
            <a:pPr lvl="1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Train Time Scheduling</a:t>
            </a:r>
          </a:p>
          <a:p>
            <a:pPr lvl="1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en-US" altLang="zh-TW" dirty="0">
                <a:latin typeface="Arial" panose="020B0604020202020204" pitchFamily="34" charset="0"/>
                <a:cs typeface="Arial" panose="020B0604020202020204" pitchFamily="34" charset="0"/>
              </a:rPr>
              <a:t>Water Distribution Network</a:t>
            </a:r>
          </a:p>
          <a:p>
            <a:pPr lvl="1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Quadratic assignment problems (QAP)</a:t>
            </a:r>
          </a:p>
          <a:p>
            <a:pPr lvl="1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Dynamic routing problems in networks and </a:t>
            </a:r>
            <a:r>
              <a:rPr lang="en-US" dirty="0">
                <a:solidFill>
                  <a:srgbClr val="99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 on…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3" name="标题 1"/>
          <p:cNvSpPr>
            <a:spLocks noGrp="1"/>
          </p:cNvSpPr>
          <p:nvPr>
            <p:ph type="title"/>
          </p:nvPr>
        </p:nvSpPr>
        <p:spPr>
          <a:xfrm>
            <a:off x="0" y="-3175"/>
            <a:ext cx="12192000" cy="808038"/>
          </a:xfrm>
          <a:solidFill>
            <a:srgbClr val="0070C0"/>
          </a:solidFill>
        </p:spPr>
        <p:txBody>
          <a:bodyPr/>
          <a:lstStyle/>
          <a:p>
            <a:pPr algn="ctr">
              <a:defRPr/>
            </a:pPr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of ACO</a:t>
            </a:r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12"/>
          </p:nvPr>
        </p:nvSpPr>
        <p:spPr bwMode="auto">
          <a:xfrm>
            <a:off x="8075613" y="6524625"/>
            <a:ext cx="4116387" cy="196850"/>
          </a:xfrm>
          <a:solidFill>
            <a:srgbClr val="0070C0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Md. Forhad Hossain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21150" y="6524625"/>
            <a:ext cx="3954463" cy="196850"/>
          </a:xfrm>
          <a:solidFill>
            <a:schemeClr val="accent1">
              <a:lumMod val="75000"/>
            </a:schemeClr>
          </a:solidFill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B. M. Junaed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6" name="日期占位符 5"/>
          <p:cNvSpPr>
            <a:spLocks noGrp="1"/>
          </p:cNvSpPr>
          <p:nvPr>
            <p:ph type="dt" sz="quarter" idx="10"/>
          </p:nvPr>
        </p:nvSpPr>
        <p:spPr bwMode="auto">
          <a:xfrm>
            <a:off x="0" y="6524625"/>
            <a:ext cx="4121150" cy="196850"/>
          </a:xfrm>
          <a:solidFill>
            <a:schemeClr val="accent1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 A. H. Akhand	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30552" y="5791201"/>
            <a:ext cx="932129" cy="63917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55038" y="5938338"/>
            <a:ext cx="932129" cy="639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92431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868 0.01111 L 1.11119 0.02199 L 1.10742 0.22315 L -0.02683 0.17338 L -0.02513 -0.00393 L -0.02513 -2.22222E-6 " pathEditMode="relative" rAng="0" ptsTypes="AAAAAA">
                                      <p:cBhvr>
                                        <p:cTn id="6" dur="2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487" y="983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repeatCount="indefinite" accel="50000" decel="50000" fill="hold" nodeType="withEffect">
                                  <p:stCondLst>
                                    <p:cond delay="110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0.02188 -1.11022E-16 L 1.15052 0.00995 L 1.14661 0.19444 L -0.00977 0.14884 L -0.00807 -0.01389 L -0.00807 -0.01042 " pathEditMode="relative" rAng="0" ptsTypes="AAAAAA">
                                      <p:cBhvr>
                                        <p:cTn id="8" dur="25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620" y="902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Box 2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defTabSz="914400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en-US" sz="2800" b="1" dirty="0">
              <a:solidFill>
                <a:srgbClr val="FF0066"/>
              </a:solidFill>
              <a:latin typeface="Arial" charset="0"/>
            </a:endParaRPr>
          </a:p>
        </p:txBody>
      </p:sp>
      <p:sp>
        <p:nvSpPr>
          <p:cNvPr id="36" name="Content Placeholder 2"/>
          <p:cNvSpPr>
            <a:spLocks noGrp="1"/>
          </p:cNvSpPr>
          <p:nvPr>
            <p:ph idx="1"/>
          </p:nvPr>
        </p:nvSpPr>
        <p:spPr>
          <a:xfrm>
            <a:off x="838200" y="922867"/>
            <a:ext cx="10515600" cy="52540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239000" y="6400800"/>
            <a:ext cx="1876425" cy="455613"/>
          </a:xfrm>
        </p:spPr>
        <p:txBody>
          <a:bodyPr/>
          <a:lstStyle/>
          <a:p>
            <a:pPr>
              <a:defRPr/>
            </a:pPr>
            <a:fld id="{E67CC693-A26B-48C4-BE81-F39C9CFCD137}" type="slidenum">
              <a:rPr lang="en-GB"/>
              <a:pPr>
                <a:defRPr/>
              </a:pPr>
              <a:t>33</a:t>
            </a:fld>
            <a:endParaRPr lang="en-GB"/>
          </a:p>
        </p:txBody>
      </p:sp>
      <p:sp>
        <p:nvSpPr>
          <p:cNvPr id="65" name="AutoShape 4"/>
          <p:cNvSpPr>
            <a:spLocks noChangeArrowheads="1"/>
          </p:cNvSpPr>
          <p:nvPr/>
        </p:nvSpPr>
        <p:spPr bwMode="auto">
          <a:xfrm>
            <a:off x="3352800" y="914400"/>
            <a:ext cx="3124200" cy="228600"/>
          </a:xfrm>
          <a:prstGeom prst="flowChartProcess">
            <a:avLst/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defTabSz="914400">
              <a:lnSpc>
                <a:spcPct val="100000"/>
              </a:lnSpc>
              <a:buClrTx/>
              <a:buSzTx/>
              <a:buFontTx/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49" charset="0"/>
              </a:rPr>
              <a:t>Initialize</a:t>
            </a:r>
            <a:endParaRPr lang="en-US" sz="1200" dirty="0">
              <a:solidFill>
                <a:schemeClr val="tx1"/>
              </a:solidFill>
              <a:latin typeface="Courier New" pitchFamily="49" charset="0"/>
            </a:endParaRPr>
          </a:p>
        </p:txBody>
      </p:sp>
      <p:sp>
        <p:nvSpPr>
          <p:cNvPr id="66" name="AutoShape 5"/>
          <p:cNvSpPr>
            <a:spLocks noChangeArrowheads="1"/>
          </p:cNvSpPr>
          <p:nvPr/>
        </p:nvSpPr>
        <p:spPr bwMode="auto">
          <a:xfrm>
            <a:off x="2362200" y="1524000"/>
            <a:ext cx="5181600" cy="457200"/>
          </a:xfrm>
          <a:prstGeom prst="flowChartAlternateProcess">
            <a:avLst/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defTabSz="914400">
              <a:lnSpc>
                <a:spcPct val="100000"/>
              </a:lnSpc>
              <a:buClrTx/>
              <a:buSzTx/>
              <a:buFontTx/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49" charset="0"/>
              </a:rPr>
              <a:t>Place each ant in a randomly chosen city</a:t>
            </a:r>
          </a:p>
        </p:txBody>
      </p:sp>
      <p:sp>
        <p:nvSpPr>
          <p:cNvPr id="67" name="AutoShape 6"/>
          <p:cNvSpPr>
            <a:spLocks noChangeArrowheads="1"/>
          </p:cNvSpPr>
          <p:nvPr/>
        </p:nvSpPr>
        <p:spPr bwMode="auto">
          <a:xfrm>
            <a:off x="2895600" y="2895600"/>
            <a:ext cx="3886200" cy="381000"/>
          </a:xfrm>
          <a:prstGeom prst="flowChartAlternateProcess">
            <a:avLst/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defTabSz="914400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sz="1400">
                <a:solidFill>
                  <a:schemeClr val="tx1"/>
                </a:solidFill>
                <a:latin typeface="Courier New" pitchFamily="49" charset="0"/>
              </a:rPr>
              <a:t>Choose NextCity(For Each Ant)</a:t>
            </a:r>
          </a:p>
        </p:txBody>
      </p:sp>
      <p:sp>
        <p:nvSpPr>
          <p:cNvPr id="68" name="AutoShape 7"/>
          <p:cNvSpPr>
            <a:spLocks noChangeArrowheads="1"/>
          </p:cNvSpPr>
          <p:nvPr/>
        </p:nvSpPr>
        <p:spPr bwMode="auto">
          <a:xfrm>
            <a:off x="3429000" y="3581400"/>
            <a:ext cx="2895600" cy="609600"/>
          </a:xfrm>
          <a:prstGeom prst="flowChartDecision">
            <a:avLst/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defTabSz="914400">
              <a:lnSpc>
                <a:spcPct val="100000"/>
              </a:lnSpc>
              <a:buClrTx/>
              <a:buSzTx/>
              <a:buFontTx/>
              <a:buNone/>
            </a:pPr>
            <a:r>
              <a:rPr lang="en-US" sz="1400">
                <a:solidFill>
                  <a:schemeClr val="tx1"/>
                </a:solidFill>
                <a:latin typeface="Courier New" pitchFamily="49" charset="0"/>
              </a:rPr>
              <a:t>more cities</a:t>
            </a:r>
          </a:p>
          <a:p>
            <a:pPr algn="ctr" defTabSz="914400">
              <a:lnSpc>
                <a:spcPct val="100000"/>
              </a:lnSpc>
              <a:buClrTx/>
              <a:buSzTx/>
              <a:buFontTx/>
              <a:buNone/>
            </a:pPr>
            <a:r>
              <a:rPr lang="en-US" sz="1400">
                <a:solidFill>
                  <a:schemeClr val="tx1"/>
                </a:solidFill>
                <a:latin typeface="Courier New" pitchFamily="49" charset="0"/>
              </a:rPr>
              <a:t> to visit</a:t>
            </a:r>
          </a:p>
        </p:txBody>
      </p:sp>
      <p:sp>
        <p:nvSpPr>
          <p:cNvPr id="69" name="AutoShape 8"/>
          <p:cNvSpPr>
            <a:spLocks noChangeArrowheads="1"/>
          </p:cNvSpPr>
          <p:nvPr/>
        </p:nvSpPr>
        <p:spPr bwMode="auto">
          <a:xfrm>
            <a:off x="3886200" y="2438400"/>
            <a:ext cx="1981200" cy="457200"/>
          </a:xfrm>
          <a:prstGeom prst="downArrowCallout">
            <a:avLst>
              <a:gd name="adj1" fmla="val 108333"/>
              <a:gd name="adj2" fmla="val 108333"/>
              <a:gd name="adj3" fmla="val 16667"/>
              <a:gd name="adj4" fmla="val 66667"/>
            </a:avLst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defTabSz="914400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sz="1400">
                <a:solidFill>
                  <a:schemeClr val="tx1"/>
                </a:solidFill>
                <a:latin typeface="Courier New" pitchFamily="49" charset="0"/>
              </a:rPr>
              <a:t>For Each Ant</a:t>
            </a:r>
            <a:endParaRPr lang="en-US" sz="14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70" name="AutoShape 9"/>
          <p:cNvSpPr>
            <a:spLocks noChangeArrowheads="1"/>
          </p:cNvSpPr>
          <p:nvPr/>
        </p:nvSpPr>
        <p:spPr bwMode="auto">
          <a:xfrm>
            <a:off x="3352800" y="4572000"/>
            <a:ext cx="3048000" cy="228600"/>
          </a:xfrm>
          <a:prstGeom prst="roundRect">
            <a:avLst>
              <a:gd name="adj" fmla="val 16667"/>
            </a:avLst>
          </a:prstGeom>
          <a:solidFill>
            <a:srgbClr val="3366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defTabSz="914400">
              <a:lnSpc>
                <a:spcPct val="100000"/>
              </a:lnSpc>
              <a:buClrTx/>
              <a:buSzTx/>
              <a:buFontTx/>
              <a:buNone/>
            </a:pPr>
            <a:r>
              <a:rPr lang="en-US" sz="1400">
                <a:solidFill>
                  <a:schemeClr val="tx1"/>
                </a:solidFill>
                <a:latin typeface="Courier New" pitchFamily="49" charset="0"/>
              </a:rPr>
              <a:t>Return to the initial cities</a:t>
            </a:r>
          </a:p>
        </p:txBody>
      </p:sp>
      <p:sp>
        <p:nvSpPr>
          <p:cNvPr id="71" name="AutoShape 10"/>
          <p:cNvSpPr>
            <a:spLocks noChangeArrowheads="1"/>
          </p:cNvSpPr>
          <p:nvPr/>
        </p:nvSpPr>
        <p:spPr bwMode="auto">
          <a:xfrm>
            <a:off x="1905000" y="5105400"/>
            <a:ext cx="6019800" cy="228600"/>
          </a:xfrm>
          <a:prstGeom prst="flowChartAlternateProcess">
            <a:avLst/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defTabSz="914400">
              <a:lnSpc>
                <a:spcPct val="100000"/>
              </a:lnSpc>
              <a:buClrTx/>
              <a:buSzTx/>
              <a:buFontTx/>
              <a:buNone/>
            </a:pPr>
            <a:r>
              <a:rPr lang="en-US" sz="1400">
                <a:solidFill>
                  <a:schemeClr val="tx1"/>
                </a:solidFill>
                <a:latin typeface="Courier New" pitchFamily="49" charset="0"/>
              </a:rPr>
              <a:t>Update pheromone level using the tour cost for each ant</a:t>
            </a:r>
            <a:r>
              <a:rPr lang="en-US" sz="1600">
                <a:solidFill>
                  <a:schemeClr val="tx1"/>
                </a:solidFill>
                <a:latin typeface="Courier New" pitchFamily="49" charset="0"/>
              </a:rPr>
              <a:t> </a:t>
            </a:r>
          </a:p>
        </p:txBody>
      </p:sp>
      <p:sp>
        <p:nvSpPr>
          <p:cNvPr id="72" name="AutoShape 11"/>
          <p:cNvSpPr>
            <a:spLocks noChangeArrowheads="1"/>
          </p:cNvSpPr>
          <p:nvPr/>
        </p:nvSpPr>
        <p:spPr bwMode="auto">
          <a:xfrm>
            <a:off x="3818464" y="6443134"/>
            <a:ext cx="2133600" cy="228600"/>
          </a:xfrm>
          <a:prstGeom prst="bevel">
            <a:avLst>
              <a:gd name="adj" fmla="val 12500"/>
            </a:avLst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defTabSz="914400">
              <a:lnSpc>
                <a:spcPct val="100000"/>
              </a:lnSpc>
              <a:buClrTx/>
              <a:buSzTx/>
              <a:buFontTx/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49" charset="0"/>
              </a:rPr>
              <a:t>Print Best tour</a:t>
            </a:r>
          </a:p>
        </p:txBody>
      </p:sp>
      <p:sp>
        <p:nvSpPr>
          <p:cNvPr id="73" name="Line 12"/>
          <p:cNvSpPr>
            <a:spLocks noChangeShapeType="1"/>
          </p:cNvSpPr>
          <p:nvPr/>
        </p:nvSpPr>
        <p:spPr bwMode="auto">
          <a:xfrm>
            <a:off x="4800600" y="11430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4" name="Line 13"/>
          <p:cNvSpPr>
            <a:spLocks noChangeShapeType="1"/>
          </p:cNvSpPr>
          <p:nvPr/>
        </p:nvSpPr>
        <p:spPr bwMode="auto">
          <a:xfrm>
            <a:off x="4800600" y="1981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5" name="Line 14"/>
          <p:cNvSpPr>
            <a:spLocks noChangeShapeType="1"/>
          </p:cNvSpPr>
          <p:nvPr/>
        </p:nvSpPr>
        <p:spPr bwMode="auto">
          <a:xfrm>
            <a:off x="4876800" y="3276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6" name="Line 15"/>
          <p:cNvSpPr>
            <a:spLocks noChangeShapeType="1"/>
          </p:cNvSpPr>
          <p:nvPr/>
        </p:nvSpPr>
        <p:spPr bwMode="auto">
          <a:xfrm>
            <a:off x="4876800" y="41910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7" name="Line 16"/>
          <p:cNvSpPr>
            <a:spLocks noChangeShapeType="1"/>
          </p:cNvSpPr>
          <p:nvPr/>
        </p:nvSpPr>
        <p:spPr bwMode="auto">
          <a:xfrm>
            <a:off x="4876800" y="4800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8" name="Line 17"/>
          <p:cNvSpPr>
            <a:spLocks noChangeShapeType="1"/>
          </p:cNvSpPr>
          <p:nvPr/>
        </p:nvSpPr>
        <p:spPr bwMode="auto">
          <a:xfrm>
            <a:off x="4876800" y="60960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9" name="Line 18"/>
          <p:cNvSpPr>
            <a:spLocks noChangeShapeType="1"/>
          </p:cNvSpPr>
          <p:nvPr/>
        </p:nvSpPr>
        <p:spPr bwMode="auto">
          <a:xfrm flipH="1">
            <a:off x="2286000" y="38862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0" name="Line 19"/>
          <p:cNvSpPr>
            <a:spLocks noChangeShapeType="1"/>
          </p:cNvSpPr>
          <p:nvPr/>
        </p:nvSpPr>
        <p:spPr bwMode="auto">
          <a:xfrm flipV="1">
            <a:off x="2286000" y="22860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1" name="Line 20"/>
          <p:cNvSpPr>
            <a:spLocks noChangeShapeType="1"/>
          </p:cNvSpPr>
          <p:nvPr/>
        </p:nvSpPr>
        <p:spPr bwMode="auto">
          <a:xfrm>
            <a:off x="2286000" y="2286000"/>
            <a:ext cx="2514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2" name="Text Box 21"/>
          <p:cNvSpPr txBox="1">
            <a:spLocks noChangeArrowheads="1"/>
          </p:cNvSpPr>
          <p:nvPr/>
        </p:nvSpPr>
        <p:spPr bwMode="auto">
          <a:xfrm>
            <a:off x="2943225" y="3657600"/>
            <a:ext cx="361950" cy="2286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defTabSz="914400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sz="900">
                <a:solidFill>
                  <a:schemeClr val="tx1"/>
                </a:solidFill>
                <a:latin typeface="Arial" charset="0"/>
              </a:rPr>
              <a:t>yes</a:t>
            </a:r>
            <a:endParaRPr lang="en-US" sz="18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3" name="Text Box 22"/>
          <p:cNvSpPr txBox="1">
            <a:spLocks noChangeArrowheads="1"/>
          </p:cNvSpPr>
          <p:nvPr/>
        </p:nvSpPr>
        <p:spPr bwMode="auto">
          <a:xfrm>
            <a:off x="4900613" y="4267200"/>
            <a:ext cx="330200" cy="2286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defTabSz="914400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sz="900">
                <a:solidFill>
                  <a:schemeClr val="tx1"/>
                </a:solidFill>
                <a:latin typeface="Arial" charset="0"/>
              </a:rPr>
              <a:t>No</a:t>
            </a:r>
          </a:p>
        </p:txBody>
      </p:sp>
      <p:sp>
        <p:nvSpPr>
          <p:cNvPr id="84" name="Line 23"/>
          <p:cNvSpPr>
            <a:spLocks noChangeShapeType="1"/>
          </p:cNvSpPr>
          <p:nvPr/>
        </p:nvSpPr>
        <p:spPr bwMode="auto">
          <a:xfrm>
            <a:off x="4876800" y="5334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5" name="AutoShape 24"/>
          <p:cNvSpPr>
            <a:spLocks noChangeArrowheads="1"/>
          </p:cNvSpPr>
          <p:nvPr/>
        </p:nvSpPr>
        <p:spPr bwMode="auto">
          <a:xfrm>
            <a:off x="3886200" y="5715000"/>
            <a:ext cx="1981200" cy="457200"/>
          </a:xfrm>
          <a:prstGeom prst="flowChartDecision">
            <a:avLst/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defTabSz="914400">
              <a:lnSpc>
                <a:spcPct val="100000"/>
              </a:lnSpc>
              <a:buClrTx/>
              <a:buSzTx/>
              <a:buFontTx/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49" charset="0"/>
              </a:rPr>
              <a:t>Stopping</a:t>
            </a:r>
          </a:p>
          <a:p>
            <a:pPr algn="ctr" defTabSz="914400">
              <a:lnSpc>
                <a:spcPct val="100000"/>
              </a:lnSpc>
              <a:buClrTx/>
              <a:buSzTx/>
              <a:buFontTx/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49" charset="0"/>
              </a:rPr>
              <a:t>criteria</a:t>
            </a:r>
            <a:r>
              <a:rPr lang="en-US" sz="1200" dirty="0">
                <a:solidFill>
                  <a:schemeClr val="tx1"/>
                </a:solidFill>
                <a:latin typeface="Courier New" pitchFamily="49" charset="0"/>
              </a:rPr>
              <a:t> </a:t>
            </a:r>
          </a:p>
        </p:txBody>
      </p:sp>
      <p:sp>
        <p:nvSpPr>
          <p:cNvPr id="86" name="Line 25"/>
          <p:cNvSpPr>
            <a:spLocks noChangeShapeType="1"/>
          </p:cNvSpPr>
          <p:nvPr/>
        </p:nvSpPr>
        <p:spPr bwMode="auto">
          <a:xfrm flipH="1">
            <a:off x="1524000" y="5943600"/>
            <a:ext cx="2362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7" name="Line 26"/>
          <p:cNvSpPr>
            <a:spLocks noChangeShapeType="1"/>
          </p:cNvSpPr>
          <p:nvPr/>
        </p:nvSpPr>
        <p:spPr bwMode="auto">
          <a:xfrm flipV="1">
            <a:off x="1524000" y="2133600"/>
            <a:ext cx="0" cy="381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8" name="Line 27"/>
          <p:cNvSpPr>
            <a:spLocks noChangeShapeType="1"/>
          </p:cNvSpPr>
          <p:nvPr/>
        </p:nvSpPr>
        <p:spPr bwMode="auto">
          <a:xfrm>
            <a:off x="1524000" y="2133600"/>
            <a:ext cx="3276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9" name="Text Box 28"/>
          <p:cNvSpPr txBox="1">
            <a:spLocks noChangeArrowheads="1"/>
          </p:cNvSpPr>
          <p:nvPr/>
        </p:nvSpPr>
        <p:spPr bwMode="auto">
          <a:xfrm>
            <a:off x="4448175" y="6172200"/>
            <a:ext cx="361950" cy="2286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defTabSz="914400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sz="900">
                <a:solidFill>
                  <a:schemeClr val="tx1"/>
                </a:solidFill>
                <a:latin typeface="Arial" charset="0"/>
              </a:rPr>
              <a:t>yes</a:t>
            </a:r>
            <a:endParaRPr lang="en-US" sz="18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90" name="Text Box 29"/>
          <p:cNvSpPr txBox="1">
            <a:spLocks noChangeArrowheads="1"/>
          </p:cNvSpPr>
          <p:nvPr/>
        </p:nvSpPr>
        <p:spPr bwMode="auto">
          <a:xfrm>
            <a:off x="3071813" y="5638800"/>
            <a:ext cx="330200" cy="2286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defTabSz="914400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sz="900">
                <a:solidFill>
                  <a:schemeClr val="tx1"/>
                </a:solidFill>
                <a:latin typeface="Arial" charset="0"/>
              </a:rPr>
              <a:t>No</a:t>
            </a:r>
          </a:p>
        </p:txBody>
      </p:sp>
      <p:sp>
        <p:nvSpPr>
          <p:cNvPr id="91" name="标题 1"/>
          <p:cNvSpPr txBox="1">
            <a:spLocks/>
          </p:cNvSpPr>
          <p:nvPr/>
        </p:nvSpPr>
        <p:spPr>
          <a:xfrm>
            <a:off x="0" y="-3175"/>
            <a:ext cx="11413067" cy="866775"/>
          </a:xfrm>
          <a:prstGeom prst="rect">
            <a:avLst/>
          </a:prstGeom>
          <a:solidFill>
            <a:srgbClr val="0070C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lvl="0" algn="ctr" defTabSz="914400">
              <a:spcBef>
                <a:spcPct val="0"/>
              </a:spcBef>
              <a:defRPr/>
            </a:pPr>
            <a:r>
              <a:rPr lang="en-US" sz="4000" b="1" dirty="0">
                <a:solidFill>
                  <a:schemeClr val="bg1"/>
                </a:solidFill>
                <a:latin typeface="Arial" charset="0"/>
              </a:rPr>
              <a:t>Ant Systems Algorithm for TSP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78"/>
          <p:cNvSpPr>
            <a:spLocks noChangeArrowheads="1"/>
          </p:cNvSpPr>
          <p:nvPr/>
        </p:nvSpPr>
        <p:spPr bwMode="auto">
          <a:xfrm>
            <a:off x="4102100" y="4508500"/>
            <a:ext cx="3709988" cy="1944688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defTabSz="914400" rtl="1">
              <a:lnSpc>
                <a:spcPct val="100000"/>
              </a:lnSpc>
              <a:buClrTx/>
              <a:buSzTx/>
              <a:buFontTx/>
              <a:buNone/>
            </a:pPr>
            <a:endParaRPr lang="en-US" sz="3200">
              <a:solidFill>
                <a:srgbClr val="FF0000"/>
              </a:solidFill>
              <a:cs typeface="Times New Roman" pitchFamily="18" charset="0"/>
            </a:endParaRPr>
          </a:p>
        </p:txBody>
      </p:sp>
      <p:sp>
        <p:nvSpPr>
          <p:cNvPr id="5" name="Rectangle 77"/>
          <p:cNvSpPr>
            <a:spLocks noChangeArrowheads="1"/>
          </p:cNvSpPr>
          <p:nvPr/>
        </p:nvSpPr>
        <p:spPr bwMode="auto">
          <a:xfrm>
            <a:off x="395288" y="1773238"/>
            <a:ext cx="4752975" cy="4679950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 defTabSz="914400" rtl="1">
              <a:lnSpc>
                <a:spcPct val="100000"/>
              </a:lnSpc>
              <a:buClrTx/>
              <a:buSzTx/>
              <a:buFontTx/>
              <a:buNone/>
            </a:pPr>
            <a:endParaRPr lang="en-US" sz="3200">
              <a:solidFill>
                <a:srgbClr val="FF0000"/>
              </a:solidFill>
              <a:cs typeface="Times New Roman" pitchFamily="18" charset="0"/>
            </a:endParaRPr>
          </a:p>
        </p:txBody>
      </p:sp>
      <p:sp>
        <p:nvSpPr>
          <p:cNvPr id="6" name="Rectangle 80"/>
          <p:cNvSpPr>
            <a:spLocks noChangeArrowheads="1"/>
          </p:cNvSpPr>
          <p:nvPr/>
        </p:nvSpPr>
        <p:spPr bwMode="auto">
          <a:xfrm>
            <a:off x="5003800" y="4530725"/>
            <a:ext cx="360363" cy="1908175"/>
          </a:xfrm>
          <a:prstGeom prst="rect">
            <a:avLst/>
          </a:prstGeom>
          <a:solidFill>
            <a:schemeClr val="hlink"/>
          </a:solidFill>
          <a:ln w="28575">
            <a:noFill/>
            <a:miter lim="800000"/>
            <a:headEnd/>
            <a:tailEnd/>
          </a:ln>
        </p:spPr>
        <p:txBody>
          <a:bodyPr anchor="ctr"/>
          <a:lstStyle/>
          <a:p>
            <a:pPr defTabSz="914400" rtl="1">
              <a:lnSpc>
                <a:spcPct val="100000"/>
              </a:lnSpc>
              <a:buClrTx/>
              <a:buSzTx/>
              <a:buFontTx/>
              <a:buNone/>
            </a:pPr>
            <a:endParaRPr lang="en-US" sz="3200">
              <a:solidFill>
                <a:srgbClr val="FF0000"/>
              </a:solidFill>
              <a:cs typeface="Times New Roman" pitchFamily="18" charset="0"/>
            </a:endParaRPr>
          </a:p>
        </p:txBody>
      </p:sp>
      <p:sp>
        <p:nvSpPr>
          <p:cNvPr id="7" name="AutoShape 39"/>
          <p:cNvSpPr>
            <a:spLocks noChangeArrowheads="1"/>
          </p:cNvSpPr>
          <p:nvPr/>
        </p:nvSpPr>
        <p:spPr bwMode="auto">
          <a:xfrm>
            <a:off x="3352800" y="4495800"/>
            <a:ext cx="1676400" cy="1447800"/>
          </a:xfrm>
          <a:prstGeom prst="flowChartDecision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defTabSz="914400">
              <a:lnSpc>
                <a:spcPct val="100000"/>
              </a:lnSpc>
              <a:buClrTx/>
              <a:buSzTx/>
              <a:buFontTx/>
              <a:buNone/>
            </a:pPr>
            <a:r>
              <a:rPr lang="en-US" sz="160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Have all </a:t>
            </a:r>
          </a:p>
          <a:p>
            <a:pPr algn="ctr" defTabSz="914400">
              <a:lnSpc>
                <a:spcPct val="100000"/>
              </a:lnSpc>
              <a:buClrTx/>
              <a:buSzTx/>
              <a:buFontTx/>
              <a:buNone/>
            </a:pPr>
            <a:r>
              <a:rPr lang="en-US" sz="160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 cities been </a:t>
            </a:r>
          </a:p>
          <a:p>
            <a:pPr algn="ctr" defTabSz="914400">
              <a:lnSpc>
                <a:spcPct val="100000"/>
              </a:lnSpc>
              <a:buClrTx/>
              <a:buSzTx/>
              <a:buFontTx/>
              <a:buNone/>
            </a:pPr>
            <a:r>
              <a:rPr lang="en-US" sz="160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 visited?</a:t>
            </a:r>
          </a:p>
        </p:txBody>
      </p:sp>
      <p:sp>
        <p:nvSpPr>
          <p:cNvPr id="8" name="AutoShape 40"/>
          <p:cNvSpPr>
            <a:spLocks noChangeArrowheads="1"/>
          </p:cNvSpPr>
          <p:nvPr/>
        </p:nvSpPr>
        <p:spPr bwMode="auto">
          <a:xfrm>
            <a:off x="5364163" y="1828800"/>
            <a:ext cx="2376487" cy="1447800"/>
          </a:xfrm>
          <a:prstGeom prst="flowChartDecision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defTabSz="914400">
              <a:lnSpc>
                <a:spcPct val="100000"/>
              </a:lnSpc>
              <a:buClrTx/>
              <a:buSzTx/>
              <a:buFontTx/>
              <a:buNone/>
            </a:pPr>
            <a:r>
              <a:rPr lang="en-US" sz="160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Have </a:t>
            </a:r>
            <a:r>
              <a:rPr lang="en-US" sz="1600" i="1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K</a:t>
            </a:r>
          </a:p>
          <a:p>
            <a:pPr algn="ctr" defTabSz="914400">
              <a:lnSpc>
                <a:spcPct val="100000"/>
              </a:lnSpc>
              <a:buClrTx/>
              <a:buSzTx/>
              <a:buFontTx/>
              <a:buNone/>
            </a:pPr>
            <a:r>
              <a:rPr lang="en-US" sz="160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Iterations been </a:t>
            </a:r>
          </a:p>
          <a:p>
            <a:pPr algn="ctr" defTabSz="914400">
              <a:lnSpc>
                <a:spcPct val="100000"/>
              </a:lnSpc>
              <a:buClrTx/>
              <a:buSzTx/>
              <a:buFontTx/>
              <a:buNone/>
            </a:pPr>
            <a:r>
              <a:rPr lang="en-US" sz="160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 performed?</a:t>
            </a:r>
          </a:p>
        </p:txBody>
      </p:sp>
      <p:grpSp>
        <p:nvGrpSpPr>
          <p:cNvPr id="9" name="Group 41"/>
          <p:cNvGrpSpPr>
            <a:grpSpLocks/>
          </p:cNvGrpSpPr>
          <p:nvPr/>
        </p:nvGrpSpPr>
        <p:grpSpPr bwMode="auto">
          <a:xfrm>
            <a:off x="914400" y="1143000"/>
            <a:ext cx="1600200" cy="762000"/>
            <a:chOff x="576" y="720"/>
            <a:chExt cx="1008" cy="480"/>
          </a:xfrm>
        </p:grpSpPr>
        <p:sp>
          <p:nvSpPr>
            <p:cNvPr id="10" name="AutoShape 42"/>
            <p:cNvSpPr>
              <a:spLocks noChangeArrowheads="1"/>
            </p:cNvSpPr>
            <p:nvPr/>
          </p:nvSpPr>
          <p:spPr bwMode="auto">
            <a:xfrm>
              <a:off x="576" y="720"/>
              <a:ext cx="1008" cy="336"/>
            </a:xfrm>
            <a:prstGeom prst="flowChartAlternateProcess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sz="1600" dirty="0">
                  <a:solidFill>
                    <a:schemeClr val="tx1"/>
                  </a:solidFill>
                  <a:latin typeface="Arial" charset="0"/>
                  <a:cs typeface="Times New Roman" pitchFamily="18" charset="0"/>
                </a:rPr>
                <a:t>START ACO</a:t>
              </a:r>
            </a:p>
          </p:txBody>
        </p:sp>
        <p:sp>
          <p:nvSpPr>
            <p:cNvPr id="11" name="Line 43"/>
            <p:cNvSpPr>
              <a:spLocks noChangeShapeType="1"/>
            </p:cNvSpPr>
            <p:nvPr/>
          </p:nvSpPr>
          <p:spPr bwMode="auto">
            <a:xfrm>
              <a:off x="1104" y="105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44"/>
          <p:cNvGrpSpPr>
            <a:grpSpLocks/>
          </p:cNvGrpSpPr>
          <p:nvPr/>
        </p:nvGrpSpPr>
        <p:grpSpPr bwMode="auto">
          <a:xfrm>
            <a:off x="685800" y="1905000"/>
            <a:ext cx="2133600" cy="1676400"/>
            <a:chOff x="432" y="1200"/>
            <a:chExt cx="1344" cy="1056"/>
          </a:xfrm>
        </p:grpSpPr>
        <p:sp>
          <p:nvSpPr>
            <p:cNvPr id="13" name="AutoShape 45"/>
            <p:cNvSpPr>
              <a:spLocks noChangeArrowheads="1"/>
            </p:cNvSpPr>
            <p:nvPr/>
          </p:nvSpPr>
          <p:spPr bwMode="auto">
            <a:xfrm>
              <a:off x="432" y="1200"/>
              <a:ext cx="1344" cy="864"/>
            </a:xfrm>
            <a:prstGeom prst="flowChartProcess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sz="1600">
                  <a:solidFill>
                    <a:schemeClr val="tx1"/>
                  </a:solidFill>
                  <a:latin typeface="Arial" charset="0"/>
                  <a:cs typeface="Times New Roman" pitchFamily="18" charset="0"/>
                </a:rPr>
                <a:t>Locate an ant </a:t>
              </a:r>
            </a:p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sz="1600">
                  <a:solidFill>
                    <a:schemeClr val="tx1"/>
                  </a:solidFill>
                  <a:latin typeface="Arial" charset="0"/>
                  <a:cs typeface="Times New Roman" pitchFamily="18" charset="0"/>
                </a:rPr>
                <a:t>randomly in a city, </a:t>
              </a:r>
            </a:p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sz="1600">
                  <a:solidFill>
                    <a:schemeClr val="tx1"/>
                  </a:solidFill>
                  <a:latin typeface="Arial" charset="0"/>
                  <a:cs typeface="Times New Roman" pitchFamily="18" charset="0"/>
                </a:rPr>
                <a:t>and store the </a:t>
              </a:r>
            </a:p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sz="1600">
                  <a:solidFill>
                    <a:schemeClr val="tx1"/>
                  </a:solidFill>
                  <a:latin typeface="Arial" charset="0"/>
                  <a:cs typeface="Times New Roman" pitchFamily="18" charset="0"/>
                </a:rPr>
                <a:t> current city </a:t>
              </a:r>
            </a:p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sz="1600">
                  <a:solidFill>
                    <a:schemeClr val="tx1"/>
                  </a:solidFill>
                  <a:latin typeface="Arial" charset="0"/>
                  <a:cs typeface="Times New Roman" pitchFamily="18" charset="0"/>
                </a:rPr>
                <a:t> in a tabu list</a:t>
              </a:r>
            </a:p>
          </p:txBody>
        </p:sp>
        <p:sp>
          <p:nvSpPr>
            <p:cNvPr id="14" name="Line 46"/>
            <p:cNvSpPr>
              <a:spLocks noChangeShapeType="1"/>
            </p:cNvSpPr>
            <p:nvPr/>
          </p:nvSpPr>
          <p:spPr bwMode="auto">
            <a:xfrm>
              <a:off x="1104" y="206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47"/>
          <p:cNvGrpSpPr>
            <a:grpSpLocks/>
          </p:cNvGrpSpPr>
          <p:nvPr/>
        </p:nvGrpSpPr>
        <p:grpSpPr bwMode="auto">
          <a:xfrm>
            <a:off x="457200" y="3581400"/>
            <a:ext cx="2667000" cy="1143000"/>
            <a:chOff x="288" y="2256"/>
            <a:chExt cx="1680" cy="720"/>
          </a:xfrm>
        </p:grpSpPr>
        <p:sp>
          <p:nvSpPr>
            <p:cNvPr id="16" name="AutoShape 48"/>
            <p:cNvSpPr>
              <a:spLocks noChangeArrowheads="1"/>
            </p:cNvSpPr>
            <p:nvPr/>
          </p:nvSpPr>
          <p:spPr bwMode="auto">
            <a:xfrm>
              <a:off x="288" y="2256"/>
              <a:ext cx="1680" cy="480"/>
            </a:xfrm>
            <a:prstGeom prst="flowChartProcess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sz="1600">
                  <a:solidFill>
                    <a:schemeClr val="tx1"/>
                  </a:solidFill>
                  <a:latin typeface="Arial" charset="0"/>
                  <a:cs typeface="Times New Roman" pitchFamily="18" charset="0"/>
                </a:rPr>
                <a:t>Determine probabilistically</a:t>
              </a:r>
            </a:p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sz="1600">
                  <a:solidFill>
                    <a:schemeClr val="tx1"/>
                  </a:solidFill>
                  <a:latin typeface="Arial" charset="0"/>
                  <a:cs typeface="Times New Roman" pitchFamily="18" charset="0"/>
                </a:rPr>
                <a:t> as to which city to visit next</a:t>
              </a:r>
            </a:p>
          </p:txBody>
        </p:sp>
        <p:sp>
          <p:nvSpPr>
            <p:cNvPr id="17" name="Line 49"/>
            <p:cNvSpPr>
              <a:spLocks noChangeShapeType="1"/>
            </p:cNvSpPr>
            <p:nvPr/>
          </p:nvSpPr>
          <p:spPr bwMode="auto">
            <a:xfrm>
              <a:off x="1104" y="273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50"/>
          <p:cNvGrpSpPr>
            <a:grpSpLocks/>
          </p:cNvGrpSpPr>
          <p:nvPr/>
        </p:nvGrpSpPr>
        <p:grpSpPr bwMode="auto">
          <a:xfrm>
            <a:off x="660400" y="4686300"/>
            <a:ext cx="2692400" cy="1066800"/>
            <a:chOff x="416" y="2952"/>
            <a:chExt cx="1696" cy="672"/>
          </a:xfrm>
        </p:grpSpPr>
        <p:sp>
          <p:nvSpPr>
            <p:cNvPr id="19" name="AutoShape 51"/>
            <p:cNvSpPr>
              <a:spLocks noChangeArrowheads="1"/>
            </p:cNvSpPr>
            <p:nvPr/>
          </p:nvSpPr>
          <p:spPr bwMode="auto">
            <a:xfrm>
              <a:off x="416" y="2952"/>
              <a:ext cx="1440" cy="672"/>
            </a:xfrm>
            <a:prstGeom prst="flowChartProcess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sz="1600">
                  <a:solidFill>
                    <a:schemeClr val="tx1"/>
                  </a:solidFill>
                  <a:latin typeface="Arial" charset="0"/>
                  <a:cs typeface="Times New Roman" pitchFamily="18" charset="0"/>
                </a:rPr>
                <a:t>Move to next city and</a:t>
              </a:r>
            </a:p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sz="1600">
                  <a:solidFill>
                    <a:schemeClr val="tx1"/>
                  </a:solidFill>
                  <a:latin typeface="Arial" charset="0"/>
                  <a:cs typeface="Times New Roman" pitchFamily="18" charset="0"/>
                </a:rPr>
                <a:t> place this city in the </a:t>
              </a:r>
            </a:p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sz="1600">
                  <a:solidFill>
                    <a:schemeClr val="tx1"/>
                  </a:solidFill>
                  <a:latin typeface="Arial" charset="0"/>
                  <a:cs typeface="Times New Roman" pitchFamily="18" charset="0"/>
                </a:rPr>
                <a:t> </a:t>
              </a:r>
              <a:r>
                <a:rPr lang="en-US" sz="1600" i="1">
                  <a:solidFill>
                    <a:schemeClr val="tx1"/>
                  </a:solidFill>
                  <a:latin typeface="Arial" charset="0"/>
                  <a:cs typeface="Times New Roman" pitchFamily="18" charset="0"/>
                </a:rPr>
                <a:t>tabu </a:t>
              </a:r>
              <a:r>
                <a:rPr lang="en-US" sz="1600">
                  <a:solidFill>
                    <a:schemeClr val="tx1"/>
                  </a:solidFill>
                  <a:latin typeface="Arial" charset="0"/>
                  <a:cs typeface="Times New Roman" pitchFamily="18" charset="0"/>
                </a:rPr>
                <a:t>list</a:t>
              </a:r>
            </a:p>
          </p:txBody>
        </p:sp>
        <p:sp>
          <p:nvSpPr>
            <p:cNvPr id="20" name="Line 52"/>
            <p:cNvSpPr>
              <a:spLocks noChangeShapeType="1"/>
            </p:cNvSpPr>
            <p:nvPr/>
          </p:nvSpPr>
          <p:spPr bwMode="auto">
            <a:xfrm>
              <a:off x="1872" y="328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53"/>
          <p:cNvGrpSpPr>
            <a:grpSpLocks/>
          </p:cNvGrpSpPr>
          <p:nvPr/>
        </p:nvGrpSpPr>
        <p:grpSpPr bwMode="auto">
          <a:xfrm>
            <a:off x="5540375" y="4343400"/>
            <a:ext cx="2057400" cy="1371600"/>
            <a:chOff x="3408" y="2736"/>
            <a:chExt cx="1296" cy="864"/>
          </a:xfrm>
        </p:grpSpPr>
        <p:sp>
          <p:nvSpPr>
            <p:cNvPr id="22" name="AutoShape 54"/>
            <p:cNvSpPr>
              <a:spLocks noChangeArrowheads="1"/>
            </p:cNvSpPr>
            <p:nvPr/>
          </p:nvSpPr>
          <p:spPr bwMode="auto">
            <a:xfrm>
              <a:off x="3408" y="2976"/>
              <a:ext cx="1296" cy="624"/>
            </a:xfrm>
            <a:prstGeom prst="flowChartProcess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sz="1600">
                  <a:solidFill>
                    <a:schemeClr val="tx1"/>
                  </a:solidFill>
                  <a:latin typeface="Arial" charset="0"/>
                  <a:cs typeface="Times New Roman" pitchFamily="18" charset="0"/>
                </a:rPr>
                <a:t>Record the length of</a:t>
              </a:r>
            </a:p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sz="1600">
                  <a:solidFill>
                    <a:schemeClr val="tx1"/>
                  </a:solidFill>
                  <a:latin typeface="Arial" charset="0"/>
                  <a:cs typeface="Times New Roman" pitchFamily="18" charset="0"/>
                </a:rPr>
                <a:t> tour and clear </a:t>
              </a:r>
              <a:r>
                <a:rPr lang="en-US" sz="1600" i="1">
                  <a:solidFill>
                    <a:schemeClr val="tx1"/>
                  </a:solidFill>
                  <a:latin typeface="Arial" charset="0"/>
                  <a:cs typeface="Times New Roman" pitchFamily="18" charset="0"/>
                </a:rPr>
                <a:t>tabu</a:t>
              </a:r>
              <a:r>
                <a:rPr lang="en-US" sz="1600">
                  <a:solidFill>
                    <a:schemeClr val="tx1"/>
                  </a:solidFill>
                  <a:latin typeface="Arial" charset="0"/>
                  <a:cs typeface="Times New Roman" pitchFamily="18" charset="0"/>
                </a:rPr>
                <a:t> list</a:t>
              </a:r>
            </a:p>
          </p:txBody>
        </p:sp>
        <p:sp>
          <p:nvSpPr>
            <p:cNvPr id="23" name="Line 55"/>
            <p:cNvSpPr>
              <a:spLocks noChangeShapeType="1"/>
            </p:cNvSpPr>
            <p:nvPr/>
          </p:nvSpPr>
          <p:spPr bwMode="auto">
            <a:xfrm flipV="1">
              <a:off x="4032" y="273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56"/>
          <p:cNvGrpSpPr>
            <a:grpSpLocks/>
          </p:cNvGrpSpPr>
          <p:nvPr/>
        </p:nvGrpSpPr>
        <p:grpSpPr bwMode="auto">
          <a:xfrm>
            <a:off x="5387975" y="3276600"/>
            <a:ext cx="2362200" cy="1066800"/>
            <a:chOff x="3312" y="2064"/>
            <a:chExt cx="1488" cy="672"/>
          </a:xfrm>
        </p:grpSpPr>
        <p:sp>
          <p:nvSpPr>
            <p:cNvPr id="25" name="AutoShape 57"/>
            <p:cNvSpPr>
              <a:spLocks noChangeArrowheads="1"/>
            </p:cNvSpPr>
            <p:nvPr/>
          </p:nvSpPr>
          <p:spPr bwMode="auto">
            <a:xfrm>
              <a:off x="3312" y="2208"/>
              <a:ext cx="1488" cy="528"/>
            </a:xfrm>
            <a:prstGeom prst="flowChartProcess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sz="1600">
                  <a:solidFill>
                    <a:schemeClr val="tx1"/>
                  </a:solidFill>
                  <a:latin typeface="Arial" charset="0"/>
                  <a:cs typeface="Times New Roman" pitchFamily="18" charset="0"/>
                </a:rPr>
                <a:t>Update Pheromone:</a:t>
              </a:r>
            </a:p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sz="1600">
                  <a:solidFill>
                    <a:schemeClr val="tx1"/>
                  </a:solidFill>
                  <a:latin typeface="Arial" charset="0"/>
                  <a:cs typeface="Times New Roman" pitchFamily="18" charset="0"/>
                </a:rPr>
                <a:t>Add according to tour</a:t>
              </a:r>
            </a:p>
            <a:p>
              <a:pPr algn="ctr" defTabSz="914400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sz="1600">
                  <a:solidFill>
                    <a:schemeClr val="tx1"/>
                  </a:solidFill>
                  <a:latin typeface="Arial" charset="0"/>
                  <a:cs typeface="Times New Roman" pitchFamily="18" charset="0"/>
                </a:rPr>
                <a:t>length, and evaporate</a:t>
              </a:r>
            </a:p>
          </p:txBody>
        </p:sp>
        <p:sp>
          <p:nvSpPr>
            <p:cNvPr id="26" name="Line 58"/>
            <p:cNvSpPr>
              <a:spLocks noChangeShapeType="1"/>
            </p:cNvSpPr>
            <p:nvPr/>
          </p:nvSpPr>
          <p:spPr bwMode="auto">
            <a:xfrm flipV="1">
              <a:off x="4032" y="2064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" name="Group 59"/>
          <p:cNvGrpSpPr>
            <a:grpSpLocks/>
          </p:cNvGrpSpPr>
          <p:nvPr/>
        </p:nvGrpSpPr>
        <p:grpSpPr bwMode="auto">
          <a:xfrm>
            <a:off x="3136900" y="3625850"/>
            <a:ext cx="1066800" cy="869950"/>
            <a:chOff x="1976" y="2284"/>
            <a:chExt cx="672" cy="548"/>
          </a:xfrm>
        </p:grpSpPr>
        <p:grpSp>
          <p:nvGrpSpPr>
            <p:cNvPr id="28" name="Group 60"/>
            <p:cNvGrpSpPr>
              <a:grpSpLocks/>
            </p:cNvGrpSpPr>
            <p:nvPr/>
          </p:nvGrpSpPr>
          <p:grpSpPr bwMode="auto">
            <a:xfrm>
              <a:off x="1976" y="2496"/>
              <a:ext cx="672" cy="336"/>
              <a:chOff x="1976" y="2496"/>
              <a:chExt cx="672" cy="336"/>
            </a:xfrm>
          </p:grpSpPr>
          <p:sp>
            <p:nvSpPr>
              <p:cNvPr id="30" name="Line 61"/>
              <p:cNvSpPr>
                <a:spLocks noChangeShapeType="1"/>
              </p:cNvSpPr>
              <p:nvPr/>
            </p:nvSpPr>
            <p:spPr bwMode="auto">
              <a:xfrm flipV="1">
                <a:off x="2640" y="2496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Line 62"/>
              <p:cNvSpPr>
                <a:spLocks noChangeShapeType="1"/>
              </p:cNvSpPr>
              <p:nvPr/>
            </p:nvSpPr>
            <p:spPr bwMode="auto">
              <a:xfrm flipH="1">
                <a:off x="1976" y="2496"/>
                <a:ext cx="6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9" name="Text Box 63"/>
            <p:cNvSpPr txBox="1">
              <a:spLocks noChangeArrowheads="1"/>
            </p:cNvSpPr>
            <p:nvPr/>
          </p:nvSpPr>
          <p:spPr bwMode="auto">
            <a:xfrm>
              <a:off x="2208" y="2284"/>
              <a:ext cx="384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defTabSz="914400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sz="1600">
                  <a:solidFill>
                    <a:schemeClr val="tx1"/>
                  </a:solidFill>
                  <a:latin typeface="Arial" charset="0"/>
                  <a:cs typeface="Times New Roman" pitchFamily="18" charset="0"/>
                </a:rPr>
                <a:t>NO</a:t>
              </a:r>
            </a:p>
          </p:txBody>
        </p:sp>
      </p:grpSp>
      <p:sp>
        <p:nvSpPr>
          <p:cNvPr id="32" name="Line 65"/>
          <p:cNvSpPr>
            <a:spLocks noChangeShapeType="1"/>
          </p:cNvSpPr>
          <p:nvPr/>
        </p:nvSpPr>
        <p:spPr bwMode="auto">
          <a:xfrm>
            <a:off x="5035550" y="5219700"/>
            <a:ext cx="481013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Box 66"/>
          <p:cNvSpPr txBox="1">
            <a:spLocks noChangeArrowheads="1"/>
          </p:cNvSpPr>
          <p:nvPr/>
        </p:nvSpPr>
        <p:spPr bwMode="auto">
          <a:xfrm>
            <a:off x="5026025" y="4892675"/>
            <a:ext cx="76993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914400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sz="160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YES</a:t>
            </a:r>
          </a:p>
        </p:txBody>
      </p:sp>
      <p:sp>
        <p:nvSpPr>
          <p:cNvPr id="34" name="AutoShape 68"/>
          <p:cNvSpPr>
            <a:spLocks noChangeArrowheads="1"/>
          </p:cNvSpPr>
          <p:nvPr/>
        </p:nvSpPr>
        <p:spPr bwMode="auto">
          <a:xfrm>
            <a:off x="7986713" y="3276600"/>
            <a:ext cx="762000" cy="1447800"/>
          </a:xfrm>
          <a:prstGeom prst="flowChartAlternateProcess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defTabSz="914400">
              <a:lnSpc>
                <a:spcPct val="100000"/>
              </a:lnSpc>
              <a:buClrTx/>
              <a:buSzTx/>
              <a:buFontTx/>
              <a:buNone/>
            </a:pPr>
            <a:r>
              <a:rPr lang="en-US" sz="160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STOP</a:t>
            </a:r>
          </a:p>
          <a:p>
            <a:pPr algn="ctr" defTabSz="914400">
              <a:lnSpc>
                <a:spcPct val="100000"/>
              </a:lnSpc>
              <a:buClrTx/>
              <a:buSzTx/>
              <a:buFontTx/>
              <a:buNone/>
            </a:pPr>
            <a:r>
              <a:rPr lang="en-US" sz="160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ACO</a:t>
            </a:r>
          </a:p>
        </p:txBody>
      </p:sp>
      <p:grpSp>
        <p:nvGrpSpPr>
          <p:cNvPr id="35" name="Group 70"/>
          <p:cNvGrpSpPr>
            <a:grpSpLocks/>
          </p:cNvGrpSpPr>
          <p:nvPr/>
        </p:nvGrpSpPr>
        <p:grpSpPr bwMode="auto">
          <a:xfrm>
            <a:off x="7740650" y="2552700"/>
            <a:ext cx="588963" cy="736600"/>
            <a:chOff x="4968" y="1608"/>
            <a:chExt cx="288" cy="464"/>
          </a:xfrm>
        </p:grpSpPr>
        <p:sp>
          <p:nvSpPr>
            <p:cNvPr id="36" name="Line 71"/>
            <p:cNvSpPr>
              <a:spLocks noChangeShapeType="1"/>
            </p:cNvSpPr>
            <p:nvPr/>
          </p:nvSpPr>
          <p:spPr bwMode="auto">
            <a:xfrm>
              <a:off x="4968" y="1608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Line 72"/>
            <p:cNvSpPr>
              <a:spLocks noChangeShapeType="1"/>
            </p:cNvSpPr>
            <p:nvPr/>
          </p:nvSpPr>
          <p:spPr bwMode="auto">
            <a:xfrm>
              <a:off x="5256" y="1608"/>
              <a:ext cx="0" cy="4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8" name="Text Box 73"/>
          <p:cNvSpPr txBox="1">
            <a:spLocks noChangeArrowheads="1"/>
          </p:cNvSpPr>
          <p:nvPr/>
        </p:nvSpPr>
        <p:spPr bwMode="auto">
          <a:xfrm>
            <a:off x="7808913" y="2260600"/>
            <a:ext cx="609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914400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sz="160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YES</a:t>
            </a:r>
          </a:p>
        </p:txBody>
      </p:sp>
      <p:sp>
        <p:nvSpPr>
          <p:cNvPr id="39" name="Line 75"/>
          <p:cNvSpPr>
            <a:spLocks noChangeShapeType="1"/>
          </p:cNvSpPr>
          <p:nvPr/>
        </p:nvSpPr>
        <p:spPr bwMode="auto">
          <a:xfrm flipH="1">
            <a:off x="2844800" y="2552700"/>
            <a:ext cx="25193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Box 76"/>
          <p:cNvSpPr txBox="1">
            <a:spLocks noChangeArrowheads="1"/>
          </p:cNvSpPr>
          <p:nvPr/>
        </p:nvSpPr>
        <p:spPr bwMode="auto">
          <a:xfrm>
            <a:off x="3683000" y="2260600"/>
            <a:ext cx="609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914400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sz="160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NO</a:t>
            </a:r>
          </a:p>
        </p:txBody>
      </p:sp>
      <p:sp>
        <p:nvSpPr>
          <p:cNvPr id="41" name="Text Box 79"/>
          <p:cNvSpPr txBox="1">
            <a:spLocks noChangeArrowheads="1"/>
          </p:cNvSpPr>
          <p:nvPr/>
        </p:nvSpPr>
        <p:spPr bwMode="auto">
          <a:xfrm>
            <a:off x="1384300" y="5924550"/>
            <a:ext cx="6096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defTabSz="914400">
              <a:lnSpc>
                <a:spcPct val="100000"/>
              </a:lnSpc>
              <a:buClrTx/>
              <a:buSzTx/>
              <a:buFontTx/>
              <a:buNone/>
            </a:pPr>
            <a:r>
              <a:rPr lang="en-US" sz="2800" dirty="0">
                <a:solidFill>
                  <a:schemeClr val="bg1"/>
                </a:solidFill>
                <a:latin typeface="Comic Sans MS" pitchFamily="66" charset="0"/>
                <a:cs typeface="Times New Roman" pitchFamily="18" charset="0"/>
              </a:rPr>
              <a:t>Repeat for the </a:t>
            </a:r>
            <a:r>
              <a:rPr lang="en-US" sz="2800" i="1" dirty="0">
                <a:solidFill>
                  <a:schemeClr val="bg1"/>
                </a:solidFill>
                <a:latin typeface="Comic Sans MS" pitchFamily="66" charset="0"/>
                <a:cs typeface="Times New Roman" pitchFamily="18" charset="0"/>
              </a:rPr>
              <a:t>M </a:t>
            </a:r>
            <a:r>
              <a:rPr lang="en-US" sz="2800" dirty="0">
                <a:solidFill>
                  <a:schemeClr val="bg1"/>
                </a:solidFill>
                <a:latin typeface="Comic Sans MS" pitchFamily="66" charset="0"/>
                <a:cs typeface="Times New Roman" pitchFamily="18" charset="0"/>
              </a:rPr>
              <a:t>ants in the colony</a:t>
            </a:r>
          </a:p>
        </p:txBody>
      </p:sp>
      <p:sp>
        <p:nvSpPr>
          <p:cNvPr id="42" name="标题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566208"/>
          </a:xfrm>
          <a:prstGeom prst="rect">
            <a:avLst/>
          </a:prstGeom>
          <a:solidFill>
            <a:srgbClr val="0070C0"/>
          </a:solidFill>
        </p:spPr>
        <p:txBody>
          <a:bodyPr vert="horz" lIns="91440" tIns="45720" rIns="91440" bIns="45720" rtlCol="0" anchor="ctr">
            <a:normAutofit fontScale="90000"/>
          </a:bodyPr>
          <a:lstStyle/>
          <a:p>
            <a:pPr lvl="0" algn="ctr">
              <a:defRPr/>
            </a:pPr>
            <a:r>
              <a:rPr lang="en-US" sz="4000" dirty="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Another ACO  Flowchart for TSP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 autoUpdateAnimBg="0"/>
      <p:bldP spid="8" grpId="0" animBg="1" autoUpdateAnimBg="0"/>
      <p:bldP spid="32" grpId="0" animBg="1"/>
      <p:bldP spid="33" grpId="0"/>
      <p:bldP spid="34" grpId="0" animBg="1"/>
      <p:bldP spid="38" grpId="0"/>
      <p:bldP spid="39" grpId="0" animBg="1"/>
      <p:bldP spid="40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>
            <a:spLocks noGrp="1"/>
          </p:cNvSpPr>
          <p:nvPr>
            <p:ph type="title"/>
          </p:nvPr>
        </p:nvSpPr>
        <p:spPr>
          <a:xfrm>
            <a:off x="0" y="1044"/>
            <a:ext cx="12192000" cy="752475"/>
          </a:xfrm>
          <a:prstGeom prst="rect">
            <a:avLst/>
          </a:prstGeom>
          <a:solidFill>
            <a:srgbClr val="0070C0"/>
          </a:solidFill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>
              <a:spcBef>
                <a:spcPct val="50000"/>
              </a:spcBef>
            </a:pPr>
            <a:r>
              <a:rPr lang="en-US" sz="4800" dirty="0">
                <a:solidFill>
                  <a:schemeClr val="bg1"/>
                </a:solidFill>
              </a:rPr>
              <a:t>ACO Algorithm for TSP</a:t>
            </a:r>
            <a:endParaRPr lang="en-US" sz="4000" dirty="0">
              <a:solidFill>
                <a:schemeClr val="bg1"/>
              </a:solidFill>
            </a:endParaRPr>
          </a:p>
        </p:txBody>
      </p:sp>
      <p:graphicFrame>
        <p:nvGraphicFramePr>
          <p:cNvPr id="94210" name="Object 9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2921279"/>
              </p:ext>
            </p:extLst>
          </p:nvPr>
        </p:nvGraphicFramePr>
        <p:xfrm>
          <a:off x="3127248" y="753519"/>
          <a:ext cx="4151376" cy="73229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3390840" imgH="5981760" progId="Paint.Picture">
                  <p:embed/>
                </p:oleObj>
              </mc:Choice>
              <mc:Fallback>
                <p:oleObj name="Bitmap Image" r:id="rId2" imgW="3390840" imgH="5981760" progId="Paint.Picture">
                  <p:embed/>
                  <p:pic>
                    <p:nvPicPr>
                      <p:cNvPr id="9421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7248" y="753519"/>
                        <a:ext cx="4151376" cy="73229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28688"/>
            <a:ext cx="10515600" cy="5595937"/>
          </a:xfrm>
        </p:spPr>
        <p:txBody>
          <a:bodyPr rtlCol="0">
            <a:normAutofit/>
          </a:bodyPr>
          <a:lstStyle/>
          <a:p>
            <a:pPr marL="342900" indent="-34290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TSPs (Traveling Salesman Problem), relatively efficient</a:t>
            </a:r>
          </a:p>
          <a:p>
            <a:pPr marL="742950" lvl="1" indent="-28575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 small number of nodes, TSPs can be solved by exhaustive search</a:t>
            </a:r>
          </a:p>
          <a:p>
            <a:pPr marL="742950" lvl="1" indent="-28575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 large number of nodes, TSPs are very computationally difficult to solve (NP-hard) – exponential time to convergence</a:t>
            </a:r>
          </a:p>
          <a:p>
            <a:pPr marL="742950" lvl="1" indent="-285750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/>
            <a:r>
              <a:rPr lang="en-US" sz="2400" dirty="0">
                <a:solidFill>
                  <a:srgbClr val="99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Performs better against other global optimization techniques for TSP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(neural net, genetic algorithms, simulated annealing)</a:t>
            </a:r>
          </a:p>
          <a:p>
            <a:pPr marL="342900" indent="-342900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to GAs (Genetic Algorithms):</a:t>
            </a:r>
          </a:p>
          <a:p>
            <a:pPr marL="742950" lvl="1" indent="-28575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retains memory of entire colony instead of previous generation only</a:t>
            </a:r>
          </a:p>
          <a:p>
            <a:pPr marL="742950" lvl="1" indent="-28575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affected by poor initial solutions (due to combination of random path selection and colony memory)</a:t>
            </a:r>
          </a:p>
          <a:p>
            <a:pPr marL="514350" indent="-514350"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3" name="标题 1"/>
          <p:cNvSpPr>
            <a:spLocks noGrp="1"/>
          </p:cNvSpPr>
          <p:nvPr>
            <p:ph type="title"/>
          </p:nvPr>
        </p:nvSpPr>
        <p:spPr>
          <a:xfrm>
            <a:off x="0" y="-3175"/>
            <a:ext cx="12192000" cy="808038"/>
          </a:xfrm>
          <a:solidFill>
            <a:srgbClr val="0070C0"/>
          </a:solidFill>
        </p:spPr>
        <p:txBody>
          <a:bodyPr/>
          <a:lstStyle/>
          <a:p>
            <a:pPr algn="ctr">
              <a:defRPr/>
            </a:pPr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 and Disadvantages</a:t>
            </a:r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12"/>
          </p:nvPr>
        </p:nvSpPr>
        <p:spPr bwMode="auto">
          <a:xfrm>
            <a:off x="8075613" y="6524625"/>
            <a:ext cx="4116387" cy="196850"/>
          </a:xfrm>
          <a:solidFill>
            <a:srgbClr val="0070C0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Md. Forhad Hossain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21150" y="6524625"/>
            <a:ext cx="3954463" cy="196850"/>
          </a:xfrm>
          <a:solidFill>
            <a:schemeClr val="accent1">
              <a:lumMod val="75000"/>
            </a:schemeClr>
          </a:solidFill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B. M. Junaed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6" name="日期占位符 5"/>
          <p:cNvSpPr>
            <a:spLocks noGrp="1"/>
          </p:cNvSpPr>
          <p:nvPr>
            <p:ph type="dt" sz="quarter" idx="10"/>
          </p:nvPr>
        </p:nvSpPr>
        <p:spPr bwMode="auto">
          <a:xfrm>
            <a:off x="0" y="6524625"/>
            <a:ext cx="4121150" cy="196850"/>
          </a:xfrm>
          <a:solidFill>
            <a:schemeClr val="accent1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 A. H. Akhand	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30552" y="5791201"/>
            <a:ext cx="932129" cy="63917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55038" y="5938338"/>
            <a:ext cx="932129" cy="639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42811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868 0.01111 L 1.11119 0.02199 L 1.10742 0.22315 L -0.02683 0.17338 L -0.02513 -0.00393 L -0.02513 -2.22222E-6 " pathEditMode="relative" rAng="0" ptsTypes="AAAAAA">
                                      <p:cBhvr>
                                        <p:cTn id="6" dur="2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487" y="983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repeatCount="indefinite" accel="50000" decel="50000" fill="hold" nodeType="withEffect">
                                  <p:stCondLst>
                                    <p:cond delay="110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0.02188 -1.11022E-16 L 1.15052 0.00995 L 1.14661 0.19444 L -0.00977 0.14884 L -0.00807 -0.01389 L -0.00807 -0.01042 " pathEditMode="relative" rAng="0" ptsTypes="AAAAAA">
                                      <p:cBhvr>
                                        <p:cTn id="8" dur="25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620" y="902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28688"/>
            <a:ext cx="10515600" cy="5595937"/>
          </a:xfrm>
        </p:spPr>
        <p:txBody>
          <a:bodyPr rtlCol="0">
            <a:normAutofit/>
          </a:bodyPr>
          <a:lstStyle/>
          <a:p>
            <a:pPr marL="342900" indent="-342900" algn="just">
              <a:lnSpc>
                <a:spcPct val="105000"/>
              </a:lnSpc>
            </a:pPr>
            <a:r>
              <a:rPr lang="en-US" sz="2400" dirty="0">
                <a:latin typeface="Arial" panose="020B0604020202020204" pitchFamily="34" charset="0"/>
              </a:rPr>
              <a:t>Can be used in dynamic applications (adapts to changes such as new distances, etc.)</a:t>
            </a:r>
          </a:p>
          <a:p>
            <a:pPr marL="342900" indent="-342900" algn="just">
              <a:lnSpc>
                <a:spcPct val="105000"/>
              </a:lnSpc>
            </a:pPr>
            <a:r>
              <a:rPr lang="en-US" sz="2400" dirty="0">
                <a:latin typeface="Arial" panose="020B0604020202020204" pitchFamily="34" charset="0"/>
              </a:rPr>
              <a:t>Has been applied to a wide variety of applications</a:t>
            </a:r>
          </a:p>
          <a:p>
            <a:pPr marL="342900" indent="-342900" algn="just">
              <a:lnSpc>
                <a:spcPct val="105000"/>
              </a:lnSpc>
            </a:pPr>
            <a:r>
              <a:rPr lang="en-US" sz="2400" dirty="0">
                <a:latin typeface="Arial" panose="020B0604020202020204" pitchFamily="34" charset="0"/>
              </a:rPr>
              <a:t>As with GAs, good choice for constrained discrete problems (not a gradient-based algorithm)</a:t>
            </a:r>
          </a:p>
          <a:p>
            <a:pPr marL="342900" indent="-342900" algn="just">
              <a:lnSpc>
                <a:spcPct val="105000"/>
              </a:lnSpc>
            </a:pPr>
            <a:endParaRPr lang="en-US" sz="2400" dirty="0">
              <a:latin typeface="Arial" panose="020B0604020202020204" pitchFamily="34" charset="0"/>
            </a:endParaRPr>
          </a:p>
          <a:p>
            <a:pPr marL="342900" indent="-342900" algn="just">
              <a:lnSpc>
                <a:spcPct val="105000"/>
              </a:lnSpc>
            </a:pPr>
            <a:r>
              <a:rPr lang="en-US" sz="2400" dirty="0">
                <a:solidFill>
                  <a:srgbClr val="9900CC"/>
                </a:solidFill>
                <a:latin typeface="Arial" panose="020B0604020202020204" pitchFamily="34" charset="0"/>
              </a:rPr>
              <a:t>Theoretical analysis is difficult:</a:t>
            </a:r>
          </a:p>
          <a:p>
            <a:pPr marL="742950" lvl="1" indent="-285750" algn="just">
              <a:lnSpc>
                <a:spcPct val="105000"/>
              </a:lnSpc>
            </a:pPr>
            <a:r>
              <a:rPr lang="en-US" dirty="0">
                <a:latin typeface="Arial" panose="020B0604020202020204" pitchFamily="34" charset="0"/>
              </a:rPr>
              <a:t>Due to sequences of random decisions (not independent)</a:t>
            </a:r>
          </a:p>
          <a:p>
            <a:pPr marL="742950" lvl="1" indent="-285750" algn="just">
              <a:lnSpc>
                <a:spcPct val="105000"/>
              </a:lnSpc>
            </a:pPr>
            <a:r>
              <a:rPr lang="en-US" dirty="0">
                <a:latin typeface="Arial" panose="020B0604020202020204" pitchFamily="34" charset="0"/>
              </a:rPr>
              <a:t>Probability distribution changes by iteration</a:t>
            </a:r>
          </a:p>
          <a:p>
            <a:pPr marL="742950" lvl="1" indent="-285750" algn="just">
              <a:lnSpc>
                <a:spcPct val="105000"/>
              </a:lnSpc>
            </a:pPr>
            <a:r>
              <a:rPr lang="en-US" dirty="0">
                <a:latin typeface="Arial" panose="020B0604020202020204" pitchFamily="34" charset="0"/>
              </a:rPr>
              <a:t>Research is experimental rather than theoretical</a:t>
            </a:r>
          </a:p>
          <a:p>
            <a:pPr marL="342900" indent="-342900" algn="just">
              <a:lnSpc>
                <a:spcPct val="105000"/>
              </a:lnSpc>
            </a:pP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</a:rPr>
              <a:t>Convergence is guaranteed, but time to convergence uncertain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3" name="标题 1"/>
          <p:cNvSpPr>
            <a:spLocks noGrp="1"/>
          </p:cNvSpPr>
          <p:nvPr>
            <p:ph type="title"/>
          </p:nvPr>
        </p:nvSpPr>
        <p:spPr>
          <a:xfrm>
            <a:off x="0" y="-3175"/>
            <a:ext cx="12192000" cy="808038"/>
          </a:xfrm>
          <a:solidFill>
            <a:srgbClr val="0070C0"/>
          </a:solidFill>
        </p:spPr>
        <p:txBody>
          <a:bodyPr/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 and Disadvantages</a:t>
            </a:r>
            <a:endParaRPr lang="en-US" sz="4000" b="1" dirty="0">
              <a:solidFill>
                <a:schemeClr val="bg1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12"/>
          </p:nvPr>
        </p:nvSpPr>
        <p:spPr bwMode="auto">
          <a:xfrm>
            <a:off x="8075613" y="6524625"/>
            <a:ext cx="4116387" cy="196850"/>
          </a:xfrm>
          <a:solidFill>
            <a:srgbClr val="0070C0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Md. Forhad Hossain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21150" y="6524625"/>
            <a:ext cx="3954463" cy="196850"/>
          </a:xfrm>
          <a:solidFill>
            <a:schemeClr val="accent1">
              <a:lumMod val="75000"/>
            </a:schemeClr>
          </a:solidFill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B. M. Junaed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6" name="日期占位符 5"/>
          <p:cNvSpPr>
            <a:spLocks noGrp="1"/>
          </p:cNvSpPr>
          <p:nvPr>
            <p:ph type="dt" sz="quarter" idx="10"/>
          </p:nvPr>
        </p:nvSpPr>
        <p:spPr bwMode="auto">
          <a:xfrm>
            <a:off x="0" y="6524625"/>
            <a:ext cx="4121150" cy="196850"/>
          </a:xfrm>
          <a:solidFill>
            <a:schemeClr val="accent1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 A. H. Akhand	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30552" y="5791201"/>
            <a:ext cx="932129" cy="63917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55038" y="5938338"/>
            <a:ext cx="932129" cy="639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78484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868 0.01111 L 1.11119 0.02199 L 1.10742 0.22315 L -0.02683 0.17338 L -0.02513 -0.00393 L -0.02513 -2.22222E-6 " pathEditMode="relative" rAng="0" ptsTypes="AAAAAA">
                                      <p:cBhvr>
                                        <p:cTn id="6" dur="2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487" y="983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repeatCount="indefinite" accel="50000" decel="50000" fill="hold" nodeType="withEffect">
                                  <p:stCondLst>
                                    <p:cond delay="110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0.02188 -1.11022E-16 L 1.15052 0.00995 L 1.14661 0.19444 L -0.00977 0.14884 L -0.00807 -0.01389 L -0.00807 -0.01042 " pathEditMode="relative" rAng="0" ptsTypes="AAAAAA">
                                      <p:cBhvr>
                                        <p:cTn id="8" dur="25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620" y="902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28688"/>
            <a:ext cx="10515600" cy="5595937"/>
          </a:xfrm>
        </p:spPr>
        <p:txBody>
          <a:bodyPr rtlCol="0">
            <a:normAutofit/>
          </a:bodyPr>
          <a:lstStyle/>
          <a:p>
            <a:pPr marL="342900" indent="-342900">
              <a:lnSpc>
                <a:spcPct val="100000"/>
              </a:lnSpc>
              <a:spcBef>
                <a:spcPct val="15000"/>
              </a:spcBef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Tradeoffs in evaluating convergence:</a:t>
            </a:r>
          </a:p>
          <a:p>
            <a:pPr marL="742950" lvl="1" indent="-285750">
              <a:lnSpc>
                <a:spcPct val="100000"/>
              </a:lnSpc>
              <a:spcBef>
                <a:spcPct val="150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NP-hard problems, need high-quality solutions quickly – focus is on quality of solutions</a:t>
            </a:r>
          </a:p>
          <a:p>
            <a:pPr marL="742950" lvl="1" indent="-285750">
              <a:lnSpc>
                <a:spcPct val="100000"/>
              </a:lnSpc>
              <a:spcBef>
                <a:spcPct val="150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dynamic network routing problems, need solutions for changing conditions – focus is on effective evaluation of alternative paths</a:t>
            </a:r>
          </a:p>
          <a:p>
            <a:pPr marL="742950" lvl="1" indent="-285750">
              <a:lnSpc>
                <a:spcPct val="100000"/>
              </a:lnSpc>
              <a:spcBef>
                <a:spcPct val="15000"/>
              </a:spcBef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00000"/>
              </a:lnSpc>
              <a:spcBef>
                <a:spcPct val="15000"/>
              </a:spcBef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Coding is somewhat complicated, not straightforward</a:t>
            </a:r>
          </a:p>
          <a:p>
            <a:pPr marL="742950" lvl="1" indent="-285750">
              <a:lnSpc>
                <a:spcPct val="100000"/>
              </a:lnSpc>
              <a:spcBef>
                <a:spcPct val="150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Pheromone “trail” additions/deletions, global updates and local updates</a:t>
            </a:r>
          </a:p>
          <a:p>
            <a:pPr marL="742950" lvl="1" indent="-285750">
              <a:lnSpc>
                <a:spcPct val="100000"/>
              </a:lnSpc>
              <a:spcBef>
                <a:spcPct val="150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Large number of different ACO algorithms to exploit different problem characteristics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eaLnBrk="1" fontAlgn="auto" hangingPunct="1">
              <a:spcAft>
                <a:spcPts val="0"/>
              </a:spcAft>
              <a:buFont typeface="Arial" panose="020B0604020202020204" pitchFamily="34" charset="0"/>
              <a:buAutoNum type="arabicPeriod"/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3" name="标题 1"/>
          <p:cNvSpPr>
            <a:spLocks noGrp="1"/>
          </p:cNvSpPr>
          <p:nvPr>
            <p:ph type="title"/>
          </p:nvPr>
        </p:nvSpPr>
        <p:spPr>
          <a:xfrm>
            <a:off x="0" y="-3175"/>
            <a:ext cx="12192000" cy="808038"/>
          </a:xfrm>
          <a:solidFill>
            <a:srgbClr val="0070C0"/>
          </a:solidFill>
        </p:spPr>
        <p:txBody>
          <a:bodyPr/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 and Disadvantages</a:t>
            </a:r>
            <a:endParaRPr lang="en-US" sz="4000" b="1" dirty="0">
              <a:solidFill>
                <a:schemeClr val="bg1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12"/>
          </p:nvPr>
        </p:nvSpPr>
        <p:spPr bwMode="auto">
          <a:xfrm>
            <a:off x="8075613" y="6524625"/>
            <a:ext cx="4116387" cy="196850"/>
          </a:xfrm>
          <a:solidFill>
            <a:srgbClr val="0070C0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Md. </a:t>
            </a:r>
            <a:r>
              <a:rPr lang="en-US" altLang="zh-CN" sz="1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Forhad</a:t>
            </a:r>
            <a:r>
              <a:rPr lang="en-US" altLang="zh-C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Hossain</a:t>
            </a:r>
            <a:endParaRPr lang="zh-CN" alt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21150" y="6524625"/>
            <a:ext cx="3954463" cy="196850"/>
          </a:xfrm>
          <a:solidFill>
            <a:schemeClr val="accent1">
              <a:lumMod val="75000"/>
            </a:schemeClr>
          </a:solidFill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B. M. Junaed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6" name="日期占位符 5"/>
          <p:cNvSpPr>
            <a:spLocks noGrp="1"/>
          </p:cNvSpPr>
          <p:nvPr>
            <p:ph type="dt" sz="quarter" idx="10"/>
          </p:nvPr>
        </p:nvSpPr>
        <p:spPr bwMode="auto">
          <a:xfrm>
            <a:off x="0" y="6524625"/>
            <a:ext cx="4121150" cy="196850"/>
          </a:xfrm>
          <a:solidFill>
            <a:schemeClr val="accent1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 A. H. Akhand	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30552" y="5791201"/>
            <a:ext cx="932129" cy="63917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55038" y="5938338"/>
            <a:ext cx="932129" cy="639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916675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868 0.01111 L 1.11119 0.02199 L 1.10742 0.22315 L -0.02683 0.17338 L -0.02513 -0.00393 L -0.02513 -2.22222E-6 " pathEditMode="relative" rAng="0" ptsTypes="AAAAAA">
                                      <p:cBhvr>
                                        <p:cTn id="6" dur="2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487" y="983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repeatCount="indefinite" accel="50000" decel="50000" fill="hold" nodeType="withEffect">
                                  <p:stCondLst>
                                    <p:cond delay="110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0.02188 -1.11022E-16 L 1.15052 0.00995 L 1.14661 0.19444 L -0.00977 0.14884 L -0.00807 -0.01389 L -0.00807 -0.01042 " pathEditMode="relative" rAng="0" ptsTypes="AAAAAA">
                                      <p:cBhvr>
                                        <p:cTn id="8" dur="25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620" y="902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7169" y="1027113"/>
            <a:ext cx="11027508" cy="5595937"/>
          </a:xfrm>
        </p:spPr>
        <p:txBody>
          <a:bodyPr rtlCol="0">
            <a:noAutofit/>
          </a:bodyPr>
          <a:lstStyle/>
          <a:p>
            <a:pPr marL="342900" indent="-342900" algn="just">
              <a:lnSpc>
                <a:spcPct val="95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Thomas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STÄUTZLE</a:t>
            </a:r>
            <a:r>
              <a:rPr lang="en-US" sz="1800" i="1" dirty="0" err="1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sz="18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and Marco DORIGO. ACO Algorithms for the Traveling Salesman  Problem</a:t>
            </a:r>
          </a:p>
          <a:p>
            <a:pPr marL="342900" indent="-342900" algn="just">
              <a:lnSpc>
                <a:spcPct val="95000"/>
              </a:lnSpc>
              <a:spcBef>
                <a:spcPts val="0"/>
              </a:spcBef>
              <a:buFont typeface="+mj-lt"/>
              <a:buAutoNum type="arabicPeriod"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95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Marco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Dorigo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. The Ant Colony Optimization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Metaheuristic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: Algorithms, Applications, and Advances, Technical Report IRIDIA-2000-32</a:t>
            </a:r>
          </a:p>
          <a:p>
            <a:pPr marL="342900" indent="-342900" algn="just">
              <a:lnSpc>
                <a:spcPct val="95000"/>
              </a:lnSpc>
              <a:spcBef>
                <a:spcPts val="0"/>
              </a:spcBef>
              <a:buFont typeface="+mj-lt"/>
              <a:buAutoNum type="arabicPeriod"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95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Eric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Bonabeau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, Marco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Dorigo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Guy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Theraulaz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. Swarm Intelligence - From Natural to Artificial Systems</a:t>
            </a:r>
          </a:p>
          <a:p>
            <a:pPr marL="342900" indent="-342900" algn="just">
              <a:lnSpc>
                <a:spcPct val="95000"/>
              </a:lnSpc>
              <a:spcBef>
                <a:spcPts val="0"/>
              </a:spcBef>
              <a:buFont typeface="+mj-lt"/>
              <a:buAutoNum type="arabicPeriod"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95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Prasanna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BALAPRAKASH. Ant Colony Optimization under Uncertainty. IRIDIA – Technical Report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Series,Technical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Report No.TR/IRIDIA/2005-028 November 2005</a:t>
            </a:r>
          </a:p>
          <a:p>
            <a:pPr marL="342900" indent="-342900" algn="just">
              <a:lnSpc>
                <a:spcPct val="95000"/>
              </a:lnSpc>
              <a:spcBef>
                <a:spcPts val="0"/>
              </a:spcBef>
              <a:buFont typeface="+mj-lt"/>
              <a:buAutoNum type="arabicPeriod"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95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Marco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Dorigo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i="1" dirty="0">
                <a:latin typeface="Arial" panose="020B0604020202020204" pitchFamily="34" charset="0"/>
                <a:cs typeface="Arial" panose="020B0604020202020204" pitchFamily="34" charset="0"/>
              </a:rPr>
              <a:t>Member, IEEE,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Vittorio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Maniezzo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and Alberto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Colorni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. The Ant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System:Optimization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by a colony of cooperating agents</a:t>
            </a:r>
          </a:p>
          <a:p>
            <a:pPr marL="342900" indent="-342900" algn="just">
              <a:lnSpc>
                <a:spcPct val="95000"/>
              </a:lnSpc>
              <a:spcBef>
                <a:spcPts val="0"/>
              </a:spcBef>
              <a:buFont typeface="+mj-lt"/>
              <a:buAutoNum type="arabicPeriod"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95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Michael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Guntsch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Jürgen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Branke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.  Hand book of Bio-inspired Algorithm and Application: Ant Colony Optimization</a:t>
            </a:r>
          </a:p>
          <a:p>
            <a:pPr marL="342900" indent="-342900" algn="just">
              <a:lnSpc>
                <a:spcPct val="95000"/>
              </a:lnSpc>
              <a:spcBef>
                <a:spcPts val="0"/>
              </a:spcBef>
              <a:buFont typeface="+mj-lt"/>
              <a:buAutoNum type="arabicPeriod"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95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Mohamed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Belal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Jafaar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Gaber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Hoda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El-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Sayed,Abdullah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Almojel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. Hand book of Bio-inspired Algorithm and Application: Swarm Intelligence</a:t>
            </a:r>
          </a:p>
          <a:p>
            <a:pPr marL="342900" indent="-342900" algn="just">
              <a:lnSpc>
                <a:spcPct val="95000"/>
              </a:lnSpc>
              <a:spcBef>
                <a:spcPts val="0"/>
              </a:spcBef>
              <a:buFont typeface="+mj-lt"/>
              <a:buAutoNum type="arabicPeriod"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95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M.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Dorigo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and Gianni Di Caro. The Ant colony optimization Meta-heuristic</a:t>
            </a:r>
          </a:p>
          <a:p>
            <a:pPr marL="0" indent="0" algn="just">
              <a:lnSpc>
                <a:spcPct val="95000"/>
              </a:lnSpc>
              <a:spcBef>
                <a:spcPts val="0"/>
              </a:spcBef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3" name="标题 1"/>
          <p:cNvSpPr>
            <a:spLocks noGrp="1"/>
          </p:cNvSpPr>
          <p:nvPr>
            <p:ph type="title"/>
          </p:nvPr>
        </p:nvSpPr>
        <p:spPr>
          <a:xfrm>
            <a:off x="0" y="-3175"/>
            <a:ext cx="12192000" cy="808038"/>
          </a:xfrm>
          <a:solidFill>
            <a:srgbClr val="0070C0"/>
          </a:solidFill>
        </p:spPr>
        <p:txBody>
          <a:bodyPr/>
          <a:lstStyle/>
          <a:p>
            <a:pPr algn="ctr" eaLnBrk="1" hangingPunct="1"/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12"/>
          </p:nvPr>
        </p:nvSpPr>
        <p:spPr bwMode="auto">
          <a:xfrm>
            <a:off x="8075613" y="6524625"/>
            <a:ext cx="4116387" cy="196850"/>
          </a:xfrm>
          <a:solidFill>
            <a:srgbClr val="0070C0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Md. Forhad Hossain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21150" y="6524625"/>
            <a:ext cx="3954463" cy="196850"/>
          </a:xfrm>
          <a:solidFill>
            <a:schemeClr val="accent1">
              <a:lumMod val="75000"/>
            </a:schemeClr>
          </a:solidFill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B. M. Junaed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6" name="日期占位符 5"/>
          <p:cNvSpPr>
            <a:spLocks noGrp="1"/>
          </p:cNvSpPr>
          <p:nvPr>
            <p:ph type="dt" sz="quarter" idx="10"/>
          </p:nvPr>
        </p:nvSpPr>
        <p:spPr bwMode="auto">
          <a:xfrm>
            <a:off x="0" y="6524625"/>
            <a:ext cx="4121150" cy="196850"/>
          </a:xfrm>
          <a:solidFill>
            <a:schemeClr val="accent1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marL="228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 A. H. Akhand	</a:t>
            </a:r>
            <a:endParaRPr lang="zh-CN" altLang="en-US" sz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2464754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844</TotalTime>
  <Words>2786</Words>
  <Application>Microsoft Office PowerPoint</Application>
  <PresentationFormat>Widescreen</PresentationFormat>
  <Paragraphs>505</Paragraphs>
  <Slides>39</Slides>
  <Notes>34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39</vt:i4>
      </vt:variant>
    </vt:vector>
  </HeadingPairs>
  <TitlesOfParts>
    <vt:vector size="53" baseType="lpstr">
      <vt:lpstr>Arial</vt:lpstr>
      <vt:lpstr>Arial Unicode MS</vt:lpstr>
      <vt:lpstr>Calibri</vt:lpstr>
      <vt:lpstr>Calibri Light</vt:lpstr>
      <vt:lpstr>Comic Sans MS</vt:lpstr>
      <vt:lpstr>Courier New</vt:lpstr>
      <vt:lpstr>Monotype Corsiva</vt:lpstr>
      <vt:lpstr>Tahoma</vt:lpstr>
      <vt:lpstr>Times New Roman</vt:lpstr>
      <vt:lpstr>Verdana</vt:lpstr>
      <vt:lpstr>Wingdings</vt:lpstr>
      <vt:lpstr>Office Theme</vt:lpstr>
      <vt:lpstr>Bitmap Image</vt:lpstr>
      <vt:lpstr>Equation</vt:lpstr>
      <vt:lpstr>PowerPoint Presentation</vt:lpstr>
      <vt:lpstr>We are going to discuss….</vt:lpstr>
      <vt:lpstr>History of Ant Colony Optimization</vt:lpstr>
      <vt:lpstr>Real Ant’s Behavior</vt:lpstr>
      <vt:lpstr>Real Ant’s Behavior</vt:lpstr>
      <vt:lpstr>The Concept of Ant System</vt:lpstr>
      <vt:lpstr>The Concept of Ant System</vt:lpstr>
      <vt:lpstr>The Concept of Ant System</vt:lpstr>
      <vt:lpstr>Ant Colony Algorithms</vt:lpstr>
      <vt:lpstr>How Ants find foods</vt:lpstr>
      <vt:lpstr>How Ants find foods</vt:lpstr>
      <vt:lpstr>How Ants find foods</vt:lpstr>
      <vt:lpstr>How Ants find foods</vt:lpstr>
      <vt:lpstr>How Ants find foods</vt:lpstr>
      <vt:lpstr>How Ants find foods</vt:lpstr>
      <vt:lpstr>How Ants find foods</vt:lpstr>
      <vt:lpstr>Ant System (AS)</vt:lpstr>
      <vt:lpstr>Ant Systems (AS) </vt:lpstr>
      <vt:lpstr>Tour Construction</vt:lpstr>
      <vt:lpstr>Trail pheromone in AS </vt:lpstr>
      <vt:lpstr>Pheromone Update Rule</vt:lpstr>
      <vt:lpstr>Pheromone Update Rule </vt:lpstr>
      <vt:lpstr>Key Parameters</vt:lpstr>
      <vt:lpstr>Example of a Simple AS to solve TSP</vt:lpstr>
      <vt:lpstr>Example of a Simple AS to solve TSP</vt:lpstr>
      <vt:lpstr>Example of a Simple AS to solve TSP</vt:lpstr>
      <vt:lpstr>Example of a Simple AS to solve TSP</vt:lpstr>
      <vt:lpstr>Example of a Simple AS to solve TSP</vt:lpstr>
      <vt:lpstr>Example of a Simple AS to solve TSP</vt:lpstr>
      <vt:lpstr>Example of a Simple AS to solve TSP</vt:lpstr>
      <vt:lpstr>Example of a Simple AS to solve TSP</vt:lpstr>
      <vt:lpstr>Application of ACO</vt:lpstr>
      <vt:lpstr>PowerPoint Presentation</vt:lpstr>
      <vt:lpstr>Another ACO  Flowchart for TSP</vt:lpstr>
      <vt:lpstr>ACO Algorithm for TSP</vt:lpstr>
      <vt:lpstr>Advantage and Disadvantages</vt:lpstr>
      <vt:lpstr>Advantage and Disadvantages</vt:lpstr>
      <vt:lpstr>Advantage and Disadvantages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 Colony Optimization</dc:title>
  <dc:creator>Apsis-Forhad</dc:creator>
  <cp:lastModifiedBy>SOURAV DEBNATH</cp:lastModifiedBy>
  <cp:revision>83</cp:revision>
  <dcterms:created xsi:type="dcterms:W3CDTF">2012-12-22T13:14:38Z</dcterms:created>
  <dcterms:modified xsi:type="dcterms:W3CDTF">2025-09-15T11:57:13Z</dcterms:modified>
</cp:coreProperties>
</file>