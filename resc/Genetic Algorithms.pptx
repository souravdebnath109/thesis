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8" r:id="rId1"/>
  </p:sldMasterIdLst>
  <p:notesMasterIdLst>
    <p:notesMasterId r:id="rId80"/>
  </p:notesMasterIdLst>
  <p:sldIdLst>
    <p:sldId id="278" r:id="rId2"/>
    <p:sldId id="319" r:id="rId3"/>
    <p:sldId id="317" r:id="rId4"/>
    <p:sldId id="321" r:id="rId5"/>
    <p:sldId id="291" r:id="rId6"/>
    <p:sldId id="340" r:id="rId7"/>
    <p:sldId id="257" r:id="rId8"/>
    <p:sldId id="261" r:id="rId9"/>
    <p:sldId id="259" r:id="rId10"/>
    <p:sldId id="279" r:id="rId11"/>
    <p:sldId id="256" r:id="rId12"/>
    <p:sldId id="281" r:id="rId13"/>
    <p:sldId id="258" r:id="rId14"/>
    <p:sldId id="280" r:id="rId15"/>
    <p:sldId id="262" r:id="rId16"/>
    <p:sldId id="263" r:id="rId17"/>
    <p:sldId id="264" r:id="rId18"/>
    <p:sldId id="274" r:id="rId19"/>
    <p:sldId id="283" r:id="rId20"/>
    <p:sldId id="282" r:id="rId21"/>
    <p:sldId id="284" r:id="rId22"/>
    <p:sldId id="266" r:id="rId23"/>
    <p:sldId id="267" r:id="rId24"/>
    <p:sldId id="268" r:id="rId25"/>
    <p:sldId id="285" r:id="rId26"/>
    <p:sldId id="286" r:id="rId27"/>
    <p:sldId id="269" r:id="rId28"/>
    <p:sldId id="287" r:id="rId29"/>
    <p:sldId id="270" r:id="rId30"/>
    <p:sldId id="276" r:id="rId31"/>
    <p:sldId id="288" r:id="rId32"/>
    <p:sldId id="289" r:id="rId33"/>
    <p:sldId id="290" r:id="rId34"/>
    <p:sldId id="272" r:id="rId35"/>
    <p:sldId id="277" r:id="rId36"/>
    <p:sldId id="292" r:id="rId37"/>
    <p:sldId id="293" r:id="rId38"/>
    <p:sldId id="294" r:id="rId39"/>
    <p:sldId id="295" r:id="rId40"/>
    <p:sldId id="325" r:id="rId41"/>
    <p:sldId id="326" r:id="rId42"/>
    <p:sldId id="327" r:id="rId43"/>
    <p:sldId id="328" r:id="rId44"/>
    <p:sldId id="329" r:id="rId45"/>
    <p:sldId id="297" r:id="rId46"/>
    <p:sldId id="296" r:id="rId47"/>
    <p:sldId id="298" r:id="rId48"/>
    <p:sldId id="299" r:id="rId49"/>
    <p:sldId id="300" r:id="rId50"/>
    <p:sldId id="301" r:id="rId51"/>
    <p:sldId id="302" r:id="rId52"/>
    <p:sldId id="303" r:id="rId53"/>
    <p:sldId id="304" r:id="rId54"/>
    <p:sldId id="306" r:id="rId55"/>
    <p:sldId id="305" r:id="rId56"/>
    <p:sldId id="307" r:id="rId57"/>
    <p:sldId id="308" r:id="rId58"/>
    <p:sldId id="309" r:id="rId59"/>
    <p:sldId id="310" r:id="rId60"/>
    <p:sldId id="313" r:id="rId61"/>
    <p:sldId id="314" r:id="rId62"/>
    <p:sldId id="311" r:id="rId63"/>
    <p:sldId id="315" r:id="rId64"/>
    <p:sldId id="312" r:id="rId65"/>
    <p:sldId id="316" r:id="rId66"/>
    <p:sldId id="330" r:id="rId67"/>
    <p:sldId id="331" r:id="rId68"/>
    <p:sldId id="332" r:id="rId69"/>
    <p:sldId id="333" r:id="rId70"/>
    <p:sldId id="334" r:id="rId71"/>
    <p:sldId id="335" r:id="rId72"/>
    <p:sldId id="336" r:id="rId73"/>
    <p:sldId id="337" r:id="rId74"/>
    <p:sldId id="338" r:id="rId75"/>
    <p:sldId id="339" r:id="rId76"/>
    <p:sldId id="322" r:id="rId77"/>
    <p:sldId id="323" r:id="rId78"/>
    <p:sldId id="324" r:id="rId79"/>
  </p:sldIdLst>
  <p:sldSz cx="9144000" cy="6858000" type="screen4x3"/>
  <p:notesSz cx="6858000" cy="9947275"/>
  <p:defaultTextStyle>
    <a:defPPr>
      <a:defRPr lang="en-US"/>
    </a:defPPr>
    <a:lvl1pPr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4000" b="1" kern="1200">
        <a:solidFill>
          <a:schemeClr val="tx1"/>
        </a:solidFill>
        <a:latin typeface="Arial" panose="020B0604020202020204" pitchFamily="34" charset="0"/>
        <a:ea typeface="+mn-ea"/>
        <a:cs typeface="+mn-cs"/>
      </a:defRPr>
    </a:lvl5pPr>
    <a:lvl6pPr marL="2286000" algn="l" defTabSz="914400" rtl="0" eaLnBrk="1" latinLnBrk="0" hangingPunct="1">
      <a:defRPr sz="4000" b="1" kern="1200">
        <a:solidFill>
          <a:schemeClr val="tx1"/>
        </a:solidFill>
        <a:latin typeface="Arial" panose="020B0604020202020204" pitchFamily="34" charset="0"/>
        <a:ea typeface="+mn-ea"/>
        <a:cs typeface="+mn-cs"/>
      </a:defRPr>
    </a:lvl6pPr>
    <a:lvl7pPr marL="2743200" algn="l" defTabSz="914400" rtl="0" eaLnBrk="1" latinLnBrk="0" hangingPunct="1">
      <a:defRPr sz="4000" b="1" kern="1200">
        <a:solidFill>
          <a:schemeClr val="tx1"/>
        </a:solidFill>
        <a:latin typeface="Arial" panose="020B0604020202020204" pitchFamily="34" charset="0"/>
        <a:ea typeface="+mn-ea"/>
        <a:cs typeface="+mn-cs"/>
      </a:defRPr>
    </a:lvl7pPr>
    <a:lvl8pPr marL="3200400" algn="l" defTabSz="914400" rtl="0" eaLnBrk="1" latinLnBrk="0" hangingPunct="1">
      <a:defRPr sz="4000" b="1" kern="1200">
        <a:solidFill>
          <a:schemeClr val="tx1"/>
        </a:solidFill>
        <a:latin typeface="Arial" panose="020B0604020202020204" pitchFamily="34" charset="0"/>
        <a:ea typeface="+mn-ea"/>
        <a:cs typeface="+mn-cs"/>
      </a:defRPr>
    </a:lvl8pPr>
    <a:lvl9pPr marL="3657600" algn="l" defTabSz="914400" rtl="0" eaLnBrk="1" latinLnBrk="0" hangingPunct="1">
      <a:defRPr sz="4000" b="1"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CC3300"/>
    <a:srgbClr val="DDDDDD"/>
    <a:srgbClr val="FF3300"/>
    <a:srgbClr val="996633"/>
    <a:srgbClr val="FF66FF"/>
    <a:srgbClr val="99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6433" autoAdjust="0"/>
  </p:normalViewPr>
  <p:slideViewPr>
    <p:cSldViewPr>
      <p:cViewPr>
        <p:scale>
          <a:sx n="100" d="100"/>
          <a:sy n="100" d="100"/>
        </p:scale>
        <p:origin x="1914" y="354"/>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0638"/>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4.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5.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55.v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image" Target="../media/image14.w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6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63.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64.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65.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66.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67.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68.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69.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70.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7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72.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73.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74.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75.vml.rels><?xml version="1.0" encoding="UTF-8" standalone="yes"?>
<Relationships xmlns="http://schemas.openxmlformats.org/package/2006/relationships"><Relationship Id="rId1" Type="http://schemas.openxmlformats.org/officeDocument/2006/relationships/image" Target="../media/image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defRPr sz="1200" b="0">
                <a:latin typeface="Arial" charset="0"/>
              </a:defRPr>
            </a:lvl1pPr>
          </a:lstStyle>
          <a:p>
            <a:pPr>
              <a:defRPr/>
            </a:pPr>
            <a:endParaRPr lang="en-US"/>
          </a:p>
        </p:txBody>
      </p:sp>
      <p:sp>
        <p:nvSpPr>
          <p:cNvPr id="4099" name="Rectangle 3"/>
          <p:cNvSpPr>
            <a:spLocks noGrp="1" noChangeArrowheads="1"/>
          </p:cNvSpPr>
          <p:nvPr>
            <p:ph type="dt" idx="1"/>
          </p:nvPr>
        </p:nvSpPr>
        <p:spPr bwMode="auto">
          <a:xfrm>
            <a:off x="3884613" y="0"/>
            <a:ext cx="2971800"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latin typeface="Arial" charset="0"/>
              </a:defRPr>
            </a:lvl1pPr>
          </a:lstStyle>
          <a:p>
            <a:pPr>
              <a:defRPr/>
            </a:pPr>
            <a:endParaRPr lang="en-US"/>
          </a:p>
        </p:txBody>
      </p:sp>
      <p:sp>
        <p:nvSpPr>
          <p:cNvPr id="3076" name="Rectangle 4"/>
          <p:cNvSpPr>
            <a:spLocks noRot="1" noChangeArrowheads="1" noTextEdit="1"/>
          </p:cNvSpPr>
          <p:nvPr>
            <p:ph type="sldImg" idx="2"/>
          </p:nvPr>
        </p:nvSpPr>
        <p:spPr bwMode="auto">
          <a:xfrm>
            <a:off x="942975" y="746125"/>
            <a:ext cx="4972050" cy="37306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685800" y="4724400"/>
            <a:ext cx="5486400" cy="44767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4102" name="Rectangle 6"/>
          <p:cNvSpPr>
            <a:spLocks noGrp="1" noChangeArrowheads="1"/>
          </p:cNvSpPr>
          <p:nvPr>
            <p:ph type="ftr" sz="quarter" idx="4"/>
          </p:nvPr>
        </p:nvSpPr>
        <p:spPr bwMode="auto">
          <a:xfrm>
            <a:off x="0" y="9448800"/>
            <a:ext cx="29718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b="0">
                <a:latin typeface="Arial" charset="0"/>
              </a:defRPr>
            </a:lvl1pPr>
          </a:lstStyle>
          <a:p>
            <a:pPr>
              <a:defRPr/>
            </a:pPr>
            <a:endParaRPr lang="en-US"/>
          </a:p>
        </p:txBody>
      </p:sp>
      <p:sp>
        <p:nvSpPr>
          <p:cNvPr id="4103" name="Rectangle 7"/>
          <p:cNvSpPr>
            <a:spLocks noGrp="1" noChangeArrowheads="1"/>
          </p:cNvSpPr>
          <p:nvPr>
            <p:ph type="sldNum" sz="quarter" idx="5"/>
          </p:nvPr>
        </p:nvSpPr>
        <p:spPr bwMode="auto">
          <a:xfrm>
            <a:off x="3884613" y="9448800"/>
            <a:ext cx="2971800"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vl1pPr>
          </a:lstStyle>
          <a:p>
            <a:pPr>
              <a:defRPr/>
            </a:pPr>
            <a:fld id="{FDB3EC75-990F-4522-8306-5F1403AEC5C3}" type="slidenum">
              <a:rPr lang="en-US"/>
              <a:pPr>
                <a:defRPr/>
              </a:pPr>
              <a:t>‹#›</a:t>
            </a:fld>
            <a:endParaRPr lang="en-US"/>
          </a:p>
        </p:txBody>
      </p:sp>
    </p:spTree>
    <p:extLst>
      <p:ext uri="{BB962C8B-B14F-4D97-AF65-F5344CB8AC3E}">
        <p14:creationId xmlns:p14="http://schemas.microsoft.com/office/powerpoint/2010/main" val="260503228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87FB5F60-C995-42C7-A8A7-72BB790D26B1}" type="slidenum">
              <a:rPr lang="en-US" altLang="en-US" smtClean="0"/>
              <a:pPr>
                <a:spcBef>
                  <a:spcPct val="0"/>
                </a:spcBef>
              </a:pPr>
              <a:t>7</a:t>
            </a:fld>
            <a:endParaRPr lang="en-US" altLang="en-US" smtClean="0"/>
          </a:p>
        </p:txBody>
      </p:sp>
      <p:sp>
        <p:nvSpPr>
          <p:cNvPr id="11267" name="Rectangle 2"/>
          <p:cNvSpPr>
            <a:spLocks noRot="1" noChangeArrowheads="1" noTextEdit="1"/>
          </p:cNvSpPr>
          <p:nvPr>
            <p:ph type="sldImg"/>
          </p:nvPr>
        </p:nvSpPr>
        <p:spPr>
          <a:ln/>
        </p:spPr>
      </p:sp>
      <p:sp>
        <p:nvSpPr>
          <p:cNvPr id="112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Arial" panose="020B0604020202020204" pitchFamily="34" charset="0"/>
              </a:rPr>
              <a:t>Darwin’s principle of Natural Selection can be stated very simply as “ select the best and discard the rest”.</a:t>
            </a:r>
          </a:p>
          <a:p>
            <a:pPr eaLnBrk="1" hangingPunct="1"/>
            <a:r>
              <a:rPr lang="en-US" altLang="en-US" smtClean="0">
                <a:latin typeface="Arial" panose="020B0604020202020204" pitchFamily="34" charset="0"/>
              </a:rPr>
              <a:t>Let us consider an example. Consider a population of animals of a particular species in a jungle. This population of animals has some animals which are stronger than the others and have characteristics that help them survive better in that environment as compared to the others. Now, the resources, like food,water,etc in the jungle are limited. So, these animals have to compete with one another for these resources. Ultimately, only the strongest, or fittest individuals survive and the rest perish. In other words, in this “struggle for existence” , nature selects the best, and discards the rest.</a:t>
            </a:r>
          </a:p>
          <a:p>
            <a:pPr eaLnBrk="1" hangingPunct="1"/>
            <a:r>
              <a:rPr lang="en-US" altLang="en-US" smtClean="0">
                <a:latin typeface="Arial" panose="020B0604020202020204" pitchFamily="34" charset="0"/>
              </a:rPr>
              <a:t>Now, these surviving animals mate amongst themselves and propagate their favorable characteristics from one generation to another.</a:t>
            </a:r>
          </a:p>
          <a:p>
            <a:pPr eaLnBrk="1" hangingPunct="1"/>
            <a:r>
              <a:rPr lang="en-US" altLang="en-US" smtClean="0">
                <a:latin typeface="Arial" panose="020B0604020202020204" pitchFamily="34" charset="0"/>
              </a:rPr>
              <a:t>What is mating? At the genetic level it can be seen as the crossover of 2 chrmosomes, one from each parent. They exchange some genetic matter and give rise to the new chromosome of the child that has both the parents’ features.Thus the favorable characteristics of the parents that helped them survive in that environment are propagated from one generation to the next till the species becomes best adapted to it’s environment. This is called evolution.</a:t>
            </a:r>
          </a:p>
        </p:txBody>
      </p:sp>
    </p:spTree>
    <p:extLst>
      <p:ext uri="{BB962C8B-B14F-4D97-AF65-F5344CB8AC3E}">
        <p14:creationId xmlns:p14="http://schemas.microsoft.com/office/powerpoint/2010/main" val="34425218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9CF4D2B9-BD19-414A-ADCC-37F1622C1BC0}" type="slidenum">
              <a:rPr lang="en-US" altLang="en-US" smtClean="0"/>
              <a:pPr>
                <a:spcBef>
                  <a:spcPct val="0"/>
                </a:spcBef>
              </a:pPr>
              <a:t>11</a:t>
            </a:fld>
            <a:endParaRPr lang="en-US" altLang="en-US" smtClean="0"/>
          </a:p>
        </p:txBody>
      </p:sp>
      <p:sp>
        <p:nvSpPr>
          <p:cNvPr id="16387" name="Rectangle 2"/>
          <p:cNvSpPr>
            <a:spLocks noRot="1" noChangeArrowheads="1" noTextEdit="1"/>
          </p:cNvSpPr>
          <p:nvPr>
            <p:ph type="sldImg"/>
          </p:nvPr>
        </p:nvSpPr>
        <p:spPr>
          <a:ln/>
        </p:spPr>
      </p:sp>
      <p:sp>
        <p:nvSpPr>
          <p:cNvPr id="163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Arial" panose="020B0604020202020204" pitchFamily="34" charset="0"/>
              </a:rPr>
              <a:t>What exactly are Genetic Algorithms?</a:t>
            </a:r>
          </a:p>
          <a:p>
            <a:pPr eaLnBrk="1" hangingPunct="1"/>
            <a:r>
              <a:rPr lang="en-US" altLang="en-US" smtClean="0">
                <a:latin typeface="Arial" panose="020B0604020202020204" pitchFamily="34" charset="0"/>
              </a:rPr>
              <a:t>As the name suggests, Genetic Algorithms or Gas borrow their basic working principle from natural genetics.</a:t>
            </a:r>
          </a:p>
          <a:p>
            <a:pPr eaLnBrk="1" hangingPunct="1"/>
            <a:r>
              <a:rPr lang="en-US" altLang="en-US" smtClean="0">
                <a:latin typeface="Arial" panose="020B0604020202020204" pitchFamily="34" charset="0"/>
              </a:rPr>
              <a:t>Genetic Algorithms are search and optimization methods based on Darwin’s principle of Natural Selection.</a:t>
            </a:r>
          </a:p>
        </p:txBody>
      </p:sp>
    </p:spTree>
    <p:extLst>
      <p:ext uri="{BB962C8B-B14F-4D97-AF65-F5344CB8AC3E}">
        <p14:creationId xmlns:p14="http://schemas.microsoft.com/office/powerpoint/2010/main" val="17083033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637A0F16-EA3E-4400-BB89-9CF749180F3F}" type="slidenum">
              <a:rPr lang="en-US" altLang="en-US" smtClean="0"/>
              <a:pPr>
                <a:spcBef>
                  <a:spcPct val="0"/>
                </a:spcBef>
              </a:pPr>
              <a:t>13</a:t>
            </a:fld>
            <a:endParaRPr lang="en-US" altLang="en-US" smtClean="0"/>
          </a:p>
        </p:txBody>
      </p:sp>
      <p:sp>
        <p:nvSpPr>
          <p:cNvPr id="19459" name="Rectangle 2"/>
          <p:cNvSpPr>
            <a:spLocks noRot="1" noChangeArrowheads="1" noTextEdit="1"/>
          </p:cNvSpPr>
          <p:nvPr>
            <p:ph type="sldImg"/>
          </p:nvPr>
        </p:nvSpPr>
        <p:spPr>
          <a:ln/>
        </p:spPr>
      </p:sp>
      <p:sp>
        <p:nvSpPr>
          <p:cNvPr id="194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Arial" panose="020B0604020202020204" pitchFamily="34" charset="0"/>
              </a:rPr>
              <a:t>GAs implement optimization techniques by simulating this natural law of evolution in the biological world.</a:t>
            </a:r>
          </a:p>
          <a:p>
            <a:pPr eaLnBrk="1" hangingPunct="1"/>
            <a:r>
              <a:rPr lang="en-US" altLang="en-US" smtClean="0">
                <a:latin typeface="Arial" panose="020B0604020202020204" pitchFamily="34" charset="0"/>
              </a:rPr>
              <a:t>We start with a population of randomly generated solutions. Each of these solutions is evaluated to determine how good or bad it is. In other words to determine how “fit” that solution is. We then check a terminating condition, to see if our solutions are good enough? If yes, we stop. If not, we have to optimize the solutions.</a:t>
            </a:r>
          </a:p>
          <a:p>
            <a:pPr eaLnBrk="1" hangingPunct="1"/>
            <a:r>
              <a:rPr lang="en-US" altLang="en-US" smtClean="0">
                <a:latin typeface="Arial" panose="020B0604020202020204" pitchFamily="34" charset="0"/>
              </a:rPr>
              <a:t>So, we select the best solutions from the initial population (selection). This is similar to “natural selection”.</a:t>
            </a:r>
          </a:p>
          <a:p>
            <a:pPr eaLnBrk="1" hangingPunct="1"/>
            <a:r>
              <a:rPr lang="en-US" altLang="en-US" smtClean="0">
                <a:latin typeface="Arial" panose="020B0604020202020204" pitchFamily="34" charset="0"/>
              </a:rPr>
              <a:t>Then we allow these good solutions to exchange their information, in order to get even better solutions. This step is similar to reproduction among animals or crossover among chromosomes and is called “cross-over”. We may then randomly mutate some small % of the solutions thus obtained after crossover. </a:t>
            </a:r>
          </a:p>
          <a:p>
            <a:pPr eaLnBrk="1" hangingPunct="1"/>
            <a:r>
              <a:rPr lang="en-US" altLang="en-US" smtClean="0">
                <a:latin typeface="Arial" panose="020B0604020202020204" pitchFamily="34" charset="0"/>
              </a:rPr>
              <a:t>Mutation is very imp. It could be a bad thing, it could be a good thing. In the biological sense it mean, making a small change in a gene. In GAs, it means, making a small change to the solution.</a:t>
            </a:r>
          </a:p>
          <a:p>
            <a:pPr eaLnBrk="1" hangingPunct="1"/>
            <a:r>
              <a:rPr lang="en-US" altLang="en-US" smtClean="0">
                <a:latin typeface="Arial" panose="020B0604020202020204" pitchFamily="34" charset="0"/>
              </a:rPr>
              <a:t>Then again, we evaluate each of the solutions, and check the termination condition. As you see , this is an optimization method.</a:t>
            </a:r>
          </a:p>
        </p:txBody>
      </p:sp>
    </p:spTree>
    <p:extLst>
      <p:ext uri="{BB962C8B-B14F-4D97-AF65-F5344CB8AC3E}">
        <p14:creationId xmlns:p14="http://schemas.microsoft.com/office/powerpoint/2010/main" val="12523906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DC0F51F3-6A4D-422B-8246-DE329D26D77B}" type="slidenum">
              <a:rPr lang="en-US" altLang="en-US" smtClean="0"/>
              <a:pPr>
                <a:spcBef>
                  <a:spcPct val="0"/>
                </a:spcBef>
              </a:pPr>
              <a:t>15</a:t>
            </a:fld>
            <a:endParaRPr lang="en-US" altLang="en-US" smtClean="0"/>
          </a:p>
        </p:txBody>
      </p:sp>
      <p:sp>
        <p:nvSpPr>
          <p:cNvPr id="22531" name="Rectangle 2"/>
          <p:cNvSpPr>
            <a:spLocks noRot="1" noChangeArrowheads="1" noTextEdit="1"/>
          </p:cNvSpPr>
          <p:nvPr>
            <p:ph type="sldImg"/>
          </p:nvPr>
        </p:nvSpPr>
        <p:spPr>
          <a:ln/>
        </p:spPr>
      </p:sp>
      <p:sp>
        <p:nvSpPr>
          <p:cNvPr id="225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Arial" panose="020B0604020202020204" pitchFamily="34" charset="0"/>
              </a:rPr>
              <a:t>So after this discussion, it should be clear to you that Gas mimic the natural process of evolution to a large extent. To summarize the similarities , I have a slide here.</a:t>
            </a:r>
          </a:p>
        </p:txBody>
      </p:sp>
    </p:spTree>
    <p:extLst>
      <p:ext uri="{BB962C8B-B14F-4D97-AF65-F5344CB8AC3E}">
        <p14:creationId xmlns:p14="http://schemas.microsoft.com/office/powerpoint/2010/main" val="7198045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defRPr>
            </a:lvl1pPr>
            <a:lvl2pPr marL="742950" indent="-285750">
              <a:spcBef>
                <a:spcPct val="30000"/>
              </a:spcBef>
              <a:defRPr sz="1200">
                <a:solidFill>
                  <a:schemeClr val="tx1"/>
                </a:solidFill>
                <a:latin typeface="Arial" panose="020B0604020202020204" pitchFamily="34" charset="0"/>
              </a:defRPr>
            </a:lvl2pPr>
            <a:lvl3pPr marL="1143000" indent="-228600">
              <a:spcBef>
                <a:spcPct val="30000"/>
              </a:spcBef>
              <a:defRPr sz="1200">
                <a:solidFill>
                  <a:schemeClr val="tx1"/>
                </a:solidFill>
                <a:latin typeface="Arial" panose="020B0604020202020204" pitchFamily="34" charset="0"/>
              </a:defRPr>
            </a:lvl3pPr>
            <a:lvl4pPr marL="1600200" indent="-228600">
              <a:spcBef>
                <a:spcPct val="30000"/>
              </a:spcBef>
              <a:defRPr sz="1200">
                <a:solidFill>
                  <a:schemeClr val="tx1"/>
                </a:solidFill>
                <a:latin typeface="Arial" panose="020B0604020202020204" pitchFamily="34" charset="0"/>
              </a:defRPr>
            </a:lvl4pPr>
            <a:lvl5pPr marL="2057400" indent="-228600">
              <a:spcBef>
                <a:spcPct val="30000"/>
              </a:spcBef>
              <a:defRPr sz="1200">
                <a:solidFill>
                  <a:schemeClr val="tx1"/>
                </a:solidFill>
                <a:latin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defRPr>
            </a:lvl9pPr>
          </a:lstStyle>
          <a:p>
            <a:pPr>
              <a:spcBef>
                <a:spcPct val="0"/>
              </a:spcBef>
            </a:pPr>
            <a:fld id="{71210091-E804-47B8-8C82-1126F508AB50}" type="slidenum">
              <a:rPr lang="en-US" altLang="en-US" smtClean="0"/>
              <a:pPr>
                <a:spcBef>
                  <a:spcPct val="0"/>
                </a:spcBef>
              </a:pPr>
              <a:t>17</a:t>
            </a:fld>
            <a:endParaRPr lang="en-US" altLang="en-US" smtClean="0"/>
          </a:p>
        </p:txBody>
      </p:sp>
      <p:sp>
        <p:nvSpPr>
          <p:cNvPr id="25603" name="Rectangle 2"/>
          <p:cNvSpPr>
            <a:spLocks noRot="1" noChangeArrowheads="1" noTextEdit="1"/>
          </p:cNvSpPr>
          <p:nvPr>
            <p:ph type="sldImg"/>
          </p:nvPr>
        </p:nvSpPr>
        <p:spPr>
          <a:ln/>
        </p:spPr>
      </p:sp>
      <p:sp>
        <p:nvSpPr>
          <p:cNvPr id="256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smtClean="0">
                <a:latin typeface="Arial" panose="020B0604020202020204" pitchFamily="34" charset="0"/>
              </a:rPr>
              <a:t>The very first step in Gas, is coming up with a random population of solutions. Each of these solutions is represented in the form of a string and this process is called encoding.</a:t>
            </a:r>
          </a:p>
          <a:p>
            <a:pPr eaLnBrk="1" hangingPunct="1"/>
            <a:r>
              <a:rPr lang="en-US" altLang="en-US" smtClean="0">
                <a:latin typeface="Arial" panose="020B0604020202020204" pitchFamily="34" charset="0"/>
              </a:rPr>
              <a:t>Just as we have chromosomes in animals that are made up of a string of genes, similarly the solutions in Gas are represnted in the form of strings, which are made up of characters, each of which stand for and control a particular aspect of the solution.</a:t>
            </a:r>
          </a:p>
          <a:p>
            <a:pPr eaLnBrk="1" hangingPunct="1"/>
            <a:r>
              <a:rPr lang="en-US" altLang="en-US" smtClean="0">
                <a:latin typeface="Arial" panose="020B0604020202020204" pitchFamily="34" charset="0"/>
              </a:rPr>
              <a:t>There are many methods of encoding, the common ones are binary encoding, real encoding ,etc. The method chosen depends on the problem at hand.</a:t>
            </a:r>
          </a:p>
          <a:p>
            <a:pPr eaLnBrk="1" hangingPunct="1"/>
            <a:endParaRPr lang="en-US" altLang="en-US" smtClean="0">
              <a:latin typeface="Arial" panose="020B0604020202020204" pitchFamily="34" charset="0"/>
            </a:endParaRPr>
          </a:p>
        </p:txBody>
      </p:sp>
    </p:spTree>
    <p:extLst>
      <p:ext uri="{BB962C8B-B14F-4D97-AF65-F5344CB8AC3E}">
        <p14:creationId xmlns:p14="http://schemas.microsoft.com/office/powerpoint/2010/main" val="4358721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ln/>
        </p:spPr>
      </p:sp>
      <p:sp>
        <p:nvSpPr>
          <p:cNvPr id="6758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ndParaRPr>
          </a:p>
        </p:txBody>
      </p:sp>
      <p:sp>
        <p:nvSpPr>
          <p:cNvPr id="6758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000" b="1">
                <a:solidFill>
                  <a:schemeClr val="tx1"/>
                </a:solidFill>
                <a:latin typeface="Arial" panose="020B0604020202020204" pitchFamily="34" charset="0"/>
              </a:defRPr>
            </a:lvl1pPr>
            <a:lvl2pPr marL="742950" indent="-285750">
              <a:defRPr sz="4000" b="1">
                <a:solidFill>
                  <a:schemeClr val="tx1"/>
                </a:solidFill>
                <a:latin typeface="Arial" panose="020B0604020202020204" pitchFamily="34" charset="0"/>
              </a:defRPr>
            </a:lvl2pPr>
            <a:lvl3pPr marL="1143000" indent="-228600">
              <a:defRPr sz="4000" b="1">
                <a:solidFill>
                  <a:schemeClr val="tx1"/>
                </a:solidFill>
                <a:latin typeface="Arial" panose="020B0604020202020204" pitchFamily="34" charset="0"/>
              </a:defRPr>
            </a:lvl3pPr>
            <a:lvl4pPr marL="1600200" indent="-228600">
              <a:defRPr sz="4000" b="1">
                <a:solidFill>
                  <a:schemeClr val="tx1"/>
                </a:solidFill>
                <a:latin typeface="Arial" panose="020B0604020202020204" pitchFamily="34" charset="0"/>
              </a:defRPr>
            </a:lvl4pPr>
            <a:lvl5pPr marL="2057400" indent="-228600">
              <a:defRPr sz="4000" b="1">
                <a:solidFill>
                  <a:schemeClr val="tx1"/>
                </a:solidFill>
                <a:latin typeface="Arial" panose="020B0604020202020204" pitchFamily="34" charset="0"/>
              </a:defRPr>
            </a:lvl5pPr>
            <a:lvl6pPr marL="2514600" indent="-228600" eaLnBrk="0" fontAlgn="base" hangingPunct="0">
              <a:spcBef>
                <a:spcPct val="0"/>
              </a:spcBef>
              <a:spcAft>
                <a:spcPct val="0"/>
              </a:spcAft>
              <a:defRPr sz="4000" b="1">
                <a:solidFill>
                  <a:schemeClr val="tx1"/>
                </a:solidFill>
                <a:latin typeface="Arial" panose="020B0604020202020204" pitchFamily="34" charset="0"/>
              </a:defRPr>
            </a:lvl6pPr>
            <a:lvl7pPr marL="2971800" indent="-228600" eaLnBrk="0" fontAlgn="base" hangingPunct="0">
              <a:spcBef>
                <a:spcPct val="0"/>
              </a:spcBef>
              <a:spcAft>
                <a:spcPct val="0"/>
              </a:spcAft>
              <a:defRPr sz="4000" b="1">
                <a:solidFill>
                  <a:schemeClr val="tx1"/>
                </a:solidFill>
                <a:latin typeface="Arial" panose="020B0604020202020204" pitchFamily="34" charset="0"/>
              </a:defRPr>
            </a:lvl7pPr>
            <a:lvl8pPr marL="3429000" indent="-228600" eaLnBrk="0" fontAlgn="base" hangingPunct="0">
              <a:spcBef>
                <a:spcPct val="0"/>
              </a:spcBef>
              <a:spcAft>
                <a:spcPct val="0"/>
              </a:spcAft>
              <a:defRPr sz="4000" b="1">
                <a:solidFill>
                  <a:schemeClr val="tx1"/>
                </a:solidFill>
                <a:latin typeface="Arial" panose="020B0604020202020204" pitchFamily="34" charset="0"/>
              </a:defRPr>
            </a:lvl8pPr>
            <a:lvl9pPr marL="3886200" indent="-228600" eaLnBrk="0" fontAlgn="base" hangingPunct="0">
              <a:spcBef>
                <a:spcPct val="0"/>
              </a:spcBef>
              <a:spcAft>
                <a:spcPct val="0"/>
              </a:spcAft>
              <a:defRPr sz="4000" b="1">
                <a:solidFill>
                  <a:schemeClr val="tx1"/>
                </a:solidFill>
                <a:latin typeface="Arial" panose="020B0604020202020204" pitchFamily="34" charset="0"/>
              </a:defRPr>
            </a:lvl9pPr>
          </a:lstStyle>
          <a:p>
            <a:fld id="{CCFEC845-0EA0-405A-803E-AC364B4D4842}" type="slidenum">
              <a:rPr lang="en-US" altLang="en-US" sz="1200" b="0" smtClean="0"/>
              <a:pPr/>
              <a:t>57</a:t>
            </a:fld>
            <a:endParaRPr lang="en-US" altLang="en-US" sz="1200" b="0" smtClean="0"/>
          </a:p>
        </p:txBody>
      </p:sp>
    </p:spTree>
    <p:extLst>
      <p:ext uri="{BB962C8B-B14F-4D97-AF65-F5344CB8AC3E}">
        <p14:creationId xmlns:p14="http://schemas.microsoft.com/office/powerpoint/2010/main" val="10651021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Freeform 7"/>
          <p:cNvSpPr>
            <a:spLocks noChangeArrowheads="1"/>
          </p:cNvSpPr>
          <p:nvPr/>
        </p:nvSpPr>
        <p:spPr bwMode="auto">
          <a:xfrm>
            <a:off x="609600" y="1219200"/>
            <a:ext cx="7924800" cy="9144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2540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5" name="Line 8"/>
          <p:cNvSpPr>
            <a:spLocks noChangeShapeType="1"/>
          </p:cNvSpPr>
          <p:nvPr/>
        </p:nvSpPr>
        <p:spPr bwMode="auto">
          <a:xfrm>
            <a:off x="1981200" y="3962400"/>
            <a:ext cx="6511925"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35170" name="Rectangle 2"/>
          <p:cNvSpPr>
            <a:spLocks noGrp="1" noChangeArrowheads="1"/>
          </p:cNvSpPr>
          <p:nvPr>
            <p:ph type="ctrTitle"/>
          </p:nvPr>
        </p:nvSpPr>
        <p:spPr>
          <a:xfrm>
            <a:off x="914400" y="1524000"/>
            <a:ext cx="7623175" cy="1752600"/>
          </a:xfrm>
        </p:spPr>
        <p:txBody>
          <a:bodyPr/>
          <a:lstStyle>
            <a:lvl1pPr>
              <a:defRPr sz="5000"/>
            </a:lvl1pPr>
          </a:lstStyle>
          <a:p>
            <a:r>
              <a:rPr lang="en-US" altLang="en-US"/>
              <a:t>Click to edit Master title style</a:t>
            </a:r>
          </a:p>
        </p:txBody>
      </p:sp>
      <p:sp>
        <p:nvSpPr>
          <p:cNvPr id="135171" name="Rectangle 3"/>
          <p:cNvSpPr>
            <a:spLocks noGrp="1" noChangeArrowheads="1"/>
          </p:cNvSpPr>
          <p:nvPr>
            <p:ph type="subTitle" idx="1"/>
          </p:nvPr>
        </p:nvSpPr>
        <p:spPr>
          <a:xfrm>
            <a:off x="1981200" y="3962400"/>
            <a:ext cx="6553200" cy="1752600"/>
          </a:xfrm>
        </p:spPr>
        <p:txBody>
          <a:bodyPr/>
          <a:lstStyle>
            <a:lvl1pPr marL="0" indent="0">
              <a:buFont typeface="Wingdings" pitchFamily="2" charset="2"/>
              <a:buNone/>
              <a:defRPr sz="2800"/>
            </a:lvl1pPr>
          </a:lstStyle>
          <a:p>
            <a:r>
              <a:rPr lang="en-US" altLang="en-US"/>
              <a:t>Click to edit Master subtitle style</a:t>
            </a:r>
          </a:p>
        </p:txBody>
      </p:sp>
      <p:sp>
        <p:nvSpPr>
          <p:cNvPr id="6" name="Rectangle 4"/>
          <p:cNvSpPr>
            <a:spLocks noGrp="1" noChangeArrowheads="1"/>
          </p:cNvSpPr>
          <p:nvPr>
            <p:ph type="dt" sz="half" idx="10"/>
          </p:nvPr>
        </p:nvSpPr>
        <p:spPr/>
        <p:txBody>
          <a:bodyPr/>
          <a:lstStyle>
            <a:lvl1pPr>
              <a:defRPr/>
            </a:lvl1pPr>
          </a:lstStyle>
          <a:p>
            <a:pPr>
              <a:defRPr/>
            </a:pPr>
            <a:endParaRPr lang="en-US" altLang="en-US"/>
          </a:p>
        </p:txBody>
      </p:sp>
      <p:sp>
        <p:nvSpPr>
          <p:cNvPr id="7" name="Rectangle 5"/>
          <p:cNvSpPr>
            <a:spLocks noGrp="1" noChangeArrowheads="1"/>
          </p:cNvSpPr>
          <p:nvPr>
            <p:ph type="ftr" sz="quarter" idx="11"/>
          </p:nvPr>
        </p:nvSpPr>
        <p:spPr>
          <a:xfrm>
            <a:off x="3124200" y="6243638"/>
            <a:ext cx="2895600" cy="457200"/>
          </a:xfrm>
        </p:spPr>
        <p:txBody>
          <a:bodyPr/>
          <a:lstStyle>
            <a:lvl1pPr>
              <a:defRPr/>
            </a:lvl1pPr>
          </a:lstStyle>
          <a:p>
            <a:pPr>
              <a:defRPr/>
            </a:pPr>
            <a:r>
              <a:rPr lang="en-US" altLang="en-US"/>
              <a:t>GAs By Chhavi Kashyap</a:t>
            </a:r>
          </a:p>
        </p:txBody>
      </p:sp>
      <p:sp>
        <p:nvSpPr>
          <p:cNvPr id="8" name="Rectangle 6"/>
          <p:cNvSpPr>
            <a:spLocks noGrp="1" noChangeArrowheads="1"/>
          </p:cNvSpPr>
          <p:nvPr>
            <p:ph type="sldNum" sz="quarter" idx="12"/>
          </p:nvPr>
        </p:nvSpPr>
        <p:spPr/>
        <p:txBody>
          <a:bodyPr/>
          <a:lstStyle>
            <a:lvl1pPr>
              <a:defRPr/>
            </a:lvl1pPr>
          </a:lstStyle>
          <a:p>
            <a:pPr>
              <a:defRPr/>
            </a:pPr>
            <a:fld id="{4F7ACCB4-860F-4AEF-9907-73B36EE1A151}" type="slidenum">
              <a:rPr lang="en-US" altLang="en-US"/>
              <a:pPr>
                <a:defRPr/>
              </a:pPr>
              <a:t>‹#›</a:t>
            </a:fld>
            <a:endParaRPr lang="en-US" altLang="en-US"/>
          </a:p>
        </p:txBody>
      </p:sp>
    </p:spTree>
    <p:extLst>
      <p:ext uri="{BB962C8B-B14F-4D97-AF65-F5344CB8AC3E}">
        <p14:creationId xmlns:p14="http://schemas.microsoft.com/office/powerpoint/2010/main" val="30081610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a:t>GAs By Chhavi Kashyap</a:t>
            </a:r>
          </a:p>
        </p:txBody>
      </p:sp>
      <p:sp>
        <p:nvSpPr>
          <p:cNvPr id="6" name="Rectangle 6"/>
          <p:cNvSpPr>
            <a:spLocks noGrp="1" noChangeArrowheads="1"/>
          </p:cNvSpPr>
          <p:nvPr>
            <p:ph type="sldNum" sz="quarter" idx="12"/>
          </p:nvPr>
        </p:nvSpPr>
        <p:spPr>
          <a:ln/>
        </p:spPr>
        <p:txBody>
          <a:bodyPr/>
          <a:lstStyle>
            <a:lvl1pPr>
              <a:defRPr/>
            </a:lvl1pPr>
          </a:lstStyle>
          <a:p>
            <a:pPr>
              <a:defRPr/>
            </a:pPr>
            <a:fld id="{EF70AD0F-B1EC-4A81-A566-EE3DE2BC92CA}" type="slidenum">
              <a:rPr lang="en-US" altLang="en-US"/>
              <a:pPr>
                <a:defRPr/>
              </a:pPr>
              <a:t>‹#›</a:t>
            </a:fld>
            <a:endParaRPr lang="en-US" altLang="en-US"/>
          </a:p>
        </p:txBody>
      </p:sp>
    </p:spTree>
    <p:extLst>
      <p:ext uri="{BB962C8B-B14F-4D97-AF65-F5344CB8AC3E}">
        <p14:creationId xmlns:p14="http://schemas.microsoft.com/office/powerpoint/2010/main" val="3509483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a:t>GAs By Chhavi Kashyap</a:t>
            </a:r>
          </a:p>
        </p:txBody>
      </p:sp>
      <p:sp>
        <p:nvSpPr>
          <p:cNvPr id="6" name="Rectangle 6"/>
          <p:cNvSpPr>
            <a:spLocks noGrp="1" noChangeArrowheads="1"/>
          </p:cNvSpPr>
          <p:nvPr>
            <p:ph type="sldNum" sz="quarter" idx="12"/>
          </p:nvPr>
        </p:nvSpPr>
        <p:spPr>
          <a:ln/>
        </p:spPr>
        <p:txBody>
          <a:bodyPr/>
          <a:lstStyle>
            <a:lvl1pPr>
              <a:defRPr/>
            </a:lvl1pPr>
          </a:lstStyle>
          <a:p>
            <a:pPr>
              <a:defRPr/>
            </a:pPr>
            <a:fld id="{94635D2B-64AD-4B9A-8354-C03F8874AA06}" type="slidenum">
              <a:rPr lang="en-US" altLang="en-US"/>
              <a:pPr>
                <a:defRPr/>
              </a:pPr>
              <a:t>‹#›</a:t>
            </a:fld>
            <a:endParaRPr lang="en-US" altLang="en-US"/>
          </a:p>
        </p:txBody>
      </p:sp>
    </p:spTree>
    <p:extLst>
      <p:ext uri="{BB962C8B-B14F-4D97-AF65-F5344CB8AC3E}">
        <p14:creationId xmlns:p14="http://schemas.microsoft.com/office/powerpoint/2010/main" val="1019855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en-US"/>
              <a:t>GAs By Chhavi Kashyap</a:t>
            </a:r>
          </a:p>
        </p:txBody>
      </p:sp>
      <p:sp>
        <p:nvSpPr>
          <p:cNvPr id="7" name="Rectangle 6"/>
          <p:cNvSpPr>
            <a:spLocks noGrp="1" noChangeArrowheads="1"/>
          </p:cNvSpPr>
          <p:nvPr>
            <p:ph type="sldNum" sz="quarter" idx="12"/>
          </p:nvPr>
        </p:nvSpPr>
        <p:spPr>
          <a:ln/>
        </p:spPr>
        <p:txBody>
          <a:bodyPr/>
          <a:lstStyle>
            <a:lvl1pPr>
              <a:defRPr/>
            </a:lvl1pPr>
          </a:lstStyle>
          <a:p>
            <a:pPr>
              <a:defRPr/>
            </a:pPr>
            <a:fld id="{A59270E1-15EB-41F3-A919-D18204BDA689}" type="slidenum">
              <a:rPr lang="en-US" altLang="en-US"/>
              <a:pPr>
                <a:defRPr/>
              </a:pPr>
              <a:t>‹#›</a:t>
            </a:fld>
            <a:endParaRPr lang="en-US" altLang="en-US"/>
          </a:p>
        </p:txBody>
      </p:sp>
    </p:spTree>
    <p:extLst>
      <p:ext uri="{BB962C8B-B14F-4D97-AF65-F5344CB8AC3E}">
        <p14:creationId xmlns:p14="http://schemas.microsoft.com/office/powerpoint/2010/main" val="3564896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p:cNvSpPr>
            <a:spLocks noGrp="1" noChangeArrowheads="1"/>
          </p:cNvSpPr>
          <p:nvPr>
            <p:ph type="ftr" sz="quarter" idx="11"/>
          </p:nvPr>
        </p:nvSpPr>
        <p:spPr>
          <a:ln/>
        </p:spPr>
        <p:txBody>
          <a:bodyPr/>
          <a:lstStyle>
            <a:lvl1pPr>
              <a:defRPr/>
            </a:lvl1pPr>
          </a:lstStyle>
          <a:p>
            <a:pPr>
              <a:defRPr/>
            </a:pPr>
            <a:r>
              <a:rPr lang="en-US" altLang="en-US"/>
              <a:t>GAs By Chhavi Kashyap</a:t>
            </a:r>
          </a:p>
        </p:txBody>
      </p:sp>
      <p:sp>
        <p:nvSpPr>
          <p:cNvPr id="9" name="Rectangle 6"/>
          <p:cNvSpPr>
            <a:spLocks noGrp="1" noChangeArrowheads="1"/>
          </p:cNvSpPr>
          <p:nvPr>
            <p:ph type="sldNum" sz="quarter" idx="12"/>
          </p:nvPr>
        </p:nvSpPr>
        <p:spPr>
          <a:ln/>
        </p:spPr>
        <p:txBody>
          <a:bodyPr/>
          <a:lstStyle>
            <a:lvl1pPr>
              <a:defRPr/>
            </a:lvl1pPr>
          </a:lstStyle>
          <a:p>
            <a:pPr>
              <a:defRPr/>
            </a:pPr>
            <a:fld id="{77E958AB-09E2-4765-8CF9-12064BB46791}" type="slidenum">
              <a:rPr lang="en-US" altLang="en-US"/>
              <a:pPr>
                <a:defRPr/>
              </a:pPr>
              <a:t>‹#›</a:t>
            </a:fld>
            <a:endParaRPr lang="en-US" altLang="en-US"/>
          </a:p>
        </p:txBody>
      </p:sp>
    </p:spTree>
    <p:extLst>
      <p:ext uri="{BB962C8B-B14F-4D97-AF65-F5344CB8AC3E}">
        <p14:creationId xmlns:p14="http://schemas.microsoft.com/office/powerpoint/2010/main" val="10547637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altLang="en-US"/>
              <a:t>GAs By Chhavi Kashyap</a:t>
            </a:r>
          </a:p>
        </p:txBody>
      </p:sp>
      <p:sp>
        <p:nvSpPr>
          <p:cNvPr id="5" name="Rectangle 6"/>
          <p:cNvSpPr>
            <a:spLocks noGrp="1" noChangeArrowheads="1"/>
          </p:cNvSpPr>
          <p:nvPr>
            <p:ph type="sldNum" sz="quarter" idx="12"/>
          </p:nvPr>
        </p:nvSpPr>
        <p:spPr>
          <a:ln/>
        </p:spPr>
        <p:txBody>
          <a:bodyPr/>
          <a:lstStyle>
            <a:lvl1pPr>
              <a:defRPr/>
            </a:lvl1pPr>
          </a:lstStyle>
          <a:p>
            <a:pPr>
              <a:defRPr/>
            </a:pPr>
            <a:fld id="{985ECB1D-AC0F-4A71-A131-A7ED0016D2B6}" type="slidenum">
              <a:rPr lang="en-US" altLang="en-US"/>
              <a:pPr>
                <a:defRPr/>
              </a:pPr>
              <a:t>‹#›</a:t>
            </a:fld>
            <a:endParaRPr lang="en-US" altLang="en-US"/>
          </a:p>
        </p:txBody>
      </p:sp>
    </p:spTree>
    <p:extLst>
      <p:ext uri="{BB962C8B-B14F-4D97-AF65-F5344CB8AC3E}">
        <p14:creationId xmlns:p14="http://schemas.microsoft.com/office/powerpoint/2010/main" val="25980695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p:cNvSpPr>
            <a:spLocks noGrp="1" noChangeArrowheads="1"/>
          </p:cNvSpPr>
          <p:nvPr>
            <p:ph type="ftr" sz="quarter" idx="11"/>
          </p:nvPr>
        </p:nvSpPr>
        <p:spPr>
          <a:ln/>
        </p:spPr>
        <p:txBody>
          <a:bodyPr/>
          <a:lstStyle>
            <a:lvl1pPr>
              <a:defRPr/>
            </a:lvl1pPr>
          </a:lstStyle>
          <a:p>
            <a:pPr>
              <a:defRPr/>
            </a:pPr>
            <a:r>
              <a:rPr lang="en-US" altLang="en-US"/>
              <a:t>GAs By Chhavi Kashyap</a:t>
            </a:r>
          </a:p>
        </p:txBody>
      </p:sp>
      <p:sp>
        <p:nvSpPr>
          <p:cNvPr id="4" name="Rectangle 6"/>
          <p:cNvSpPr>
            <a:spLocks noGrp="1" noChangeArrowheads="1"/>
          </p:cNvSpPr>
          <p:nvPr>
            <p:ph type="sldNum" sz="quarter" idx="12"/>
          </p:nvPr>
        </p:nvSpPr>
        <p:spPr>
          <a:ln/>
        </p:spPr>
        <p:txBody>
          <a:bodyPr/>
          <a:lstStyle>
            <a:lvl1pPr>
              <a:defRPr/>
            </a:lvl1pPr>
          </a:lstStyle>
          <a:p>
            <a:pPr>
              <a:defRPr/>
            </a:pPr>
            <a:fld id="{71ABCD13-330F-4AA1-B892-29EB0C12CBDC}" type="slidenum">
              <a:rPr lang="en-US" altLang="en-US"/>
              <a:pPr>
                <a:defRPr/>
              </a:pPr>
              <a:t>‹#›</a:t>
            </a:fld>
            <a:endParaRPr lang="en-US" altLang="en-US"/>
          </a:p>
        </p:txBody>
      </p:sp>
    </p:spTree>
    <p:extLst>
      <p:ext uri="{BB962C8B-B14F-4D97-AF65-F5344CB8AC3E}">
        <p14:creationId xmlns:p14="http://schemas.microsoft.com/office/powerpoint/2010/main" val="3518228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en-US"/>
              <a:t>GAs By Chhavi Kashyap</a:t>
            </a:r>
          </a:p>
        </p:txBody>
      </p:sp>
      <p:sp>
        <p:nvSpPr>
          <p:cNvPr id="7" name="Rectangle 6"/>
          <p:cNvSpPr>
            <a:spLocks noGrp="1" noChangeArrowheads="1"/>
          </p:cNvSpPr>
          <p:nvPr>
            <p:ph type="sldNum" sz="quarter" idx="12"/>
          </p:nvPr>
        </p:nvSpPr>
        <p:spPr>
          <a:ln/>
        </p:spPr>
        <p:txBody>
          <a:bodyPr/>
          <a:lstStyle>
            <a:lvl1pPr>
              <a:defRPr/>
            </a:lvl1pPr>
          </a:lstStyle>
          <a:p>
            <a:pPr>
              <a:defRPr/>
            </a:pPr>
            <a:fld id="{09984435-7AAF-4D75-8E17-A0D00D2DE90D}" type="slidenum">
              <a:rPr lang="en-US" altLang="en-US"/>
              <a:pPr>
                <a:defRPr/>
              </a:pPr>
              <a:t>‹#›</a:t>
            </a:fld>
            <a:endParaRPr lang="en-US" altLang="en-US"/>
          </a:p>
        </p:txBody>
      </p:sp>
    </p:spTree>
    <p:extLst>
      <p:ext uri="{BB962C8B-B14F-4D97-AF65-F5344CB8AC3E}">
        <p14:creationId xmlns:p14="http://schemas.microsoft.com/office/powerpoint/2010/main" val="259953364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en-US"/>
              <a:t>GAs By Chhavi Kashyap</a:t>
            </a:r>
          </a:p>
        </p:txBody>
      </p:sp>
      <p:sp>
        <p:nvSpPr>
          <p:cNvPr id="7" name="Rectangle 6"/>
          <p:cNvSpPr>
            <a:spLocks noGrp="1" noChangeArrowheads="1"/>
          </p:cNvSpPr>
          <p:nvPr>
            <p:ph type="sldNum" sz="quarter" idx="12"/>
          </p:nvPr>
        </p:nvSpPr>
        <p:spPr>
          <a:ln/>
        </p:spPr>
        <p:txBody>
          <a:bodyPr/>
          <a:lstStyle>
            <a:lvl1pPr>
              <a:defRPr/>
            </a:lvl1pPr>
          </a:lstStyle>
          <a:p>
            <a:pPr>
              <a:defRPr/>
            </a:pPr>
            <a:fld id="{A8F6BDED-3CBC-45FB-911D-67B022247F56}" type="slidenum">
              <a:rPr lang="en-US" altLang="en-US"/>
              <a:pPr>
                <a:defRPr/>
              </a:pPr>
              <a:t>‹#›</a:t>
            </a:fld>
            <a:endParaRPr lang="en-US" altLang="en-US"/>
          </a:p>
        </p:txBody>
      </p:sp>
    </p:spTree>
    <p:extLst>
      <p:ext uri="{BB962C8B-B14F-4D97-AF65-F5344CB8AC3E}">
        <p14:creationId xmlns:p14="http://schemas.microsoft.com/office/powerpoint/2010/main" val="4166790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a:t>GAs By Chhavi Kashyap</a:t>
            </a:r>
          </a:p>
        </p:txBody>
      </p:sp>
      <p:sp>
        <p:nvSpPr>
          <p:cNvPr id="6" name="Rectangle 6"/>
          <p:cNvSpPr>
            <a:spLocks noGrp="1" noChangeArrowheads="1"/>
          </p:cNvSpPr>
          <p:nvPr>
            <p:ph type="sldNum" sz="quarter" idx="12"/>
          </p:nvPr>
        </p:nvSpPr>
        <p:spPr>
          <a:ln/>
        </p:spPr>
        <p:txBody>
          <a:bodyPr/>
          <a:lstStyle>
            <a:lvl1pPr>
              <a:defRPr/>
            </a:lvl1pPr>
          </a:lstStyle>
          <a:p>
            <a:pPr>
              <a:defRPr/>
            </a:pPr>
            <a:fld id="{68BA6803-C46F-45DA-B754-399927E80E7F}" type="slidenum">
              <a:rPr lang="en-US" altLang="en-US"/>
              <a:pPr>
                <a:defRPr/>
              </a:pPr>
              <a:t>‹#›</a:t>
            </a:fld>
            <a:endParaRPr lang="en-US" altLang="en-US"/>
          </a:p>
        </p:txBody>
      </p:sp>
    </p:spTree>
    <p:extLst>
      <p:ext uri="{BB962C8B-B14F-4D97-AF65-F5344CB8AC3E}">
        <p14:creationId xmlns:p14="http://schemas.microsoft.com/office/powerpoint/2010/main" val="41674135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7813"/>
            <a:ext cx="2057400" cy="5853112"/>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7813"/>
            <a:ext cx="6019800" cy="585311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a:t>GAs By Chhavi Kashyap</a:t>
            </a:r>
          </a:p>
        </p:txBody>
      </p:sp>
      <p:sp>
        <p:nvSpPr>
          <p:cNvPr id="6" name="Rectangle 6"/>
          <p:cNvSpPr>
            <a:spLocks noGrp="1" noChangeArrowheads="1"/>
          </p:cNvSpPr>
          <p:nvPr>
            <p:ph type="sldNum" sz="quarter" idx="12"/>
          </p:nvPr>
        </p:nvSpPr>
        <p:spPr>
          <a:ln/>
        </p:spPr>
        <p:txBody>
          <a:bodyPr/>
          <a:lstStyle>
            <a:lvl1pPr>
              <a:defRPr/>
            </a:lvl1pPr>
          </a:lstStyle>
          <a:p>
            <a:pPr>
              <a:defRPr/>
            </a:pPr>
            <a:fld id="{A58B556B-0566-4CE2-B187-2043407AE73B}" type="slidenum">
              <a:rPr lang="en-US" altLang="en-US"/>
              <a:pPr>
                <a:defRPr/>
              </a:pPr>
              <a:t>‹#›</a:t>
            </a:fld>
            <a:endParaRPr lang="en-US" altLang="en-US"/>
          </a:p>
        </p:txBody>
      </p:sp>
    </p:spTree>
    <p:extLst>
      <p:ext uri="{BB962C8B-B14F-4D97-AF65-F5344CB8AC3E}">
        <p14:creationId xmlns:p14="http://schemas.microsoft.com/office/powerpoint/2010/main" val="7772985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smtClean="0"/>
              <a:t>Click to edit Master title style</a:t>
            </a:r>
            <a:endParaRPr lang="en-US"/>
          </a:p>
        </p:txBody>
      </p:sp>
      <p:sp>
        <p:nvSpPr>
          <p:cNvPr id="3" name="Table Placeholder 2"/>
          <p:cNvSpPr>
            <a:spLocks noGrp="1"/>
          </p:cNvSpPr>
          <p:nvPr>
            <p:ph type="tbl" idx="1"/>
          </p:nvPr>
        </p:nvSpPr>
        <p:spPr>
          <a:xfrm>
            <a:off x="457200" y="1600200"/>
            <a:ext cx="8229600" cy="4530725"/>
          </a:xfrm>
        </p:spPr>
        <p:txBody>
          <a:bodyPr/>
          <a:lstStyle/>
          <a:p>
            <a:pPr lvl="0"/>
            <a:endParaRPr lang="en-US" noProof="0" smtClean="0"/>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r>
              <a:rPr lang="en-US" altLang="en-US"/>
              <a:t>GAs By Chhavi Kashyap</a:t>
            </a:r>
          </a:p>
        </p:txBody>
      </p:sp>
      <p:sp>
        <p:nvSpPr>
          <p:cNvPr id="6" name="Rectangle 6"/>
          <p:cNvSpPr>
            <a:spLocks noGrp="1" noChangeArrowheads="1"/>
          </p:cNvSpPr>
          <p:nvPr>
            <p:ph type="sldNum" sz="quarter" idx="12"/>
          </p:nvPr>
        </p:nvSpPr>
        <p:spPr>
          <a:ln/>
        </p:spPr>
        <p:txBody>
          <a:bodyPr/>
          <a:lstStyle>
            <a:lvl1pPr>
              <a:defRPr/>
            </a:lvl1pPr>
          </a:lstStyle>
          <a:p>
            <a:pPr>
              <a:defRPr/>
            </a:pPr>
            <a:fld id="{29EE0CD3-1E08-4E3E-ABDB-4B5543E40070}" type="slidenum">
              <a:rPr lang="en-US" altLang="en-US"/>
              <a:pPr>
                <a:defRPr/>
              </a:pPr>
              <a:t>‹#›</a:t>
            </a:fld>
            <a:endParaRPr lang="en-US" altLang="en-US"/>
          </a:p>
        </p:txBody>
      </p:sp>
    </p:spTree>
    <p:extLst>
      <p:ext uri="{BB962C8B-B14F-4D97-AF65-F5344CB8AC3E}">
        <p14:creationId xmlns:p14="http://schemas.microsoft.com/office/powerpoint/2010/main" val="31314357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r>
              <a:rPr lang="en-US" altLang="en-US"/>
              <a:t>GAs By Chhavi Kashyap</a:t>
            </a:r>
          </a:p>
        </p:txBody>
      </p:sp>
      <p:sp>
        <p:nvSpPr>
          <p:cNvPr id="7" name="Rectangle 6"/>
          <p:cNvSpPr>
            <a:spLocks noGrp="1" noChangeArrowheads="1"/>
          </p:cNvSpPr>
          <p:nvPr>
            <p:ph type="sldNum" sz="quarter" idx="12"/>
          </p:nvPr>
        </p:nvSpPr>
        <p:spPr>
          <a:ln/>
        </p:spPr>
        <p:txBody>
          <a:bodyPr/>
          <a:lstStyle>
            <a:lvl1pPr>
              <a:defRPr/>
            </a:lvl1pPr>
          </a:lstStyle>
          <a:p>
            <a:pPr>
              <a:defRPr/>
            </a:pPr>
            <a:fld id="{D3DF2EFC-9118-47AB-929E-9262D9045039}" type="slidenum">
              <a:rPr lang="en-US" altLang="en-US"/>
              <a:pPr>
                <a:defRPr/>
              </a:pPr>
              <a:t>‹#›</a:t>
            </a:fld>
            <a:endParaRPr lang="en-US" altLang="en-US"/>
          </a:p>
        </p:txBody>
      </p:sp>
    </p:spTree>
    <p:extLst>
      <p:ext uri="{BB962C8B-B14F-4D97-AF65-F5344CB8AC3E}">
        <p14:creationId xmlns:p14="http://schemas.microsoft.com/office/powerpoint/2010/main" val="13344829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39825"/>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457200" y="1600200"/>
            <a:ext cx="4038600" cy="45307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4648200" y="1600200"/>
            <a:ext cx="4038600" cy="218916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4648200" y="3941763"/>
            <a:ext cx="4038600" cy="218916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7" name="Rectangle 5"/>
          <p:cNvSpPr>
            <a:spLocks noGrp="1" noChangeArrowheads="1"/>
          </p:cNvSpPr>
          <p:nvPr>
            <p:ph type="ftr" sz="quarter" idx="11"/>
          </p:nvPr>
        </p:nvSpPr>
        <p:spPr>
          <a:ln/>
        </p:spPr>
        <p:txBody>
          <a:bodyPr/>
          <a:lstStyle>
            <a:lvl1pPr>
              <a:defRPr/>
            </a:lvl1pPr>
          </a:lstStyle>
          <a:p>
            <a:pPr>
              <a:defRPr/>
            </a:pPr>
            <a:r>
              <a:rPr lang="en-US" altLang="en-US"/>
              <a:t>GAs By Chhavi Kashyap</a:t>
            </a:r>
          </a:p>
        </p:txBody>
      </p:sp>
      <p:sp>
        <p:nvSpPr>
          <p:cNvPr id="8" name="Rectangle 6"/>
          <p:cNvSpPr>
            <a:spLocks noGrp="1" noChangeArrowheads="1"/>
          </p:cNvSpPr>
          <p:nvPr>
            <p:ph type="sldNum" sz="quarter" idx="12"/>
          </p:nvPr>
        </p:nvSpPr>
        <p:spPr>
          <a:ln/>
        </p:spPr>
        <p:txBody>
          <a:bodyPr/>
          <a:lstStyle>
            <a:lvl1pPr>
              <a:defRPr/>
            </a:lvl1pPr>
          </a:lstStyle>
          <a:p>
            <a:pPr>
              <a:defRPr/>
            </a:pPr>
            <a:fld id="{267F799A-A117-42DB-B01E-C1F851D8A685}" type="slidenum">
              <a:rPr lang="en-US" altLang="en-US"/>
              <a:pPr>
                <a:defRPr/>
              </a:pPr>
              <a:t>‹#›</a:t>
            </a:fld>
            <a:endParaRPr lang="en-US" altLang="en-US"/>
          </a:p>
        </p:txBody>
      </p:sp>
    </p:spTree>
    <p:extLst>
      <p:ext uri="{BB962C8B-B14F-4D97-AF65-F5344CB8AC3E}">
        <p14:creationId xmlns:p14="http://schemas.microsoft.com/office/powerpoint/2010/main" val="380455536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7813"/>
            <a:ext cx="8229600" cy="585311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p:cNvSpPr>
            <a:spLocks noGrp="1" noChangeArrowheads="1"/>
          </p:cNvSpPr>
          <p:nvPr>
            <p:ph type="ftr" sz="quarter" idx="11"/>
          </p:nvPr>
        </p:nvSpPr>
        <p:spPr>
          <a:ln/>
        </p:spPr>
        <p:txBody>
          <a:bodyPr/>
          <a:lstStyle>
            <a:lvl1pPr>
              <a:defRPr/>
            </a:lvl1pPr>
          </a:lstStyle>
          <a:p>
            <a:pPr>
              <a:defRPr/>
            </a:pPr>
            <a:r>
              <a:rPr lang="en-US" altLang="en-US"/>
              <a:t>GAs By Chhavi Kashyap</a:t>
            </a:r>
          </a:p>
        </p:txBody>
      </p:sp>
      <p:sp>
        <p:nvSpPr>
          <p:cNvPr id="5" name="Rectangle 6"/>
          <p:cNvSpPr>
            <a:spLocks noGrp="1" noChangeArrowheads="1"/>
          </p:cNvSpPr>
          <p:nvPr>
            <p:ph type="sldNum" sz="quarter" idx="12"/>
          </p:nvPr>
        </p:nvSpPr>
        <p:spPr>
          <a:ln/>
        </p:spPr>
        <p:txBody>
          <a:bodyPr/>
          <a:lstStyle>
            <a:lvl1pPr>
              <a:defRPr/>
            </a:lvl1pPr>
          </a:lstStyle>
          <a:p>
            <a:pPr>
              <a:defRPr/>
            </a:pPr>
            <a:fld id="{E5BD4B1E-FD8A-451F-9089-24B068ACCF1D}" type="slidenum">
              <a:rPr lang="en-US" altLang="en-US"/>
              <a:pPr>
                <a:defRPr/>
              </a:pPr>
              <a:t>‹#›</a:t>
            </a:fld>
            <a:endParaRPr lang="en-US" altLang="en-US"/>
          </a:p>
        </p:txBody>
      </p:sp>
    </p:spTree>
    <p:extLst>
      <p:ext uri="{BB962C8B-B14F-4D97-AF65-F5344CB8AC3E}">
        <p14:creationId xmlns:p14="http://schemas.microsoft.com/office/powerpoint/2010/main" val="4167358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7813"/>
            <a:ext cx="8229600"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457200" y="1600200"/>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34148" name="Rectangle 4"/>
          <p:cNvSpPr>
            <a:spLocks noGrp="1" noChangeArrowheads="1"/>
          </p:cNvSpPr>
          <p:nvPr>
            <p:ph type="dt" sz="half" idx="2"/>
          </p:nvPr>
        </p:nvSpPr>
        <p:spPr bwMode="auto">
          <a:xfrm>
            <a:off x="457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defRPr sz="1200" b="0">
                <a:latin typeface="+mj-lt"/>
              </a:defRPr>
            </a:lvl1pPr>
          </a:lstStyle>
          <a:p>
            <a:pPr>
              <a:defRPr/>
            </a:pPr>
            <a:endParaRPr lang="en-US" altLang="en-US"/>
          </a:p>
        </p:txBody>
      </p:sp>
      <p:sp>
        <p:nvSpPr>
          <p:cNvPr id="13414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b="0">
                <a:latin typeface="+mj-lt"/>
              </a:defRPr>
            </a:lvl1pPr>
          </a:lstStyle>
          <a:p>
            <a:pPr>
              <a:defRPr/>
            </a:pPr>
            <a:r>
              <a:rPr lang="en-US" altLang="en-US"/>
              <a:t>GAs By Chhavi Kashyap</a:t>
            </a:r>
          </a:p>
        </p:txBody>
      </p:sp>
      <p:sp>
        <p:nvSpPr>
          <p:cNvPr id="134150" name="Rectangle 6"/>
          <p:cNvSpPr>
            <a:spLocks noGrp="1" noChangeArrowheads="1"/>
          </p:cNvSpPr>
          <p:nvPr>
            <p:ph type="sldNum" sz="quarter" idx="4"/>
          </p:nvPr>
        </p:nvSpPr>
        <p:spPr bwMode="auto">
          <a:xfrm>
            <a:off x="6553200" y="6243638"/>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b="0">
                <a:latin typeface="Garamond" panose="02020404030301010803" pitchFamily="18" charset="0"/>
              </a:defRPr>
            </a:lvl1pPr>
          </a:lstStyle>
          <a:p>
            <a:pPr>
              <a:defRPr/>
            </a:pPr>
            <a:fld id="{A6F336B7-A516-4205-9539-2CB146685727}" type="slidenum">
              <a:rPr lang="en-US" altLang="en-US"/>
              <a:pPr>
                <a:defRPr/>
              </a:pPr>
              <a:t>‹#›</a:t>
            </a:fld>
            <a:endParaRPr lang="en-US" altLang="en-US"/>
          </a:p>
        </p:txBody>
      </p:sp>
      <p:sp>
        <p:nvSpPr>
          <p:cNvPr id="1031" name="Freeform 7"/>
          <p:cNvSpPr>
            <a:spLocks noChangeArrowheads="1"/>
          </p:cNvSpPr>
          <p:nvPr/>
        </p:nvSpPr>
        <p:spPr bwMode="auto">
          <a:xfrm>
            <a:off x="381000" y="228600"/>
            <a:ext cx="8229600" cy="609600"/>
          </a:xfrm>
          <a:custGeom>
            <a:avLst/>
            <a:gdLst>
              <a:gd name="T0" fmla="*/ 0 w 1000"/>
              <a:gd name="T1" fmla="*/ 2147483646 h 1000"/>
              <a:gd name="T2" fmla="*/ 0 w 1000"/>
              <a:gd name="T3" fmla="*/ 0 h 1000"/>
              <a:gd name="T4" fmla="*/ 2147483646 w 1000"/>
              <a:gd name="T5" fmla="*/ 0 h 1000"/>
              <a:gd name="T6" fmla="*/ 0 60000 65536"/>
              <a:gd name="T7" fmla="*/ 0 60000 65536"/>
              <a:gd name="T8" fmla="*/ 0 60000 65536"/>
            </a:gdLst>
            <a:ahLst/>
            <a:cxnLst>
              <a:cxn ang="T6">
                <a:pos x="T0" y="T1"/>
              </a:cxn>
              <a:cxn ang="T7">
                <a:pos x="T2" y="T3"/>
              </a:cxn>
              <a:cxn ang="T8">
                <a:pos x="T4" y="T5"/>
              </a:cxn>
            </a:cxnLst>
            <a:rect l="0" t="0" r="r" b="b"/>
            <a:pathLst>
              <a:path w="1000" h="1000">
                <a:moveTo>
                  <a:pt x="0" y="1000"/>
                </a:moveTo>
                <a:lnTo>
                  <a:pt x="0" y="0"/>
                </a:lnTo>
                <a:lnTo>
                  <a:pt x="1000" y="0"/>
                </a:lnTo>
              </a:path>
            </a:pathLst>
          </a:custGeom>
          <a:noFill/>
          <a:ln w="19050" cap="flat" cmpd="sng">
            <a:solidFill>
              <a:schemeClr val="accent1"/>
            </a:solidFill>
            <a:prstDash val="solid"/>
            <a:miter lim="800000"/>
            <a:headEnd/>
            <a:tailEnd/>
          </a:ln>
          <a:extLst>
            <a:ext uri="{909E8E84-426E-40DD-AFC4-6F175D3DCCD1}">
              <a14:hiddenFill xmlns:a14="http://schemas.microsoft.com/office/drawing/2010/main">
                <a:solidFill>
                  <a:srgbClr val="FFFFFF"/>
                </a:solidFill>
              </a14:hiddenFill>
            </a:ext>
          </a:extLst>
        </p:spPr>
        <p:txBody>
          <a:bodyPr/>
          <a:lstStyle/>
          <a:p>
            <a:endParaRPr lang="en-US"/>
          </a:p>
        </p:txBody>
      </p:sp>
      <p:sp>
        <p:nvSpPr>
          <p:cNvPr id="1032" name="Line 8"/>
          <p:cNvSpPr>
            <a:spLocks noChangeShapeType="1"/>
          </p:cNvSpPr>
          <p:nvPr/>
        </p:nvSpPr>
        <p:spPr bwMode="auto">
          <a:xfrm>
            <a:off x="457200" y="6172200"/>
            <a:ext cx="8229600" cy="0"/>
          </a:xfrm>
          <a:prstGeom prst="line">
            <a:avLst/>
          </a:prstGeom>
          <a:noFill/>
          <a:ln w="19050">
            <a:solidFill>
              <a:schemeClr val="accent1"/>
            </a:solidFill>
            <a:round/>
            <a:headEnd/>
            <a:tailEnd/>
          </a:ln>
          <a:extLst>
            <a:ext uri="{909E8E84-426E-40DD-AFC4-6F175D3DCCD1}">
              <a14:hiddenFill xmlns:a14="http://schemas.microsoft.com/office/drawing/2010/main">
                <a:noFill/>
              </a14:hiddenFill>
            </a:ext>
          </a:extLst>
        </p:spPr>
        <p:txBody>
          <a:bodyPr/>
          <a:lstStyle/>
          <a:p>
            <a:endParaRPr lang="en-US"/>
          </a:p>
        </p:txBody>
      </p:sp>
    </p:spTree>
  </p:cSld>
  <p:clrMap bg1="lt1" tx1="dk1" bg2="lt2" tx2="dk2" accent1="accent1" accent2="accent2" accent3="accent3" accent4="accent4" accent5="accent5" accent6="accent6" hlink="hlink" folHlink="folHlink"/>
  <p:sldLayoutIdLst>
    <p:sldLayoutId id="2147483887" r:id="rId1"/>
    <p:sldLayoutId id="2147483873" r:id="rId2"/>
    <p:sldLayoutId id="2147483874" r:id="rId3"/>
    <p:sldLayoutId id="2147483875" r:id="rId4"/>
    <p:sldLayoutId id="2147483876" r:id="rId5"/>
    <p:sldLayoutId id="2147483877" r:id="rId6"/>
    <p:sldLayoutId id="2147483878" r:id="rId7"/>
    <p:sldLayoutId id="2147483879" r:id="rId8"/>
    <p:sldLayoutId id="2147483880" r:id="rId9"/>
    <p:sldLayoutId id="2147483881" r:id="rId10"/>
    <p:sldLayoutId id="2147483882" r:id="rId11"/>
    <p:sldLayoutId id="2147483883" r:id="rId12"/>
    <p:sldLayoutId id="2147483884" r:id="rId13"/>
    <p:sldLayoutId id="2147483885" r:id="rId14"/>
    <p:sldLayoutId id="2147483886" r:id="rId15"/>
  </p:sldLayoutIdLst>
  <p:timing>
    <p:tnLst>
      <p:par>
        <p:cTn id="1" dur="indefinite" restart="never" nodeType="tmRoot"/>
      </p:par>
    </p:tnLst>
  </p:timing>
  <p:hf hdr="0" ftr="0" dt="0"/>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Garamond" pitchFamily="18" charset="0"/>
        </a:defRPr>
      </a:lvl2pPr>
      <a:lvl3pPr algn="l" rtl="0" eaLnBrk="0" fontAlgn="base" hangingPunct="0">
        <a:spcBef>
          <a:spcPct val="0"/>
        </a:spcBef>
        <a:spcAft>
          <a:spcPct val="0"/>
        </a:spcAft>
        <a:defRPr sz="4200">
          <a:solidFill>
            <a:schemeClr val="tx2"/>
          </a:solidFill>
          <a:latin typeface="Garamond" pitchFamily="18" charset="0"/>
        </a:defRPr>
      </a:lvl3pPr>
      <a:lvl4pPr algn="l" rtl="0" eaLnBrk="0" fontAlgn="base" hangingPunct="0">
        <a:spcBef>
          <a:spcPct val="0"/>
        </a:spcBef>
        <a:spcAft>
          <a:spcPct val="0"/>
        </a:spcAft>
        <a:defRPr sz="4200">
          <a:solidFill>
            <a:schemeClr val="tx2"/>
          </a:solidFill>
          <a:latin typeface="Garamond" pitchFamily="18" charset="0"/>
        </a:defRPr>
      </a:lvl4pPr>
      <a:lvl5pPr algn="l" rtl="0" eaLnBrk="0" fontAlgn="base" hangingPunct="0">
        <a:spcBef>
          <a:spcPct val="0"/>
        </a:spcBef>
        <a:spcAft>
          <a:spcPct val="0"/>
        </a:spcAft>
        <a:defRPr sz="4200">
          <a:solidFill>
            <a:schemeClr val="tx2"/>
          </a:solidFill>
          <a:latin typeface="Garamond" pitchFamily="18" charset="0"/>
        </a:defRPr>
      </a:lvl5pPr>
      <a:lvl6pPr marL="457200" algn="l" rtl="0" fontAlgn="base">
        <a:spcBef>
          <a:spcPct val="0"/>
        </a:spcBef>
        <a:spcAft>
          <a:spcPct val="0"/>
        </a:spcAft>
        <a:defRPr sz="4200">
          <a:solidFill>
            <a:schemeClr val="tx2"/>
          </a:solidFill>
          <a:latin typeface="Garamond" pitchFamily="18" charset="0"/>
        </a:defRPr>
      </a:lvl6pPr>
      <a:lvl7pPr marL="914400" algn="l" rtl="0" fontAlgn="base">
        <a:spcBef>
          <a:spcPct val="0"/>
        </a:spcBef>
        <a:spcAft>
          <a:spcPct val="0"/>
        </a:spcAft>
        <a:defRPr sz="4200">
          <a:solidFill>
            <a:schemeClr val="tx2"/>
          </a:solidFill>
          <a:latin typeface="Garamond" pitchFamily="18" charset="0"/>
        </a:defRPr>
      </a:lvl7pPr>
      <a:lvl8pPr marL="1371600" algn="l" rtl="0" fontAlgn="base">
        <a:spcBef>
          <a:spcPct val="0"/>
        </a:spcBef>
        <a:spcAft>
          <a:spcPct val="0"/>
        </a:spcAft>
        <a:defRPr sz="4200">
          <a:solidFill>
            <a:schemeClr val="tx2"/>
          </a:solidFill>
          <a:latin typeface="Garamond" pitchFamily="18" charset="0"/>
        </a:defRPr>
      </a:lvl8pPr>
      <a:lvl9pPr marL="1828800" algn="l" rtl="0" fontAlgn="base">
        <a:spcBef>
          <a:spcPct val="0"/>
        </a:spcBef>
        <a:spcAft>
          <a:spcPct val="0"/>
        </a:spcAft>
        <a:defRPr sz="4200">
          <a:solidFill>
            <a:schemeClr val="tx2"/>
          </a:solidFill>
          <a:latin typeface="Garamond" pitchFamily="18" charset="0"/>
        </a:defRPr>
      </a:lvl9pPr>
    </p:titleStyle>
    <p:body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3.xml.rels><?xml version="1.0" encoding="UTF-8" standalone="yes"?>
<Relationships xmlns="http://schemas.openxmlformats.org/package/2006/relationships"><Relationship Id="rId8" Type="http://schemas.openxmlformats.org/officeDocument/2006/relationships/hyperlink" Target="http://www.garage.cse.msu.edu/" TargetMode="External"/><Relationship Id="rId3" Type="http://schemas.openxmlformats.org/officeDocument/2006/relationships/hyperlink" Target="http://www.amazon.com/Jason-Brownlee/e/B004WU3NY4/ref=dp_byline_cont_book_1" TargetMode="External"/><Relationship Id="rId7" Type="http://schemas.openxmlformats.org/officeDocument/2006/relationships/hyperlink" Target="http://www.genetic-programming.com/" TargetMode="External"/><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hyperlink" Target="http://www.iitk.ac.in/kangal" TargetMode="External"/><Relationship Id="rId5" Type="http://schemas.openxmlformats.org/officeDocument/2006/relationships/image" Target="../media/image2.wmf"/><Relationship Id="rId4"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vmlDrawing" Target="../drawings/vmlDrawing3.vml"/><Relationship Id="rId4" Type="http://schemas.openxmlformats.org/officeDocument/2006/relationships/image" Target="../media/image2.wmf"/></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2.wmf"/></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vmlDrawing" Target="../drawings/vmlDrawing5.vml"/><Relationship Id="rId5" Type="http://schemas.openxmlformats.org/officeDocument/2006/relationships/image" Target="../media/image2.wmf"/><Relationship Id="rId4" Type="http://schemas.openxmlformats.org/officeDocument/2006/relationships/oleObject" Target="../embeddings/oleObject5.bin"/></Relationships>
</file>

<file path=ppt/slides/_rels/slide8.xml.rels><?xml version="1.0" encoding="UTF-8" standalone="yes"?>
<Relationships xmlns="http://schemas.openxmlformats.org/package/2006/relationships"><Relationship Id="rId3" Type="http://schemas.openxmlformats.org/officeDocument/2006/relationships/hyperlink" Target="http://en.wikipedia.org/wiki/Species" TargetMode="External"/><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2.wmf"/><Relationship Id="rId4" Type="http://schemas.openxmlformats.org/officeDocument/2006/relationships/oleObject" Target="../embeddings/oleObject6.bin"/></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2.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8.vml"/><Relationship Id="rId4" Type="http://schemas.openxmlformats.org/officeDocument/2006/relationships/image" Target="../media/image2.wmf"/></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9.vml"/><Relationship Id="rId5" Type="http://schemas.openxmlformats.org/officeDocument/2006/relationships/image" Target="../media/image2.wmf"/><Relationship Id="rId4" Type="http://schemas.openxmlformats.org/officeDocument/2006/relationships/oleObject" Target="../embeddings/oleObject9.bin"/></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10.vml"/><Relationship Id="rId4" Type="http://schemas.openxmlformats.org/officeDocument/2006/relationships/image" Target="../media/image2.wmf"/></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vmlDrawing" Target="../drawings/vmlDrawing11.vml"/><Relationship Id="rId5" Type="http://schemas.openxmlformats.org/officeDocument/2006/relationships/image" Target="../media/image2.wmf"/><Relationship Id="rId4" Type="http://schemas.openxmlformats.org/officeDocument/2006/relationships/oleObject" Target="../embeddings/oleObject11.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12.vml"/><Relationship Id="rId4" Type="http://schemas.openxmlformats.org/officeDocument/2006/relationships/image" Target="../media/image2.wmf"/></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vmlDrawing" Target="../drawings/vmlDrawing13.vml"/><Relationship Id="rId5" Type="http://schemas.openxmlformats.org/officeDocument/2006/relationships/image" Target="../media/image2.wmf"/><Relationship Id="rId4" Type="http://schemas.openxmlformats.org/officeDocument/2006/relationships/oleObject" Target="../embeddings/oleObject13.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1.xml"/><Relationship Id="rId1" Type="http://schemas.openxmlformats.org/officeDocument/2006/relationships/vmlDrawing" Target="../drawings/vmlDrawing14.vml"/><Relationship Id="rId4" Type="http://schemas.openxmlformats.org/officeDocument/2006/relationships/image" Target="../media/image2.wmf"/></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mlDrawing" Target="../drawings/vmlDrawing15.vml"/><Relationship Id="rId5" Type="http://schemas.openxmlformats.org/officeDocument/2006/relationships/image" Target="../media/image2.wmf"/><Relationship Id="rId4" Type="http://schemas.openxmlformats.org/officeDocument/2006/relationships/oleObject" Target="../embeddings/oleObject15.bin"/></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16.vml"/><Relationship Id="rId4" Type="http://schemas.openxmlformats.org/officeDocument/2006/relationships/image" Target="../media/image2.wmf"/></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xml"/><Relationship Id="rId1" Type="http://schemas.openxmlformats.org/officeDocument/2006/relationships/vmlDrawing" Target="../drawings/vmlDrawing17.vml"/><Relationship Id="rId4" Type="http://schemas.openxmlformats.org/officeDocument/2006/relationships/image" Target="../media/image2.wmf"/></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18.vml"/><Relationship Id="rId4" Type="http://schemas.openxmlformats.org/officeDocument/2006/relationships/image" Target="../media/image2.wmf"/></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xml"/><Relationship Id="rId1" Type="http://schemas.openxmlformats.org/officeDocument/2006/relationships/vmlDrawing" Target="../drawings/vmlDrawing19.vml"/><Relationship Id="rId4" Type="http://schemas.openxmlformats.org/officeDocument/2006/relationships/image" Target="../media/image2.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20.vml"/><Relationship Id="rId4" Type="http://schemas.openxmlformats.org/officeDocument/2006/relationships/image" Target="../media/image2.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21.vml"/><Relationship Id="rId4" Type="http://schemas.openxmlformats.org/officeDocument/2006/relationships/image" Target="../media/image2.w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Layout" Target="../slideLayouts/slideLayout2.xml"/><Relationship Id="rId1" Type="http://schemas.openxmlformats.org/officeDocument/2006/relationships/vmlDrawing" Target="../drawings/vmlDrawing22.vml"/><Relationship Id="rId4" Type="http://schemas.openxmlformats.org/officeDocument/2006/relationships/image" Target="../media/image2.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12.xml"/><Relationship Id="rId1" Type="http://schemas.openxmlformats.org/officeDocument/2006/relationships/vmlDrawing" Target="../drawings/vmlDrawing23.vml"/><Relationship Id="rId4" Type="http://schemas.openxmlformats.org/officeDocument/2006/relationships/image" Target="../media/image2.wmf"/></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vmlDrawing" Target="../drawings/vmlDrawing24.vml"/><Relationship Id="rId5" Type="http://schemas.openxmlformats.org/officeDocument/2006/relationships/image" Target="../media/image2.wmf"/><Relationship Id="rId4" Type="http://schemas.openxmlformats.org/officeDocument/2006/relationships/oleObject" Target="../embeddings/oleObject24.bin"/></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xml"/><Relationship Id="rId1" Type="http://schemas.openxmlformats.org/officeDocument/2006/relationships/vmlDrawing" Target="../drawings/vmlDrawing25.vml"/><Relationship Id="rId4" Type="http://schemas.openxmlformats.org/officeDocument/2006/relationships/image" Target="../media/image2.wmf"/></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13.xml"/><Relationship Id="rId1" Type="http://schemas.openxmlformats.org/officeDocument/2006/relationships/vmlDrawing" Target="../drawings/vmlDrawing26.vml"/><Relationship Id="rId5" Type="http://schemas.openxmlformats.org/officeDocument/2006/relationships/image" Target="../media/image2.wmf"/><Relationship Id="rId4" Type="http://schemas.openxmlformats.org/officeDocument/2006/relationships/oleObject" Target="../embeddings/oleObject26.bin"/></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27.bin"/><Relationship Id="rId2" Type="http://schemas.openxmlformats.org/officeDocument/2006/relationships/slideLayout" Target="../slideLayouts/slideLayout2.xml"/><Relationship Id="rId1" Type="http://schemas.openxmlformats.org/officeDocument/2006/relationships/vmlDrawing" Target="../drawings/vmlDrawing27.vml"/><Relationship Id="rId4" Type="http://schemas.openxmlformats.org/officeDocument/2006/relationships/image" Target="../media/image2.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13.xml"/><Relationship Id="rId1" Type="http://schemas.openxmlformats.org/officeDocument/2006/relationships/vmlDrawing" Target="../drawings/vmlDrawing28.vml"/><Relationship Id="rId4" Type="http://schemas.openxmlformats.org/officeDocument/2006/relationships/image" Target="../media/image2.wmf"/></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Layout" Target="../slideLayouts/slideLayout13.xml"/><Relationship Id="rId1" Type="http://schemas.openxmlformats.org/officeDocument/2006/relationships/vmlDrawing" Target="../drawings/vmlDrawing29.vml"/><Relationship Id="rId4" Type="http://schemas.openxmlformats.org/officeDocument/2006/relationships/image" Target="../media/image2.wmf"/></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Layout" Target="../slideLayouts/slideLayout2.xml"/><Relationship Id="rId1" Type="http://schemas.openxmlformats.org/officeDocument/2006/relationships/vmlDrawing" Target="../drawings/vmlDrawing30.vml"/><Relationship Id="rId4" Type="http://schemas.openxmlformats.org/officeDocument/2006/relationships/image" Target="../media/image2.wmf"/></Relationships>
</file>

<file path=ppt/slides/_rels/slide33.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31.vml"/><Relationship Id="rId4" Type="http://schemas.openxmlformats.org/officeDocument/2006/relationships/image" Target="../media/image2.wmf"/></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2.xml"/><Relationship Id="rId1" Type="http://schemas.openxmlformats.org/officeDocument/2006/relationships/vmlDrawing" Target="../drawings/vmlDrawing32.vml"/><Relationship Id="rId4" Type="http://schemas.openxmlformats.org/officeDocument/2006/relationships/image" Target="../media/image2.wmf"/></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13.xml"/><Relationship Id="rId1" Type="http://schemas.openxmlformats.org/officeDocument/2006/relationships/vmlDrawing" Target="../drawings/vmlDrawing33.vml"/><Relationship Id="rId4" Type="http://schemas.openxmlformats.org/officeDocument/2006/relationships/image" Target="../media/image2.wmf"/></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2.xml"/><Relationship Id="rId1" Type="http://schemas.openxmlformats.org/officeDocument/2006/relationships/vmlDrawing" Target="../drawings/vmlDrawing34.vml"/><Relationship Id="rId6" Type="http://schemas.openxmlformats.org/officeDocument/2006/relationships/image" Target="../media/image2.wmf"/><Relationship Id="rId5" Type="http://schemas.openxmlformats.org/officeDocument/2006/relationships/oleObject" Target="../embeddings/oleObject35.bin"/><Relationship Id="rId4" Type="http://schemas.openxmlformats.org/officeDocument/2006/relationships/image" Target="../media/image5.w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2.xml"/><Relationship Id="rId1" Type="http://schemas.openxmlformats.org/officeDocument/2006/relationships/vmlDrawing" Target="../drawings/vmlDrawing35.vml"/><Relationship Id="rId4" Type="http://schemas.openxmlformats.org/officeDocument/2006/relationships/image" Target="../media/image2.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2.xml"/><Relationship Id="rId1" Type="http://schemas.openxmlformats.org/officeDocument/2006/relationships/vmlDrawing" Target="../drawings/vmlDrawing36.vml"/><Relationship Id="rId4" Type="http://schemas.openxmlformats.org/officeDocument/2006/relationships/image" Target="../media/image2.wmf"/></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38.bin"/><Relationship Id="rId2" Type="http://schemas.openxmlformats.org/officeDocument/2006/relationships/slideLayout" Target="../slideLayouts/slideLayout2.xml"/><Relationship Id="rId1" Type="http://schemas.openxmlformats.org/officeDocument/2006/relationships/vmlDrawing" Target="../drawings/vmlDrawing37.vml"/><Relationship Id="rId4" Type="http://schemas.openxmlformats.org/officeDocument/2006/relationships/image" Target="../media/image2.w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39.bin"/><Relationship Id="rId2" Type="http://schemas.openxmlformats.org/officeDocument/2006/relationships/slideLayout" Target="../slideLayouts/slideLayout2.xml"/><Relationship Id="rId1" Type="http://schemas.openxmlformats.org/officeDocument/2006/relationships/vmlDrawing" Target="../drawings/vmlDrawing38.vml"/><Relationship Id="rId4" Type="http://schemas.openxmlformats.org/officeDocument/2006/relationships/image" Target="../media/image2.wmf"/></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vmlDrawing" Target="../drawings/vmlDrawing39.vml"/><Relationship Id="rId5" Type="http://schemas.openxmlformats.org/officeDocument/2006/relationships/image" Target="../media/image2.wmf"/><Relationship Id="rId4" Type="http://schemas.openxmlformats.org/officeDocument/2006/relationships/oleObject" Target="../embeddings/oleObject40.bin"/></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vmlDrawing" Target="../drawings/vmlDrawing40.vml"/><Relationship Id="rId5" Type="http://schemas.openxmlformats.org/officeDocument/2006/relationships/image" Target="../media/image2.wmf"/><Relationship Id="rId4" Type="http://schemas.openxmlformats.org/officeDocument/2006/relationships/oleObject" Target="../embeddings/oleObject41.bin"/></Relationships>
</file>

<file path=ppt/slides/_rels/slide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vmlDrawing" Target="../drawings/vmlDrawing41.vml"/><Relationship Id="rId5" Type="http://schemas.openxmlformats.org/officeDocument/2006/relationships/image" Target="../media/image2.wmf"/><Relationship Id="rId4" Type="http://schemas.openxmlformats.org/officeDocument/2006/relationships/oleObject" Target="../embeddings/oleObject42.bin"/></Relationships>
</file>

<file path=ppt/slides/_rels/slide44.xml.rels><?xml version="1.0" encoding="UTF-8" standalone="yes"?>
<Relationships xmlns="http://schemas.openxmlformats.org/package/2006/relationships"><Relationship Id="rId8" Type="http://schemas.openxmlformats.org/officeDocument/2006/relationships/image" Target="../media/image2.wmf"/><Relationship Id="rId3" Type="http://schemas.openxmlformats.org/officeDocument/2006/relationships/image" Target="../media/image9.png"/><Relationship Id="rId7" Type="http://schemas.openxmlformats.org/officeDocument/2006/relationships/oleObject" Target="../embeddings/oleObject43.bin"/><Relationship Id="rId2" Type="http://schemas.openxmlformats.org/officeDocument/2006/relationships/slideLayout" Target="../slideLayouts/slideLayout2.xml"/><Relationship Id="rId1" Type="http://schemas.openxmlformats.org/officeDocument/2006/relationships/vmlDrawing" Target="../drawings/vmlDrawing42.v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1.xml"/><Relationship Id="rId1" Type="http://schemas.openxmlformats.org/officeDocument/2006/relationships/vmlDrawing" Target="../drawings/vmlDrawing43.vml"/><Relationship Id="rId4" Type="http://schemas.openxmlformats.org/officeDocument/2006/relationships/image" Target="../media/image2.w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45.bin"/><Relationship Id="rId2" Type="http://schemas.openxmlformats.org/officeDocument/2006/relationships/slideLayout" Target="../slideLayouts/slideLayout2.xml"/><Relationship Id="rId1" Type="http://schemas.openxmlformats.org/officeDocument/2006/relationships/vmlDrawing" Target="../drawings/vmlDrawing44.vml"/><Relationship Id="rId4" Type="http://schemas.openxmlformats.org/officeDocument/2006/relationships/image" Target="../media/image2.w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46.bin"/><Relationship Id="rId2" Type="http://schemas.openxmlformats.org/officeDocument/2006/relationships/slideLayout" Target="../slideLayouts/slideLayout2.xml"/><Relationship Id="rId1" Type="http://schemas.openxmlformats.org/officeDocument/2006/relationships/vmlDrawing" Target="../drawings/vmlDrawing45.vml"/><Relationship Id="rId4" Type="http://schemas.openxmlformats.org/officeDocument/2006/relationships/image" Target="../media/image2.wmf"/></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Layout" Target="../slideLayouts/slideLayout2.xml"/><Relationship Id="rId1" Type="http://schemas.openxmlformats.org/officeDocument/2006/relationships/vmlDrawing" Target="../drawings/vmlDrawing46.vml"/><Relationship Id="rId4" Type="http://schemas.openxmlformats.org/officeDocument/2006/relationships/image" Target="../media/image2.wmf"/></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2.xml"/><Relationship Id="rId1" Type="http://schemas.openxmlformats.org/officeDocument/2006/relationships/vmlDrawing" Target="../drawings/vmlDrawing47.vml"/><Relationship Id="rId4" Type="http://schemas.openxmlformats.org/officeDocument/2006/relationships/image" Target="../media/image2.wmf"/></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49.bin"/><Relationship Id="rId2" Type="http://schemas.openxmlformats.org/officeDocument/2006/relationships/slideLayout" Target="../slideLayouts/slideLayout12.xml"/><Relationship Id="rId1" Type="http://schemas.openxmlformats.org/officeDocument/2006/relationships/vmlDrawing" Target="../drawings/vmlDrawing48.vml"/><Relationship Id="rId4" Type="http://schemas.openxmlformats.org/officeDocument/2006/relationships/image" Target="../media/image2.w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2.xml"/><Relationship Id="rId1" Type="http://schemas.openxmlformats.org/officeDocument/2006/relationships/vmlDrawing" Target="../drawings/vmlDrawing49.vml"/><Relationship Id="rId4" Type="http://schemas.openxmlformats.org/officeDocument/2006/relationships/image" Target="../media/image2.w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Layout" Target="../slideLayouts/slideLayout2.xml"/><Relationship Id="rId1" Type="http://schemas.openxmlformats.org/officeDocument/2006/relationships/vmlDrawing" Target="../drawings/vmlDrawing50.vml"/><Relationship Id="rId4" Type="http://schemas.openxmlformats.org/officeDocument/2006/relationships/image" Target="../media/image2.wmf"/></Relationships>
</file>

<file path=ppt/slides/_rels/slide53.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slideLayout" Target="../slideLayouts/slideLayout2.xml"/><Relationship Id="rId1" Type="http://schemas.openxmlformats.org/officeDocument/2006/relationships/vmlDrawing" Target="../drawings/vmlDrawing51.vml"/><Relationship Id="rId5" Type="http://schemas.openxmlformats.org/officeDocument/2006/relationships/image" Target="../media/image2.wmf"/><Relationship Id="rId4" Type="http://schemas.openxmlformats.org/officeDocument/2006/relationships/oleObject" Target="../embeddings/oleObject52.bin"/></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53.bin"/><Relationship Id="rId2" Type="http://schemas.openxmlformats.org/officeDocument/2006/relationships/slideLayout" Target="../slideLayouts/slideLayout14.xml"/><Relationship Id="rId1" Type="http://schemas.openxmlformats.org/officeDocument/2006/relationships/vmlDrawing" Target="../drawings/vmlDrawing52.vml"/><Relationship Id="rId4" Type="http://schemas.openxmlformats.org/officeDocument/2006/relationships/image" Target="../media/image2.wmf"/></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54.bin"/><Relationship Id="rId2" Type="http://schemas.openxmlformats.org/officeDocument/2006/relationships/slideLayout" Target="../slideLayouts/slideLayout2.xml"/><Relationship Id="rId1" Type="http://schemas.openxmlformats.org/officeDocument/2006/relationships/vmlDrawing" Target="../drawings/vmlDrawing53.vml"/><Relationship Id="rId4" Type="http://schemas.openxmlformats.org/officeDocument/2006/relationships/image" Target="../media/image2.wmf"/></Relationships>
</file>

<file path=ppt/slides/_rels/slide56.xml.rels><?xml version="1.0" encoding="UTF-8" standalone="yes"?>
<Relationships xmlns="http://schemas.openxmlformats.org/package/2006/relationships"><Relationship Id="rId3" Type="http://schemas.openxmlformats.org/officeDocument/2006/relationships/oleObject" Target="../embeddings/oleObject55.bin"/><Relationship Id="rId2" Type="http://schemas.openxmlformats.org/officeDocument/2006/relationships/slideLayout" Target="../slideLayouts/slideLayout2.xml"/><Relationship Id="rId1" Type="http://schemas.openxmlformats.org/officeDocument/2006/relationships/vmlDrawing" Target="../drawings/vmlDrawing54.vml"/><Relationship Id="rId4" Type="http://schemas.openxmlformats.org/officeDocument/2006/relationships/image" Target="../media/image2.wmf"/></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6.xml"/><Relationship Id="rId7" Type="http://schemas.openxmlformats.org/officeDocument/2006/relationships/image" Target="../media/image2.wmf"/><Relationship Id="rId2" Type="http://schemas.openxmlformats.org/officeDocument/2006/relationships/slideLayout" Target="../slideLayouts/slideLayout12.xml"/><Relationship Id="rId1" Type="http://schemas.openxmlformats.org/officeDocument/2006/relationships/vmlDrawing" Target="../drawings/vmlDrawing55.vml"/><Relationship Id="rId6" Type="http://schemas.openxmlformats.org/officeDocument/2006/relationships/oleObject" Target="../embeddings/oleObject57.bin"/><Relationship Id="rId5" Type="http://schemas.openxmlformats.org/officeDocument/2006/relationships/image" Target="../media/image14.wmf"/><Relationship Id="rId4" Type="http://schemas.openxmlformats.org/officeDocument/2006/relationships/oleObject" Target="../embeddings/oleObject56.bin"/></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Layout" Target="../slideLayouts/slideLayout2.xml"/><Relationship Id="rId1" Type="http://schemas.openxmlformats.org/officeDocument/2006/relationships/vmlDrawing" Target="../drawings/vmlDrawing56.vml"/><Relationship Id="rId4" Type="http://schemas.openxmlformats.org/officeDocument/2006/relationships/image" Target="../media/image2.wmf"/></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59.bin"/><Relationship Id="rId2" Type="http://schemas.openxmlformats.org/officeDocument/2006/relationships/slideLayout" Target="../slideLayouts/slideLayout2.xml"/><Relationship Id="rId1" Type="http://schemas.openxmlformats.org/officeDocument/2006/relationships/vmlDrawing" Target="../drawings/vmlDrawing57.vml"/><Relationship Id="rId4" Type="http://schemas.openxmlformats.org/officeDocument/2006/relationships/image" Target="../media/image2.wmf"/></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Layout" Target="../slideLayouts/slideLayout2.xml"/><Relationship Id="rId1" Type="http://schemas.openxmlformats.org/officeDocument/2006/relationships/vmlDrawing" Target="../drawings/vmlDrawing58.vml"/><Relationship Id="rId4" Type="http://schemas.openxmlformats.org/officeDocument/2006/relationships/image" Target="../media/image2.w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61.bin"/><Relationship Id="rId2" Type="http://schemas.openxmlformats.org/officeDocument/2006/relationships/slideLayout" Target="../slideLayouts/slideLayout2.xml"/><Relationship Id="rId1" Type="http://schemas.openxmlformats.org/officeDocument/2006/relationships/vmlDrawing" Target="../drawings/vmlDrawing59.vml"/><Relationship Id="rId4" Type="http://schemas.openxmlformats.org/officeDocument/2006/relationships/image" Target="../media/image2.wmf"/></Relationships>
</file>

<file path=ppt/slides/_rels/slide6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2.xml"/><Relationship Id="rId1" Type="http://schemas.openxmlformats.org/officeDocument/2006/relationships/vmlDrawing" Target="../drawings/vmlDrawing60.vml"/><Relationship Id="rId5" Type="http://schemas.openxmlformats.org/officeDocument/2006/relationships/image" Target="../media/image2.wmf"/><Relationship Id="rId4" Type="http://schemas.openxmlformats.org/officeDocument/2006/relationships/oleObject" Target="../embeddings/oleObject62.bin"/></Relationships>
</file>

<file path=ppt/slides/_rels/slide6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slideLayout" Target="../slideLayouts/slideLayout15.xml"/><Relationship Id="rId1" Type="http://schemas.openxmlformats.org/officeDocument/2006/relationships/vmlDrawing" Target="../drawings/vmlDrawing61.vml"/><Relationship Id="rId5" Type="http://schemas.openxmlformats.org/officeDocument/2006/relationships/image" Target="../media/image2.wmf"/><Relationship Id="rId4" Type="http://schemas.openxmlformats.org/officeDocument/2006/relationships/oleObject" Target="../embeddings/oleObject63.bin"/></Relationships>
</file>

<file path=ppt/slides/_rels/slide6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slideLayout" Target="../slideLayouts/slideLayout2.xml"/><Relationship Id="rId1" Type="http://schemas.openxmlformats.org/officeDocument/2006/relationships/vmlDrawing" Target="../drawings/vmlDrawing62.vml"/><Relationship Id="rId5" Type="http://schemas.openxmlformats.org/officeDocument/2006/relationships/image" Target="../media/image2.wmf"/><Relationship Id="rId4" Type="http://schemas.openxmlformats.org/officeDocument/2006/relationships/oleObject" Target="../embeddings/oleObject64.bin"/></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Layout" Target="../slideLayouts/slideLayout4.xml"/><Relationship Id="rId1" Type="http://schemas.openxmlformats.org/officeDocument/2006/relationships/vmlDrawing" Target="../drawings/vmlDrawing63.vml"/><Relationship Id="rId4" Type="http://schemas.openxmlformats.org/officeDocument/2006/relationships/image" Target="../media/image2.wmf"/></Relationships>
</file>

<file path=ppt/slides/_rels/slide6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slideLayout" Target="../slideLayouts/slideLayout2.xml"/><Relationship Id="rId1" Type="http://schemas.openxmlformats.org/officeDocument/2006/relationships/vmlDrawing" Target="../drawings/vmlDrawing64.vml"/><Relationship Id="rId5" Type="http://schemas.openxmlformats.org/officeDocument/2006/relationships/image" Target="../media/image2.wmf"/><Relationship Id="rId4" Type="http://schemas.openxmlformats.org/officeDocument/2006/relationships/oleObject" Target="../embeddings/oleObject66.bin"/></Relationships>
</file>

<file path=ppt/slides/_rels/slide68.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slideLayout" Target="../slideLayouts/slideLayout2.xml"/><Relationship Id="rId1" Type="http://schemas.openxmlformats.org/officeDocument/2006/relationships/vmlDrawing" Target="../drawings/vmlDrawing65.vml"/><Relationship Id="rId6" Type="http://schemas.openxmlformats.org/officeDocument/2006/relationships/image" Target="../media/image2.wmf"/><Relationship Id="rId5" Type="http://schemas.openxmlformats.org/officeDocument/2006/relationships/oleObject" Target="../embeddings/oleObject67.bin"/><Relationship Id="rId4" Type="http://schemas.openxmlformats.org/officeDocument/2006/relationships/image" Target="../media/image20.jpeg"/></Relationships>
</file>

<file path=ppt/slides/_rels/slide69.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slideLayout" Target="../slideLayouts/slideLayout2.xml"/><Relationship Id="rId1" Type="http://schemas.openxmlformats.org/officeDocument/2006/relationships/vmlDrawing" Target="../drawings/vmlDrawing66.vml"/><Relationship Id="rId5" Type="http://schemas.openxmlformats.org/officeDocument/2006/relationships/image" Target="../media/image2.wmf"/><Relationship Id="rId4" Type="http://schemas.openxmlformats.org/officeDocument/2006/relationships/oleObject" Target="../embeddings/oleObject68.bin"/></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slideLayout" Target="../slideLayouts/slideLayout2.xml"/><Relationship Id="rId1" Type="http://schemas.openxmlformats.org/officeDocument/2006/relationships/vmlDrawing" Target="../drawings/vmlDrawing67.vml"/><Relationship Id="rId4" Type="http://schemas.openxmlformats.org/officeDocument/2006/relationships/image" Target="../media/image2.wmf"/></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70.bin"/><Relationship Id="rId2" Type="http://schemas.openxmlformats.org/officeDocument/2006/relationships/slideLayout" Target="../slideLayouts/slideLayout2.xml"/><Relationship Id="rId1" Type="http://schemas.openxmlformats.org/officeDocument/2006/relationships/vmlDrawing" Target="../drawings/vmlDrawing68.vml"/><Relationship Id="rId4" Type="http://schemas.openxmlformats.org/officeDocument/2006/relationships/image" Target="../media/image2.wmf"/></Relationships>
</file>

<file path=ppt/slides/_rels/slide72.xml.rels><?xml version="1.0" encoding="UTF-8" standalone="yes"?>
<Relationships xmlns="http://schemas.openxmlformats.org/package/2006/relationships"><Relationship Id="rId3" Type="http://schemas.openxmlformats.org/officeDocument/2006/relationships/oleObject" Target="../embeddings/oleObject71.bin"/><Relationship Id="rId2" Type="http://schemas.openxmlformats.org/officeDocument/2006/relationships/slideLayout" Target="../slideLayouts/slideLayout2.xml"/><Relationship Id="rId1" Type="http://schemas.openxmlformats.org/officeDocument/2006/relationships/vmlDrawing" Target="../drawings/vmlDrawing69.vml"/><Relationship Id="rId4" Type="http://schemas.openxmlformats.org/officeDocument/2006/relationships/image" Target="../media/image2.wmf"/></Relationships>
</file>

<file path=ppt/slides/_rels/slide73.xml.rels><?xml version="1.0" encoding="UTF-8" standalone="yes"?>
<Relationships xmlns="http://schemas.openxmlformats.org/package/2006/relationships"><Relationship Id="rId3" Type="http://schemas.openxmlformats.org/officeDocument/2006/relationships/oleObject" Target="../embeddings/oleObject72.bin"/><Relationship Id="rId2" Type="http://schemas.openxmlformats.org/officeDocument/2006/relationships/slideLayout" Target="../slideLayouts/slideLayout2.xml"/><Relationship Id="rId1" Type="http://schemas.openxmlformats.org/officeDocument/2006/relationships/vmlDrawing" Target="../drawings/vmlDrawing70.vml"/><Relationship Id="rId4" Type="http://schemas.openxmlformats.org/officeDocument/2006/relationships/image" Target="../media/image2.wmf"/></Relationships>
</file>

<file path=ppt/slides/_rels/slide74.xml.rels><?xml version="1.0" encoding="UTF-8" standalone="yes"?>
<Relationships xmlns="http://schemas.openxmlformats.org/package/2006/relationships"><Relationship Id="rId8" Type="http://schemas.openxmlformats.org/officeDocument/2006/relationships/image" Target="../media/image2.wmf"/><Relationship Id="rId3" Type="http://schemas.openxmlformats.org/officeDocument/2006/relationships/image" Target="../media/image22.jpeg"/><Relationship Id="rId7" Type="http://schemas.openxmlformats.org/officeDocument/2006/relationships/oleObject" Target="../embeddings/oleObject73.bin"/><Relationship Id="rId2" Type="http://schemas.openxmlformats.org/officeDocument/2006/relationships/slideLayout" Target="../slideLayouts/slideLayout2.xml"/><Relationship Id="rId1" Type="http://schemas.openxmlformats.org/officeDocument/2006/relationships/vmlDrawing" Target="../drawings/vmlDrawing71.v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jpeg"/></Relationships>
</file>

<file path=ppt/slides/_rels/slide7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vmlDrawing" Target="../drawings/vmlDrawing72.vml"/><Relationship Id="rId5" Type="http://schemas.openxmlformats.org/officeDocument/2006/relationships/image" Target="../media/image2.wmf"/><Relationship Id="rId4" Type="http://schemas.openxmlformats.org/officeDocument/2006/relationships/oleObject" Target="../embeddings/oleObject74.bin"/></Relationships>
</file>

<file path=ppt/slides/_rels/slide76.xml.rels><?xml version="1.0" encoding="UTF-8" standalone="yes"?>
<Relationships xmlns="http://schemas.openxmlformats.org/package/2006/relationships"><Relationship Id="rId3" Type="http://schemas.openxmlformats.org/officeDocument/2006/relationships/oleObject" Target="../embeddings/oleObject75.bin"/><Relationship Id="rId2" Type="http://schemas.openxmlformats.org/officeDocument/2006/relationships/slideLayout" Target="../slideLayouts/slideLayout1.xml"/><Relationship Id="rId1" Type="http://schemas.openxmlformats.org/officeDocument/2006/relationships/vmlDrawing" Target="../drawings/vmlDrawing73.vml"/><Relationship Id="rId4" Type="http://schemas.openxmlformats.org/officeDocument/2006/relationships/image" Target="../media/image2.wmf"/></Relationships>
</file>

<file path=ppt/slides/_rels/slide77.xml.rels><?xml version="1.0" encoding="UTF-8" standalone="yes"?>
<Relationships xmlns="http://schemas.openxmlformats.org/package/2006/relationships"><Relationship Id="rId3" Type="http://schemas.openxmlformats.org/officeDocument/2006/relationships/oleObject" Target="../embeddings/oleObject76.bin"/><Relationship Id="rId2" Type="http://schemas.openxmlformats.org/officeDocument/2006/relationships/slideLayout" Target="../slideLayouts/slideLayout2.xml"/><Relationship Id="rId1" Type="http://schemas.openxmlformats.org/officeDocument/2006/relationships/vmlDrawing" Target="../drawings/vmlDrawing74.vml"/><Relationship Id="rId4" Type="http://schemas.openxmlformats.org/officeDocument/2006/relationships/image" Target="../media/image2.wmf"/></Relationships>
</file>

<file path=ppt/slides/_rels/slide78.xml.rels><?xml version="1.0" encoding="UTF-8" standalone="yes"?>
<Relationships xmlns="http://schemas.openxmlformats.org/package/2006/relationships"><Relationship Id="rId3" Type="http://schemas.openxmlformats.org/officeDocument/2006/relationships/oleObject" Target="../embeddings/oleObject77.bin"/><Relationship Id="rId2" Type="http://schemas.openxmlformats.org/officeDocument/2006/relationships/slideLayout" Target="../slideLayouts/slideLayout1.xml"/><Relationship Id="rId1" Type="http://schemas.openxmlformats.org/officeDocument/2006/relationships/vmlDrawing" Target="../drawings/vmlDrawing75.vml"/><Relationship Id="rId4" Type="http://schemas.openxmlformats.org/officeDocument/2006/relationships/image" Target="../media/image2.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27873B92-BF56-4799-A6C8-17C1290C210C}" type="slidenum">
              <a:rPr lang="en-US" altLang="en-US" sz="1200" smtClean="0">
                <a:latin typeface="Garamond" panose="02020404030301010803" pitchFamily="18" charset="0"/>
              </a:rPr>
              <a:pPr>
                <a:spcBef>
                  <a:spcPct val="0"/>
                </a:spcBef>
                <a:buClrTx/>
                <a:buSzTx/>
                <a:buFontTx/>
                <a:buNone/>
              </a:pPr>
              <a:t>1</a:t>
            </a:fld>
            <a:endParaRPr lang="en-US" altLang="en-US" sz="1200" smtClean="0">
              <a:latin typeface="Garamond" panose="02020404030301010803" pitchFamily="18" charset="0"/>
            </a:endParaRPr>
          </a:p>
        </p:txBody>
      </p:sp>
      <p:sp>
        <p:nvSpPr>
          <p:cNvPr id="4099" name="Rectangle 2"/>
          <p:cNvSpPr>
            <a:spLocks noGrp="1" noChangeArrowheads="1"/>
          </p:cNvSpPr>
          <p:nvPr>
            <p:ph type="title"/>
          </p:nvPr>
        </p:nvSpPr>
        <p:spPr>
          <a:xfrm>
            <a:off x="457200" y="277813"/>
            <a:ext cx="8229600" cy="2541587"/>
          </a:xfrm>
        </p:spPr>
        <p:txBody>
          <a:bodyPr/>
          <a:lstStyle/>
          <a:p>
            <a:pPr algn="ctr" eaLnBrk="1" hangingPunct="1"/>
            <a:r>
              <a:rPr lang="en-US" altLang="en-US" sz="4400" b="1" u="sng" smtClean="0"/>
              <a:t>Genetic Algorithms</a:t>
            </a:r>
            <a:r>
              <a:rPr lang="en-US" altLang="en-US" sz="3600" b="1" u="sng" smtClean="0"/>
              <a:t/>
            </a:r>
            <a:br>
              <a:rPr lang="en-US" altLang="en-US" sz="3600" b="1" u="sng" smtClean="0"/>
            </a:br>
            <a:r>
              <a:rPr lang="en-US" altLang="en-US" sz="3600" b="1" u="sng" smtClean="0"/>
              <a:t/>
            </a:r>
            <a:br>
              <a:rPr lang="en-US" altLang="en-US" sz="3600" b="1" u="sng" smtClean="0"/>
            </a:br>
            <a:r>
              <a:rPr lang="en-US" altLang="en-US" sz="3600" smtClean="0"/>
              <a:t>Prof. Dr. Md. Aminul Haque Akhand</a:t>
            </a:r>
            <a:r>
              <a:rPr lang="en-US" altLang="en-US" sz="3600" i="1" smtClean="0"/>
              <a:t/>
            </a:r>
            <a:br>
              <a:rPr lang="en-US" altLang="en-US" sz="3600" i="1" smtClean="0"/>
            </a:br>
            <a:r>
              <a:rPr lang="en-US" altLang="en-US" sz="3600" smtClean="0"/>
              <a:t>Dept. of CSE, KUET</a:t>
            </a:r>
            <a:r>
              <a:rPr lang="en-US" altLang="en-US" sz="3600" i="1" smtClean="0"/>
              <a:t/>
            </a:r>
            <a:br>
              <a:rPr lang="en-US" altLang="en-US" sz="3600" i="1" smtClean="0"/>
            </a:br>
            <a:r>
              <a:rPr lang="en-US" altLang="en-US" sz="1700" i="1" smtClean="0"/>
              <a:t/>
            </a:r>
            <a:br>
              <a:rPr lang="en-US" altLang="en-US" sz="1700" i="1" smtClean="0"/>
            </a:br>
            <a:r>
              <a:rPr lang="en-US" altLang="en-US" sz="1700" i="1" smtClean="0"/>
              <a:t/>
            </a:r>
            <a:br>
              <a:rPr lang="en-US" altLang="en-US" sz="1700" i="1" smtClean="0"/>
            </a:br>
            <a:r>
              <a:rPr lang="en-US" altLang="en-US" sz="1700" i="1" smtClean="0"/>
              <a:t/>
            </a:r>
            <a:br>
              <a:rPr lang="en-US" altLang="en-US" sz="1700" i="1" smtClean="0"/>
            </a:br>
            <a:r>
              <a:rPr lang="en-US" altLang="en-US" sz="1700" i="1" smtClean="0"/>
              <a:t/>
            </a:r>
            <a:br>
              <a:rPr lang="en-US" altLang="en-US" sz="1700" i="1" smtClean="0"/>
            </a:br>
            <a:r>
              <a:rPr lang="en-US" altLang="en-US" sz="1700" i="1" smtClean="0"/>
              <a:t/>
            </a:r>
            <a:br>
              <a:rPr lang="en-US" altLang="en-US" sz="1700" i="1" smtClean="0"/>
            </a:br>
            <a:r>
              <a:rPr lang="en-US" altLang="en-US" sz="1700" i="1" smtClean="0"/>
              <a:t/>
            </a:r>
            <a:br>
              <a:rPr lang="en-US" altLang="en-US" sz="1700" i="1" smtClean="0"/>
            </a:br>
            <a:endParaRPr lang="en-US" altLang="en-US" sz="1700" i="1" smtClean="0"/>
          </a:p>
        </p:txBody>
      </p:sp>
      <p:pic>
        <p:nvPicPr>
          <p:cNvPr id="4100" name="Picture 3" descr="ga"/>
          <p:cNvPicPr>
            <a:picLocks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304800" y="2514600"/>
            <a:ext cx="2743200" cy="3505200"/>
          </a:xfrm>
          <a:noFill/>
        </p:spPr>
      </p:pic>
      <p:sp>
        <p:nvSpPr>
          <p:cNvPr id="5" name="Rectangle 4"/>
          <p:cNvSpPr/>
          <p:nvPr/>
        </p:nvSpPr>
        <p:spPr>
          <a:xfrm>
            <a:off x="2209800" y="3200400"/>
            <a:ext cx="6934200" cy="2308225"/>
          </a:xfrm>
          <a:prstGeom prst="rect">
            <a:avLst/>
          </a:prstGeom>
        </p:spPr>
        <p:txBody>
          <a:bodyPr>
            <a:spAutoFit/>
          </a:bodyPr>
          <a:lstStyle/>
          <a:p>
            <a:pPr eaLnBrk="1" hangingPunct="1">
              <a:defRPr/>
            </a:pPr>
            <a:r>
              <a:rPr lang="en-US" sz="3600" dirty="0">
                <a:solidFill>
                  <a:schemeClr val="tx2"/>
                </a:solidFill>
                <a:latin typeface="+mj-lt"/>
                <a:ea typeface="+mj-ea"/>
                <a:cs typeface="+mj-cs"/>
              </a:rPr>
              <a:t>Source</a:t>
            </a:r>
          </a:p>
          <a:p>
            <a:pPr marL="1657350" lvl="2" indent="-742950" eaLnBrk="1" hangingPunct="1">
              <a:buFont typeface="+mj-lt"/>
              <a:buAutoNum type="arabicPeriod"/>
              <a:defRPr/>
            </a:pPr>
            <a:r>
              <a:rPr lang="en-US" sz="2400" dirty="0">
                <a:solidFill>
                  <a:schemeClr val="tx2"/>
                </a:solidFill>
                <a:latin typeface="+mj-lt"/>
                <a:ea typeface="+mj-ea"/>
                <a:cs typeface="+mj-cs"/>
              </a:rPr>
              <a:t>Presentation of Dr. </a:t>
            </a:r>
            <a:r>
              <a:rPr lang="en-US" sz="2400" dirty="0" err="1">
                <a:solidFill>
                  <a:schemeClr val="tx2"/>
                </a:solidFill>
                <a:latin typeface="+mj-lt"/>
                <a:ea typeface="+mj-ea"/>
                <a:cs typeface="+mj-cs"/>
              </a:rPr>
              <a:t>Chhavi</a:t>
            </a:r>
            <a:r>
              <a:rPr lang="en-US" sz="2400" dirty="0">
                <a:solidFill>
                  <a:schemeClr val="tx2"/>
                </a:solidFill>
                <a:latin typeface="+mj-lt"/>
                <a:ea typeface="+mj-ea"/>
                <a:cs typeface="+mj-cs"/>
              </a:rPr>
              <a:t> </a:t>
            </a:r>
            <a:r>
              <a:rPr lang="en-US" sz="2400" dirty="0" err="1">
                <a:solidFill>
                  <a:schemeClr val="tx2"/>
                </a:solidFill>
                <a:latin typeface="+mj-lt"/>
                <a:ea typeface="+mj-ea"/>
                <a:cs typeface="+mj-cs"/>
              </a:rPr>
              <a:t>Kashyap</a:t>
            </a:r>
            <a:endParaRPr lang="en-US" sz="2400" dirty="0">
              <a:solidFill>
                <a:schemeClr val="tx2"/>
              </a:solidFill>
              <a:latin typeface="+mj-lt"/>
              <a:ea typeface="+mj-ea"/>
              <a:cs typeface="+mj-cs"/>
            </a:endParaRPr>
          </a:p>
          <a:p>
            <a:pPr marL="1657350" lvl="2" indent="-742950" eaLnBrk="1" hangingPunct="1">
              <a:buFont typeface="+mj-lt"/>
              <a:buAutoNum type="arabicPeriod"/>
              <a:defRPr/>
            </a:pPr>
            <a:r>
              <a:rPr lang="en-US" sz="2400" dirty="0">
                <a:solidFill>
                  <a:schemeClr val="tx2"/>
                </a:solidFill>
                <a:latin typeface="+mj-lt"/>
                <a:ea typeface="+mj-ea"/>
                <a:cs typeface="+mj-cs"/>
              </a:rPr>
              <a:t>Presentation of Dr. Son </a:t>
            </a:r>
            <a:r>
              <a:rPr lang="en-US" sz="2400" dirty="0" err="1">
                <a:solidFill>
                  <a:schemeClr val="tx2"/>
                </a:solidFill>
                <a:latin typeface="+mj-lt"/>
                <a:ea typeface="+mj-ea"/>
                <a:cs typeface="+mj-cs"/>
              </a:rPr>
              <a:t>Kuswadi</a:t>
            </a:r>
            <a:endParaRPr lang="en-US" sz="2400" dirty="0">
              <a:solidFill>
                <a:schemeClr val="tx2"/>
              </a:solidFill>
              <a:latin typeface="+mj-lt"/>
              <a:ea typeface="+mj-ea"/>
              <a:cs typeface="+mj-cs"/>
            </a:endParaRPr>
          </a:p>
          <a:p>
            <a:pPr marL="1657350" lvl="2" indent="-742950" eaLnBrk="1" hangingPunct="1">
              <a:buFont typeface="+mj-lt"/>
              <a:buAutoNum type="arabicPeriod"/>
              <a:defRPr/>
            </a:pPr>
            <a:r>
              <a:rPr lang="en-US" sz="2400" dirty="0">
                <a:solidFill>
                  <a:schemeClr val="tx2"/>
                </a:solidFill>
                <a:latin typeface="+mj-lt"/>
                <a:ea typeface="+mj-ea"/>
                <a:cs typeface="+mj-cs"/>
              </a:rPr>
              <a:t>Others</a:t>
            </a:r>
          </a:p>
          <a:p>
            <a:pPr algn="ctr" eaLnBrk="1" hangingPunct="1">
              <a:defRPr/>
            </a:pPr>
            <a:endParaRPr lang="en-US" sz="3600" dirty="0">
              <a:solidFill>
                <a:schemeClr val="tx2"/>
              </a:solidFill>
              <a:latin typeface="+mj-lt"/>
              <a:ea typeface="+mj-ea"/>
              <a:cs typeface="+mj-cs"/>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B3C63B2-ACBC-4C0A-A78D-846965DDA2C6}" type="slidenum">
              <a:rPr lang="en-US" altLang="en-US" sz="1200" smtClean="0">
                <a:latin typeface="Garamond" panose="02020404030301010803" pitchFamily="18" charset="0"/>
              </a:rPr>
              <a:pPr>
                <a:spcBef>
                  <a:spcPct val="0"/>
                </a:spcBef>
                <a:buClrTx/>
                <a:buSzTx/>
                <a:buFontTx/>
                <a:buNone/>
              </a:pPr>
              <a:t>2</a:t>
            </a:fld>
            <a:endParaRPr lang="en-US" altLang="en-US" sz="1200" smtClean="0">
              <a:latin typeface="Garamond" panose="02020404030301010803" pitchFamily="18" charset="0"/>
            </a:endParaRPr>
          </a:p>
        </p:txBody>
      </p:sp>
      <p:sp>
        <p:nvSpPr>
          <p:cNvPr id="5123" name="Rectangle 2"/>
          <p:cNvSpPr>
            <a:spLocks noGrp="1" noChangeArrowheads="1"/>
          </p:cNvSpPr>
          <p:nvPr>
            <p:ph type="title"/>
          </p:nvPr>
        </p:nvSpPr>
        <p:spPr/>
        <p:txBody>
          <a:bodyPr/>
          <a:lstStyle/>
          <a:p>
            <a:pPr algn="ctr" eaLnBrk="1" hangingPunct="1"/>
            <a:r>
              <a:rPr lang="en-US" altLang="en-US" sz="4000" b="1" u="sng" smtClean="0"/>
              <a:t>Overview</a:t>
            </a:r>
          </a:p>
        </p:txBody>
      </p:sp>
      <p:sp>
        <p:nvSpPr>
          <p:cNvPr id="5124" name="Rectangle 3"/>
          <p:cNvSpPr>
            <a:spLocks noGrp="1" noChangeArrowheads="1"/>
          </p:cNvSpPr>
          <p:nvPr>
            <p:ph type="body" idx="1"/>
          </p:nvPr>
        </p:nvSpPr>
        <p:spPr>
          <a:xfrm>
            <a:off x="457200" y="1371600"/>
            <a:ext cx="8229600" cy="4530725"/>
          </a:xfrm>
        </p:spPr>
        <p:txBody>
          <a:bodyPr/>
          <a:lstStyle/>
          <a:p>
            <a:pPr eaLnBrk="1" hangingPunct="1"/>
            <a:r>
              <a:rPr lang="en-US" altLang="en-US" smtClean="0"/>
              <a:t>Introduction To Genetic Algorithms (GAs)</a:t>
            </a:r>
          </a:p>
          <a:p>
            <a:pPr eaLnBrk="1" hangingPunct="1"/>
            <a:endParaRPr lang="en-US" altLang="en-US" smtClean="0"/>
          </a:p>
          <a:p>
            <a:pPr eaLnBrk="1" hangingPunct="1"/>
            <a:r>
              <a:rPr lang="en-US" altLang="en-US" smtClean="0"/>
              <a:t>GA Operators and Parameters</a:t>
            </a:r>
          </a:p>
          <a:p>
            <a:pPr eaLnBrk="1" hangingPunct="1"/>
            <a:endParaRPr lang="en-US" altLang="en-US" smtClean="0"/>
          </a:p>
          <a:p>
            <a:pPr eaLnBrk="1" hangingPunct="1"/>
            <a:r>
              <a:rPr lang="en-US" altLang="en-US" smtClean="0"/>
              <a:t>Application of Genetic Algorithms </a:t>
            </a:r>
          </a:p>
          <a:p>
            <a:pPr eaLnBrk="1" hangingPunct="1"/>
            <a:endParaRPr lang="en-US" altLang="en-US" smtClean="0"/>
          </a:p>
          <a:p>
            <a:pPr eaLnBrk="1" hangingPunct="1"/>
            <a:r>
              <a:rPr lang="en-US" altLang="en-US" smtClean="0"/>
              <a:t>Summary</a:t>
            </a:r>
          </a:p>
          <a:p>
            <a:pPr eaLnBrk="1" hangingPunct="1">
              <a:buFont typeface="Wingdings" panose="05000000000000000000" pitchFamily="2" charset="2"/>
              <a:buNone/>
            </a:pPr>
            <a:endParaRPr lang="en-US" altLang="en-US" smtClean="0"/>
          </a:p>
          <a:p>
            <a:pPr eaLnBrk="1" hangingPunct="1"/>
            <a:endParaRPr lang="en-US" altLang="en-US" smtClean="0"/>
          </a:p>
          <a:p>
            <a:pPr eaLnBrk="1" hangingPunct="1"/>
            <a:endParaRPr lang="en-US" altLang="en-US" smtClean="0"/>
          </a:p>
        </p:txBody>
      </p:sp>
      <p:graphicFrame>
        <p:nvGraphicFramePr>
          <p:cNvPr id="5125"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5126"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4D77CB6-6FD9-4F91-9DA6-40403D8CDF57}" type="slidenum">
              <a:rPr lang="en-US" altLang="en-US" sz="1200" smtClean="0">
                <a:latin typeface="Garamond" panose="02020404030301010803" pitchFamily="18" charset="0"/>
              </a:rPr>
              <a:pPr>
                <a:spcBef>
                  <a:spcPct val="0"/>
                </a:spcBef>
                <a:buClrTx/>
                <a:buSzTx/>
                <a:buFontTx/>
                <a:buNone/>
              </a:pPr>
              <a:t>3</a:t>
            </a:fld>
            <a:endParaRPr lang="en-US" altLang="en-US" sz="1200" smtClean="0">
              <a:latin typeface="Garamond" panose="02020404030301010803" pitchFamily="18" charset="0"/>
            </a:endParaRPr>
          </a:p>
        </p:txBody>
      </p:sp>
      <p:sp>
        <p:nvSpPr>
          <p:cNvPr id="6147" name="Rectangle 2"/>
          <p:cNvSpPr>
            <a:spLocks noGrp="1" noChangeArrowheads="1"/>
          </p:cNvSpPr>
          <p:nvPr>
            <p:ph type="title"/>
          </p:nvPr>
        </p:nvSpPr>
        <p:spPr/>
        <p:txBody>
          <a:bodyPr/>
          <a:lstStyle/>
          <a:p>
            <a:pPr algn="ctr" eaLnBrk="1" hangingPunct="1"/>
            <a:r>
              <a:rPr lang="en-US" altLang="en-US" sz="4000" b="1" u="sng" smtClean="0"/>
              <a:t>References</a:t>
            </a:r>
            <a:br>
              <a:rPr lang="en-US" altLang="en-US" sz="4000" b="1" u="sng" smtClean="0"/>
            </a:br>
            <a:endParaRPr lang="en-US" altLang="en-US" sz="4000" b="1" u="sng" smtClean="0"/>
          </a:p>
        </p:txBody>
      </p:sp>
      <p:sp>
        <p:nvSpPr>
          <p:cNvPr id="6148" name="Rectangle 3"/>
          <p:cNvSpPr>
            <a:spLocks noGrp="1" noChangeArrowheads="1"/>
          </p:cNvSpPr>
          <p:nvPr>
            <p:ph type="body" idx="1"/>
          </p:nvPr>
        </p:nvSpPr>
        <p:spPr>
          <a:xfrm>
            <a:off x="685800" y="990600"/>
            <a:ext cx="8305800" cy="4084638"/>
          </a:xfrm>
        </p:spPr>
        <p:txBody>
          <a:bodyPr/>
          <a:lstStyle/>
          <a:p>
            <a:pPr algn="just" eaLnBrk="1" hangingPunct="1"/>
            <a:r>
              <a:rPr lang="en-US" altLang="en-US" sz="2200" smtClean="0"/>
              <a:t>D. E. Goldberg, ‘Genetic Algorithm In Search, Optimization And Machine Learning’, New York: Addison – Wesley (1989)</a:t>
            </a:r>
          </a:p>
          <a:p>
            <a:pPr algn="just" eaLnBrk="1" hangingPunct="1"/>
            <a:r>
              <a:rPr lang="en-US" altLang="en-US" sz="2200" smtClean="0"/>
              <a:t>John H. Holland ‘Genetic Algorithms’, Scientific American Journal, July 1992.</a:t>
            </a:r>
          </a:p>
          <a:p>
            <a:pPr algn="just" eaLnBrk="1" hangingPunct="1"/>
            <a:r>
              <a:rPr lang="en-US" altLang="en-US" sz="2200" smtClean="0"/>
              <a:t>Kalyanmoy Deb, ‘An Introduction To Genetic Algorithms’, Sadhana, Vol. 24 Parts 4 And 5.</a:t>
            </a:r>
          </a:p>
          <a:p>
            <a:pPr algn="just" eaLnBrk="1" hangingPunct="1"/>
            <a:r>
              <a:rPr lang="en-US" altLang="en-US" sz="2200" smtClean="0"/>
              <a:t>D. Whitley, et al, ‘Traveling Salesman And Sequence Scheduling: Quality Solutions Using Genetic Edge Recombination’, Handbook Of Genetic Algorithms, New York</a:t>
            </a:r>
          </a:p>
          <a:p>
            <a:pPr algn="just" eaLnBrk="1" hangingPunct="1"/>
            <a:r>
              <a:rPr lang="en-US" altLang="en-US" sz="2200" smtClean="0">
                <a:solidFill>
                  <a:srgbClr val="0000FF"/>
                </a:solidFill>
                <a:hlinkClick r:id="rId3"/>
              </a:rPr>
              <a:t>Jason Brownlee</a:t>
            </a:r>
            <a:r>
              <a:rPr lang="en-US" altLang="en-US" sz="2200" smtClean="0">
                <a:solidFill>
                  <a:srgbClr val="0000FF"/>
                </a:solidFill>
              </a:rPr>
              <a:t>, “Clever Algorithms - Nature-Inspired Programming Recipes” 2011. </a:t>
            </a:r>
          </a:p>
        </p:txBody>
      </p:sp>
      <p:graphicFrame>
        <p:nvGraphicFramePr>
          <p:cNvPr id="6149" name="Object 4"/>
          <p:cNvGraphicFramePr>
            <a:graphicFrameLocks/>
          </p:cNvGraphicFramePr>
          <p:nvPr/>
        </p:nvGraphicFramePr>
        <p:xfrm>
          <a:off x="152400" y="228600"/>
          <a:ext cx="762000" cy="1219200"/>
        </p:xfrm>
        <a:graphic>
          <a:graphicData uri="http://schemas.openxmlformats.org/presentationml/2006/ole">
            <mc:AlternateContent xmlns:mc="http://schemas.openxmlformats.org/markup-compatibility/2006">
              <mc:Choice xmlns:v="urn:schemas-microsoft-com:vml" Requires="v">
                <p:oleObj spid="_x0000_s6151" name="Klip" r:id="rId4" imgW="1423988" imgH="3055938" progId="MS_ClipArt_Gallery.2">
                  <p:embed/>
                </p:oleObj>
              </mc:Choice>
              <mc:Fallback>
                <p:oleObj name="Klip" r:id="rId4" imgW="1423988" imgH="3055938" progId="MS_ClipArt_Gallery.2">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2400" y="228600"/>
                        <a:ext cx="762000" cy="121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Rectangle 3"/>
          <p:cNvSpPr txBox="1">
            <a:spLocks noChangeArrowheads="1"/>
          </p:cNvSpPr>
          <p:nvPr/>
        </p:nvSpPr>
        <p:spPr bwMode="auto">
          <a:xfrm>
            <a:off x="571500" y="5105400"/>
            <a:ext cx="82296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tx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tx1"/>
                </a:solidFill>
                <a:latin typeface="+mn-lt"/>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tx1"/>
                </a:solidFill>
                <a:latin typeface="+mn-lt"/>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tx1"/>
                </a:solidFill>
                <a:latin typeface="+mn-lt"/>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tx1"/>
                </a:solidFill>
                <a:latin typeface="+mn-lt"/>
              </a:defRPr>
            </a:lvl9pPr>
          </a:lstStyle>
          <a:p>
            <a:pPr eaLnBrk="1" hangingPunct="1">
              <a:buFont typeface="Wingdings" panose="05000000000000000000" pitchFamily="2" charset="2"/>
              <a:buNone/>
              <a:defRPr/>
            </a:pPr>
            <a:r>
              <a:rPr lang="en-US" sz="2000" u="sng" kern="0" dirty="0" smtClean="0">
                <a:solidFill>
                  <a:schemeClr val="tx2"/>
                </a:solidFill>
              </a:rPr>
              <a:t>WEBSITES</a:t>
            </a:r>
          </a:p>
          <a:p>
            <a:pPr marL="0" indent="0" eaLnBrk="1" hangingPunct="1">
              <a:buFont typeface="Wingdings" panose="05000000000000000000" pitchFamily="2" charset="2"/>
              <a:buNone/>
              <a:defRPr/>
            </a:pPr>
            <a:r>
              <a:rPr lang="en-US" sz="2400" b="0" kern="0" dirty="0" smtClean="0">
                <a:hlinkClick r:id="rId6"/>
              </a:rPr>
              <a:t>www.iitk.ac.in/kangal</a:t>
            </a:r>
            <a:r>
              <a:rPr lang="en-US" sz="2400" b="0" kern="0" dirty="0" smtClean="0"/>
              <a:t>   </a:t>
            </a:r>
            <a:r>
              <a:rPr lang="en-US" sz="2400" b="0" kern="0" dirty="0" smtClean="0">
                <a:hlinkClick r:id="rId7"/>
              </a:rPr>
              <a:t>www.genetic-programming.com</a:t>
            </a:r>
            <a:endParaRPr lang="en-US" sz="2400" b="0" kern="0" dirty="0" smtClean="0">
              <a:hlinkClick r:id="rId8"/>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DBA1AEA-3AFA-445A-8DB5-03DA1D586CE9}" type="slidenum">
              <a:rPr lang="en-US" altLang="en-US" sz="1200" smtClean="0">
                <a:latin typeface="Garamond" panose="02020404030301010803" pitchFamily="18" charset="0"/>
              </a:rPr>
              <a:pPr>
                <a:spcBef>
                  <a:spcPct val="0"/>
                </a:spcBef>
                <a:buClrTx/>
                <a:buSzTx/>
                <a:buFontTx/>
                <a:buNone/>
              </a:pPr>
              <a:t>4</a:t>
            </a:fld>
            <a:endParaRPr lang="en-US" altLang="en-US" sz="1200" smtClean="0">
              <a:latin typeface="Garamond" panose="02020404030301010803" pitchFamily="18" charset="0"/>
            </a:endParaRPr>
          </a:p>
        </p:txBody>
      </p:sp>
      <p:sp>
        <p:nvSpPr>
          <p:cNvPr id="7171" name="Rectangle 2"/>
          <p:cNvSpPr>
            <a:spLocks noGrp="1" noChangeArrowheads="1"/>
          </p:cNvSpPr>
          <p:nvPr>
            <p:ph type="ctrTitle"/>
          </p:nvPr>
        </p:nvSpPr>
        <p:spPr/>
        <p:txBody>
          <a:bodyPr/>
          <a:lstStyle/>
          <a:p>
            <a:pPr algn="ctr" eaLnBrk="1" hangingPunct="1"/>
            <a:r>
              <a:rPr lang="en-US" altLang="en-US" sz="4800" b="1" smtClean="0"/>
              <a:t>Introduction To Genetic Algorithms (GAs)</a:t>
            </a:r>
            <a:r>
              <a:rPr lang="en-US" altLang="en-US" sz="5400" b="1" u="sng" smtClean="0"/>
              <a:t> </a:t>
            </a:r>
          </a:p>
        </p:txBody>
      </p:sp>
      <p:sp>
        <p:nvSpPr>
          <p:cNvPr id="7172" name="Rectangle 3"/>
          <p:cNvSpPr>
            <a:spLocks noGrp="1" noChangeArrowheads="1"/>
          </p:cNvSpPr>
          <p:nvPr>
            <p:ph type="subTitle" idx="1"/>
          </p:nvPr>
        </p:nvSpPr>
        <p:spPr/>
        <p:txBody>
          <a:bodyPr/>
          <a:lstStyle/>
          <a:p>
            <a:pPr eaLnBrk="1" hangingPunct="1"/>
            <a:endParaRPr lang="en-US" altLang="en-US" sz="3700" b="1" smtClean="0"/>
          </a:p>
          <a:p>
            <a:pPr algn="ctr" eaLnBrk="1" hangingPunct="1"/>
            <a:endParaRPr lang="en-US" altLang="en-US" sz="3700" b="1" i="1" smtClean="0">
              <a:solidFill>
                <a:schemeClr val="tx2"/>
              </a:solidFill>
            </a:endParaRPr>
          </a:p>
        </p:txBody>
      </p:sp>
      <p:graphicFrame>
        <p:nvGraphicFramePr>
          <p:cNvPr id="7173"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7174"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7C7B3B29-D431-448F-8B97-82DBBE34DF3F}" type="slidenum">
              <a:rPr lang="en-US" altLang="en-US" sz="1200" smtClean="0">
                <a:latin typeface="Garamond" panose="02020404030301010803" pitchFamily="18" charset="0"/>
              </a:rPr>
              <a:pPr>
                <a:spcBef>
                  <a:spcPct val="0"/>
                </a:spcBef>
                <a:buClrTx/>
                <a:buSzTx/>
                <a:buFontTx/>
                <a:buNone/>
              </a:pPr>
              <a:t>5</a:t>
            </a:fld>
            <a:endParaRPr lang="en-US" altLang="en-US" sz="1200" smtClean="0">
              <a:latin typeface="Garamond" panose="02020404030301010803" pitchFamily="18" charset="0"/>
            </a:endParaRPr>
          </a:p>
        </p:txBody>
      </p:sp>
      <p:sp>
        <p:nvSpPr>
          <p:cNvPr id="8195" name="Rectangle 2"/>
          <p:cNvSpPr>
            <a:spLocks noGrp="1" noChangeArrowheads="1"/>
          </p:cNvSpPr>
          <p:nvPr>
            <p:ph type="title"/>
          </p:nvPr>
        </p:nvSpPr>
        <p:spPr>
          <a:xfrm>
            <a:off x="457200" y="277813"/>
            <a:ext cx="8229600" cy="865187"/>
          </a:xfrm>
        </p:spPr>
        <p:txBody>
          <a:bodyPr/>
          <a:lstStyle/>
          <a:p>
            <a:pPr algn="ctr" eaLnBrk="1" hangingPunct="1"/>
            <a:r>
              <a:rPr lang="en-US" altLang="en-US" sz="4000" b="1" u="sng" smtClean="0"/>
              <a:t>History Of Genetic Algorithms</a:t>
            </a:r>
          </a:p>
        </p:txBody>
      </p:sp>
      <p:sp>
        <p:nvSpPr>
          <p:cNvPr id="8196" name="Rectangle 3"/>
          <p:cNvSpPr>
            <a:spLocks noGrp="1" noChangeArrowheads="1"/>
          </p:cNvSpPr>
          <p:nvPr>
            <p:ph type="body" idx="1"/>
          </p:nvPr>
        </p:nvSpPr>
        <p:spPr>
          <a:xfrm>
            <a:off x="457200" y="1295400"/>
            <a:ext cx="8229600" cy="4835525"/>
          </a:xfrm>
        </p:spPr>
        <p:txBody>
          <a:bodyPr/>
          <a:lstStyle/>
          <a:p>
            <a:pPr eaLnBrk="1" hangingPunct="1">
              <a:lnSpc>
                <a:spcPct val="120000"/>
              </a:lnSpc>
            </a:pPr>
            <a:r>
              <a:rPr lang="en-US" altLang="en-US" sz="2400" smtClean="0"/>
              <a:t>“Evolutionary Computing” was introduced in the </a:t>
            </a:r>
            <a:r>
              <a:rPr lang="en-US" altLang="en-US" sz="2400" smtClean="0">
                <a:solidFill>
                  <a:srgbClr val="0000FF"/>
                </a:solidFill>
              </a:rPr>
              <a:t>1960s </a:t>
            </a:r>
            <a:r>
              <a:rPr lang="en-US" altLang="en-US" sz="2400" smtClean="0"/>
              <a:t>by </a:t>
            </a:r>
            <a:r>
              <a:rPr lang="en-US" altLang="en-US" sz="2400" b="1" smtClean="0"/>
              <a:t>I. Rechenberg</a:t>
            </a:r>
            <a:r>
              <a:rPr lang="en-US" altLang="en-US" sz="2400" smtClean="0"/>
              <a:t>.</a:t>
            </a:r>
          </a:p>
          <a:p>
            <a:pPr eaLnBrk="1" hangingPunct="1">
              <a:lnSpc>
                <a:spcPct val="120000"/>
              </a:lnSpc>
              <a:buFont typeface="Wingdings" panose="05000000000000000000" pitchFamily="2" charset="2"/>
              <a:buNone/>
            </a:pPr>
            <a:endParaRPr lang="en-US" altLang="en-US" sz="2400" smtClean="0"/>
          </a:p>
          <a:p>
            <a:pPr eaLnBrk="1" hangingPunct="1">
              <a:lnSpc>
                <a:spcPct val="120000"/>
              </a:lnSpc>
            </a:pPr>
            <a:r>
              <a:rPr lang="en-US" altLang="en-US" sz="2400" smtClean="0"/>
              <a:t>John Holland wrote the first book on Genetic Algorithms ‘</a:t>
            </a:r>
            <a:r>
              <a:rPr lang="en-US" altLang="en-US" sz="2400" smtClean="0">
                <a:solidFill>
                  <a:srgbClr val="CC3300"/>
                </a:solidFill>
              </a:rPr>
              <a:t>Adaptation in Natural and Artificial Systems</a:t>
            </a:r>
            <a:r>
              <a:rPr lang="en-US" altLang="en-US" sz="2400" i="1" smtClean="0"/>
              <a:t>’</a:t>
            </a:r>
            <a:r>
              <a:rPr lang="en-US" altLang="en-US" sz="2400" smtClean="0"/>
              <a:t> in </a:t>
            </a:r>
            <a:r>
              <a:rPr lang="en-US" altLang="en-US" sz="2400" smtClean="0">
                <a:solidFill>
                  <a:srgbClr val="0000FF"/>
                </a:solidFill>
              </a:rPr>
              <a:t>1975.</a:t>
            </a:r>
            <a:r>
              <a:rPr lang="en-US" altLang="en-US" sz="2400" smtClean="0"/>
              <a:t> </a:t>
            </a:r>
          </a:p>
          <a:p>
            <a:pPr eaLnBrk="1" hangingPunct="1">
              <a:lnSpc>
                <a:spcPct val="120000"/>
              </a:lnSpc>
              <a:buFont typeface="Wingdings" panose="05000000000000000000" pitchFamily="2" charset="2"/>
              <a:buNone/>
            </a:pPr>
            <a:endParaRPr lang="en-US" altLang="en-US" sz="2400" smtClean="0"/>
          </a:p>
          <a:p>
            <a:pPr eaLnBrk="1" hangingPunct="1">
              <a:lnSpc>
                <a:spcPct val="120000"/>
              </a:lnSpc>
            </a:pPr>
            <a:r>
              <a:rPr lang="en-US" altLang="en-US" sz="2400" smtClean="0"/>
              <a:t>In </a:t>
            </a:r>
            <a:r>
              <a:rPr lang="en-US" altLang="en-US" sz="2400" smtClean="0">
                <a:solidFill>
                  <a:srgbClr val="0000FF"/>
                </a:solidFill>
              </a:rPr>
              <a:t>1992</a:t>
            </a:r>
            <a:r>
              <a:rPr lang="en-US" altLang="en-US" sz="2400" smtClean="0"/>
              <a:t> </a:t>
            </a:r>
            <a:r>
              <a:rPr lang="en-US" altLang="en-US" sz="2400" b="1" smtClean="0"/>
              <a:t>John Koza</a:t>
            </a:r>
            <a:r>
              <a:rPr lang="en-US" altLang="en-US" sz="2400" smtClean="0"/>
              <a:t> used genetic algorithm to evolve programs to perform certain tasks. He called his method “</a:t>
            </a:r>
            <a:r>
              <a:rPr lang="en-US" altLang="en-US" sz="2400" smtClean="0">
                <a:solidFill>
                  <a:srgbClr val="CC3300"/>
                </a:solidFill>
              </a:rPr>
              <a:t>Genetic Programming</a:t>
            </a:r>
            <a:r>
              <a:rPr lang="en-US" altLang="en-US" sz="2400" smtClean="0"/>
              <a:t>”.</a:t>
            </a:r>
          </a:p>
          <a:p>
            <a:pPr eaLnBrk="1" hangingPunct="1">
              <a:buFont typeface="Wingdings" panose="05000000000000000000" pitchFamily="2" charset="2"/>
              <a:buNone/>
            </a:pPr>
            <a:endParaRPr lang="en-US" altLang="en-US" sz="2400" smtClean="0"/>
          </a:p>
        </p:txBody>
      </p:sp>
      <p:graphicFrame>
        <p:nvGraphicFramePr>
          <p:cNvPr id="8197"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8198"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endParaRPr lang="en-US" altLang="en-US" smtClean="0"/>
          </a:p>
        </p:txBody>
      </p:sp>
      <p:sp>
        <p:nvSpPr>
          <p:cNvPr id="3" name="Content Placeholder 2"/>
          <p:cNvSpPr>
            <a:spLocks noGrp="1"/>
          </p:cNvSpPr>
          <p:nvPr>
            <p:ph idx="1"/>
          </p:nvPr>
        </p:nvSpPr>
        <p:spPr>
          <a:xfrm>
            <a:off x="457200" y="1600200"/>
            <a:ext cx="8458200" cy="4530725"/>
          </a:xfrm>
        </p:spPr>
        <p:txBody>
          <a:bodyPr/>
          <a:lstStyle/>
          <a:p>
            <a:pPr>
              <a:defRPr/>
            </a:pPr>
            <a:endParaRPr lang="en-US" dirty="0" smtClean="0"/>
          </a:p>
          <a:p>
            <a:pPr marL="0" indent="0" algn="just">
              <a:buFont typeface="Wingdings" panose="05000000000000000000" pitchFamily="2" charset="2"/>
              <a:buNone/>
              <a:defRPr/>
            </a:pPr>
            <a:r>
              <a:rPr lang="en-US" sz="3100" dirty="0" smtClean="0"/>
              <a:t>“It is not the </a:t>
            </a:r>
            <a:r>
              <a:rPr lang="en-US" sz="3100" dirty="0" smtClean="0">
                <a:solidFill>
                  <a:srgbClr val="FF0000"/>
                </a:solidFill>
              </a:rPr>
              <a:t>strongest</a:t>
            </a:r>
            <a:r>
              <a:rPr lang="en-US" sz="3100" dirty="0" smtClean="0"/>
              <a:t> of the species that </a:t>
            </a:r>
            <a:r>
              <a:rPr lang="en-US" sz="3100" dirty="0" smtClean="0">
                <a:solidFill>
                  <a:srgbClr val="FF0000"/>
                </a:solidFill>
              </a:rPr>
              <a:t>survives</a:t>
            </a:r>
            <a:r>
              <a:rPr lang="en-US" sz="3100" dirty="0" smtClean="0"/>
              <a:t>, nor the most </a:t>
            </a:r>
            <a:r>
              <a:rPr lang="en-US" sz="3100" dirty="0" smtClean="0">
                <a:solidFill>
                  <a:srgbClr val="FF0000"/>
                </a:solidFill>
              </a:rPr>
              <a:t>intelligent</a:t>
            </a:r>
            <a:r>
              <a:rPr lang="en-US" sz="3100" dirty="0" smtClean="0"/>
              <a:t> that </a:t>
            </a:r>
            <a:r>
              <a:rPr lang="en-US" sz="3100" dirty="0" smtClean="0">
                <a:solidFill>
                  <a:srgbClr val="FF0000"/>
                </a:solidFill>
              </a:rPr>
              <a:t>survives</a:t>
            </a:r>
            <a:r>
              <a:rPr lang="en-US" sz="3100" dirty="0" smtClean="0"/>
              <a:t>. It is the one that is the most </a:t>
            </a:r>
            <a:r>
              <a:rPr lang="en-US" sz="3100" dirty="0" smtClean="0">
                <a:solidFill>
                  <a:srgbClr val="0000FF"/>
                </a:solidFill>
              </a:rPr>
              <a:t>adaptable to change</a:t>
            </a:r>
            <a:r>
              <a:rPr lang="en-US" sz="3100" dirty="0" smtClean="0"/>
              <a:t>.” </a:t>
            </a:r>
          </a:p>
          <a:p>
            <a:pPr marL="0" indent="0">
              <a:buFont typeface="Wingdings" panose="05000000000000000000" pitchFamily="2" charset="2"/>
              <a:buNone/>
              <a:defRPr/>
            </a:pPr>
            <a:r>
              <a:rPr lang="en-US" sz="3100" dirty="0" smtClean="0"/>
              <a:t>				    -------- Charles Darwin 						      </a:t>
            </a:r>
            <a:r>
              <a:rPr lang="en-US" sz="2000" dirty="0" smtClean="0"/>
              <a:t>(12/02/1809 – 19/04/1882)</a:t>
            </a:r>
            <a:endParaRPr lang="en-US" sz="2000" dirty="0"/>
          </a:p>
          <a:p>
            <a:pPr>
              <a:defRPr/>
            </a:pPr>
            <a:endParaRPr lang="en-US" dirty="0"/>
          </a:p>
        </p:txBody>
      </p:sp>
      <p:sp>
        <p:nvSpPr>
          <p:cNvPr id="9220"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4000" b="1">
                <a:solidFill>
                  <a:schemeClr val="tx1"/>
                </a:solidFill>
                <a:latin typeface="Arial" panose="020B0604020202020204" pitchFamily="34" charset="0"/>
              </a:defRPr>
            </a:lvl1pPr>
            <a:lvl2pPr marL="742950" indent="-285750">
              <a:defRPr sz="4000" b="1">
                <a:solidFill>
                  <a:schemeClr val="tx1"/>
                </a:solidFill>
                <a:latin typeface="Arial" panose="020B0604020202020204" pitchFamily="34" charset="0"/>
              </a:defRPr>
            </a:lvl2pPr>
            <a:lvl3pPr marL="1143000" indent="-228600">
              <a:defRPr sz="4000" b="1">
                <a:solidFill>
                  <a:schemeClr val="tx1"/>
                </a:solidFill>
                <a:latin typeface="Arial" panose="020B0604020202020204" pitchFamily="34" charset="0"/>
              </a:defRPr>
            </a:lvl3pPr>
            <a:lvl4pPr marL="1600200" indent="-228600">
              <a:defRPr sz="4000" b="1">
                <a:solidFill>
                  <a:schemeClr val="tx1"/>
                </a:solidFill>
                <a:latin typeface="Arial" panose="020B0604020202020204" pitchFamily="34" charset="0"/>
              </a:defRPr>
            </a:lvl4pPr>
            <a:lvl5pPr marL="2057400" indent="-228600">
              <a:defRPr sz="4000" b="1">
                <a:solidFill>
                  <a:schemeClr val="tx1"/>
                </a:solidFill>
                <a:latin typeface="Arial" panose="020B0604020202020204" pitchFamily="34" charset="0"/>
              </a:defRPr>
            </a:lvl5pPr>
            <a:lvl6pPr marL="2514600" indent="-228600" eaLnBrk="0" fontAlgn="base" hangingPunct="0">
              <a:spcBef>
                <a:spcPct val="0"/>
              </a:spcBef>
              <a:spcAft>
                <a:spcPct val="0"/>
              </a:spcAft>
              <a:defRPr sz="4000" b="1">
                <a:solidFill>
                  <a:schemeClr val="tx1"/>
                </a:solidFill>
                <a:latin typeface="Arial" panose="020B0604020202020204" pitchFamily="34" charset="0"/>
              </a:defRPr>
            </a:lvl6pPr>
            <a:lvl7pPr marL="2971800" indent="-228600" eaLnBrk="0" fontAlgn="base" hangingPunct="0">
              <a:spcBef>
                <a:spcPct val="0"/>
              </a:spcBef>
              <a:spcAft>
                <a:spcPct val="0"/>
              </a:spcAft>
              <a:defRPr sz="4000" b="1">
                <a:solidFill>
                  <a:schemeClr val="tx1"/>
                </a:solidFill>
                <a:latin typeface="Arial" panose="020B0604020202020204" pitchFamily="34" charset="0"/>
              </a:defRPr>
            </a:lvl7pPr>
            <a:lvl8pPr marL="3429000" indent="-228600" eaLnBrk="0" fontAlgn="base" hangingPunct="0">
              <a:spcBef>
                <a:spcPct val="0"/>
              </a:spcBef>
              <a:spcAft>
                <a:spcPct val="0"/>
              </a:spcAft>
              <a:defRPr sz="4000" b="1">
                <a:solidFill>
                  <a:schemeClr val="tx1"/>
                </a:solidFill>
                <a:latin typeface="Arial" panose="020B0604020202020204" pitchFamily="34" charset="0"/>
              </a:defRPr>
            </a:lvl8pPr>
            <a:lvl9pPr marL="3886200" indent="-228600" eaLnBrk="0" fontAlgn="base" hangingPunct="0">
              <a:spcBef>
                <a:spcPct val="0"/>
              </a:spcBef>
              <a:spcAft>
                <a:spcPct val="0"/>
              </a:spcAft>
              <a:defRPr sz="4000" b="1">
                <a:solidFill>
                  <a:schemeClr val="tx1"/>
                </a:solidFill>
                <a:latin typeface="Arial" panose="020B0604020202020204" pitchFamily="34" charset="0"/>
              </a:defRPr>
            </a:lvl9pPr>
          </a:lstStyle>
          <a:p>
            <a:fld id="{B24E25FF-BEBE-4C1D-BC96-F286B6592178}" type="slidenum">
              <a:rPr lang="en-US" altLang="en-US" sz="1200" b="0" smtClean="0">
                <a:latin typeface="Garamond" panose="02020404030301010803" pitchFamily="18" charset="0"/>
              </a:rPr>
              <a:pPr/>
              <a:t>6</a:t>
            </a:fld>
            <a:endParaRPr lang="en-US" altLang="en-US" sz="1200" b="0" smtClean="0">
              <a:latin typeface="Garamond" panose="02020404030301010803"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10A6A219-96D1-40C5-B852-6984F404FA90}" type="slidenum">
              <a:rPr lang="en-US" altLang="en-US" sz="1200" smtClean="0">
                <a:latin typeface="Garamond" panose="02020404030301010803" pitchFamily="18" charset="0"/>
              </a:rPr>
              <a:pPr>
                <a:spcBef>
                  <a:spcPct val="0"/>
                </a:spcBef>
                <a:buClrTx/>
                <a:buSzTx/>
                <a:buFontTx/>
                <a:buNone/>
              </a:pPr>
              <a:t>7</a:t>
            </a:fld>
            <a:endParaRPr lang="en-US" altLang="en-US" sz="1200" smtClean="0">
              <a:latin typeface="Garamond" panose="02020404030301010803" pitchFamily="18" charset="0"/>
            </a:endParaRPr>
          </a:p>
        </p:txBody>
      </p:sp>
      <p:sp>
        <p:nvSpPr>
          <p:cNvPr id="10243" name="Rectangle 8"/>
          <p:cNvSpPr>
            <a:spLocks noGrp="1" noChangeArrowheads="1"/>
          </p:cNvSpPr>
          <p:nvPr>
            <p:ph type="title"/>
          </p:nvPr>
        </p:nvSpPr>
        <p:spPr>
          <a:xfrm>
            <a:off x="457200" y="277813"/>
            <a:ext cx="8229600" cy="1627187"/>
          </a:xfrm>
        </p:spPr>
        <p:txBody>
          <a:bodyPr/>
          <a:lstStyle/>
          <a:p>
            <a:pPr algn="ctr" eaLnBrk="1" hangingPunct="1"/>
            <a:r>
              <a:rPr lang="en-US" altLang="en-US" sz="4000" b="1" u="sng" smtClean="0"/>
              <a:t>Basic Idea Of Principle Of Natural Selection</a:t>
            </a:r>
          </a:p>
        </p:txBody>
      </p:sp>
      <p:sp>
        <p:nvSpPr>
          <p:cNvPr id="10244" name="Rectangle 9"/>
          <p:cNvSpPr>
            <a:spLocks noGrp="1" noChangeArrowheads="1"/>
          </p:cNvSpPr>
          <p:nvPr>
            <p:ph type="body" idx="1"/>
          </p:nvPr>
        </p:nvSpPr>
        <p:spPr/>
        <p:txBody>
          <a:bodyPr/>
          <a:lstStyle/>
          <a:p>
            <a:pPr eaLnBrk="1" hangingPunct="1">
              <a:buFont typeface="Wingdings" panose="05000000000000000000" pitchFamily="2" charset="2"/>
              <a:buNone/>
            </a:pPr>
            <a:endParaRPr lang="en-US" altLang="en-US" smtClean="0"/>
          </a:p>
          <a:p>
            <a:pPr eaLnBrk="1" hangingPunct="1">
              <a:buFont typeface="Wingdings" panose="05000000000000000000" pitchFamily="2" charset="2"/>
              <a:buNone/>
            </a:pPr>
            <a:endParaRPr lang="en-US" altLang="en-US" smtClean="0"/>
          </a:p>
          <a:p>
            <a:pPr algn="ctr" eaLnBrk="1" hangingPunct="1">
              <a:buFont typeface="Wingdings" panose="05000000000000000000" pitchFamily="2" charset="2"/>
              <a:buNone/>
            </a:pPr>
            <a:r>
              <a:rPr lang="en-US" altLang="en-US" sz="3600" b="1" i="1" smtClean="0">
                <a:solidFill>
                  <a:schemeClr val="tx2"/>
                </a:solidFill>
              </a:rPr>
              <a:t>“Select The Best, Discard The Rest”</a:t>
            </a:r>
          </a:p>
        </p:txBody>
      </p:sp>
      <p:graphicFrame>
        <p:nvGraphicFramePr>
          <p:cNvPr id="10245"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10246" name="Klip" r:id="rId4" imgW="1423988" imgH="3055938" progId="MS_ClipArt_Gallery.2">
                  <p:embed/>
                </p:oleObj>
              </mc:Choice>
              <mc:Fallback>
                <p:oleObj name="Klip" r:id="rId4" imgW="1423988" imgH="3055938" progId="MS_ClipArt_Gallery.2">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9C2642C-4A24-481F-B1F0-733112CCDBD3}" type="slidenum">
              <a:rPr lang="en-US" altLang="en-US" sz="1200" smtClean="0">
                <a:latin typeface="Garamond" panose="02020404030301010803" pitchFamily="18" charset="0"/>
              </a:rPr>
              <a:pPr>
                <a:spcBef>
                  <a:spcPct val="0"/>
                </a:spcBef>
                <a:buClrTx/>
                <a:buSzTx/>
                <a:buFontTx/>
                <a:buNone/>
              </a:pPr>
              <a:t>8</a:t>
            </a:fld>
            <a:endParaRPr lang="en-US" altLang="en-US" sz="1200" smtClean="0">
              <a:latin typeface="Garamond" panose="02020404030301010803" pitchFamily="18" charset="0"/>
            </a:endParaRPr>
          </a:p>
        </p:txBody>
      </p:sp>
      <p:sp>
        <p:nvSpPr>
          <p:cNvPr id="12291" name="Rectangle 2"/>
          <p:cNvSpPr>
            <a:spLocks noGrp="1" noChangeArrowheads="1"/>
          </p:cNvSpPr>
          <p:nvPr>
            <p:ph type="title"/>
          </p:nvPr>
        </p:nvSpPr>
        <p:spPr>
          <a:xfrm>
            <a:off x="457200" y="277813"/>
            <a:ext cx="8229600" cy="866775"/>
          </a:xfrm>
        </p:spPr>
        <p:txBody>
          <a:bodyPr/>
          <a:lstStyle/>
          <a:p>
            <a:pPr eaLnBrk="1" hangingPunct="1"/>
            <a:r>
              <a:rPr lang="en-US" altLang="en-US" sz="2900" b="1" smtClean="0"/>
              <a:t> </a:t>
            </a:r>
            <a:r>
              <a:rPr lang="en-US" altLang="en-US" sz="3600" b="1" u="sng" smtClean="0"/>
              <a:t>Darwin’s Principle Of Natural Selection</a:t>
            </a:r>
            <a:r>
              <a:rPr lang="en-US" altLang="en-US" sz="2900" b="1" smtClean="0"/>
              <a:t>	</a:t>
            </a:r>
          </a:p>
        </p:txBody>
      </p:sp>
      <p:sp>
        <p:nvSpPr>
          <p:cNvPr id="12292" name="Rectangle 3"/>
          <p:cNvSpPr>
            <a:spLocks noGrp="1" noChangeArrowheads="1"/>
          </p:cNvSpPr>
          <p:nvPr>
            <p:ph type="body" idx="1"/>
          </p:nvPr>
        </p:nvSpPr>
        <p:spPr>
          <a:xfrm>
            <a:off x="533400" y="1295400"/>
            <a:ext cx="8077200" cy="4648200"/>
          </a:xfrm>
        </p:spPr>
        <p:txBody>
          <a:bodyPr/>
          <a:lstStyle/>
          <a:p>
            <a:pPr eaLnBrk="1" hangingPunct="1">
              <a:lnSpc>
                <a:spcPct val="90000"/>
              </a:lnSpc>
            </a:pPr>
            <a:r>
              <a:rPr lang="en-US" altLang="en-US" sz="2400" smtClean="0"/>
              <a:t>IF there are organisms that reproduce, and </a:t>
            </a:r>
          </a:p>
          <a:p>
            <a:pPr eaLnBrk="1" hangingPunct="1">
              <a:lnSpc>
                <a:spcPct val="90000"/>
              </a:lnSpc>
            </a:pPr>
            <a:r>
              <a:rPr lang="en-US" altLang="en-US" sz="2400" smtClean="0"/>
              <a:t>IF offsprings inherit traits from their progenitors, and </a:t>
            </a:r>
          </a:p>
          <a:p>
            <a:pPr eaLnBrk="1" hangingPunct="1">
              <a:lnSpc>
                <a:spcPct val="90000"/>
              </a:lnSpc>
            </a:pPr>
            <a:r>
              <a:rPr lang="en-US" altLang="en-US" sz="2400" smtClean="0"/>
              <a:t>IF there is variability of traits, and </a:t>
            </a:r>
          </a:p>
          <a:p>
            <a:pPr eaLnBrk="1" hangingPunct="1">
              <a:lnSpc>
                <a:spcPct val="90000"/>
              </a:lnSpc>
            </a:pPr>
            <a:r>
              <a:rPr lang="en-US" altLang="en-US" sz="2400" smtClean="0"/>
              <a:t>IF the environment cannot support all members of a growing population, </a:t>
            </a:r>
          </a:p>
          <a:p>
            <a:pPr eaLnBrk="1" hangingPunct="1">
              <a:lnSpc>
                <a:spcPct val="90000"/>
              </a:lnSpc>
            </a:pPr>
            <a:r>
              <a:rPr lang="en-US" altLang="en-US" sz="2400" smtClean="0"/>
              <a:t>THEN those members of the population with less-adaptive traits (determined by the environment) will die out, and </a:t>
            </a:r>
          </a:p>
          <a:p>
            <a:pPr eaLnBrk="1" hangingPunct="1">
              <a:lnSpc>
                <a:spcPct val="90000"/>
              </a:lnSpc>
            </a:pPr>
            <a:r>
              <a:rPr lang="en-US" altLang="en-US" sz="2400" smtClean="0"/>
              <a:t>THEN those members with more-adaptive traits (determined by the environment) will thrive </a:t>
            </a:r>
          </a:p>
          <a:p>
            <a:pPr eaLnBrk="1" hangingPunct="1">
              <a:lnSpc>
                <a:spcPct val="90000"/>
              </a:lnSpc>
              <a:buFont typeface="Wingdings" panose="05000000000000000000" pitchFamily="2" charset="2"/>
              <a:buNone/>
            </a:pPr>
            <a:endParaRPr lang="en-US" altLang="en-US" sz="2400" smtClean="0"/>
          </a:p>
          <a:p>
            <a:pPr algn="ctr" eaLnBrk="1" hangingPunct="1">
              <a:lnSpc>
                <a:spcPct val="90000"/>
              </a:lnSpc>
              <a:buFont typeface="Wingdings" panose="05000000000000000000" pitchFamily="2" charset="2"/>
              <a:buNone/>
            </a:pPr>
            <a:r>
              <a:rPr lang="en-US" altLang="en-US" sz="2400" smtClean="0"/>
              <a:t>The result is the evolution of </a:t>
            </a:r>
            <a:r>
              <a:rPr lang="en-US" altLang="en-US" sz="2400" smtClean="0">
                <a:solidFill>
                  <a:schemeClr val="tx2"/>
                </a:solidFill>
                <a:hlinkClick r:id="rId3" tooltip="Species"/>
              </a:rPr>
              <a:t>species</a:t>
            </a:r>
            <a:r>
              <a:rPr lang="en-US" altLang="en-US" sz="2400" smtClean="0">
                <a:solidFill>
                  <a:schemeClr val="tx2"/>
                </a:solidFill>
              </a:rPr>
              <a:t>.</a:t>
            </a:r>
            <a:r>
              <a:rPr lang="en-US" altLang="en-US" sz="2400" smtClean="0"/>
              <a:t> </a:t>
            </a:r>
          </a:p>
        </p:txBody>
      </p:sp>
      <p:graphicFrame>
        <p:nvGraphicFramePr>
          <p:cNvPr id="12293"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12294" name="Klip" r:id="rId4" imgW="1423988" imgH="3055938" progId="MS_ClipArt_Gallery.2">
                  <p:embed/>
                </p:oleObj>
              </mc:Choice>
              <mc:Fallback>
                <p:oleObj name="Klip" r:id="rId4" imgW="1423988" imgH="3055938" progId="MS_ClipArt_Gallery.2">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BC029897-265E-4AA7-A1FC-B32EE0D25552}" type="slidenum">
              <a:rPr lang="en-US" altLang="en-US" sz="1200" smtClean="0">
                <a:latin typeface="Garamond" panose="02020404030301010803" pitchFamily="18" charset="0"/>
              </a:rPr>
              <a:pPr>
                <a:spcBef>
                  <a:spcPct val="0"/>
                </a:spcBef>
                <a:buClrTx/>
                <a:buSzTx/>
                <a:buFontTx/>
                <a:buNone/>
              </a:pPr>
              <a:t>9</a:t>
            </a:fld>
            <a:endParaRPr lang="en-US" altLang="en-US" sz="1200" smtClean="0">
              <a:latin typeface="Garamond" panose="02020404030301010803" pitchFamily="18" charset="0"/>
            </a:endParaRPr>
          </a:p>
        </p:txBody>
      </p:sp>
      <p:sp>
        <p:nvSpPr>
          <p:cNvPr id="13315" name="Rectangle 2"/>
          <p:cNvSpPr>
            <a:spLocks noGrp="1" noChangeArrowheads="1"/>
          </p:cNvSpPr>
          <p:nvPr>
            <p:ph type="title"/>
          </p:nvPr>
        </p:nvSpPr>
        <p:spPr/>
        <p:txBody>
          <a:bodyPr/>
          <a:lstStyle/>
          <a:p>
            <a:pPr algn="ctr" eaLnBrk="1" hangingPunct="1"/>
            <a:r>
              <a:rPr lang="en-US" altLang="en-US" sz="4000" b="1" u="sng" smtClean="0"/>
              <a:t>An Example of Natural Selection</a:t>
            </a:r>
          </a:p>
        </p:txBody>
      </p:sp>
      <p:sp>
        <p:nvSpPr>
          <p:cNvPr id="13316" name="Rectangle 3"/>
          <p:cNvSpPr>
            <a:spLocks noGrp="1" noChangeArrowheads="1"/>
          </p:cNvSpPr>
          <p:nvPr>
            <p:ph type="body" idx="1"/>
          </p:nvPr>
        </p:nvSpPr>
        <p:spPr>
          <a:xfrm>
            <a:off x="457200" y="1295400"/>
            <a:ext cx="8229600" cy="4530725"/>
          </a:xfrm>
        </p:spPr>
        <p:txBody>
          <a:bodyPr/>
          <a:lstStyle/>
          <a:p>
            <a:pPr eaLnBrk="1" hangingPunct="1">
              <a:lnSpc>
                <a:spcPct val="80000"/>
              </a:lnSpc>
            </a:pPr>
            <a:r>
              <a:rPr lang="en-US" altLang="en-US" sz="2400" b="1" smtClean="0">
                <a:solidFill>
                  <a:schemeClr val="tx2"/>
                </a:solidFill>
              </a:rPr>
              <a:t>Giraffes have long necks</a:t>
            </a:r>
            <a:r>
              <a:rPr lang="en-US" altLang="en-US" sz="2400" smtClean="0">
                <a:solidFill>
                  <a:schemeClr val="tx2"/>
                </a:solidFill>
              </a:rPr>
              <a:t>.</a:t>
            </a:r>
            <a:r>
              <a:rPr lang="en-US" altLang="en-US" sz="1800" smtClean="0"/>
              <a:t>   </a:t>
            </a:r>
          </a:p>
          <a:p>
            <a:pPr eaLnBrk="1" hangingPunct="1">
              <a:lnSpc>
                <a:spcPct val="80000"/>
              </a:lnSpc>
              <a:buFont typeface="Wingdings" panose="05000000000000000000" pitchFamily="2" charset="2"/>
              <a:buNone/>
            </a:pPr>
            <a:r>
              <a:rPr lang="en-US" altLang="en-US" sz="1800" smtClean="0"/>
              <a:t>    </a:t>
            </a:r>
          </a:p>
          <a:p>
            <a:pPr eaLnBrk="1" hangingPunct="1">
              <a:lnSpc>
                <a:spcPct val="80000"/>
              </a:lnSpc>
              <a:buFont typeface="Wingdings" panose="05000000000000000000" pitchFamily="2" charset="2"/>
              <a:buNone/>
            </a:pPr>
            <a:r>
              <a:rPr lang="en-US" altLang="en-US" sz="1800" smtClean="0"/>
              <a:t>     </a:t>
            </a:r>
            <a:r>
              <a:rPr lang="en-US" altLang="en-US" sz="2000" smtClean="0"/>
              <a:t>Giraffes with slightly longer necks could feed on leaves of higher branches when all lower ones had been eaten off.</a:t>
            </a:r>
          </a:p>
          <a:p>
            <a:pPr eaLnBrk="1" hangingPunct="1">
              <a:lnSpc>
                <a:spcPct val="80000"/>
              </a:lnSpc>
              <a:buFont typeface="Wingdings" panose="05000000000000000000" pitchFamily="2" charset="2"/>
              <a:buNone/>
            </a:pPr>
            <a:r>
              <a:rPr lang="en-US" altLang="en-US" sz="2000" smtClean="0"/>
              <a:t>     </a:t>
            </a:r>
            <a:r>
              <a:rPr lang="en-US" altLang="en-US" sz="2000" smtClean="0">
                <a:solidFill>
                  <a:srgbClr val="CC3300"/>
                </a:solidFill>
                <a:sym typeface="Wingdings" panose="05000000000000000000" pitchFamily="2" charset="2"/>
              </a:rPr>
              <a:t></a:t>
            </a:r>
            <a:r>
              <a:rPr lang="en-US" altLang="en-US" sz="2000" smtClean="0">
                <a:sym typeface="Wingdings" panose="05000000000000000000" pitchFamily="2" charset="2"/>
              </a:rPr>
              <a:t>   They had a better chance of survival.</a:t>
            </a:r>
          </a:p>
          <a:p>
            <a:pPr eaLnBrk="1" hangingPunct="1">
              <a:lnSpc>
                <a:spcPct val="80000"/>
              </a:lnSpc>
              <a:buFont typeface="Wingdings" panose="05000000000000000000" pitchFamily="2" charset="2"/>
              <a:buNone/>
            </a:pPr>
            <a:r>
              <a:rPr lang="en-US" altLang="en-US" sz="2000" smtClean="0">
                <a:sym typeface="Wingdings" panose="05000000000000000000" pitchFamily="2" charset="2"/>
              </a:rPr>
              <a:t>     </a:t>
            </a:r>
            <a:r>
              <a:rPr lang="en-US" altLang="en-US" sz="2000" smtClean="0">
                <a:solidFill>
                  <a:srgbClr val="CC3300"/>
                </a:solidFill>
                <a:sym typeface="Wingdings" panose="05000000000000000000" pitchFamily="2" charset="2"/>
              </a:rPr>
              <a:t></a:t>
            </a:r>
            <a:r>
              <a:rPr lang="en-US" altLang="en-US" sz="2000" smtClean="0">
                <a:sym typeface="Wingdings" panose="05000000000000000000" pitchFamily="2" charset="2"/>
              </a:rPr>
              <a:t>   Favorable characteristic propagated through generations of giraffes.</a:t>
            </a:r>
          </a:p>
          <a:p>
            <a:pPr eaLnBrk="1" hangingPunct="1">
              <a:lnSpc>
                <a:spcPct val="80000"/>
              </a:lnSpc>
              <a:buFont typeface="Wingdings" panose="05000000000000000000" pitchFamily="2" charset="2"/>
              <a:buNone/>
            </a:pPr>
            <a:r>
              <a:rPr lang="en-US" altLang="en-US" sz="2000" smtClean="0">
                <a:sym typeface="Wingdings" panose="05000000000000000000" pitchFamily="2" charset="2"/>
              </a:rPr>
              <a:t>     </a:t>
            </a:r>
            <a:r>
              <a:rPr lang="en-US" altLang="en-US" sz="2000" smtClean="0">
                <a:solidFill>
                  <a:srgbClr val="CC3300"/>
                </a:solidFill>
                <a:sym typeface="Wingdings" panose="05000000000000000000" pitchFamily="2" charset="2"/>
              </a:rPr>
              <a:t></a:t>
            </a:r>
            <a:r>
              <a:rPr lang="en-US" altLang="en-US" sz="2000" smtClean="0">
                <a:sym typeface="Wingdings" panose="05000000000000000000" pitchFamily="2" charset="2"/>
              </a:rPr>
              <a:t>   Now, evolved species has long necks.</a:t>
            </a:r>
          </a:p>
          <a:p>
            <a:pPr eaLnBrk="1" hangingPunct="1">
              <a:lnSpc>
                <a:spcPct val="80000"/>
              </a:lnSpc>
              <a:buFont typeface="Wingdings" panose="05000000000000000000" pitchFamily="2" charset="2"/>
              <a:buNone/>
            </a:pPr>
            <a:endParaRPr lang="en-US" altLang="en-US" sz="2000" smtClean="0"/>
          </a:p>
          <a:p>
            <a:pPr eaLnBrk="1" hangingPunct="1">
              <a:lnSpc>
                <a:spcPct val="80000"/>
              </a:lnSpc>
              <a:buFont typeface="Wingdings" panose="05000000000000000000" pitchFamily="2" charset="2"/>
              <a:buNone/>
            </a:pPr>
            <a:r>
              <a:rPr lang="en-US" altLang="en-US" sz="2000" smtClean="0"/>
              <a:t>     </a:t>
            </a:r>
            <a:r>
              <a:rPr lang="en-US" altLang="en-US" sz="2000" smtClean="0">
                <a:solidFill>
                  <a:srgbClr val="CC3300"/>
                </a:solidFill>
              </a:rPr>
              <a:t>NOTE:</a:t>
            </a:r>
            <a:r>
              <a:rPr lang="en-US" altLang="en-US" sz="2000" smtClean="0"/>
              <a:t> Longer necks may have been a deviant characteristic (</a:t>
            </a:r>
            <a:r>
              <a:rPr lang="en-US" altLang="en-US" sz="2000" smtClean="0">
                <a:solidFill>
                  <a:srgbClr val="CC3300"/>
                </a:solidFill>
              </a:rPr>
              <a:t>mutation</a:t>
            </a:r>
            <a:r>
              <a:rPr lang="en-US" altLang="en-US" sz="2000" smtClean="0"/>
              <a:t>) initially but since it was favorable, was propagated over generations. Now an established trait.</a:t>
            </a:r>
          </a:p>
          <a:p>
            <a:pPr eaLnBrk="1" hangingPunct="1">
              <a:lnSpc>
                <a:spcPct val="80000"/>
              </a:lnSpc>
              <a:buFont typeface="Wingdings" panose="05000000000000000000" pitchFamily="2" charset="2"/>
              <a:buNone/>
            </a:pPr>
            <a:endParaRPr lang="en-US" altLang="en-US" sz="2000" smtClean="0"/>
          </a:p>
          <a:p>
            <a:pPr eaLnBrk="1" hangingPunct="1">
              <a:lnSpc>
                <a:spcPct val="80000"/>
              </a:lnSpc>
              <a:buFont typeface="Wingdings" panose="05000000000000000000" pitchFamily="2" charset="2"/>
              <a:buNone/>
            </a:pPr>
            <a:r>
              <a:rPr lang="en-US" altLang="en-US" sz="2000" smtClean="0">
                <a:solidFill>
                  <a:schemeClr val="accent2"/>
                </a:solidFill>
              </a:rPr>
              <a:t>     </a:t>
            </a:r>
            <a:r>
              <a:rPr lang="en-US" altLang="en-US" sz="2400" smtClean="0">
                <a:solidFill>
                  <a:srgbClr val="CC3300"/>
                </a:solidFill>
              </a:rPr>
              <a:t>So, some mutations are beneficial</a:t>
            </a:r>
            <a:r>
              <a:rPr lang="en-US" altLang="en-US" sz="2400" smtClean="0">
                <a:solidFill>
                  <a:schemeClr val="tx2"/>
                </a:solidFill>
              </a:rPr>
              <a:t>.</a:t>
            </a:r>
            <a:r>
              <a:rPr lang="en-US" altLang="en-US" sz="2400" smtClean="0"/>
              <a:t> </a:t>
            </a:r>
          </a:p>
        </p:txBody>
      </p:sp>
      <p:graphicFrame>
        <p:nvGraphicFramePr>
          <p:cNvPr id="13317"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13318"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2939586-2B85-443D-AA0F-B91B82D41954}" type="slidenum">
              <a:rPr lang="en-US" altLang="en-US" sz="1200" smtClean="0">
                <a:latin typeface="Garamond" panose="02020404030301010803" pitchFamily="18" charset="0"/>
              </a:rPr>
              <a:pPr>
                <a:spcBef>
                  <a:spcPct val="0"/>
                </a:spcBef>
                <a:buClrTx/>
                <a:buSzTx/>
                <a:buFontTx/>
                <a:buNone/>
              </a:pPr>
              <a:t>10</a:t>
            </a:fld>
            <a:endParaRPr lang="en-US" altLang="en-US" sz="1200" smtClean="0">
              <a:latin typeface="Garamond" panose="02020404030301010803" pitchFamily="18" charset="0"/>
            </a:endParaRPr>
          </a:p>
        </p:txBody>
      </p:sp>
      <p:sp>
        <p:nvSpPr>
          <p:cNvPr id="14339" name="Rectangle 2"/>
          <p:cNvSpPr>
            <a:spLocks noGrp="1" noChangeArrowheads="1"/>
          </p:cNvSpPr>
          <p:nvPr>
            <p:ph type="title"/>
          </p:nvPr>
        </p:nvSpPr>
        <p:spPr>
          <a:xfrm>
            <a:off x="457200" y="277813"/>
            <a:ext cx="8229600" cy="636587"/>
          </a:xfrm>
        </p:spPr>
        <p:txBody>
          <a:bodyPr/>
          <a:lstStyle/>
          <a:p>
            <a:pPr algn="ctr" eaLnBrk="1" hangingPunct="1"/>
            <a:r>
              <a:rPr lang="en-US" altLang="en-US" sz="3600" b="1" u="sng" smtClean="0"/>
              <a:t>Evolution Through Natural Selection</a:t>
            </a:r>
            <a:br>
              <a:rPr lang="en-US" altLang="en-US" sz="3600" b="1" u="sng" smtClean="0"/>
            </a:br>
            <a:endParaRPr lang="en-US" altLang="en-US" sz="3600" b="1" u="sng" smtClean="0"/>
          </a:p>
        </p:txBody>
      </p:sp>
      <p:sp>
        <p:nvSpPr>
          <p:cNvPr id="14340" name="Rectangle 3"/>
          <p:cNvSpPr>
            <a:spLocks noGrp="1" noChangeArrowheads="1"/>
          </p:cNvSpPr>
          <p:nvPr>
            <p:ph type="body" idx="1"/>
          </p:nvPr>
        </p:nvSpPr>
        <p:spPr>
          <a:xfrm>
            <a:off x="457200" y="1066800"/>
            <a:ext cx="8229600" cy="5064125"/>
          </a:xfrm>
        </p:spPr>
        <p:txBody>
          <a:bodyPr/>
          <a:lstStyle/>
          <a:p>
            <a:pPr algn="ctr" eaLnBrk="1" hangingPunct="1">
              <a:buFont typeface="Wingdings" panose="05000000000000000000" pitchFamily="2" charset="2"/>
              <a:buNone/>
            </a:pPr>
            <a:r>
              <a:rPr lang="en-US" altLang="en-US" sz="2400" smtClean="0"/>
              <a:t>   Initial Population Of Animals</a:t>
            </a:r>
          </a:p>
          <a:p>
            <a:pPr eaLnBrk="1" hangingPunct="1">
              <a:buFont typeface="Wingdings" panose="05000000000000000000" pitchFamily="2" charset="2"/>
              <a:buNone/>
            </a:pPr>
            <a:endParaRPr lang="en-US" altLang="en-US" sz="2400" smtClean="0"/>
          </a:p>
          <a:p>
            <a:pPr algn="ctr" eaLnBrk="1" hangingPunct="1">
              <a:buFont typeface="Wingdings" panose="05000000000000000000" pitchFamily="2" charset="2"/>
              <a:buNone/>
            </a:pPr>
            <a:r>
              <a:rPr lang="en-US" altLang="en-US" sz="2400" smtClean="0"/>
              <a:t>	Struggle For Existence-Survival Of the Fittest</a:t>
            </a:r>
          </a:p>
          <a:p>
            <a:pPr eaLnBrk="1" hangingPunct="1">
              <a:buFont typeface="Wingdings" panose="05000000000000000000" pitchFamily="2" charset="2"/>
              <a:buNone/>
            </a:pPr>
            <a:r>
              <a:rPr lang="en-US" altLang="en-US" sz="2400" smtClean="0"/>
              <a:t>	</a:t>
            </a:r>
          </a:p>
          <a:p>
            <a:pPr algn="ctr" eaLnBrk="1" hangingPunct="1">
              <a:buFont typeface="Wingdings" panose="05000000000000000000" pitchFamily="2" charset="2"/>
              <a:buNone/>
            </a:pPr>
            <a:r>
              <a:rPr lang="en-US" altLang="en-US" sz="2400" smtClean="0"/>
              <a:t>	Surviving Individuals Reproduce, Propagate Favorable Characteristics</a:t>
            </a:r>
          </a:p>
          <a:p>
            <a:pPr eaLnBrk="1" hangingPunct="1">
              <a:buFont typeface="Wingdings" panose="05000000000000000000" pitchFamily="2" charset="2"/>
              <a:buNone/>
            </a:pPr>
            <a:endParaRPr lang="en-US" altLang="en-US" sz="2400" smtClean="0"/>
          </a:p>
          <a:p>
            <a:pPr eaLnBrk="1" hangingPunct="1">
              <a:buFont typeface="Wingdings" panose="05000000000000000000" pitchFamily="2" charset="2"/>
              <a:buNone/>
            </a:pPr>
            <a:r>
              <a:rPr lang="en-US" altLang="en-US" smtClean="0"/>
              <a:t>	</a:t>
            </a:r>
          </a:p>
        </p:txBody>
      </p:sp>
      <p:sp>
        <p:nvSpPr>
          <p:cNvPr id="14341" name="Line 13"/>
          <p:cNvSpPr>
            <a:spLocks noChangeShapeType="1"/>
          </p:cNvSpPr>
          <p:nvPr/>
        </p:nvSpPr>
        <p:spPr bwMode="auto">
          <a:xfrm flipH="1">
            <a:off x="381000" y="4572000"/>
            <a:ext cx="41148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42" name="Line 15"/>
          <p:cNvSpPr>
            <a:spLocks noChangeShapeType="1"/>
          </p:cNvSpPr>
          <p:nvPr/>
        </p:nvSpPr>
        <p:spPr bwMode="auto">
          <a:xfrm flipV="1">
            <a:off x="381000" y="3048000"/>
            <a:ext cx="0" cy="1524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43" name="Line 16"/>
          <p:cNvSpPr>
            <a:spLocks noChangeShapeType="1"/>
          </p:cNvSpPr>
          <p:nvPr/>
        </p:nvSpPr>
        <p:spPr bwMode="auto">
          <a:xfrm>
            <a:off x="381000" y="3048000"/>
            <a:ext cx="6096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44" name="Line 4"/>
          <p:cNvSpPr>
            <a:spLocks noChangeShapeType="1"/>
          </p:cNvSpPr>
          <p:nvPr/>
        </p:nvSpPr>
        <p:spPr bwMode="auto">
          <a:xfrm>
            <a:off x="4495800" y="1554163"/>
            <a:ext cx="0" cy="381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45" name="Line 10"/>
          <p:cNvSpPr>
            <a:spLocks noChangeShapeType="1"/>
          </p:cNvSpPr>
          <p:nvPr/>
        </p:nvSpPr>
        <p:spPr bwMode="auto">
          <a:xfrm>
            <a:off x="4495800" y="2468563"/>
            <a:ext cx="0" cy="3810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46" name="Line 11"/>
          <p:cNvSpPr>
            <a:spLocks noChangeShapeType="1"/>
          </p:cNvSpPr>
          <p:nvPr/>
        </p:nvSpPr>
        <p:spPr bwMode="auto">
          <a:xfrm>
            <a:off x="4495800" y="3657600"/>
            <a:ext cx="0" cy="96043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47" name="Text Box 17"/>
          <p:cNvSpPr txBox="1">
            <a:spLocks noChangeArrowheads="1"/>
          </p:cNvSpPr>
          <p:nvPr/>
        </p:nvSpPr>
        <p:spPr bwMode="auto">
          <a:xfrm>
            <a:off x="838200" y="4235450"/>
            <a:ext cx="2209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1600"/>
              <a:t>Millions Of Years</a:t>
            </a:r>
          </a:p>
        </p:txBody>
      </p:sp>
      <p:sp>
        <p:nvSpPr>
          <p:cNvPr id="14348" name="Line 18"/>
          <p:cNvSpPr>
            <a:spLocks noChangeShapeType="1"/>
          </p:cNvSpPr>
          <p:nvPr/>
        </p:nvSpPr>
        <p:spPr bwMode="auto">
          <a:xfrm>
            <a:off x="4495800" y="4648200"/>
            <a:ext cx="0" cy="4572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4349" name="Text Box 20"/>
          <p:cNvSpPr txBox="1">
            <a:spLocks noChangeArrowheads="1"/>
          </p:cNvSpPr>
          <p:nvPr/>
        </p:nvSpPr>
        <p:spPr bwMode="auto">
          <a:xfrm>
            <a:off x="1676400" y="5059363"/>
            <a:ext cx="5562600" cy="776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2400" b="0"/>
              <a:t>Evolved Species</a:t>
            </a:r>
            <a:r>
              <a:rPr lang="en-US" altLang="en-US" sz="1200"/>
              <a:t> </a:t>
            </a:r>
          </a:p>
          <a:p>
            <a:pPr algn="ctr" eaLnBrk="1" hangingPunct="1">
              <a:spcBef>
                <a:spcPct val="50000"/>
              </a:spcBef>
              <a:buClrTx/>
              <a:buSzTx/>
              <a:buFontTx/>
              <a:buNone/>
            </a:pPr>
            <a:r>
              <a:rPr lang="en-US" altLang="en-US" sz="1400"/>
              <a:t>(Favorable Characteristic Now  A Trait Of Species)</a:t>
            </a:r>
          </a:p>
        </p:txBody>
      </p:sp>
      <p:graphicFrame>
        <p:nvGraphicFramePr>
          <p:cNvPr id="14350"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14351"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699673C-8219-4530-83F0-313CDF5EB297}" type="slidenum">
              <a:rPr lang="en-US" altLang="en-US" sz="1200" smtClean="0">
                <a:latin typeface="Garamond" panose="02020404030301010803" pitchFamily="18" charset="0"/>
              </a:rPr>
              <a:pPr>
                <a:spcBef>
                  <a:spcPct val="0"/>
                </a:spcBef>
                <a:buClrTx/>
                <a:buSzTx/>
                <a:buFontTx/>
                <a:buNone/>
              </a:pPr>
              <a:t>11</a:t>
            </a:fld>
            <a:endParaRPr lang="en-US" altLang="en-US" sz="1200" smtClean="0">
              <a:latin typeface="Garamond" panose="02020404030301010803" pitchFamily="18" charset="0"/>
            </a:endParaRPr>
          </a:p>
        </p:txBody>
      </p:sp>
      <p:sp>
        <p:nvSpPr>
          <p:cNvPr id="15363" name="Rectangle 4"/>
          <p:cNvSpPr>
            <a:spLocks noGrp="1" noChangeArrowheads="1"/>
          </p:cNvSpPr>
          <p:nvPr>
            <p:ph type="title"/>
          </p:nvPr>
        </p:nvSpPr>
        <p:spPr/>
        <p:txBody>
          <a:bodyPr/>
          <a:lstStyle/>
          <a:p>
            <a:pPr eaLnBrk="1" hangingPunct="1"/>
            <a:r>
              <a:rPr lang="en-US" altLang="en-US" sz="4000" b="1" u="sng" smtClean="0"/>
              <a:t>What Are Genetic Algorithms (GAs)?</a:t>
            </a:r>
          </a:p>
        </p:txBody>
      </p:sp>
      <p:sp>
        <p:nvSpPr>
          <p:cNvPr id="15364" name="Rectangle 5"/>
          <p:cNvSpPr>
            <a:spLocks noGrp="1" noChangeArrowheads="1"/>
          </p:cNvSpPr>
          <p:nvPr>
            <p:ph type="body" idx="1"/>
          </p:nvPr>
        </p:nvSpPr>
        <p:spPr/>
        <p:txBody>
          <a:bodyPr/>
          <a:lstStyle/>
          <a:p>
            <a:pPr eaLnBrk="1" hangingPunct="1">
              <a:buFont typeface="Wingdings" panose="05000000000000000000" pitchFamily="2" charset="2"/>
              <a:buNone/>
            </a:pPr>
            <a:r>
              <a:rPr lang="en-US" altLang="en-US" smtClean="0"/>
              <a:t>   </a:t>
            </a:r>
          </a:p>
          <a:p>
            <a:pPr eaLnBrk="1" hangingPunct="1">
              <a:buFont typeface="Wingdings" panose="05000000000000000000" pitchFamily="2" charset="2"/>
              <a:buNone/>
            </a:pPr>
            <a:endParaRPr lang="en-US" altLang="en-US" smtClean="0"/>
          </a:p>
          <a:p>
            <a:pPr eaLnBrk="1" hangingPunct="1">
              <a:buFont typeface="Wingdings" panose="05000000000000000000" pitchFamily="2" charset="2"/>
              <a:buNone/>
            </a:pPr>
            <a:r>
              <a:rPr lang="en-US" altLang="en-US" smtClean="0"/>
              <a:t>   Genetic Algorithms are </a:t>
            </a:r>
            <a:r>
              <a:rPr lang="en-US" altLang="en-US" i="1" smtClean="0">
                <a:solidFill>
                  <a:srgbClr val="CC3300"/>
                </a:solidFill>
              </a:rPr>
              <a:t>search</a:t>
            </a:r>
            <a:r>
              <a:rPr lang="en-US" altLang="en-US" smtClean="0"/>
              <a:t> and </a:t>
            </a:r>
            <a:r>
              <a:rPr lang="en-US" altLang="en-US" i="1" smtClean="0">
                <a:solidFill>
                  <a:srgbClr val="CC3300"/>
                </a:solidFill>
              </a:rPr>
              <a:t>optimization</a:t>
            </a:r>
            <a:r>
              <a:rPr lang="en-US" altLang="en-US" smtClean="0"/>
              <a:t> techniques based on Darwin’s Principle of </a:t>
            </a:r>
            <a:r>
              <a:rPr lang="en-US" altLang="en-US" i="1" smtClean="0">
                <a:solidFill>
                  <a:srgbClr val="CC3300"/>
                </a:solidFill>
              </a:rPr>
              <a:t>Natural Selection</a:t>
            </a:r>
            <a:r>
              <a:rPr lang="en-US" altLang="en-US" smtClean="0"/>
              <a:t>.</a:t>
            </a:r>
          </a:p>
        </p:txBody>
      </p:sp>
      <p:graphicFrame>
        <p:nvGraphicFramePr>
          <p:cNvPr id="15365"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15366" name="Klip" r:id="rId4" imgW="1423988" imgH="3055938" progId="MS_ClipArt_Gallery.2">
                  <p:embed/>
                </p:oleObj>
              </mc:Choice>
              <mc:Fallback>
                <p:oleObj name="Klip" r:id="rId4" imgW="1423988" imgH="3055938" progId="MS_ClipArt_Gallery.2">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707AB93-C0A1-42AA-B5C4-2C570BA09339}" type="slidenum">
              <a:rPr lang="en-US" altLang="en-US" sz="1200" smtClean="0">
                <a:latin typeface="Garamond" panose="02020404030301010803" pitchFamily="18" charset="0"/>
              </a:rPr>
              <a:pPr>
                <a:spcBef>
                  <a:spcPct val="0"/>
                </a:spcBef>
                <a:buClrTx/>
                <a:buSzTx/>
                <a:buFontTx/>
                <a:buNone/>
              </a:pPr>
              <a:t>12</a:t>
            </a:fld>
            <a:endParaRPr lang="en-US" altLang="en-US" sz="1200" smtClean="0">
              <a:latin typeface="Garamond" panose="02020404030301010803" pitchFamily="18" charset="0"/>
            </a:endParaRPr>
          </a:p>
        </p:txBody>
      </p:sp>
      <p:sp>
        <p:nvSpPr>
          <p:cNvPr id="17411" name="Rectangle 3"/>
          <p:cNvSpPr>
            <a:spLocks noGrp="1" noChangeArrowheads="1"/>
          </p:cNvSpPr>
          <p:nvPr>
            <p:ph type="body" idx="1"/>
          </p:nvPr>
        </p:nvSpPr>
        <p:spPr>
          <a:xfrm>
            <a:off x="457200" y="533400"/>
            <a:ext cx="8229600" cy="5597525"/>
          </a:xfrm>
        </p:spPr>
        <p:txBody>
          <a:bodyPr/>
          <a:lstStyle/>
          <a:p>
            <a:pPr eaLnBrk="1" hangingPunct="1">
              <a:buFont typeface="Wingdings" panose="05000000000000000000" pitchFamily="2" charset="2"/>
              <a:buNone/>
            </a:pPr>
            <a:r>
              <a:rPr lang="en-US" altLang="en-US" smtClean="0"/>
              <a:t>   </a:t>
            </a:r>
          </a:p>
          <a:p>
            <a:pPr eaLnBrk="1" hangingPunct="1">
              <a:buFont typeface="Wingdings" panose="05000000000000000000" pitchFamily="2" charset="2"/>
              <a:buNone/>
            </a:pPr>
            <a:endParaRPr lang="en-US" altLang="en-US" smtClean="0"/>
          </a:p>
          <a:p>
            <a:pPr eaLnBrk="1" hangingPunct="1">
              <a:buFont typeface="Wingdings" panose="05000000000000000000" pitchFamily="2" charset="2"/>
              <a:buNone/>
            </a:pPr>
            <a:r>
              <a:rPr lang="en-US" altLang="en-US" smtClean="0"/>
              <a:t>   </a:t>
            </a:r>
            <a:r>
              <a:rPr lang="en-US" altLang="en-US" sz="3600" smtClean="0">
                <a:solidFill>
                  <a:schemeClr val="tx2"/>
                </a:solidFill>
              </a:rPr>
              <a:t>Genetic Algorithms Implement Optimization Strategies By Simulating Evolution Of Species Through Natural Selection.</a:t>
            </a:r>
          </a:p>
        </p:txBody>
      </p:sp>
      <p:graphicFrame>
        <p:nvGraphicFramePr>
          <p:cNvPr id="17412"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17413"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2573530-C24E-4DB1-BB9B-636554A3D499}" type="slidenum">
              <a:rPr lang="en-US" altLang="en-US" sz="1200" smtClean="0">
                <a:latin typeface="Garamond" panose="02020404030301010803" pitchFamily="18" charset="0"/>
              </a:rPr>
              <a:pPr>
                <a:spcBef>
                  <a:spcPct val="0"/>
                </a:spcBef>
                <a:buClrTx/>
                <a:buSzTx/>
                <a:buFontTx/>
                <a:buNone/>
              </a:pPr>
              <a:t>13</a:t>
            </a:fld>
            <a:endParaRPr lang="en-US" altLang="en-US" sz="1200" smtClean="0">
              <a:latin typeface="Garamond" panose="02020404030301010803" pitchFamily="18" charset="0"/>
            </a:endParaRPr>
          </a:p>
        </p:txBody>
      </p:sp>
      <p:sp>
        <p:nvSpPr>
          <p:cNvPr id="18435" name="Rectangle 2"/>
          <p:cNvSpPr>
            <a:spLocks noGrp="1" noChangeArrowheads="1"/>
          </p:cNvSpPr>
          <p:nvPr>
            <p:ph type="title"/>
          </p:nvPr>
        </p:nvSpPr>
        <p:spPr>
          <a:xfrm>
            <a:off x="457200" y="277813"/>
            <a:ext cx="8229600" cy="484187"/>
          </a:xfrm>
        </p:spPr>
        <p:txBody>
          <a:bodyPr/>
          <a:lstStyle/>
          <a:p>
            <a:pPr algn="ctr" eaLnBrk="1" hangingPunct="1"/>
            <a:r>
              <a:rPr lang="en-US" altLang="en-US" sz="3400" b="1" u="sng" smtClean="0"/>
              <a:t>Working Mechanism Of GAs</a:t>
            </a:r>
            <a:br>
              <a:rPr lang="en-US" altLang="en-US" sz="3400" b="1" u="sng" smtClean="0"/>
            </a:br>
            <a:endParaRPr lang="en-US" altLang="en-US" sz="3400" b="1" u="sng" smtClean="0"/>
          </a:p>
        </p:txBody>
      </p:sp>
      <p:sp>
        <p:nvSpPr>
          <p:cNvPr id="18436" name="AutoShape 5"/>
          <p:cNvSpPr>
            <a:spLocks noChangeArrowheads="1"/>
          </p:cNvSpPr>
          <p:nvPr/>
        </p:nvSpPr>
        <p:spPr bwMode="auto">
          <a:xfrm>
            <a:off x="3990975" y="914400"/>
            <a:ext cx="1038225" cy="304800"/>
          </a:xfrm>
          <a:prstGeom prst="flowChartConnector">
            <a:avLst/>
          </a:prstGeom>
          <a:solidFill>
            <a:srgbClr val="FFFFFF"/>
          </a:solidFill>
          <a:ln w="9525">
            <a:solidFill>
              <a:srgbClr val="000000"/>
            </a:solidFill>
            <a:round/>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a:t>Begin</a:t>
            </a:r>
            <a:endParaRPr lang="en-US" altLang="en-US" sz="1800"/>
          </a:p>
        </p:txBody>
      </p:sp>
      <p:sp>
        <p:nvSpPr>
          <p:cNvPr id="18437" name="Line 6"/>
          <p:cNvSpPr>
            <a:spLocks noChangeShapeType="1"/>
          </p:cNvSpPr>
          <p:nvPr/>
        </p:nvSpPr>
        <p:spPr bwMode="auto">
          <a:xfrm flipH="1">
            <a:off x="4511675" y="1227138"/>
            <a:ext cx="0" cy="39687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38" name="AutoShape 7"/>
          <p:cNvSpPr>
            <a:spLocks noChangeArrowheads="1"/>
          </p:cNvSpPr>
          <p:nvPr/>
        </p:nvSpPr>
        <p:spPr bwMode="auto">
          <a:xfrm>
            <a:off x="3776663" y="1636713"/>
            <a:ext cx="1452562" cy="471487"/>
          </a:xfrm>
          <a:prstGeom prst="flowChartProcess">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a:t>Initialize population</a:t>
            </a:r>
            <a:endParaRPr lang="en-US" altLang="en-US" sz="1800"/>
          </a:p>
        </p:txBody>
      </p:sp>
      <p:sp>
        <p:nvSpPr>
          <p:cNvPr id="18439" name="Line 8"/>
          <p:cNvSpPr>
            <a:spLocks noChangeShapeType="1"/>
          </p:cNvSpPr>
          <p:nvPr/>
        </p:nvSpPr>
        <p:spPr bwMode="auto">
          <a:xfrm>
            <a:off x="4511675" y="2320925"/>
            <a:ext cx="0" cy="4968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0" name="AutoShape 9"/>
          <p:cNvSpPr>
            <a:spLocks noChangeArrowheads="1"/>
          </p:cNvSpPr>
          <p:nvPr/>
        </p:nvSpPr>
        <p:spPr bwMode="auto">
          <a:xfrm>
            <a:off x="3581400" y="3346450"/>
            <a:ext cx="1905000" cy="701675"/>
          </a:xfrm>
          <a:prstGeom prst="flowChartDecision">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a:t>Optimum Solution?</a:t>
            </a:r>
            <a:endParaRPr lang="en-US" altLang="en-US" sz="1800"/>
          </a:p>
        </p:txBody>
      </p:sp>
      <p:sp>
        <p:nvSpPr>
          <p:cNvPr id="18441" name="AutoShape 15"/>
          <p:cNvSpPr>
            <a:spLocks noChangeArrowheads="1"/>
          </p:cNvSpPr>
          <p:nvPr/>
        </p:nvSpPr>
        <p:spPr bwMode="auto">
          <a:xfrm>
            <a:off x="947738" y="4657725"/>
            <a:ext cx="1349375" cy="296863"/>
          </a:xfrm>
          <a:prstGeom prst="flowChartProcess">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a:t>T=T+1</a:t>
            </a:r>
            <a:endParaRPr lang="en-US" altLang="en-US" sz="1800"/>
          </a:p>
        </p:txBody>
      </p:sp>
      <p:sp>
        <p:nvSpPr>
          <p:cNvPr id="18442" name="Line 16"/>
          <p:cNvSpPr>
            <a:spLocks noChangeShapeType="1"/>
          </p:cNvSpPr>
          <p:nvPr/>
        </p:nvSpPr>
        <p:spPr bwMode="auto">
          <a:xfrm flipH="1">
            <a:off x="1600200" y="5943600"/>
            <a:ext cx="57912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3" name="AutoShape 12"/>
          <p:cNvSpPr>
            <a:spLocks noChangeArrowheads="1"/>
          </p:cNvSpPr>
          <p:nvPr/>
        </p:nvSpPr>
        <p:spPr bwMode="auto">
          <a:xfrm>
            <a:off x="6757988" y="3887788"/>
            <a:ext cx="1306512" cy="396875"/>
          </a:xfrm>
          <a:prstGeom prst="flowChartProcess">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a:t>Selection</a:t>
            </a:r>
            <a:endParaRPr lang="en-US" altLang="en-US" sz="1800"/>
          </a:p>
        </p:txBody>
      </p:sp>
      <p:sp>
        <p:nvSpPr>
          <p:cNvPr id="18444" name="AutoShape 13"/>
          <p:cNvSpPr>
            <a:spLocks noChangeArrowheads="1"/>
          </p:cNvSpPr>
          <p:nvPr/>
        </p:nvSpPr>
        <p:spPr bwMode="auto">
          <a:xfrm>
            <a:off x="6700838" y="4687888"/>
            <a:ext cx="1452562" cy="315912"/>
          </a:xfrm>
          <a:prstGeom prst="flowChartProcess">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a:t>Crossover</a:t>
            </a:r>
            <a:endParaRPr lang="en-US" altLang="en-US" sz="1800"/>
          </a:p>
        </p:txBody>
      </p:sp>
      <p:sp>
        <p:nvSpPr>
          <p:cNvPr id="18445" name="AutoShape 14"/>
          <p:cNvSpPr>
            <a:spLocks noChangeArrowheads="1"/>
          </p:cNvSpPr>
          <p:nvPr/>
        </p:nvSpPr>
        <p:spPr bwMode="auto">
          <a:xfrm>
            <a:off x="6700838" y="5416550"/>
            <a:ext cx="1452562" cy="298450"/>
          </a:xfrm>
          <a:prstGeom prst="flowChartProcess">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a:t>Mutation</a:t>
            </a:r>
            <a:r>
              <a:rPr lang="en-US" altLang="en-US" sz="1200" b="0"/>
              <a:t>             </a:t>
            </a:r>
            <a:endParaRPr lang="en-US" altLang="en-US" sz="1800" b="0"/>
          </a:p>
        </p:txBody>
      </p:sp>
      <p:sp>
        <p:nvSpPr>
          <p:cNvPr id="18446" name="Line 17"/>
          <p:cNvSpPr>
            <a:spLocks noChangeShapeType="1"/>
          </p:cNvSpPr>
          <p:nvPr/>
        </p:nvSpPr>
        <p:spPr bwMode="auto">
          <a:xfrm>
            <a:off x="7418388" y="4292600"/>
            <a:ext cx="0" cy="39528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7" name="Line 18"/>
          <p:cNvSpPr>
            <a:spLocks noChangeShapeType="1"/>
          </p:cNvSpPr>
          <p:nvPr/>
        </p:nvSpPr>
        <p:spPr bwMode="auto">
          <a:xfrm>
            <a:off x="7418388" y="5019675"/>
            <a:ext cx="0" cy="39687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48" name="Text Box 25"/>
          <p:cNvSpPr txBox="1">
            <a:spLocks noChangeArrowheads="1"/>
          </p:cNvSpPr>
          <p:nvPr/>
        </p:nvSpPr>
        <p:spPr bwMode="auto">
          <a:xfrm>
            <a:off x="5867400" y="3448050"/>
            <a:ext cx="685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1200"/>
              <a:t>N</a:t>
            </a:r>
          </a:p>
        </p:txBody>
      </p:sp>
      <p:sp>
        <p:nvSpPr>
          <p:cNvPr id="18449" name="AutoShape 27"/>
          <p:cNvSpPr>
            <a:spLocks noChangeArrowheads="1"/>
          </p:cNvSpPr>
          <p:nvPr/>
        </p:nvSpPr>
        <p:spPr bwMode="auto">
          <a:xfrm>
            <a:off x="3771900" y="2495550"/>
            <a:ext cx="1452563" cy="471488"/>
          </a:xfrm>
          <a:prstGeom prst="flowChartProcess">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a:t>Evaluate Solutions</a:t>
            </a:r>
            <a:endParaRPr lang="en-US" altLang="en-US" sz="1800"/>
          </a:p>
        </p:txBody>
      </p:sp>
      <p:sp>
        <p:nvSpPr>
          <p:cNvPr id="18450" name="Line 28"/>
          <p:cNvSpPr>
            <a:spLocks noChangeShapeType="1"/>
          </p:cNvSpPr>
          <p:nvPr/>
        </p:nvSpPr>
        <p:spPr bwMode="auto">
          <a:xfrm flipH="1">
            <a:off x="4510088" y="2093913"/>
            <a:ext cx="0" cy="39687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51" name="Line 29"/>
          <p:cNvSpPr>
            <a:spLocks noChangeShapeType="1"/>
          </p:cNvSpPr>
          <p:nvPr/>
        </p:nvSpPr>
        <p:spPr bwMode="auto">
          <a:xfrm flipH="1">
            <a:off x="4524375" y="2955925"/>
            <a:ext cx="0" cy="396875"/>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52" name="Line 33"/>
          <p:cNvSpPr>
            <a:spLocks noChangeShapeType="1"/>
          </p:cNvSpPr>
          <p:nvPr/>
        </p:nvSpPr>
        <p:spPr bwMode="auto">
          <a:xfrm>
            <a:off x="7419975" y="3676650"/>
            <a:ext cx="0" cy="228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53" name="Line 36"/>
          <p:cNvSpPr>
            <a:spLocks noChangeShapeType="1"/>
          </p:cNvSpPr>
          <p:nvPr/>
        </p:nvSpPr>
        <p:spPr bwMode="auto">
          <a:xfrm>
            <a:off x="5438775" y="3686175"/>
            <a:ext cx="19812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54" name="Line 37"/>
          <p:cNvSpPr>
            <a:spLocks noChangeShapeType="1"/>
          </p:cNvSpPr>
          <p:nvPr/>
        </p:nvSpPr>
        <p:spPr bwMode="auto">
          <a:xfrm>
            <a:off x="1600200" y="3686175"/>
            <a:ext cx="198120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55" name="Line 38"/>
          <p:cNvSpPr>
            <a:spLocks noChangeShapeType="1"/>
          </p:cNvSpPr>
          <p:nvPr/>
        </p:nvSpPr>
        <p:spPr bwMode="auto">
          <a:xfrm flipV="1">
            <a:off x="1600200" y="3657600"/>
            <a:ext cx="0" cy="990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56" name="Line 39"/>
          <p:cNvSpPr>
            <a:spLocks noChangeShapeType="1"/>
          </p:cNvSpPr>
          <p:nvPr/>
        </p:nvSpPr>
        <p:spPr bwMode="auto">
          <a:xfrm flipV="1">
            <a:off x="1600200" y="4938713"/>
            <a:ext cx="0" cy="990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57" name="Line 40"/>
          <p:cNvSpPr>
            <a:spLocks noChangeShapeType="1"/>
          </p:cNvSpPr>
          <p:nvPr/>
        </p:nvSpPr>
        <p:spPr bwMode="auto">
          <a:xfrm>
            <a:off x="7391400" y="5715000"/>
            <a:ext cx="0" cy="228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58" name="Line 41"/>
          <p:cNvSpPr>
            <a:spLocks noChangeShapeType="1"/>
          </p:cNvSpPr>
          <p:nvPr/>
        </p:nvSpPr>
        <p:spPr bwMode="auto">
          <a:xfrm>
            <a:off x="4524375" y="4052888"/>
            <a:ext cx="0" cy="6096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8459" name="Text Box 42"/>
          <p:cNvSpPr txBox="1">
            <a:spLocks noChangeArrowheads="1"/>
          </p:cNvSpPr>
          <p:nvPr/>
        </p:nvSpPr>
        <p:spPr bwMode="auto">
          <a:xfrm>
            <a:off x="4038600" y="4114800"/>
            <a:ext cx="6858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1200"/>
              <a:t>Y</a:t>
            </a:r>
          </a:p>
        </p:txBody>
      </p:sp>
      <p:sp>
        <p:nvSpPr>
          <p:cNvPr id="18460" name="AutoShape 43"/>
          <p:cNvSpPr>
            <a:spLocks noChangeArrowheads="1"/>
          </p:cNvSpPr>
          <p:nvPr/>
        </p:nvSpPr>
        <p:spPr bwMode="auto">
          <a:xfrm>
            <a:off x="4117975" y="4675188"/>
            <a:ext cx="830263" cy="296862"/>
          </a:xfrm>
          <a:prstGeom prst="flowChartConnector">
            <a:avLst/>
          </a:prstGeom>
          <a:solidFill>
            <a:srgbClr val="FFFFFF"/>
          </a:solidFill>
          <a:ln w="9525">
            <a:solidFill>
              <a:srgbClr val="000000"/>
            </a:solidFill>
            <a:round/>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a:t>Stop</a:t>
            </a:r>
            <a:endParaRPr lang="en-US" altLang="en-US" sz="1800"/>
          </a:p>
        </p:txBody>
      </p:sp>
      <p:sp>
        <p:nvSpPr>
          <p:cNvPr id="18461" name="Text Box 44"/>
          <p:cNvSpPr txBox="1">
            <a:spLocks noChangeArrowheads="1"/>
          </p:cNvSpPr>
          <p:nvPr/>
        </p:nvSpPr>
        <p:spPr bwMode="auto">
          <a:xfrm>
            <a:off x="4433888" y="3001963"/>
            <a:ext cx="6858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1200"/>
              <a:t>T =0</a:t>
            </a:r>
          </a:p>
        </p:txBody>
      </p:sp>
      <p:graphicFrame>
        <p:nvGraphicFramePr>
          <p:cNvPr id="18462"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18463" name="Klip" r:id="rId4" imgW="1423988" imgH="3055938" progId="MS_ClipArt_Gallery.2">
                  <p:embed/>
                </p:oleObj>
              </mc:Choice>
              <mc:Fallback>
                <p:oleObj name="Klip" r:id="rId4" imgW="1423988" imgH="3055938" progId="MS_ClipArt_Gallery.2">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F49682E7-19BF-4706-B5E7-1BD31F2BA3EE}" type="slidenum">
              <a:rPr lang="en-US" altLang="en-US" sz="1200" smtClean="0">
                <a:latin typeface="Garamond" panose="02020404030301010803" pitchFamily="18" charset="0"/>
              </a:rPr>
              <a:pPr>
                <a:spcBef>
                  <a:spcPct val="0"/>
                </a:spcBef>
                <a:buClrTx/>
                <a:buSzTx/>
                <a:buFontTx/>
                <a:buNone/>
              </a:pPr>
              <a:t>14</a:t>
            </a:fld>
            <a:endParaRPr lang="en-US" altLang="en-US" sz="1200" smtClean="0">
              <a:latin typeface="Garamond" panose="02020404030301010803" pitchFamily="18" charset="0"/>
            </a:endParaRPr>
          </a:p>
        </p:txBody>
      </p:sp>
      <p:sp>
        <p:nvSpPr>
          <p:cNvPr id="20483" name="Rectangle 2"/>
          <p:cNvSpPr>
            <a:spLocks noGrp="1" noChangeArrowheads="1"/>
          </p:cNvSpPr>
          <p:nvPr>
            <p:ph type="title"/>
          </p:nvPr>
        </p:nvSpPr>
        <p:spPr/>
        <p:txBody>
          <a:bodyPr/>
          <a:lstStyle/>
          <a:p>
            <a:pPr algn="ctr" eaLnBrk="1" hangingPunct="1"/>
            <a:r>
              <a:rPr lang="en-US" altLang="en-US" sz="3600" b="1" u="sng" smtClean="0"/>
              <a:t>Simple Genetic Algorithm</a:t>
            </a:r>
          </a:p>
        </p:txBody>
      </p:sp>
      <p:sp>
        <p:nvSpPr>
          <p:cNvPr id="20484" name="Rectangle 3"/>
          <p:cNvSpPr>
            <a:spLocks noGrp="1" noChangeArrowheads="1"/>
          </p:cNvSpPr>
          <p:nvPr>
            <p:ph type="body" idx="1"/>
          </p:nvPr>
        </p:nvSpPr>
        <p:spPr>
          <a:xfrm>
            <a:off x="457200" y="990600"/>
            <a:ext cx="8229600" cy="4530725"/>
          </a:xfrm>
        </p:spPr>
        <p:txBody>
          <a:bodyPr/>
          <a:lstStyle/>
          <a:p>
            <a:pPr eaLnBrk="1" hangingPunct="1">
              <a:buFont typeface="Wingdings" panose="05000000000000000000" pitchFamily="2" charset="2"/>
              <a:buNone/>
            </a:pPr>
            <a:r>
              <a:rPr lang="en-US" altLang="en-US" sz="2000" b="1" smtClean="0">
                <a:latin typeface="Courier New" panose="02070309020205020404" pitchFamily="49" charset="0"/>
              </a:rPr>
              <a:t>Simple_Genetic_Algorithm()</a:t>
            </a:r>
            <a:br>
              <a:rPr lang="en-US" altLang="en-US" sz="2000" b="1" smtClean="0">
                <a:latin typeface="Courier New" panose="02070309020205020404" pitchFamily="49" charset="0"/>
              </a:rPr>
            </a:br>
            <a:r>
              <a:rPr lang="en-US" altLang="en-US" sz="2000" b="1" smtClean="0">
                <a:latin typeface="Courier New" panose="02070309020205020404" pitchFamily="49" charset="0"/>
              </a:rPr>
              <a:t>	{</a:t>
            </a:r>
            <a:br>
              <a:rPr lang="en-US" altLang="en-US" sz="2000" b="1" smtClean="0">
                <a:latin typeface="Courier New" panose="02070309020205020404" pitchFamily="49" charset="0"/>
              </a:rPr>
            </a:br>
            <a:r>
              <a:rPr lang="en-US" altLang="en-US" sz="2000" b="1" smtClean="0">
                <a:latin typeface="Courier New" panose="02070309020205020404" pitchFamily="49" charset="0"/>
              </a:rPr>
              <a:t>	Initialize the </a:t>
            </a:r>
            <a:r>
              <a:rPr lang="en-US" altLang="en-US" sz="2000" b="1" smtClean="0">
                <a:solidFill>
                  <a:srgbClr val="0000FF"/>
                </a:solidFill>
                <a:latin typeface="Courier New" panose="02070309020205020404" pitchFamily="49" charset="0"/>
              </a:rPr>
              <a:t>Population</a:t>
            </a:r>
            <a:r>
              <a:rPr lang="en-US" altLang="en-US" sz="2000" b="1" smtClean="0">
                <a:latin typeface="Courier New" panose="02070309020205020404" pitchFamily="49" charset="0"/>
              </a:rPr>
              <a:t>;</a:t>
            </a:r>
            <a:br>
              <a:rPr lang="en-US" altLang="en-US" sz="2000" b="1" smtClean="0">
                <a:latin typeface="Courier New" panose="02070309020205020404" pitchFamily="49" charset="0"/>
              </a:rPr>
            </a:br>
            <a:r>
              <a:rPr lang="en-US" altLang="en-US" sz="2000" b="1" smtClean="0">
                <a:latin typeface="Courier New" panose="02070309020205020404" pitchFamily="49" charset="0"/>
              </a:rPr>
              <a:t>	Calculate </a:t>
            </a:r>
            <a:r>
              <a:rPr lang="en-US" altLang="en-US" sz="2000" b="1" smtClean="0">
                <a:solidFill>
                  <a:srgbClr val="0000FF"/>
                </a:solidFill>
                <a:latin typeface="Courier New" panose="02070309020205020404" pitchFamily="49" charset="0"/>
              </a:rPr>
              <a:t>Fitness Function</a:t>
            </a:r>
            <a:r>
              <a:rPr lang="en-US" altLang="en-US" sz="2000" b="1" smtClean="0">
                <a:latin typeface="Courier New" panose="02070309020205020404" pitchFamily="49" charset="0"/>
              </a:rPr>
              <a:t>;</a:t>
            </a:r>
            <a:br>
              <a:rPr lang="en-US" altLang="en-US" sz="2000" b="1" smtClean="0">
                <a:latin typeface="Courier New" panose="02070309020205020404" pitchFamily="49" charset="0"/>
              </a:rPr>
            </a:br>
            <a:r>
              <a:rPr lang="en-US" altLang="en-US" sz="2000" b="1" smtClean="0">
                <a:latin typeface="Courier New" panose="02070309020205020404" pitchFamily="49" charset="0"/>
              </a:rPr>
              <a:t/>
            </a:r>
            <a:br>
              <a:rPr lang="en-US" altLang="en-US" sz="2000" b="1" smtClean="0">
                <a:latin typeface="Courier New" panose="02070309020205020404" pitchFamily="49" charset="0"/>
              </a:rPr>
            </a:br>
            <a:r>
              <a:rPr lang="en-US" altLang="en-US" sz="2000" b="1" smtClean="0">
                <a:latin typeface="Courier New" panose="02070309020205020404" pitchFamily="49" charset="0"/>
              </a:rPr>
              <a:t>	While(Fitness Value != Optimal Value)</a:t>
            </a:r>
            <a:br>
              <a:rPr lang="en-US" altLang="en-US" sz="2000" b="1" smtClean="0">
                <a:latin typeface="Courier New" panose="02070309020205020404" pitchFamily="49" charset="0"/>
              </a:rPr>
            </a:br>
            <a:r>
              <a:rPr lang="en-US" altLang="en-US" sz="2000" b="1" smtClean="0">
                <a:latin typeface="Courier New" panose="02070309020205020404" pitchFamily="49" charset="0"/>
              </a:rPr>
              <a:t>		{</a:t>
            </a:r>
            <a:br>
              <a:rPr lang="en-US" altLang="en-US" sz="2000" b="1" smtClean="0">
                <a:latin typeface="Courier New" panose="02070309020205020404" pitchFamily="49" charset="0"/>
              </a:rPr>
            </a:br>
            <a:r>
              <a:rPr lang="en-US" altLang="en-US" sz="2000" b="1" smtClean="0">
                <a:latin typeface="Courier New" panose="02070309020205020404" pitchFamily="49" charset="0"/>
              </a:rPr>
              <a:t>		</a:t>
            </a:r>
            <a:r>
              <a:rPr lang="en-US" altLang="en-US" sz="2000" b="1" smtClean="0">
                <a:solidFill>
                  <a:srgbClr val="0000FF"/>
                </a:solidFill>
                <a:latin typeface="Courier New" panose="02070309020205020404" pitchFamily="49" charset="0"/>
              </a:rPr>
              <a:t>Selection</a:t>
            </a:r>
            <a:r>
              <a:rPr lang="en-US" altLang="en-US" sz="2000" b="1" smtClean="0">
                <a:solidFill>
                  <a:srgbClr val="CC3300"/>
                </a:solidFill>
                <a:latin typeface="Courier New" panose="02070309020205020404" pitchFamily="49" charset="0"/>
              </a:rPr>
              <a:t>;//Natural Selection, Survival Of Fittest				</a:t>
            </a:r>
          </a:p>
          <a:p>
            <a:pPr eaLnBrk="1" hangingPunct="1">
              <a:buFont typeface="Wingdings" panose="05000000000000000000" pitchFamily="2" charset="2"/>
              <a:buNone/>
            </a:pPr>
            <a:r>
              <a:rPr lang="en-US" altLang="en-US" sz="2000" b="1" smtClean="0">
                <a:latin typeface="Courier New" panose="02070309020205020404" pitchFamily="49" charset="0"/>
              </a:rPr>
              <a:t>			</a:t>
            </a:r>
            <a:r>
              <a:rPr lang="en-US" altLang="en-US" sz="2000" b="1" smtClean="0">
                <a:solidFill>
                  <a:srgbClr val="0000FF"/>
                </a:solidFill>
                <a:latin typeface="Courier New" panose="02070309020205020404" pitchFamily="49" charset="0"/>
              </a:rPr>
              <a:t>Crossover</a:t>
            </a:r>
            <a:r>
              <a:rPr lang="en-US" altLang="en-US" sz="2000" b="1" smtClean="0">
                <a:solidFill>
                  <a:srgbClr val="CC3300"/>
                </a:solidFill>
                <a:latin typeface="Courier New" panose="02070309020205020404" pitchFamily="49" charset="0"/>
              </a:rPr>
              <a:t>;//Reproduction, Propagate favorable characteristics</a:t>
            </a:r>
          </a:p>
          <a:p>
            <a:pPr eaLnBrk="1" hangingPunct="1">
              <a:buFont typeface="Wingdings" panose="05000000000000000000" pitchFamily="2" charset="2"/>
              <a:buNone/>
            </a:pPr>
            <a:endParaRPr lang="en-US" altLang="en-US" sz="2000" b="1" smtClean="0">
              <a:solidFill>
                <a:srgbClr val="996633"/>
              </a:solidFill>
              <a:latin typeface="Courier New" panose="02070309020205020404" pitchFamily="49" charset="0"/>
            </a:endParaRPr>
          </a:p>
          <a:p>
            <a:pPr eaLnBrk="1" hangingPunct="1">
              <a:buFont typeface="Wingdings" panose="05000000000000000000" pitchFamily="2" charset="2"/>
              <a:buNone/>
            </a:pPr>
            <a:r>
              <a:rPr lang="en-US" altLang="en-US" sz="2000" b="1" smtClean="0">
                <a:latin typeface="Courier New" panose="02070309020205020404" pitchFamily="49" charset="0"/>
              </a:rPr>
              <a:t>			</a:t>
            </a:r>
            <a:r>
              <a:rPr lang="en-US" altLang="en-US" sz="2000" b="1" smtClean="0">
                <a:solidFill>
                  <a:srgbClr val="0000FF"/>
                </a:solidFill>
                <a:latin typeface="Courier New" panose="02070309020205020404" pitchFamily="49" charset="0"/>
              </a:rPr>
              <a:t>Mutation</a:t>
            </a:r>
            <a:r>
              <a:rPr lang="en-US" altLang="en-US" sz="2000" b="1" smtClean="0">
                <a:latin typeface="Courier New" panose="02070309020205020404" pitchFamily="49" charset="0"/>
              </a:rPr>
              <a:t>;</a:t>
            </a:r>
            <a:r>
              <a:rPr lang="en-US" altLang="en-US" sz="2000" b="1" smtClean="0">
                <a:solidFill>
                  <a:srgbClr val="CC3300"/>
                </a:solidFill>
                <a:latin typeface="Courier New" panose="02070309020205020404" pitchFamily="49" charset="0"/>
              </a:rPr>
              <a:t>//Mutation</a:t>
            </a:r>
          </a:p>
          <a:p>
            <a:pPr eaLnBrk="1" hangingPunct="1">
              <a:buFont typeface="Wingdings" panose="05000000000000000000" pitchFamily="2" charset="2"/>
              <a:buNone/>
            </a:pPr>
            <a:r>
              <a:rPr lang="en-US" altLang="en-US" sz="2000" b="1" smtClean="0">
                <a:latin typeface="Courier New" panose="02070309020205020404" pitchFamily="49" charset="0"/>
              </a:rPr>
              <a:t>			Calculate Fitness Function;</a:t>
            </a:r>
            <a:br>
              <a:rPr lang="en-US" altLang="en-US" sz="2000" b="1" smtClean="0">
                <a:latin typeface="Courier New" panose="02070309020205020404" pitchFamily="49" charset="0"/>
              </a:rPr>
            </a:br>
            <a:r>
              <a:rPr lang="en-US" altLang="en-US" sz="2000" b="1" smtClean="0">
                <a:latin typeface="Courier New" panose="02070309020205020404" pitchFamily="49" charset="0"/>
              </a:rPr>
              <a:t>		}</a:t>
            </a:r>
            <a:br>
              <a:rPr lang="en-US" altLang="en-US" sz="2000" b="1" smtClean="0">
                <a:latin typeface="Courier New" panose="02070309020205020404" pitchFamily="49" charset="0"/>
              </a:rPr>
            </a:br>
            <a:r>
              <a:rPr lang="en-US" altLang="en-US" sz="2000" b="1" smtClean="0">
                <a:latin typeface="Courier New" panose="02070309020205020404" pitchFamily="49" charset="0"/>
              </a:rPr>
              <a:t>	}</a:t>
            </a:r>
          </a:p>
        </p:txBody>
      </p:sp>
      <p:graphicFrame>
        <p:nvGraphicFramePr>
          <p:cNvPr id="20485"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20486"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72C83727-A930-4CCB-BB97-EC735C952381}" type="slidenum">
              <a:rPr lang="en-US" altLang="en-US" sz="1200" smtClean="0">
                <a:latin typeface="Garamond" panose="02020404030301010803" pitchFamily="18" charset="0"/>
              </a:rPr>
              <a:pPr>
                <a:spcBef>
                  <a:spcPct val="0"/>
                </a:spcBef>
                <a:buClrTx/>
                <a:buSzTx/>
                <a:buFontTx/>
                <a:buNone/>
              </a:pPr>
              <a:t>15</a:t>
            </a:fld>
            <a:endParaRPr lang="en-US" altLang="en-US" sz="1200" smtClean="0">
              <a:latin typeface="Garamond" panose="02020404030301010803" pitchFamily="18" charset="0"/>
            </a:endParaRPr>
          </a:p>
        </p:txBody>
      </p:sp>
      <p:sp>
        <p:nvSpPr>
          <p:cNvPr id="21507" name="Rectangle 2"/>
          <p:cNvSpPr>
            <a:spLocks noGrp="1" noChangeArrowheads="1"/>
          </p:cNvSpPr>
          <p:nvPr>
            <p:ph type="title"/>
          </p:nvPr>
        </p:nvSpPr>
        <p:spPr/>
        <p:txBody>
          <a:bodyPr/>
          <a:lstStyle/>
          <a:p>
            <a:pPr algn="ctr" eaLnBrk="1" hangingPunct="1"/>
            <a:r>
              <a:rPr lang="en-US" altLang="en-US" sz="4000" b="1" u="sng" smtClean="0"/>
              <a:t>Nature to Computer Mapping</a:t>
            </a:r>
          </a:p>
        </p:txBody>
      </p:sp>
      <p:graphicFrame>
        <p:nvGraphicFramePr>
          <p:cNvPr id="14375" name="Group 39"/>
          <p:cNvGraphicFramePr>
            <a:graphicFrameLocks noGrp="1"/>
          </p:cNvGraphicFramePr>
          <p:nvPr/>
        </p:nvGraphicFramePr>
        <p:xfrm>
          <a:off x="1295400" y="2133600"/>
          <a:ext cx="6705600" cy="3276600"/>
        </p:xfrm>
        <a:graphic>
          <a:graphicData uri="http://schemas.openxmlformats.org/drawingml/2006/table">
            <a:tbl>
              <a:tblPr/>
              <a:tblGrid>
                <a:gridCol w="2514600"/>
                <a:gridCol w="4191000"/>
              </a:tblGrid>
              <a:tr h="698500">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400" b="1" i="0" u="none" strike="noStrike" cap="none" normalizeH="0" baseline="0" smtClean="0">
                          <a:ln>
                            <a:noFill/>
                          </a:ln>
                          <a:solidFill>
                            <a:srgbClr val="CC3300"/>
                          </a:solidFill>
                          <a:effectLst/>
                          <a:latin typeface="Arial" charset="0"/>
                        </a:rPr>
                        <a:t>Nature</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400" b="1" i="0" u="none" strike="noStrike" cap="none" normalizeH="0" baseline="0" smtClean="0">
                          <a:ln>
                            <a:noFill/>
                          </a:ln>
                          <a:solidFill>
                            <a:srgbClr val="CC3300"/>
                          </a:solidFill>
                          <a:effectLst/>
                          <a:latin typeface="Arial" charset="0"/>
                        </a:rPr>
                        <a:t>Computer</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r h="257810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chemeClr val="tx1"/>
                          </a:solidFill>
                          <a:effectLst/>
                          <a:latin typeface="Arial" charset="0"/>
                        </a:rPr>
                        <a:t>Population</a:t>
                      </a:r>
                    </a:p>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chemeClr val="tx1"/>
                          </a:solidFill>
                          <a:effectLst/>
                          <a:latin typeface="Arial" charset="0"/>
                        </a:rPr>
                        <a:t>Individual</a:t>
                      </a:r>
                    </a:p>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chemeClr val="tx1"/>
                          </a:solidFill>
                          <a:effectLst/>
                          <a:latin typeface="Arial" charset="0"/>
                        </a:rPr>
                        <a:t>Fitness</a:t>
                      </a:r>
                    </a:p>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chemeClr val="tx1"/>
                          </a:solidFill>
                          <a:effectLst/>
                          <a:latin typeface="Arial" charset="0"/>
                        </a:rPr>
                        <a:t>Chromosome</a:t>
                      </a:r>
                    </a:p>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chemeClr val="tx1"/>
                          </a:solidFill>
                          <a:effectLst/>
                          <a:latin typeface="Arial" charset="0"/>
                        </a:rPr>
                        <a:t>Gene</a:t>
                      </a:r>
                    </a:p>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chemeClr val="tx1"/>
                          </a:solidFill>
                          <a:effectLst/>
                          <a:latin typeface="Arial" charset="0"/>
                        </a:rPr>
                        <a:t>Reproduction</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chemeClr val="tx1"/>
                          </a:solidFill>
                          <a:effectLst/>
                          <a:latin typeface="Arial" charset="0"/>
                        </a:rPr>
                        <a:t>Set of solutions.</a:t>
                      </a:r>
                    </a:p>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chemeClr val="tx1"/>
                          </a:solidFill>
                          <a:effectLst/>
                          <a:latin typeface="Arial" charset="0"/>
                        </a:rPr>
                        <a:t>Solution to a problem.</a:t>
                      </a:r>
                    </a:p>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chemeClr val="tx1"/>
                          </a:solidFill>
                          <a:effectLst/>
                          <a:latin typeface="Arial" charset="0"/>
                        </a:rPr>
                        <a:t>Quality of a solution.</a:t>
                      </a:r>
                    </a:p>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chemeClr val="tx1"/>
                          </a:solidFill>
                          <a:effectLst/>
                          <a:latin typeface="Arial" charset="0"/>
                        </a:rPr>
                        <a:t>Encoding for a Solution.</a:t>
                      </a:r>
                    </a:p>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chemeClr val="tx1"/>
                          </a:solidFill>
                          <a:effectLst/>
                          <a:latin typeface="Arial" charset="0"/>
                        </a:rPr>
                        <a:t>Part of the encoding of a solution.</a:t>
                      </a:r>
                    </a:p>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chemeClr val="tx1"/>
                          </a:solidFill>
                          <a:effectLst/>
                          <a:latin typeface="Arial" charset="0"/>
                        </a:rPr>
                        <a:t>Crossover</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graphicFrame>
        <p:nvGraphicFramePr>
          <p:cNvPr id="21519"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21520" name="Klip" r:id="rId4" imgW="1423988" imgH="3055938" progId="MS_ClipArt_Gallery.2">
                  <p:embed/>
                </p:oleObj>
              </mc:Choice>
              <mc:Fallback>
                <p:oleObj name="Klip" r:id="rId4" imgW="1423988" imgH="3055938" progId="MS_ClipArt_Gallery.2">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7A66A6FA-5974-4D70-9B31-49E5F66264C7}" type="slidenum">
              <a:rPr lang="en-US" altLang="en-US" sz="1200" smtClean="0">
                <a:latin typeface="Garamond" panose="02020404030301010803" pitchFamily="18" charset="0"/>
              </a:rPr>
              <a:pPr>
                <a:spcBef>
                  <a:spcPct val="0"/>
                </a:spcBef>
                <a:buClrTx/>
                <a:buSzTx/>
                <a:buFontTx/>
                <a:buNone/>
              </a:pPr>
              <a:t>16</a:t>
            </a:fld>
            <a:endParaRPr lang="en-US" altLang="en-US" sz="1200" smtClean="0">
              <a:latin typeface="Garamond" panose="02020404030301010803" pitchFamily="18" charset="0"/>
            </a:endParaRPr>
          </a:p>
        </p:txBody>
      </p:sp>
      <p:sp>
        <p:nvSpPr>
          <p:cNvPr id="23555" name="Rectangle 4"/>
          <p:cNvSpPr>
            <a:spLocks noGrp="1" noChangeArrowheads="1"/>
          </p:cNvSpPr>
          <p:nvPr>
            <p:ph type="ctrTitle"/>
          </p:nvPr>
        </p:nvSpPr>
        <p:spPr/>
        <p:txBody>
          <a:bodyPr/>
          <a:lstStyle/>
          <a:p>
            <a:pPr algn="ctr" eaLnBrk="1" hangingPunct="1"/>
            <a:r>
              <a:rPr lang="en-US" altLang="en-US" sz="5300" b="1" u="sng" smtClean="0"/>
              <a:t>GA Operators and Parameters</a:t>
            </a:r>
          </a:p>
        </p:txBody>
      </p:sp>
      <p:sp>
        <p:nvSpPr>
          <p:cNvPr id="23556" name="Rectangle 5"/>
          <p:cNvSpPr>
            <a:spLocks noGrp="1" noChangeArrowheads="1"/>
          </p:cNvSpPr>
          <p:nvPr>
            <p:ph type="subTitle" idx="1"/>
          </p:nvPr>
        </p:nvSpPr>
        <p:spPr/>
        <p:txBody>
          <a:bodyPr/>
          <a:lstStyle/>
          <a:p>
            <a:pPr eaLnBrk="1" hangingPunct="1"/>
            <a:endParaRPr lang="en-US" altLang="en-US" sz="3700" b="1" smtClean="0"/>
          </a:p>
          <a:p>
            <a:pPr algn="ctr" eaLnBrk="1" hangingPunct="1"/>
            <a:endParaRPr lang="en-US" altLang="en-US" sz="3700" b="1" i="1" smtClean="0">
              <a:solidFill>
                <a:schemeClr val="tx2"/>
              </a:solidFill>
            </a:endParaRPr>
          </a:p>
        </p:txBody>
      </p:sp>
      <p:graphicFrame>
        <p:nvGraphicFramePr>
          <p:cNvPr id="23557"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23558"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F3B80D28-EEE2-4AE9-A834-48794D2B8394}" type="slidenum">
              <a:rPr lang="en-US" altLang="en-US" sz="1200" smtClean="0">
                <a:latin typeface="Garamond" panose="02020404030301010803" pitchFamily="18" charset="0"/>
              </a:rPr>
              <a:pPr>
                <a:spcBef>
                  <a:spcPct val="0"/>
                </a:spcBef>
                <a:buClrTx/>
                <a:buSzTx/>
                <a:buFontTx/>
                <a:buNone/>
              </a:pPr>
              <a:t>17</a:t>
            </a:fld>
            <a:endParaRPr lang="en-US" altLang="en-US" sz="1200" smtClean="0">
              <a:latin typeface="Garamond" panose="02020404030301010803" pitchFamily="18" charset="0"/>
            </a:endParaRPr>
          </a:p>
        </p:txBody>
      </p:sp>
      <p:sp>
        <p:nvSpPr>
          <p:cNvPr id="24579" name="Rectangle 6"/>
          <p:cNvSpPr>
            <a:spLocks noGrp="1" noChangeArrowheads="1"/>
          </p:cNvSpPr>
          <p:nvPr>
            <p:ph type="title"/>
          </p:nvPr>
        </p:nvSpPr>
        <p:spPr>
          <a:xfrm>
            <a:off x="457200" y="277813"/>
            <a:ext cx="8229600" cy="712787"/>
          </a:xfrm>
        </p:spPr>
        <p:txBody>
          <a:bodyPr/>
          <a:lstStyle/>
          <a:p>
            <a:pPr algn="ctr" eaLnBrk="1" hangingPunct="1"/>
            <a:r>
              <a:rPr lang="en-US" altLang="en-US" sz="4000" b="1" u="sng" smtClean="0"/>
              <a:t>Encoding</a:t>
            </a:r>
          </a:p>
        </p:txBody>
      </p:sp>
      <p:sp>
        <p:nvSpPr>
          <p:cNvPr id="24580" name="Rectangle 7"/>
          <p:cNvSpPr>
            <a:spLocks noGrp="1" noChangeArrowheads="1"/>
          </p:cNvSpPr>
          <p:nvPr>
            <p:ph type="body" idx="1"/>
          </p:nvPr>
        </p:nvSpPr>
        <p:spPr>
          <a:xfrm>
            <a:off x="457200" y="1066800"/>
            <a:ext cx="8229600" cy="4724400"/>
          </a:xfrm>
        </p:spPr>
        <p:txBody>
          <a:bodyPr/>
          <a:lstStyle/>
          <a:p>
            <a:pPr eaLnBrk="1" hangingPunct="1">
              <a:buFont typeface="Wingdings" panose="05000000000000000000" pitchFamily="2" charset="2"/>
              <a:buNone/>
            </a:pPr>
            <a:r>
              <a:rPr lang="en-US" altLang="en-US" i="1" smtClean="0"/>
              <a:t>   </a:t>
            </a:r>
            <a:r>
              <a:rPr lang="en-US" altLang="en-US" sz="2800" i="1" smtClean="0">
                <a:solidFill>
                  <a:schemeClr val="tx2"/>
                </a:solidFill>
              </a:rPr>
              <a:t>The process of representing the solution in the form of a </a:t>
            </a:r>
            <a:r>
              <a:rPr lang="en-US" altLang="en-US" sz="2800" b="1" i="1" smtClean="0">
                <a:solidFill>
                  <a:schemeClr val="tx2"/>
                </a:solidFill>
              </a:rPr>
              <a:t>string</a:t>
            </a:r>
            <a:r>
              <a:rPr lang="en-US" altLang="en-US" sz="2800" i="1" smtClean="0">
                <a:solidFill>
                  <a:schemeClr val="tx2"/>
                </a:solidFill>
              </a:rPr>
              <a:t> that conveys the necessary information.</a:t>
            </a:r>
          </a:p>
          <a:p>
            <a:pPr eaLnBrk="1" hangingPunct="1">
              <a:buFont typeface="Wingdings" panose="05000000000000000000" pitchFamily="2" charset="2"/>
              <a:buNone/>
            </a:pPr>
            <a:endParaRPr lang="en-US" altLang="en-US" i="1" smtClean="0"/>
          </a:p>
          <a:p>
            <a:pPr eaLnBrk="1" hangingPunct="1"/>
            <a:r>
              <a:rPr lang="en-US" altLang="en-US" sz="2400" smtClean="0"/>
              <a:t>Just as in a chromosome, each gene controls a particular characteristic of the individual, similarly, each bit in the string represents a characteristic of the solution.</a:t>
            </a:r>
          </a:p>
          <a:p>
            <a:pPr eaLnBrk="1" hangingPunct="1">
              <a:buFont typeface="Wingdings" panose="05000000000000000000" pitchFamily="2" charset="2"/>
              <a:buNone/>
            </a:pPr>
            <a:endParaRPr lang="en-US" altLang="en-US" sz="2400" smtClean="0"/>
          </a:p>
        </p:txBody>
      </p:sp>
      <p:graphicFrame>
        <p:nvGraphicFramePr>
          <p:cNvPr id="24581"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24582" name="Klip" r:id="rId4" imgW="1423988" imgH="3055938" progId="MS_ClipArt_Gallery.2">
                  <p:embed/>
                </p:oleObj>
              </mc:Choice>
              <mc:Fallback>
                <p:oleObj name="Klip" r:id="rId4" imgW="1423988" imgH="3055938" progId="MS_ClipArt_Gallery.2">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965ACC4-61F6-4017-953A-A4A10532CE1B}" type="slidenum">
              <a:rPr lang="en-US" altLang="en-US" sz="1200" smtClean="0">
                <a:latin typeface="Garamond" panose="02020404030301010803" pitchFamily="18" charset="0"/>
              </a:rPr>
              <a:pPr>
                <a:spcBef>
                  <a:spcPct val="0"/>
                </a:spcBef>
                <a:buClrTx/>
                <a:buSzTx/>
                <a:buFontTx/>
                <a:buNone/>
              </a:pPr>
              <a:t>18</a:t>
            </a:fld>
            <a:endParaRPr lang="en-US" altLang="en-US" sz="1200" smtClean="0">
              <a:latin typeface="Garamond" panose="02020404030301010803" pitchFamily="18" charset="0"/>
            </a:endParaRPr>
          </a:p>
        </p:txBody>
      </p:sp>
      <p:sp>
        <p:nvSpPr>
          <p:cNvPr id="26627" name="Rectangle 2"/>
          <p:cNvSpPr>
            <a:spLocks noGrp="1" noChangeArrowheads="1"/>
          </p:cNvSpPr>
          <p:nvPr>
            <p:ph type="title"/>
          </p:nvPr>
        </p:nvSpPr>
        <p:spPr>
          <a:xfrm>
            <a:off x="457200" y="277813"/>
            <a:ext cx="8229600" cy="560387"/>
          </a:xfrm>
        </p:spPr>
        <p:txBody>
          <a:bodyPr/>
          <a:lstStyle/>
          <a:p>
            <a:pPr algn="ctr" eaLnBrk="1" hangingPunct="1"/>
            <a:r>
              <a:rPr lang="en-US" altLang="en-US" sz="4000" b="1" u="sng" smtClean="0"/>
              <a:t>Encoding Methods</a:t>
            </a:r>
          </a:p>
        </p:txBody>
      </p:sp>
      <p:sp>
        <p:nvSpPr>
          <p:cNvPr id="26628" name="Rectangle 3"/>
          <p:cNvSpPr>
            <a:spLocks noGrp="1" noChangeArrowheads="1"/>
          </p:cNvSpPr>
          <p:nvPr>
            <p:ph type="body" idx="1"/>
          </p:nvPr>
        </p:nvSpPr>
        <p:spPr>
          <a:xfrm>
            <a:off x="457200" y="1447800"/>
            <a:ext cx="8153400" cy="4572000"/>
          </a:xfrm>
        </p:spPr>
        <p:txBody>
          <a:bodyPr/>
          <a:lstStyle/>
          <a:p>
            <a:pPr eaLnBrk="1" hangingPunct="1"/>
            <a:r>
              <a:rPr lang="en-US" altLang="en-US" sz="2800" b="1" smtClean="0">
                <a:solidFill>
                  <a:schemeClr val="tx2"/>
                </a:solidFill>
              </a:rPr>
              <a:t>Binary Encoding – </a:t>
            </a:r>
            <a:r>
              <a:rPr lang="en-US" altLang="en-US" sz="2400" smtClean="0"/>
              <a:t>Most common method of encoding. Chromosomes are strings of 1s and 0s and each position in the chromosome represents a particular characteristic of the problem.</a:t>
            </a:r>
          </a:p>
          <a:p>
            <a:pPr eaLnBrk="1" hangingPunct="1">
              <a:buFont typeface="Wingdings" panose="05000000000000000000" pitchFamily="2" charset="2"/>
              <a:buNone/>
            </a:pPr>
            <a:endParaRPr lang="en-US" altLang="en-US" sz="2400" smtClean="0"/>
          </a:p>
          <a:p>
            <a:pPr eaLnBrk="1" hangingPunct="1">
              <a:buFont typeface="Wingdings" panose="05000000000000000000" pitchFamily="2" charset="2"/>
              <a:buNone/>
            </a:pPr>
            <a:endParaRPr lang="en-US" altLang="en-US" sz="2000" smtClean="0"/>
          </a:p>
          <a:p>
            <a:pPr eaLnBrk="1" hangingPunct="1">
              <a:buFont typeface="Wingdings" panose="05000000000000000000" pitchFamily="2" charset="2"/>
              <a:buNone/>
            </a:pPr>
            <a:endParaRPr lang="en-US" altLang="en-US" sz="2000" smtClean="0"/>
          </a:p>
          <a:p>
            <a:pPr eaLnBrk="1" hangingPunct="1"/>
            <a:endParaRPr lang="en-US" altLang="en-US" sz="2400" b="1" smtClean="0">
              <a:solidFill>
                <a:schemeClr val="tx2"/>
              </a:solidFill>
            </a:endParaRPr>
          </a:p>
        </p:txBody>
      </p:sp>
      <p:grpSp>
        <p:nvGrpSpPr>
          <p:cNvPr id="26629" name="Group 123"/>
          <p:cNvGrpSpPr>
            <a:grpSpLocks/>
          </p:cNvGrpSpPr>
          <p:nvPr/>
        </p:nvGrpSpPr>
        <p:grpSpPr bwMode="auto">
          <a:xfrm>
            <a:off x="1905000" y="3700463"/>
            <a:ext cx="5105400" cy="795337"/>
            <a:chOff x="1344" y="987"/>
            <a:chExt cx="3216" cy="501"/>
          </a:xfrm>
        </p:grpSpPr>
        <p:sp>
          <p:nvSpPr>
            <p:cNvPr id="26631" name="Rectangle 5"/>
            <p:cNvSpPr>
              <a:spLocks noChangeArrowheads="1"/>
            </p:cNvSpPr>
            <p:nvPr/>
          </p:nvSpPr>
          <p:spPr bwMode="auto">
            <a:xfrm>
              <a:off x="2640" y="1236"/>
              <a:ext cx="192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sz="2000" b="0"/>
                <a:t>11111110000000011111</a:t>
              </a:r>
              <a:endParaRPr lang="en-US" altLang="en-US" sz="1500" b="0"/>
            </a:p>
          </p:txBody>
        </p:sp>
        <p:sp>
          <p:nvSpPr>
            <p:cNvPr id="26632" name="Rectangle 6"/>
            <p:cNvSpPr>
              <a:spLocks noChangeArrowheads="1"/>
            </p:cNvSpPr>
            <p:nvPr/>
          </p:nvSpPr>
          <p:spPr bwMode="auto">
            <a:xfrm>
              <a:off x="1344" y="1236"/>
              <a:ext cx="129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sz="2000" b="0"/>
                <a:t>Chromosome B</a:t>
              </a:r>
              <a:endParaRPr lang="en-US" altLang="en-US" sz="1500" b="0"/>
            </a:p>
          </p:txBody>
        </p:sp>
        <p:sp>
          <p:nvSpPr>
            <p:cNvPr id="26633" name="Rectangle 7"/>
            <p:cNvSpPr>
              <a:spLocks noChangeArrowheads="1"/>
            </p:cNvSpPr>
            <p:nvPr/>
          </p:nvSpPr>
          <p:spPr bwMode="auto">
            <a:xfrm>
              <a:off x="2640" y="987"/>
              <a:ext cx="192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sz="2000" b="0"/>
                <a:t>10110010110011100101</a:t>
              </a:r>
              <a:endParaRPr lang="en-US" altLang="en-US" sz="1500" b="0"/>
            </a:p>
          </p:txBody>
        </p:sp>
        <p:sp>
          <p:nvSpPr>
            <p:cNvPr id="26634" name="Rectangle 8"/>
            <p:cNvSpPr>
              <a:spLocks noChangeArrowheads="1"/>
            </p:cNvSpPr>
            <p:nvPr/>
          </p:nvSpPr>
          <p:spPr bwMode="auto">
            <a:xfrm>
              <a:off x="1344" y="987"/>
              <a:ext cx="1296"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sz="2000" b="0"/>
                <a:t>Chromosome A</a:t>
              </a:r>
            </a:p>
          </p:txBody>
        </p:sp>
        <p:sp>
          <p:nvSpPr>
            <p:cNvPr id="26635" name="Line 9"/>
            <p:cNvSpPr>
              <a:spLocks noChangeShapeType="1"/>
            </p:cNvSpPr>
            <p:nvPr/>
          </p:nvSpPr>
          <p:spPr bwMode="auto">
            <a:xfrm>
              <a:off x="1344" y="987"/>
              <a:ext cx="1296"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6636" name="Line 10"/>
            <p:cNvSpPr>
              <a:spLocks noChangeShapeType="1"/>
            </p:cNvSpPr>
            <p:nvPr/>
          </p:nvSpPr>
          <p:spPr bwMode="auto">
            <a:xfrm>
              <a:off x="1344" y="1236"/>
              <a:ext cx="3216"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6637" name="Line 11"/>
            <p:cNvSpPr>
              <a:spLocks noChangeShapeType="1"/>
            </p:cNvSpPr>
            <p:nvPr/>
          </p:nvSpPr>
          <p:spPr bwMode="auto">
            <a:xfrm>
              <a:off x="1344" y="1488"/>
              <a:ext cx="3216"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6638" name="Line 12"/>
            <p:cNvSpPr>
              <a:spLocks noChangeShapeType="1"/>
            </p:cNvSpPr>
            <p:nvPr/>
          </p:nvSpPr>
          <p:spPr bwMode="auto">
            <a:xfrm>
              <a:off x="1344" y="987"/>
              <a:ext cx="0" cy="501"/>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6639" name="Line 13"/>
            <p:cNvSpPr>
              <a:spLocks noChangeShapeType="1"/>
            </p:cNvSpPr>
            <p:nvPr/>
          </p:nvSpPr>
          <p:spPr bwMode="auto">
            <a:xfrm>
              <a:off x="2640" y="987"/>
              <a:ext cx="0" cy="501"/>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6640" name="Line 14"/>
            <p:cNvSpPr>
              <a:spLocks noChangeShapeType="1"/>
            </p:cNvSpPr>
            <p:nvPr/>
          </p:nvSpPr>
          <p:spPr bwMode="auto">
            <a:xfrm>
              <a:off x="4560" y="987"/>
              <a:ext cx="0" cy="501"/>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6641" name="Line 15"/>
            <p:cNvSpPr>
              <a:spLocks noChangeShapeType="1"/>
            </p:cNvSpPr>
            <p:nvPr/>
          </p:nvSpPr>
          <p:spPr bwMode="auto">
            <a:xfrm>
              <a:off x="2640" y="987"/>
              <a:ext cx="192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grpSp>
      <p:graphicFrame>
        <p:nvGraphicFramePr>
          <p:cNvPr id="26630"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26642"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AA54772-C617-4572-A5C4-347780D8839D}" type="slidenum">
              <a:rPr lang="en-US" altLang="en-US" sz="1200" smtClean="0">
                <a:latin typeface="Garamond" panose="02020404030301010803" pitchFamily="18" charset="0"/>
              </a:rPr>
              <a:pPr>
                <a:spcBef>
                  <a:spcPct val="0"/>
                </a:spcBef>
                <a:buClrTx/>
                <a:buSzTx/>
                <a:buFontTx/>
                <a:buNone/>
              </a:pPr>
              <a:t>19</a:t>
            </a:fld>
            <a:endParaRPr lang="en-US" altLang="en-US" sz="1200" smtClean="0">
              <a:latin typeface="Garamond" panose="02020404030301010803" pitchFamily="18" charset="0"/>
            </a:endParaRPr>
          </a:p>
        </p:txBody>
      </p:sp>
      <p:sp>
        <p:nvSpPr>
          <p:cNvPr id="27651" name="Rectangle 2"/>
          <p:cNvSpPr>
            <a:spLocks noGrp="1" noChangeArrowheads="1"/>
          </p:cNvSpPr>
          <p:nvPr>
            <p:ph type="title"/>
          </p:nvPr>
        </p:nvSpPr>
        <p:spPr/>
        <p:txBody>
          <a:bodyPr/>
          <a:lstStyle/>
          <a:p>
            <a:pPr algn="ctr" eaLnBrk="1" hangingPunct="1"/>
            <a:r>
              <a:rPr lang="en-US" altLang="en-US" sz="4000" b="1" u="sng" smtClean="0"/>
              <a:t>Encoding Methods (contd.)</a:t>
            </a:r>
          </a:p>
        </p:txBody>
      </p:sp>
      <p:sp>
        <p:nvSpPr>
          <p:cNvPr id="27652" name="Rectangle 3"/>
          <p:cNvSpPr>
            <a:spLocks noGrp="1" noChangeArrowheads="1"/>
          </p:cNvSpPr>
          <p:nvPr>
            <p:ph type="body" idx="1"/>
          </p:nvPr>
        </p:nvSpPr>
        <p:spPr>
          <a:xfrm>
            <a:off x="457200" y="1371600"/>
            <a:ext cx="8229600" cy="4759325"/>
          </a:xfrm>
        </p:spPr>
        <p:txBody>
          <a:bodyPr/>
          <a:lstStyle/>
          <a:p>
            <a:pPr eaLnBrk="1" hangingPunct="1"/>
            <a:r>
              <a:rPr lang="en-US" altLang="en-US" sz="2800" b="1" smtClean="0">
                <a:solidFill>
                  <a:schemeClr val="tx2"/>
                </a:solidFill>
              </a:rPr>
              <a:t>Permutation Encoding –</a:t>
            </a:r>
            <a:r>
              <a:rPr lang="en-US" altLang="en-US" sz="2900" b="1" smtClean="0">
                <a:solidFill>
                  <a:schemeClr val="tx2"/>
                </a:solidFill>
              </a:rPr>
              <a:t> </a:t>
            </a:r>
            <a:r>
              <a:rPr lang="en-US" altLang="en-US" sz="2400" smtClean="0"/>
              <a:t>Useful in ordering problems such as the Traveling Salesman Problem (TSP). Example. In TSP, every chromosome is a string of numbers, each of which represents  a city to be visited.</a:t>
            </a:r>
          </a:p>
          <a:p>
            <a:pPr eaLnBrk="1" hangingPunct="1">
              <a:buFont typeface="Wingdings" panose="05000000000000000000" pitchFamily="2" charset="2"/>
              <a:buNone/>
            </a:pPr>
            <a:endParaRPr lang="en-US" altLang="en-US" smtClean="0"/>
          </a:p>
        </p:txBody>
      </p:sp>
      <p:grpSp>
        <p:nvGrpSpPr>
          <p:cNvPr id="27653" name="Group 5"/>
          <p:cNvGrpSpPr>
            <a:grpSpLocks/>
          </p:cNvGrpSpPr>
          <p:nvPr/>
        </p:nvGrpSpPr>
        <p:grpSpPr bwMode="auto">
          <a:xfrm>
            <a:off x="2133600" y="4210050"/>
            <a:ext cx="5105400" cy="828675"/>
            <a:chOff x="1344" y="3213"/>
            <a:chExt cx="3216" cy="522"/>
          </a:xfrm>
        </p:grpSpPr>
        <p:sp>
          <p:nvSpPr>
            <p:cNvPr id="27655" name="Rectangle 6"/>
            <p:cNvSpPr>
              <a:spLocks noChangeArrowheads="1"/>
            </p:cNvSpPr>
            <p:nvPr/>
          </p:nvSpPr>
          <p:spPr bwMode="auto">
            <a:xfrm>
              <a:off x="2640" y="3465"/>
              <a:ext cx="192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sz="2000" b="0"/>
                <a:t>8  5  6  7  2  3  1  4  9</a:t>
              </a:r>
            </a:p>
          </p:txBody>
        </p:sp>
        <p:sp>
          <p:nvSpPr>
            <p:cNvPr id="27656" name="Rectangle 7"/>
            <p:cNvSpPr>
              <a:spLocks noChangeArrowheads="1"/>
            </p:cNvSpPr>
            <p:nvPr/>
          </p:nvSpPr>
          <p:spPr bwMode="auto">
            <a:xfrm>
              <a:off x="1344" y="3465"/>
              <a:ext cx="1296"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sz="2000" b="0"/>
                <a:t>Chromosome B</a:t>
              </a:r>
              <a:endParaRPr lang="en-US" altLang="en-US" sz="1500" b="0"/>
            </a:p>
          </p:txBody>
        </p:sp>
        <p:sp>
          <p:nvSpPr>
            <p:cNvPr id="27657" name="Rectangle 8"/>
            <p:cNvSpPr>
              <a:spLocks noChangeArrowheads="1"/>
            </p:cNvSpPr>
            <p:nvPr/>
          </p:nvSpPr>
          <p:spPr bwMode="auto">
            <a:xfrm>
              <a:off x="2640" y="3216"/>
              <a:ext cx="1920"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sz="2000" b="0"/>
                <a:t>1  5  3  2  6  4  7  9  8</a:t>
              </a:r>
            </a:p>
          </p:txBody>
        </p:sp>
        <p:sp>
          <p:nvSpPr>
            <p:cNvPr id="27658" name="Rectangle 9"/>
            <p:cNvSpPr>
              <a:spLocks noChangeArrowheads="1"/>
            </p:cNvSpPr>
            <p:nvPr/>
          </p:nvSpPr>
          <p:spPr bwMode="auto">
            <a:xfrm>
              <a:off x="1344" y="3216"/>
              <a:ext cx="1296"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sz="2000" b="0"/>
                <a:t>Chromosome A</a:t>
              </a:r>
            </a:p>
          </p:txBody>
        </p:sp>
        <p:sp>
          <p:nvSpPr>
            <p:cNvPr id="27659" name="Line 10"/>
            <p:cNvSpPr>
              <a:spLocks noChangeShapeType="1"/>
            </p:cNvSpPr>
            <p:nvPr/>
          </p:nvSpPr>
          <p:spPr bwMode="auto">
            <a:xfrm>
              <a:off x="1344" y="3213"/>
              <a:ext cx="1296"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7660" name="Line 11"/>
            <p:cNvSpPr>
              <a:spLocks noChangeShapeType="1"/>
            </p:cNvSpPr>
            <p:nvPr/>
          </p:nvSpPr>
          <p:spPr bwMode="auto">
            <a:xfrm>
              <a:off x="1344" y="3465"/>
              <a:ext cx="3216"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7661" name="Line 12"/>
            <p:cNvSpPr>
              <a:spLocks noChangeShapeType="1"/>
            </p:cNvSpPr>
            <p:nvPr/>
          </p:nvSpPr>
          <p:spPr bwMode="auto">
            <a:xfrm>
              <a:off x="1344" y="3735"/>
              <a:ext cx="3216"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7662" name="Line 13"/>
            <p:cNvSpPr>
              <a:spLocks noChangeShapeType="1"/>
            </p:cNvSpPr>
            <p:nvPr/>
          </p:nvSpPr>
          <p:spPr bwMode="auto">
            <a:xfrm>
              <a:off x="1344" y="3216"/>
              <a:ext cx="0" cy="498"/>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7663" name="Line 14"/>
            <p:cNvSpPr>
              <a:spLocks noChangeShapeType="1"/>
            </p:cNvSpPr>
            <p:nvPr/>
          </p:nvSpPr>
          <p:spPr bwMode="auto">
            <a:xfrm>
              <a:off x="2640" y="3216"/>
              <a:ext cx="0" cy="498"/>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7664" name="Line 15"/>
            <p:cNvSpPr>
              <a:spLocks noChangeShapeType="1"/>
            </p:cNvSpPr>
            <p:nvPr/>
          </p:nvSpPr>
          <p:spPr bwMode="auto">
            <a:xfrm>
              <a:off x="4560" y="3216"/>
              <a:ext cx="0" cy="498"/>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7665" name="Line 16"/>
            <p:cNvSpPr>
              <a:spLocks noChangeShapeType="1"/>
            </p:cNvSpPr>
            <p:nvPr/>
          </p:nvSpPr>
          <p:spPr bwMode="auto">
            <a:xfrm>
              <a:off x="2640" y="3216"/>
              <a:ext cx="1920"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grpSp>
      <p:graphicFrame>
        <p:nvGraphicFramePr>
          <p:cNvPr id="27654"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27666"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B598284-4216-40B6-868B-D64C8AE902A3}" type="slidenum">
              <a:rPr lang="en-US" altLang="en-US" sz="1200" smtClean="0">
                <a:latin typeface="Garamond" panose="02020404030301010803" pitchFamily="18" charset="0"/>
              </a:rPr>
              <a:pPr>
                <a:spcBef>
                  <a:spcPct val="0"/>
                </a:spcBef>
                <a:buClrTx/>
                <a:buSzTx/>
                <a:buFontTx/>
                <a:buNone/>
              </a:pPr>
              <a:t>20</a:t>
            </a:fld>
            <a:endParaRPr lang="en-US" altLang="en-US" sz="1200" smtClean="0">
              <a:latin typeface="Garamond" panose="02020404030301010803" pitchFamily="18" charset="0"/>
            </a:endParaRPr>
          </a:p>
        </p:txBody>
      </p:sp>
      <p:sp>
        <p:nvSpPr>
          <p:cNvPr id="28675" name="Rectangle 2"/>
          <p:cNvSpPr>
            <a:spLocks noGrp="1" noChangeArrowheads="1"/>
          </p:cNvSpPr>
          <p:nvPr>
            <p:ph type="title"/>
          </p:nvPr>
        </p:nvSpPr>
        <p:spPr>
          <a:xfrm>
            <a:off x="457200" y="277813"/>
            <a:ext cx="8229600" cy="1017587"/>
          </a:xfrm>
        </p:spPr>
        <p:txBody>
          <a:bodyPr/>
          <a:lstStyle/>
          <a:p>
            <a:pPr algn="ctr" eaLnBrk="1" hangingPunct="1"/>
            <a:r>
              <a:rPr lang="en-US" altLang="en-US" sz="4000" b="1" u="sng" smtClean="0"/>
              <a:t>Encoding Methods </a:t>
            </a:r>
            <a:r>
              <a:rPr lang="en-US" altLang="en-US" sz="4000" b="1" smtClean="0"/>
              <a:t>(contd.)</a:t>
            </a:r>
          </a:p>
        </p:txBody>
      </p:sp>
      <p:sp>
        <p:nvSpPr>
          <p:cNvPr id="28676" name="Rectangle 3"/>
          <p:cNvSpPr>
            <a:spLocks noGrp="1" noChangeArrowheads="1"/>
          </p:cNvSpPr>
          <p:nvPr>
            <p:ph type="body" idx="1"/>
          </p:nvPr>
        </p:nvSpPr>
        <p:spPr>
          <a:xfrm>
            <a:off x="457200" y="1524000"/>
            <a:ext cx="8229600" cy="4606925"/>
          </a:xfrm>
        </p:spPr>
        <p:txBody>
          <a:bodyPr/>
          <a:lstStyle/>
          <a:p>
            <a:pPr eaLnBrk="1" hangingPunct="1"/>
            <a:r>
              <a:rPr lang="en-US" altLang="en-US" sz="2800" b="1" smtClean="0">
                <a:solidFill>
                  <a:schemeClr val="tx2"/>
                </a:solidFill>
              </a:rPr>
              <a:t>Value Encoding</a:t>
            </a:r>
            <a:r>
              <a:rPr lang="en-US" altLang="en-US" sz="2400" b="1" smtClean="0">
                <a:solidFill>
                  <a:schemeClr val="tx2"/>
                </a:solidFill>
              </a:rPr>
              <a:t> </a:t>
            </a:r>
            <a:r>
              <a:rPr lang="en-US" altLang="en-US" sz="2900" b="1" smtClean="0">
                <a:solidFill>
                  <a:schemeClr val="tx2"/>
                </a:solidFill>
              </a:rPr>
              <a:t>– </a:t>
            </a:r>
            <a:r>
              <a:rPr lang="en-US" altLang="en-US" sz="2400" smtClean="0"/>
              <a:t>Used in problems where complicated values, such as real numbers, are used and where binary encoding would not suffice.</a:t>
            </a:r>
          </a:p>
          <a:p>
            <a:pPr eaLnBrk="1" hangingPunct="1">
              <a:buFont typeface="Wingdings" panose="05000000000000000000" pitchFamily="2" charset="2"/>
              <a:buNone/>
            </a:pPr>
            <a:r>
              <a:rPr lang="en-US" altLang="en-US" sz="2400" smtClean="0"/>
              <a:t>    Good for some problems, but </a:t>
            </a:r>
            <a:r>
              <a:rPr lang="en-US" altLang="en-US" sz="2400" i="1" smtClean="0">
                <a:solidFill>
                  <a:srgbClr val="CC3300"/>
                </a:solidFill>
              </a:rPr>
              <a:t>often necessary to develop some specific crossover and mutation techniques for these chromosomes.</a:t>
            </a:r>
            <a:r>
              <a:rPr lang="en-US" altLang="en-US" i="1" smtClean="0">
                <a:solidFill>
                  <a:srgbClr val="CC3300"/>
                </a:solidFill>
              </a:rPr>
              <a:t> </a:t>
            </a:r>
          </a:p>
          <a:p>
            <a:pPr eaLnBrk="1" hangingPunct="1">
              <a:buFont typeface="Wingdings" panose="05000000000000000000" pitchFamily="2" charset="2"/>
              <a:buNone/>
            </a:pPr>
            <a:endParaRPr lang="en-US" altLang="en-US" i="1" smtClean="0">
              <a:solidFill>
                <a:srgbClr val="CC3300"/>
              </a:solidFill>
            </a:endParaRPr>
          </a:p>
        </p:txBody>
      </p:sp>
      <p:grpSp>
        <p:nvGrpSpPr>
          <p:cNvPr id="28677" name="Group 4"/>
          <p:cNvGrpSpPr>
            <a:grpSpLocks/>
          </p:cNvGrpSpPr>
          <p:nvPr/>
        </p:nvGrpSpPr>
        <p:grpSpPr bwMode="auto">
          <a:xfrm>
            <a:off x="1600200" y="4343400"/>
            <a:ext cx="6324600" cy="852488"/>
            <a:chOff x="1344" y="3024"/>
            <a:chExt cx="3984" cy="537"/>
          </a:xfrm>
        </p:grpSpPr>
        <p:sp>
          <p:nvSpPr>
            <p:cNvPr id="28679" name="Rectangle 5"/>
            <p:cNvSpPr>
              <a:spLocks noChangeArrowheads="1"/>
            </p:cNvSpPr>
            <p:nvPr/>
          </p:nvSpPr>
          <p:spPr bwMode="auto">
            <a:xfrm>
              <a:off x="2672" y="3312"/>
              <a:ext cx="2656"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en-US" sz="2000" b="0"/>
                <a:t>(left), (back), (left), (right), (forward)</a:t>
              </a:r>
            </a:p>
          </p:txBody>
        </p:sp>
        <p:sp>
          <p:nvSpPr>
            <p:cNvPr id="28680" name="Rectangle 6"/>
            <p:cNvSpPr>
              <a:spLocks noChangeArrowheads="1"/>
            </p:cNvSpPr>
            <p:nvPr/>
          </p:nvSpPr>
          <p:spPr bwMode="auto">
            <a:xfrm>
              <a:off x="1344" y="3312"/>
              <a:ext cx="1328"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en-US" sz="2000" b="0"/>
                <a:t>Chromosome B</a:t>
              </a:r>
              <a:endParaRPr lang="en-US" altLang="en-US" sz="1500" b="0"/>
            </a:p>
          </p:txBody>
        </p:sp>
        <p:sp>
          <p:nvSpPr>
            <p:cNvPr id="28681" name="Rectangle 7"/>
            <p:cNvSpPr>
              <a:spLocks noChangeArrowheads="1"/>
            </p:cNvSpPr>
            <p:nvPr/>
          </p:nvSpPr>
          <p:spPr bwMode="auto">
            <a:xfrm>
              <a:off x="2672" y="3024"/>
              <a:ext cx="265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buFont typeface="Wingdings" panose="05000000000000000000" pitchFamily="2" charset="2"/>
                <a:buNone/>
              </a:pPr>
              <a:r>
                <a:rPr lang="en-US" altLang="en-US" sz="2000" b="0"/>
                <a:t>1.235  5.323  0.454  2.321  2.454</a:t>
              </a:r>
            </a:p>
          </p:txBody>
        </p:sp>
        <p:sp>
          <p:nvSpPr>
            <p:cNvPr id="28682" name="Rectangle 8"/>
            <p:cNvSpPr>
              <a:spLocks noChangeArrowheads="1"/>
            </p:cNvSpPr>
            <p:nvPr/>
          </p:nvSpPr>
          <p:spPr bwMode="auto">
            <a:xfrm>
              <a:off x="1344" y="3024"/>
              <a:ext cx="132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buFont typeface="Wingdings" panose="05000000000000000000" pitchFamily="2" charset="2"/>
                <a:buNone/>
              </a:pPr>
              <a:r>
                <a:rPr lang="en-US" altLang="en-US" sz="2000" b="0"/>
                <a:t>Chromosome A</a:t>
              </a:r>
            </a:p>
          </p:txBody>
        </p:sp>
        <p:sp>
          <p:nvSpPr>
            <p:cNvPr id="28683" name="Line 9"/>
            <p:cNvSpPr>
              <a:spLocks noChangeShapeType="1"/>
            </p:cNvSpPr>
            <p:nvPr/>
          </p:nvSpPr>
          <p:spPr bwMode="auto">
            <a:xfrm>
              <a:off x="1344" y="3024"/>
              <a:ext cx="1328" cy="0"/>
            </a:xfrm>
            <a:prstGeom prst="line">
              <a:avLst/>
            </a:prstGeom>
            <a:noFill/>
            <a:ln w="2857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8684" name="Line 10"/>
            <p:cNvSpPr>
              <a:spLocks noChangeShapeType="1"/>
            </p:cNvSpPr>
            <p:nvPr/>
          </p:nvSpPr>
          <p:spPr bwMode="auto">
            <a:xfrm>
              <a:off x="1344" y="3312"/>
              <a:ext cx="3984" cy="0"/>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8685" name="Line 11"/>
            <p:cNvSpPr>
              <a:spLocks noChangeShapeType="1"/>
            </p:cNvSpPr>
            <p:nvPr/>
          </p:nvSpPr>
          <p:spPr bwMode="auto">
            <a:xfrm>
              <a:off x="1344" y="3561"/>
              <a:ext cx="3984"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8686" name="Line 12"/>
            <p:cNvSpPr>
              <a:spLocks noChangeShapeType="1"/>
            </p:cNvSpPr>
            <p:nvPr/>
          </p:nvSpPr>
          <p:spPr bwMode="auto">
            <a:xfrm>
              <a:off x="1344" y="3024"/>
              <a:ext cx="0" cy="537"/>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8687" name="Line 13"/>
            <p:cNvSpPr>
              <a:spLocks noChangeShapeType="1"/>
            </p:cNvSpPr>
            <p:nvPr/>
          </p:nvSpPr>
          <p:spPr bwMode="auto">
            <a:xfrm>
              <a:off x="2672" y="3024"/>
              <a:ext cx="0" cy="537"/>
            </a:xfrm>
            <a:prstGeom prst="line">
              <a:avLst/>
            </a:prstGeom>
            <a:noFill/>
            <a:ln w="12700">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8688" name="Line 14"/>
            <p:cNvSpPr>
              <a:spLocks noChangeShapeType="1"/>
            </p:cNvSpPr>
            <p:nvPr/>
          </p:nvSpPr>
          <p:spPr bwMode="auto">
            <a:xfrm>
              <a:off x="5328" y="3024"/>
              <a:ext cx="0" cy="537"/>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sp>
          <p:nvSpPr>
            <p:cNvPr id="28689" name="Line 15"/>
            <p:cNvSpPr>
              <a:spLocks noChangeShapeType="1"/>
            </p:cNvSpPr>
            <p:nvPr/>
          </p:nvSpPr>
          <p:spPr bwMode="auto">
            <a:xfrm>
              <a:off x="2672" y="3024"/>
              <a:ext cx="2656" cy="0"/>
            </a:xfrm>
            <a:prstGeom prst="line">
              <a:avLst/>
            </a:prstGeom>
            <a:noFill/>
            <a:ln w="28575" cap="sq">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en-US"/>
            </a:p>
          </p:txBody>
        </p:sp>
      </p:grpSp>
      <p:graphicFrame>
        <p:nvGraphicFramePr>
          <p:cNvPr id="28678"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28690"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945F0C8B-2469-4BF4-93FA-E429340FC874}" type="slidenum">
              <a:rPr lang="en-US" altLang="en-US" sz="1200" smtClean="0">
                <a:latin typeface="Garamond" panose="02020404030301010803" pitchFamily="18" charset="0"/>
              </a:rPr>
              <a:pPr>
                <a:spcBef>
                  <a:spcPct val="0"/>
                </a:spcBef>
                <a:buClrTx/>
                <a:buSzTx/>
                <a:buFontTx/>
                <a:buNone/>
              </a:pPr>
              <a:t>21</a:t>
            </a:fld>
            <a:endParaRPr lang="en-US" altLang="en-US" sz="1200" smtClean="0">
              <a:latin typeface="Garamond" panose="02020404030301010803" pitchFamily="18" charset="0"/>
            </a:endParaRPr>
          </a:p>
        </p:txBody>
      </p:sp>
      <p:sp>
        <p:nvSpPr>
          <p:cNvPr id="29699" name="Rectangle 2"/>
          <p:cNvSpPr>
            <a:spLocks noGrp="1" noChangeArrowheads="1"/>
          </p:cNvSpPr>
          <p:nvPr>
            <p:ph type="title"/>
          </p:nvPr>
        </p:nvSpPr>
        <p:spPr>
          <a:xfrm>
            <a:off x="457200" y="228600"/>
            <a:ext cx="8077200" cy="636588"/>
          </a:xfrm>
        </p:spPr>
        <p:txBody>
          <a:bodyPr/>
          <a:lstStyle/>
          <a:p>
            <a:pPr algn="ctr" eaLnBrk="1" hangingPunct="1"/>
            <a:r>
              <a:rPr lang="en-US" altLang="en-US" sz="4000" b="1" u="sng" smtClean="0"/>
              <a:t>Fitness Function</a:t>
            </a:r>
            <a:r>
              <a:rPr lang="en-US" altLang="en-US" sz="3800" smtClean="0"/>
              <a:t/>
            </a:r>
            <a:br>
              <a:rPr lang="en-US" altLang="en-US" sz="3800" smtClean="0"/>
            </a:br>
            <a:endParaRPr lang="en-US" altLang="en-US" sz="3800" smtClean="0"/>
          </a:p>
        </p:txBody>
      </p:sp>
      <p:sp>
        <p:nvSpPr>
          <p:cNvPr id="29700" name="Rectangle 3"/>
          <p:cNvSpPr>
            <a:spLocks noGrp="1" noChangeArrowheads="1"/>
          </p:cNvSpPr>
          <p:nvPr>
            <p:ph type="body" idx="1"/>
          </p:nvPr>
        </p:nvSpPr>
        <p:spPr>
          <a:xfrm>
            <a:off x="457200" y="909638"/>
            <a:ext cx="8229600" cy="5257800"/>
          </a:xfrm>
        </p:spPr>
        <p:txBody>
          <a:bodyPr/>
          <a:lstStyle/>
          <a:p>
            <a:pPr eaLnBrk="1" hangingPunct="1">
              <a:lnSpc>
                <a:spcPct val="90000"/>
              </a:lnSpc>
              <a:buFont typeface="Wingdings" panose="05000000000000000000" pitchFamily="2" charset="2"/>
              <a:buNone/>
            </a:pPr>
            <a:r>
              <a:rPr lang="en-US" altLang="en-US" sz="3700" i="1" smtClean="0">
                <a:solidFill>
                  <a:schemeClr val="tx2"/>
                </a:solidFill>
              </a:rPr>
              <a:t> </a:t>
            </a:r>
            <a:r>
              <a:rPr lang="en-US" altLang="en-US" smtClean="0">
                <a:solidFill>
                  <a:schemeClr val="hlink"/>
                </a:solidFill>
              </a:rPr>
              <a:t>  </a:t>
            </a:r>
            <a:r>
              <a:rPr lang="en-US" altLang="en-US" sz="2800" i="1" smtClean="0">
                <a:solidFill>
                  <a:schemeClr val="tx2"/>
                </a:solidFill>
              </a:rPr>
              <a:t>A fitness function quantifies the optimality of a solution (chromosome) so that that particular solution may be ranked against all the other solutions. </a:t>
            </a:r>
          </a:p>
          <a:p>
            <a:pPr eaLnBrk="1" hangingPunct="1">
              <a:lnSpc>
                <a:spcPct val="90000"/>
              </a:lnSpc>
            </a:pPr>
            <a:r>
              <a:rPr lang="en-US" altLang="en-US" smtClean="0"/>
              <a:t> </a:t>
            </a:r>
            <a:r>
              <a:rPr lang="en-US" altLang="en-US" sz="2400" smtClean="0"/>
              <a:t>A fitness value is assigned to each solution depending on how close it actually is to solving the problem. </a:t>
            </a:r>
          </a:p>
          <a:p>
            <a:pPr eaLnBrk="1" hangingPunct="1">
              <a:lnSpc>
                <a:spcPct val="90000"/>
              </a:lnSpc>
              <a:buFont typeface="Wingdings" panose="05000000000000000000" pitchFamily="2" charset="2"/>
              <a:buNone/>
            </a:pPr>
            <a:endParaRPr lang="en-US" altLang="en-US" sz="2400" smtClean="0"/>
          </a:p>
          <a:p>
            <a:pPr eaLnBrk="1" hangingPunct="1">
              <a:lnSpc>
                <a:spcPct val="90000"/>
              </a:lnSpc>
            </a:pPr>
            <a:r>
              <a:rPr lang="en-US" altLang="en-US" sz="2400" smtClean="0"/>
              <a:t> Ideal fitness function correlates closely to goal + quickly computable.</a:t>
            </a:r>
          </a:p>
          <a:p>
            <a:pPr eaLnBrk="1" hangingPunct="1">
              <a:lnSpc>
                <a:spcPct val="90000"/>
              </a:lnSpc>
              <a:buFont typeface="Wingdings" panose="05000000000000000000" pitchFamily="2" charset="2"/>
              <a:buNone/>
            </a:pPr>
            <a:endParaRPr lang="en-US" altLang="en-US" sz="2400" smtClean="0"/>
          </a:p>
          <a:p>
            <a:pPr eaLnBrk="1" hangingPunct="1">
              <a:lnSpc>
                <a:spcPct val="90000"/>
              </a:lnSpc>
            </a:pPr>
            <a:r>
              <a:rPr lang="en-US" altLang="en-US" sz="2400" smtClean="0"/>
              <a:t>Example. In TSP, f(x) is sum of distances between the cities in solution. The lesser the value, the fitter the solution is.</a:t>
            </a:r>
          </a:p>
          <a:p>
            <a:pPr eaLnBrk="1" hangingPunct="1">
              <a:lnSpc>
                <a:spcPct val="90000"/>
              </a:lnSpc>
            </a:pPr>
            <a:endParaRPr lang="en-US" altLang="en-US" sz="2400" smtClean="0"/>
          </a:p>
        </p:txBody>
      </p:sp>
      <p:graphicFrame>
        <p:nvGraphicFramePr>
          <p:cNvPr id="29701"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29702"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21252AE-EB2E-412D-A3C8-357A5539935F}" type="slidenum">
              <a:rPr lang="en-US" altLang="en-US" sz="1200" smtClean="0">
                <a:latin typeface="Garamond" panose="02020404030301010803" pitchFamily="18" charset="0"/>
              </a:rPr>
              <a:pPr>
                <a:spcBef>
                  <a:spcPct val="0"/>
                </a:spcBef>
                <a:buClrTx/>
                <a:buSzTx/>
                <a:buFontTx/>
                <a:buNone/>
              </a:pPr>
              <a:t>22</a:t>
            </a:fld>
            <a:endParaRPr lang="en-US" altLang="en-US" sz="1200" smtClean="0">
              <a:latin typeface="Garamond" panose="02020404030301010803" pitchFamily="18" charset="0"/>
            </a:endParaRPr>
          </a:p>
        </p:txBody>
      </p:sp>
      <p:sp>
        <p:nvSpPr>
          <p:cNvPr id="30723" name="Rectangle 2"/>
          <p:cNvSpPr>
            <a:spLocks noGrp="1" noChangeArrowheads="1"/>
          </p:cNvSpPr>
          <p:nvPr>
            <p:ph type="title"/>
          </p:nvPr>
        </p:nvSpPr>
        <p:spPr>
          <a:xfrm>
            <a:off x="457200" y="277813"/>
            <a:ext cx="8229600" cy="712787"/>
          </a:xfrm>
        </p:spPr>
        <p:txBody>
          <a:bodyPr/>
          <a:lstStyle/>
          <a:p>
            <a:pPr algn="ctr" eaLnBrk="1" hangingPunct="1"/>
            <a:r>
              <a:rPr lang="en-US" altLang="en-US" sz="4000" b="1" u="sng" smtClean="0"/>
              <a:t>Recombination</a:t>
            </a:r>
            <a:br>
              <a:rPr lang="en-US" altLang="en-US" sz="4000" b="1" u="sng" smtClean="0"/>
            </a:br>
            <a:endParaRPr lang="en-US" altLang="en-US" sz="4000" b="1" u="sng" smtClean="0"/>
          </a:p>
        </p:txBody>
      </p:sp>
      <p:sp>
        <p:nvSpPr>
          <p:cNvPr id="30724" name="Rectangle 3"/>
          <p:cNvSpPr>
            <a:spLocks noGrp="1" noChangeArrowheads="1"/>
          </p:cNvSpPr>
          <p:nvPr>
            <p:ph type="body" idx="1"/>
          </p:nvPr>
        </p:nvSpPr>
        <p:spPr>
          <a:xfrm>
            <a:off x="457200" y="1219200"/>
            <a:ext cx="8229600" cy="4911725"/>
          </a:xfrm>
        </p:spPr>
        <p:txBody>
          <a:bodyPr/>
          <a:lstStyle/>
          <a:p>
            <a:pPr eaLnBrk="1" hangingPunct="1">
              <a:lnSpc>
                <a:spcPct val="90000"/>
              </a:lnSpc>
              <a:buFont typeface="Wingdings" panose="05000000000000000000" pitchFamily="2" charset="2"/>
              <a:buNone/>
            </a:pPr>
            <a:r>
              <a:rPr lang="en-US" altLang="en-US" b="1" smtClean="0"/>
              <a:t>   </a:t>
            </a:r>
            <a:r>
              <a:rPr lang="en-US" altLang="en-US" sz="2800" i="1" smtClean="0">
                <a:solidFill>
                  <a:schemeClr val="tx2"/>
                </a:solidFill>
              </a:rPr>
              <a:t>The process that determines which solutions are to be preserved and allowed to reproduce and which ones deserve to die out.</a:t>
            </a:r>
          </a:p>
          <a:p>
            <a:pPr eaLnBrk="1" hangingPunct="1">
              <a:lnSpc>
                <a:spcPct val="90000"/>
              </a:lnSpc>
              <a:buFont typeface="Wingdings" panose="05000000000000000000" pitchFamily="2" charset="2"/>
              <a:buNone/>
            </a:pPr>
            <a:endParaRPr lang="en-US" altLang="en-US" sz="2800" i="1" smtClean="0">
              <a:solidFill>
                <a:schemeClr val="tx2"/>
              </a:solidFill>
            </a:endParaRPr>
          </a:p>
          <a:p>
            <a:pPr eaLnBrk="1" hangingPunct="1">
              <a:lnSpc>
                <a:spcPct val="90000"/>
              </a:lnSpc>
            </a:pPr>
            <a:r>
              <a:rPr lang="en-US" altLang="en-US" sz="2400" smtClean="0"/>
              <a:t>The primary objective of the recombination operator is to </a:t>
            </a:r>
            <a:r>
              <a:rPr lang="en-US" altLang="en-US" sz="2400" smtClean="0">
                <a:solidFill>
                  <a:srgbClr val="CC3300"/>
                </a:solidFill>
              </a:rPr>
              <a:t>emphasize the good solutions</a:t>
            </a:r>
            <a:r>
              <a:rPr lang="en-US" altLang="en-US" sz="2400" smtClean="0"/>
              <a:t> and </a:t>
            </a:r>
            <a:r>
              <a:rPr lang="en-US" altLang="en-US" sz="2400" smtClean="0">
                <a:solidFill>
                  <a:srgbClr val="CC3300"/>
                </a:solidFill>
              </a:rPr>
              <a:t>eliminate the bad solutions</a:t>
            </a:r>
            <a:r>
              <a:rPr lang="en-US" altLang="en-US" sz="2400" smtClean="0"/>
              <a:t> in a population, </a:t>
            </a:r>
            <a:r>
              <a:rPr lang="en-US" altLang="en-US" sz="2400" smtClean="0">
                <a:solidFill>
                  <a:srgbClr val="CC3300"/>
                </a:solidFill>
              </a:rPr>
              <a:t>while keeping the population size constant. </a:t>
            </a:r>
          </a:p>
          <a:p>
            <a:pPr eaLnBrk="1" hangingPunct="1">
              <a:lnSpc>
                <a:spcPct val="90000"/>
              </a:lnSpc>
              <a:buFont typeface="Wingdings" panose="05000000000000000000" pitchFamily="2" charset="2"/>
              <a:buNone/>
            </a:pPr>
            <a:endParaRPr lang="en-US" altLang="en-US" sz="2400" smtClean="0">
              <a:solidFill>
                <a:srgbClr val="CC3300"/>
              </a:solidFill>
            </a:endParaRPr>
          </a:p>
          <a:p>
            <a:pPr eaLnBrk="1" hangingPunct="1">
              <a:lnSpc>
                <a:spcPct val="90000"/>
              </a:lnSpc>
            </a:pPr>
            <a:r>
              <a:rPr lang="en-US" altLang="en-US" sz="2400" smtClean="0"/>
              <a:t>“Selects The Best, Discards The Rest”.</a:t>
            </a:r>
          </a:p>
          <a:p>
            <a:pPr eaLnBrk="1" hangingPunct="1">
              <a:lnSpc>
                <a:spcPct val="90000"/>
              </a:lnSpc>
            </a:pPr>
            <a:endParaRPr lang="en-US" altLang="en-US" sz="2400" smtClean="0"/>
          </a:p>
          <a:p>
            <a:pPr eaLnBrk="1" hangingPunct="1">
              <a:lnSpc>
                <a:spcPct val="90000"/>
              </a:lnSpc>
            </a:pPr>
            <a:r>
              <a:rPr lang="en-US" altLang="en-US" sz="2400" smtClean="0"/>
              <a:t>“Recombination” is different from “Reproduction”.</a:t>
            </a:r>
          </a:p>
        </p:txBody>
      </p:sp>
      <p:graphicFrame>
        <p:nvGraphicFramePr>
          <p:cNvPr id="30725"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30726"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A65C30C-443C-4CD2-A4CD-14FD2D1F4D1C}" type="slidenum">
              <a:rPr lang="en-US" altLang="en-US" sz="1200" smtClean="0">
                <a:latin typeface="Garamond" panose="02020404030301010803" pitchFamily="18" charset="0"/>
              </a:rPr>
              <a:pPr>
                <a:spcBef>
                  <a:spcPct val="0"/>
                </a:spcBef>
                <a:buClrTx/>
                <a:buSzTx/>
                <a:buFontTx/>
                <a:buNone/>
              </a:pPr>
              <a:t>23</a:t>
            </a:fld>
            <a:endParaRPr lang="en-US" altLang="en-US" sz="1200" smtClean="0">
              <a:latin typeface="Garamond" panose="02020404030301010803" pitchFamily="18" charset="0"/>
            </a:endParaRPr>
          </a:p>
        </p:txBody>
      </p:sp>
      <p:sp>
        <p:nvSpPr>
          <p:cNvPr id="31747" name="Rectangle 2"/>
          <p:cNvSpPr>
            <a:spLocks noGrp="1" noChangeArrowheads="1"/>
          </p:cNvSpPr>
          <p:nvPr>
            <p:ph type="title"/>
          </p:nvPr>
        </p:nvSpPr>
        <p:spPr/>
        <p:txBody>
          <a:bodyPr/>
          <a:lstStyle/>
          <a:p>
            <a:pPr algn="ctr" eaLnBrk="1" hangingPunct="1"/>
            <a:r>
              <a:rPr lang="en-US" altLang="en-US" sz="4000" b="1" u="sng" smtClean="0"/>
              <a:t>Recombination</a:t>
            </a:r>
          </a:p>
        </p:txBody>
      </p:sp>
      <p:sp>
        <p:nvSpPr>
          <p:cNvPr id="31748" name="Rectangle 3"/>
          <p:cNvSpPr>
            <a:spLocks noGrp="1" noChangeArrowheads="1"/>
          </p:cNvSpPr>
          <p:nvPr>
            <p:ph type="body" idx="1"/>
          </p:nvPr>
        </p:nvSpPr>
        <p:spPr/>
        <p:txBody>
          <a:bodyPr/>
          <a:lstStyle/>
          <a:p>
            <a:pPr marL="609600" indent="-609600" eaLnBrk="1" hangingPunct="1"/>
            <a:r>
              <a:rPr lang="en-US" altLang="en-US" smtClean="0"/>
              <a:t>Identify the good solutions in a population.</a:t>
            </a:r>
          </a:p>
          <a:p>
            <a:pPr marL="609600" indent="-609600" eaLnBrk="1" hangingPunct="1">
              <a:buFont typeface="Wingdings" panose="05000000000000000000" pitchFamily="2" charset="2"/>
              <a:buNone/>
            </a:pPr>
            <a:endParaRPr lang="en-US" altLang="en-US" smtClean="0"/>
          </a:p>
          <a:p>
            <a:pPr marL="609600" indent="-609600" eaLnBrk="1" hangingPunct="1"/>
            <a:r>
              <a:rPr lang="en-US" altLang="en-US" smtClean="0"/>
              <a:t>Make multiple copies of the good solutions.</a:t>
            </a:r>
          </a:p>
          <a:p>
            <a:pPr marL="609600" indent="-609600" eaLnBrk="1" hangingPunct="1">
              <a:buFont typeface="Wingdings" panose="05000000000000000000" pitchFamily="2" charset="2"/>
              <a:buNone/>
            </a:pPr>
            <a:endParaRPr lang="en-US" altLang="en-US" smtClean="0"/>
          </a:p>
          <a:p>
            <a:pPr marL="609600" indent="-609600" eaLnBrk="1" hangingPunct="1"/>
            <a:r>
              <a:rPr lang="en-US" altLang="en-US" smtClean="0"/>
              <a:t>Eliminate bad solutions from the population so that multiple copies of good solutions can be placed in the population.</a:t>
            </a:r>
          </a:p>
        </p:txBody>
      </p:sp>
      <p:graphicFrame>
        <p:nvGraphicFramePr>
          <p:cNvPr id="31749"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31750"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0AC35A5-55F9-4C70-AA41-C2D335617D69}" type="slidenum">
              <a:rPr lang="en-US" altLang="en-US" sz="1200" smtClean="0">
                <a:latin typeface="Garamond" panose="02020404030301010803" pitchFamily="18" charset="0"/>
              </a:rPr>
              <a:pPr>
                <a:spcBef>
                  <a:spcPct val="0"/>
                </a:spcBef>
                <a:buClrTx/>
                <a:buSzTx/>
                <a:buFontTx/>
                <a:buNone/>
              </a:pPr>
              <a:t>24</a:t>
            </a:fld>
            <a:endParaRPr lang="en-US" altLang="en-US" sz="1200" smtClean="0">
              <a:latin typeface="Garamond" panose="02020404030301010803" pitchFamily="18" charset="0"/>
            </a:endParaRPr>
          </a:p>
        </p:txBody>
      </p:sp>
      <p:sp>
        <p:nvSpPr>
          <p:cNvPr id="32771" name="Rectangle 2"/>
          <p:cNvSpPr>
            <a:spLocks noGrp="1" noChangeArrowheads="1"/>
          </p:cNvSpPr>
          <p:nvPr>
            <p:ph type="title"/>
          </p:nvPr>
        </p:nvSpPr>
        <p:spPr>
          <a:xfrm>
            <a:off x="457200" y="277813"/>
            <a:ext cx="8001000" cy="636587"/>
          </a:xfrm>
        </p:spPr>
        <p:txBody>
          <a:bodyPr/>
          <a:lstStyle/>
          <a:p>
            <a:pPr algn="ctr" eaLnBrk="1" hangingPunct="1"/>
            <a:r>
              <a:rPr lang="en-US" altLang="en-US" sz="4000" b="1" u="sng" smtClean="0"/>
              <a:t>Roulette Wheel Selection</a:t>
            </a:r>
            <a:r>
              <a:rPr lang="en-US" altLang="en-US" sz="3800" u="sng" smtClean="0"/>
              <a:t/>
            </a:r>
            <a:br>
              <a:rPr lang="en-US" altLang="en-US" sz="3800" u="sng" smtClean="0"/>
            </a:br>
            <a:endParaRPr lang="en-US" altLang="en-US" sz="3800" u="sng" smtClean="0"/>
          </a:p>
        </p:txBody>
      </p:sp>
      <p:sp>
        <p:nvSpPr>
          <p:cNvPr id="32772" name="Rectangle 3"/>
          <p:cNvSpPr>
            <a:spLocks noGrp="1" noChangeArrowheads="1"/>
          </p:cNvSpPr>
          <p:nvPr>
            <p:ph type="body" idx="1"/>
          </p:nvPr>
        </p:nvSpPr>
        <p:spPr>
          <a:xfrm>
            <a:off x="457200" y="1066800"/>
            <a:ext cx="8229600" cy="5064125"/>
          </a:xfrm>
        </p:spPr>
        <p:txBody>
          <a:bodyPr/>
          <a:lstStyle/>
          <a:p>
            <a:pPr eaLnBrk="1" hangingPunct="1"/>
            <a:r>
              <a:rPr lang="en-US" altLang="en-US" sz="2400" smtClean="0"/>
              <a:t>Each current string in the population has a slot assigned to it which is in </a:t>
            </a:r>
            <a:r>
              <a:rPr lang="en-US" altLang="en-US" sz="2400" smtClean="0">
                <a:solidFill>
                  <a:srgbClr val="CC3300"/>
                </a:solidFill>
              </a:rPr>
              <a:t>proportion to it’s fitness</a:t>
            </a:r>
            <a:r>
              <a:rPr lang="en-US" altLang="en-US" sz="2400" smtClean="0"/>
              <a:t>.</a:t>
            </a:r>
          </a:p>
          <a:p>
            <a:pPr eaLnBrk="1" hangingPunct="1"/>
            <a:endParaRPr lang="en-US" altLang="en-US" sz="2400" smtClean="0"/>
          </a:p>
          <a:p>
            <a:pPr eaLnBrk="1" hangingPunct="1"/>
            <a:r>
              <a:rPr lang="en-US" altLang="en-US" sz="2400" smtClean="0"/>
              <a:t>We spin the weighted </a:t>
            </a:r>
            <a:r>
              <a:rPr lang="en-US" altLang="en-US" sz="2400" i="1" smtClean="0"/>
              <a:t>roulette wheel</a:t>
            </a:r>
            <a:r>
              <a:rPr lang="en-US" altLang="en-US" sz="2400" smtClean="0"/>
              <a:t> thus defined </a:t>
            </a:r>
            <a:r>
              <a:rPr lang="en-US" altLang="en-US" sz="2400" i="1" smtClean="0"/>
              <a:t>n </a:t>
            </a:r>
            <a:r>
              <a:rPr lang="en-US" altLang="en-US" sz="2400" smtClean="0"/>
              <a:t>times (where </a:t>
            </a:r>
            <a:r>
              <a:rPr lang="en-US" altLang="en-US" sz="2400" i="1" smtClean="0"/>
              <a:t>n </a:t>
            </a:r>
            <a:r>
              <a:rPr lang="en-US" altLang="en-US" sz="2400" smtClean="0"/>
              <a:t>is the total number of solutions).</a:t>
            </a:r>
          </a:p>
          <a:p>
            <a:pPr eaLnBrk="1" hangingPunct="1">
              <a:buFont typeface="Wingdings" panose="05000000000000000000" pitchFamily="2" charset="2"/>
              <a:buNone/>
            </a:pPr>
            <a:endParaRPr lang="en-US" altLang="en-US" sz="2400" smtClean="0"/>
          </a:p>
          <a:p>
            <a:pPr eaLnBrk="1" hangingPunct="1"/>
            <a:r>
              <a:rPr lang="en-US" altLang="en-US" sz="2400" smtClean="0"/>
              <a:t>Each time Roulette Wheel stops, the string corresponding to that slot is created.</a:t>
            </a:r>
          </a:p>
          <a:p>
            <a:pPr eaLnBrk="1" hangingPunct="1">
              <a:buFont typeface="Wingdings" panose="05000000000000000000" pitchFamily="2" charset="2"/>
              <a:buNone/>
            </a:pPr>
            <a:endParaRPr lang="en-US" altLang="en-US" sz="2400" smtClean="0"/>
          </a:p>
          <a:p>
            <a:pPr algn="just" eaLnBrk="1" hangingPunct="1">
              <a:buFont typeface="Wingdings" panose="05000000000000000000" pitchFamily="2" charset="2"/>
              <a:buNone/>
            </a:pPr>
            <a:r>
              <a:rPr lang="en-US" altLang="en-US" sz="2400" smtClean="0">
                <a:solidFill>
                  <a:srgbClr val="996633"/>
                </a:solidFill>
              </a:rPr>
              <a:t>    </a:t>
            </a:r>
            <a:r>
              <a:rPr lang="en-US" altLang="en-US" sz="2400" smtClean="0">
                <a:solidFill>
                  <a:srgbClr val="CC3300"/>
                </a:solidFill>
              </a:rPr>
              <a:t>Strings that are fitter are assigned a larger slot and hence have a better chance of appearing in the new population.</a:t>
            </a:r>
          </a:p>
        </p:txBody>
      </p:sp>
      <p:graphicFrame>
        <p:nvGraphicFramePr>
          <p:cNvPr id="32773"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32774"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7F888A26-7494-40F7-BB7E-74359EDAA033}" type="slidenum">
              <a:rPr lang="en-US" altLang="en-US" sz="1200" smtClean="0">
                <a:latin typeface="Garamond" panose="02020404030301010803" pitchFamily="18" charset="0"/>
              </a:rPr>
              <a:pPr>
                <a:spcBef>
                  <a:spcPct val="0"/>
                </a:spcBef>
                <a:buClrTx/>
                <a:buSzTx/>
                <a:buFontTx/>
                <a:buNone/>
              </a:pPr>
              <a:t>25</a:t>
            </a:fld>
            <a:endParaRPr lang="en-US" altLang="en-US" sz="1200" smtClean="0">
              <a:latin typeface="Garamond" panose="02020404030301010803" pitchFamily="18" charset="0"/>
            </a:endParaRPr>
          </a:p>
        </p:txBody>
      </p:sp>
      <p:sp>
        <p:nvSpPr>
          <p:cNvPr id="33795" name="Rectangle 44"/>
          <p:cNvSpPr>
            <a:spLocks noGrp="1" noChangeArrowheads="1"/>
          </p:cNvSpPr>
          <p:nvPr>
            <p:ph type="title"/>
          </p:nvPr>
        </p:nvSpPr>
        <p:spPr/>
        <p:txBody>
          <a:bodyPr/>
          <a:lstStyle/>
          <a:p>
            <a:pPr eaLnBrk="1" hangingPunct="1"/>
            <a:r>
              <a:rPr lang="en-US" altLang="en-US" sz="3800" b="1" u="sng" smtClean="0"/>
              <a:t>Example Of Roulette Wheel Selection</a:t>
            </a:r>
          </a:p>
        </p:txBody>
      </p:sp>
      <p:graphicFrame>
        <p:nvGraphicFramePr>
          <p:cNvPr id="148527" name="Group 47"/>
          <p:cNvGraphicFramePr>
            <a:graphicFrameLocks noGrp="1"/>
          </p:cNvGraphicFramePr>
          <p:nvPr>
            <p:ph idx="1"/>
          </p:nvPr>
        </p:nvGraphicFramePr>
        <p:xfrm>
          <a:off x="457200" y="1600200"/>
          <a:ext cx="8229600" cy="4545013"/>
        </p:xfrm>
        <a:graphic>
          <a:graphicData uri="http://schemas.openxmlformats.org/drawingml/2006/table">
            <a:tbl>
              <a:tblPr/>
              <a:tblGrid>
                <a:gridCol w="2057400"/>
                <a:gridCol w="2057400"/>
                <a:gridCol w="2057400"/>
                <a:gridCol w="2057400"/>
              </a:tblGrid>
              <a:tr h="75565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400" b="1" i="0" u="none" strike="noStrike" cap="none" normalizeH="0" baseline="0" smtClean="0">
                          <a:ln>
                            <a:noFill/>
                          </a:ln>
                          <a:solidFill>
                            <a:srgbClr val="CC3300"/>
                          </a:solidFill>
                          <a:effectLst/>
                          <a:latin typeface="Arial" charset="0"/>
                        </a:rPr>
                        <a:t>No.</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400" b="1" i="0" u="none" strike="noStrike" cap="none" normalizeH="0" baseline="0" smtClean="0">
                          <a:ln>
                            <a:noFill/>
                          </a:ln>
                          <a:solidFill>
                            <a:srgbClr val="CC3300"/>
                          </a:solidFill>
                          <a:effectLst/>
                          <a:latin typeface="Arial" charset="0"/>
                        </a:rPr>
                        <a:t>String</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400" b="1" i="0" u="none" strike="noStrike" cap="none" normalizeH="0" baseline="0" smtClean="0">
                          <a:ln>
                            <a:noFill/>
                          </a:ln>
                          <a:solidFill>
                            <a:srgbClr val="CC3300"/>
                          </a:solidFill>
                          <a:effectLst/>
                          <a:latin typeface="Arial" charset="0"/>
                        </a:rPr>
                        <a:t>Fitness</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400" b="1" i="0" u="none" strike="noStrike" cap="none" normalizeH="0" baseline="0" smtClean="0">
                          <a:ln>
                            <a:noFill/>
                          </a:ln>
                          <a:solidFill>
                            <a:srgbClr val="CC3300"/>
                          </a:solidFill>
                          <a:effectLst/>
                          <a:latin typeface="Arial" charset="0"/>
                        </a:rPr>
                        <a:t>% Of Total</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54063">
                <a:tc>
                  <a:txBody>
                    <a:bodyPr/>
                    <a:lstStyle/>
                    <a:p>
                      <a:pPr marL="0" marR="0" lvl="0" indent="0" algn="just"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rgbClr val="000000"/>
                          </a:solidFill>
                          <a:effectLst/>
                          <a:latin typeface="Arial" charset="0"/>
                          <a:cs typeface="Times New Roman" pitchFamily="18"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rgbClr val="000000"/>
                          </a:solidFill>
                          <a:effectLst/>
                          <a:latin typeface="Arial" charset="0"/>
                          <a:cs typeface="Times New Roman" pitchFamily="18" charset="0"/>
                        </a:rPr>
                        <a:t>          01101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rgbClr val="000000"/>
                          </a:solidFill>
                          <a:effectLst/>
                          <a:latin typeface="Arial" charset="0"/>
                          <a:cs typeface="Times New Roman" pitchFamily="18" charset="0"/>
                        </a:rPr>
                        <a:t>169</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endParaRPr kumimoji="0" lang="en-US" sz="2000" b="0" i="0" u="none" strike="noStrike" cap="none" normalizeH="0" baseline="0" smtClean="0">
                        <a:ln>
                          <a:noFill/>
                        </a:ln>
                        <a:solidFill>
                          <a:srgbClr val="000000"/>
                        </a:solidFill>
                        <a:effectLst/>
                        <a:latin typeface="Arial" charset="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rgbClr val="000000"/>
                          </a:solidFill>
                          <a:effectLst/>
                          <a:latin typeface="Arial" charset="0"/>
                          <a:cs typeface="Times New Roman" pitchFamily="18" charset="0"/>
                        </a:rPr>
                        <a:t>  14.4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55650">
                <a:tc>
                  <a:txBody>
                    <a:bodyPr/>
                    <a:lstStyle/>
                    <a:p>
                      <a:pPr marL="0" marR="0" lvl="0" indent="0" algn="just"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rgbClr val="000000"/>
                          </a:solidFill>
                          <a:effectLst/>
                          <a:latin typeface="Arial" charset="0"/>
                          <a:cs typeface="Times New Roman" pitchFamily="18"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rgbClr val="000000"/>
                          </a:solidFill>
                          <a:effectLst/>
                          <a:latin typeface="Arial" charset="0"/>
                          <a:cs typeface="Times New Roman" pitchFamily="18" charset="0"/>
                        </a:rPr>
                        <a:t>         11000     </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rgbClr val="000000"/>
                          </a:solidFill>
                          <a:effectLst/>
                          <a:latin typeface="Arial" charset="0"/>
                          <a:cs typeface="Times New Roman" pitchFamily="18" charset="0"/>
                        </a:rPr>
                        <a:t>576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chemeClr val="tx1"/>
                          </a:solidFill>
                          <a:effectLst/>
                          <a:latin typeface="Arial" charset="0"/>
                        </a:rPr>
                        <a:t>49.2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55650">
                <a:tc>
                  <a:txBody>
                    <a:bodyPr/>
                    <a:lstStyle/>
                    <a:p>
                      <a:pPr marL="0" marR="0" lvl="0" indent="0" algn="just"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rgbClr val="000000"/>
                          </a:solidFill>
                          <a:effectLst/>
                          <a:latin typeface="Arial" charset="0"/>
                          <a:cs typeface="Times New Roman" pitchFamily="18"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rgbClr val="000000"/>
                          </a:solidFill>
                          <a:effectLst/>
                          <a:latin typeface="Arial" charset="0"/>
                          <a:cs typeface="Times New Roman" pitchFamily="18" charset="0"/>
                        </a:rPr>
                        <a:t>         01000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rgbClr val="000000"/>
                          </a:solidFill>
                          <a:effectLst/>
                          <a:latin typeface="Arial" charset="0"/>
                          <a:cs typeface="Times New Roman" pitchFamily="18" charset="0"/>
                        </a:rPr>
                        <a:t>64   </a:t>
                      </a:r>
                    </a:p>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endParaRPr kumimoji="0" lang="en-US" sz="2000" b="0" i="0" u="none" strike="noStrike" cap="none" normalizeH="0" baseline="0" smtClean="0">
                        <a:ln>
                          <a:noFill/>
                        </a:ln>
                        <a:solidFill>
                          <a:srgbClr val="000000"/>
                        </a:solidFill>
                        <a:effectLst/>
                        <a:latin typeface="Arial" charset="0"/>
                        <a:cs typeface="Times New Roman"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rgbClr val="000000"/>
                          </a:solidFill>
                          <a:effectLst/>
                          <a:latin typeface="Arial" charset="0"/>
                          <a:cs typeface="Times New Roman" pitchFamily="18" charset="0"/>
                        </a:rPr>
                        <a:t>   5.5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54063">
                <a:tc>
                  <a:txBody>
                    <a:bodyPr/>
                    <a:lstStyle/>
                    <a:p>
                      <a:pPr marL="0" marR="0" lvl="0" indent="0" algn="just"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rgbClr val="000000"/>
                          </a:solidFill>
                          <a:effectLst/>
                          <a:latin typeface="Arial" charset="0"/>
                          <a:cs typeface="Times New Roman" pitchFamily="18" charset="0"/>
                        </a:rPr>
                        <a:t/>
                      </a:r>
                      <a:br>
                        <a:rPr kumimoji="0" lang="en-US" sz="2000" b="0" i="0" u="none" strike="noStrike" cap="none" normalizeH="0" baseline="0" smtClean="0">
                          <a:ln>
                            <a:noFill/>
                          </a:ln>
                          <a:solidFill>
                            <a:srgbClr val="000000"/>
                          </a:solidFill>
                          <a:effectLst/>
                          <a:latin typeface="Arial" charset="0"/>
                          <a:cs typeface="Times New Roman" pitchFamily="18" charset="0"/>
                        </a:rPr>
                      </a:br>
                      <a:r>
                        <a:rPr kumimoji="0" lang="en-US" sz="2000" b="0" i="0" u="none" strike="noStrike" cap="none" normalizeH="0" baseline="0" smtClean="0">
                          <a:ln>
                            <a:noFill/>
                          </a:ln>
                          <a:solidFill>
                            <a:srgbClr val="000000"/>
                          </a:solidFill>
                          <a:effectLst/>
                          <a:latin typeface="Arial" charset="0"/>
                          <a:cs typeface="Times New Roman" pitchFamily="18" charset="0"/>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just"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rgbClr val="000000"/>
                          </a:solidFill>
                          <a:effectLst/>
                          <a:latin typeface="Arial" charset="0"/>
                          <a:cs typeface="Times New Roman" pitchFamily="18" charset="0"/>
                        </a:rPr>
                        <a:t>         10011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rgbClr val="000000"/>
                          </a:solidFill>
                          <a:effectLst/>
                          <a:latin typeface="Arial" charset="0"/>
                          <a:cs typeface="Times New Roman" pitchFamily="18" charset="0"/>
                        </a:rPr>
                        <a:t>361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rgbClr val="000000"/>
                          </a:solidFill>
                          <a:effectLst/>
                          <a:latin typeface="Arial" charset="0"/>
                          <a:cs typeface="Times New Roman" pitchFamily="18" charset="0"/>
                        </a:rPr>
                        <a:t> 30.9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75565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400" b="1" i="0" u="none" strike="noStrike" cap="none" normalizeH="0" baseline="0" smtClean="0">
                          <a:ln>
                            <a:noFill/>
                          </a:ln>
                          <a:solidFill>
                            <a:srgbClr val="CC3300"/>
                          </a:solidFill>
                          <a:effectLst/>
                          <a:latin typeface="Arial" charset="0"/>
                        </a:rPr>
                        <a:t>Total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endParaRPr kumimoji="0" lang="en-US" sz="2000" b="0"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chemeClr val="tx1"/>
                          </a:solidFill>
                          <a:effectLst/>
                          <a:latin typeface="Arial" charset="0"/>
                        </a:rPr>
                        <a:t>1170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dirty="0" smtClean="0">
                          <a:ln>
                            <a:noFill/>
                          </a:ln>
                          <a:solidFill>
                            <a:schemeClr val="tx1"/>
                          </a:solidFill>
                          <a:effectLst/>
                          <a:latin typeface="Arial" charset="0"/>
                        </a:rPr>
                        <a:t>100.0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33833"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33834"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2A2701F3-5A1D-4E8E-B3B5-81F0041FE2D2}" type="slidenum">
              <a:rPr lang="en-US" altLang="en-US" sz="1200" smtClean="0">
                <a:latin typeface="Garamond" panose="02020404030301010803" pitchFamily="18" charset="0"/>
              </a:rPr>
              <a:pPr>
                <a:spcBef>
                  <a:spcPct val="0"/>
                </a:spcBef>
                <a:buClrTx/>
                <a:buSzTx/>
                <a:buFontTx/>
                <a:buNone/>
              </a:pPr>
              <a:t>26</a:t>
            </a:fld>
            <a:endParaRPr lang="en-US" altLang="en-US" sz="1200" smtClean="0">
              <a:latin typeface="Garamond" panose="02020404030301010803" pitchFamily="18" charset="0"/>
            </a:endParaRPr>
          </a:p>
        </p:txBody>
      </p:sp>
      <p:sp>
        <p:nvSpPr>
          <p:cNvPr id="34819" name="Rectangle 5"/>
          <p:cNvSpPr>
            <a:spLocks noGrp="1" noChangeArrowheads="1"/>
          </p:cNvSpPr>
          <p:nvPr>
            <p:ph type="title"/>
          </p:nvPr>
        </p:nvSpPr>
        <p:spPr/>
        <p:txBody>
          <a:bodyPr/>
          <a:lstStyle/>
          <a:p>
            <a:pPr algn="ctr" eaLnBrk="1" hangingPunct="1"/>
            <a:r>
              <a:rPr lang="en-US" altLang="en-US" sz="4000" b="1" u="sng" smtClean="0">
                <a:solidFill>
                  <a:schemeClr val="accent2"/>
                </a:solidFill>
              </a:rPr>
              <a:t>Roulette Wheel For Example</a:t>
            </a:r>
          </a:p>
        </p:txBody>
      </p:sp>
      <p:pic>
        <p:nvPicPr>
          <p:cNvPr id="34820" name="Picture 4"/>
          <p:cNvPicPr>
            <a:picLocks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133600" y="1192213"/>
            <a:ext cx="5105400" cy="4879975"/>
          </a:xfrm>
          <a:noFill/>
        </p:spPr>
      </p:pic>
      <p:graphicFrame>
        <p:nvGraphicFramePr>
          <p:cNvPr id="34821"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34822" name="Klip" r:id="rId4" imgW="1423988" imgH="3055938" progId="MS_ClipArt_Gallery.2">
                  <p:embed/>
                </p:oleObj>
              </mc:Choice>
              <mc:Fallback>
                <p:oleObj name="Klip" r:id="rId4" imgW="1423988" imgH="3055938" progId="MS_ClipArt_Gallery.2">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2F4F68B-88D6-4FE6-A159-4354F59E0FAA}" type="slidenum">
              <a:rPr lang="en-US" altLang="en-US" sz="1200" smtClean="0">
                <a:latin typeface="Garamond" panose="02020404030301010803" pitchFamily="18" charset="0"/>
              </a:rPr>
              <a:pPr>
                <a:spcBef>
                  <a:spcPct val="0"/>
                </a:spcBef>
                <a:buClrTx/>
                <a:buSzTx/>
                <a:buFontTx/>
                <a:buNone/>
              </a:pPr>
              <a:t>27</a:t>
            </a:fld>
            <a:endParaRPr lang="en-US" altLang="en-US" sz="1200" smtClean="0">
              <a:latin typeface="Garamond" panose="02020404030301010803" pitchFamily="18" charset="0"/>
            </a:endParaRPr>
          </a:p>
        </p:txBody>
      </p:sp>
      <p:sp>
        <p:nvSpPr>
          <p:cNvPr id="35843" name="Rectangle 2"/>
          <p:cNvSpPr>
            <a:spLocks noGrp="1" noChangeArrowheads="1"/>
          </p:cNvSpPr>
          <p:nvPr>
            <p:ph type="title"/>
          </p:nvPr>
        </p:nvSpPr>
        <p:spPr>
          <a:xfrm>
            <a:off x="457200" y="277813"/>
            <a:ext cx="8077200" cy="712787"/>
          </a:xfrm>
        </p:spPr>
        <p:txBody>
          <a:bodyPr/>
          <a:lstStyle/>
          <a:p>
            <a:pPr algn="ctr" eaLnBrk="1" hangingPunct="1"/>
            <a:r>
              <a:rPr lang="en-US" altLang="en-US" sz="4000" b="1" u="sng" smtClean="0"/>
              <a:t>Crossover</a:t>
            </a:r>
            <a:r>
              <a:rPr lang="en-US" altLang="en-US" sz="3800" smtClean="0"/>
              <a:t/>
            </a:r>
            <a:br>
              <a:rPr lang="en-US" altLang="en-US" sz="3800" smtClean="0"/>
            </a:br>
            <a:endParaRPr lang="en-US" altLang="en-US" sz="3800" smtClean="0"/>
          </a:p>
        </p:txBody>
      </p:sp>
      <p:sp>
        <p:nvSpPr>
          <p:cNvPr id="35844" name="Rectangle 3"/>
          <p:cNvSpPr>
            <a:spLocks noGrp="1" noChangeArrowheads="1"/>
          </p:cNvSpPr>
          <p:nvPr>
            <p:ph type="body" idx="1"/>
          </p:nvPr>
        </p:nvSpPr>
        <p:spPr>
          <a:xfrm>
            <a:off x="457200" y="1295400"/>
            <a:ext cx="8229600" cy="5105400"/>
          </a:xfrm>
        </p:spPr>
        <p:txBody>
          <a:bodyPr/>
          <a:lstStyle/>
          <a:p>
            <a:pPr eaLnBrk="1" hangingPunct="1">
              <a:buFont typeface="Wingdings" panose="05000000000000000000" pitchFamily="2" charset="2"/>
              <a:buNone/>
            </a:pPr>
            <a:r>
              <a:rPr lang="en-US" altLang="en-US" i="1" smtClean="0"/>
              <a:t>   </a:t>
            </a:r>
            <a:r>
              <a:rPr lang="en-US" altLang="en-US" sz="2800" i="1" smtClean="0">
                <a:solidFill>
                  <a:schemeClr val="tx2"/>
                </a:solidFill>
              </a:rPr>
              <a:t>It is the process in which two chromosomes (strings) combine their genetic material (bits) to produce a  new offspring which possesses both their characteristics.</a:t>
            </a:r>
          </a:p>
          <a:p>
            <a:pPr eaLnBrk="1" hangingPunct="1">
              <a:buFont typeface="Wingdings" panose="05000000000000000000" pitchFamily="2" charset="2"/>
              <a:buNone/>
            </a:pPr>
            <a:endParaRPr lang="en-US" altLang="en-US" sz="2800" i="1" smtClean="0">
              <a:solidFill>
                <a:schemeClr val="tx2"/>
              </a:solidFill>
            </a:endParaRPr>
          </a:p>
          <a:p>
            <a:pPr eaLnBrk="1" hangingPunct="1"/>
            <a:r>
              <a:rPr lang="en-US" altLang="en-US" sz="2400" i="1" smtClean="0"/>
              <a:t>Two strings are picked from the mating pool at random to cross over.</a:t>
            </a:r>
          </a:p>
          <a:p>
            <a:pPr eaLnBrk="1" hangingPunct="1">
              <a:buFont typeface="Wingdings" panose="05000000000000000000" pitchFamily="2" charset="2"/>
              <a:buNone/>
            </a:pPr>
            <a:endParaRPr lang="en-US" altLang="en-US" sz="2400" i="1" smtClean="0"/>
          </a:p>
          <a:p>
            <a:pPr eaLnBrk="1" hangingPunct="1"/>
            <a:r>
              <a:rPr lang="en-US" altLang="en-US" sz="2400" i="1" smtClean="0"/>
              <a:t>The method chosen depends on the Encoding Method.</a:t>
            </a:r>
          </a:p>
          <a:p>
            <a:pPr eaLnBrk="1" hangingPunct="1">
              <a:buFont typeface="Wingdings" panose="05000000000000000000" pitchFamily="2" charset="2"/>
              <a:buNone/>
            </a:pPr>
            <a:endParaRPr lang="en-US" altLang="en-US" sz="2400" i="1" smtClean="0"/>
          </a:p>
        </p:txBody>
      </p:sp>
      <p:graphicFrame>
        <p:nvGraphicFramePr>
          <p:cNvPr id="35845"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35846"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59F9E72E-1393-4CFA-8D13-480D5463368A}" type="slidenum">
              <a:rPr lang="en-US" altLang="en-US" sz="1200" smtClean="0">
                <a:latin typeface="Garamond" panose="02020404030301010803" pitchFamily="18" charset="0"/>
              </a:rPr>
              <a:pPr>
                <a:spcBef>
                  <a:spcPct val="0"/>
                </a:spcBef>
                <a:buClrTx/>
                <a:buSzTx/>
                <a:buFontTx/>
                <a:buNone/>
              </a:pPr>
              <a:t>28</a:t>
            </a:fld>
            <a:endParaRPr lang="en-US" altLang="en-US" sz="1200" smtClean="0">
              <a:latin typeface="Garamond" panose="02020404030301010803" pitchFamily="18" charset="0"/>
            </a:endParaRPr>
          </a:p>
        </p:txBody>
      </p:sp>
      <p:sp>
        <p:nvSpPr>
          <p:cNvPr id="36867" name="Rectangle 2"/>
          <p:cNvSpPr>
            <a:spLocks noGrp="1" noChangeArrowheads="1"/>
          </p:cNvSpPr>
          <p:nvPr>
            <p:ph type="title"/>
          </p:nvPr>
        </p:nvSpPr>
        <p:spPr>
          <a:xfrm>
            <a:off x="457200" y="277813"/>
            <a:ext cx="8229600" cy="560387"/>
          </a:xfrm>
        </p:spPr>
        <p:txBody>
          <a:bodyPr/>
          <a:lstStyle/>
          <a:p>
            <a:pPr algn="ctr" eaLnBrk="1" hangingPunct="1"/>
            <a:r>
              <a:rPr lang="en-US" altLang="en-US" sz="3600" b="1" u="sng" smtClean="0"/>
              <a:t>Crossover Methods</a:t>
            </a:r>
          </a:p>
        </p:txBody>
      </p:sp>
      <p:sp>
        <p:nvSpPr>
          <p:cNvPr id="36868" name="Rectangle 3"/>
          <p:cNvSpPr>
            <a:spLocks noGrp="1" noChangeArrowheads="1"/>
          </p:cNvSpPr>
          <p:nvPr>
            <p:ph type="body" sz="half" idx="1"/>
          </p:nvPr>
        </p:nvSpPr>
        <p:spPr>
          <a:xfrm>
            <a:off x="457200" y="1066800"/>
            <a:ext cx="7620000" cy="1143000"/>
          </a:xfrm>
        </p:spPr>
        <p:txBody>
          <a:bodyPr/>
          <a:lstStyle/>
          <a:p>
            <a:pPr eaLnBrk="1" hangingPunct="1">
              <a:lnSpc>
                <a:spcPct val="90000"/>
              </a:lnSpc>
            </a:pPr>
            <a:r>
              <a:rPr lang="en-US" altLang="en-US" sz="2600" b="1" smtClean="0">
                <a:solidFill>
                  <a:schemeClr val="tx2"/>
                </a:solidFill>
              </a:rPr>
              <a:t>Single Point Crossover- </a:t>
            </a:r>
            <a:r>
              <a:rPr lang="en-US" altLang="en-US" sz="2400" smtClean="0"/>
              <a:t>A random point is chosen on the individual chromosomes (strings) and the genetic material is exchanged at this point.</a:t>
            </a:r>
          </a:p>
          <a:p>
            <a:pPr eaLnBrk="1" hangingPunct="1">
              <a:lnSpc>
                <a:spcPct val="90000"/>
              </a:lnSpc>
            </a:pPr>
            <a:endParaRPr lang="en-US" altLang="en-US" sz="2400" smtClean="0"/>
          </a:p>
          <a:p>
            <a:pPr eaLnBrk="1" hangingPunct="1">
              <a:lnSpc>
                <a:spcPct val="90000"/>
              </a:lnSpc>
            </a:pPr>
            <a:endParaRPr lang="en-US" altLang="en-US" sz="2600" b="1" smtClean="0">
              <a:solidFill>
                <a:schemeClr val="tx2"/>
              </a:solidFill>
            </a:endParaRPr>
          </a:p>
          <a:p>
            <a:pPr eaLnBrk="1" hangingPunct="1">
              <a:lnSpc>
                <a:spcPct val="90000"/>
              </a:lnSpc>
            </a:pPr>
            <a:endParaRPr lang="en-US" altLang="en-US" sz="2600" b="1" smtClean="0">
              <a:solidFill>
                <a:schemeClr val="tx2"/>
              </a:solidFill>
            </a:endParaRPr>
          </a:p>
          <a:p>
            <a:pPr eaLnBrk="1" hangingPunct="1">
              <a:lnSpc>
                <a:spcPct val="90000"/>
              </a:lnSpc>
            </a:pPr>
            <a:endParaRPr lang="en-US" altLang="en-US" sz="2600" b="1" smtClean="0">
              <a:solidFill>
                <a:schemeClr val="tx2"/>
              </a:solidFill>
            </a:endParaRPr>
          </a:p>
          <a:p>
            <a:pPr eaLnBrk="1" hangingPunct="1">
              <a:lnSpc>
                <a:spcPct val="90000"/>
              </a:lnSpc>
              <a:buFont typeface="Wingdings" panose="05000000000000000000" pitchFamily="2" charset="2"/>
              <a:buNone/>
            </a:pPr>
            <a:endParaRPr lang="en-US" altLang="en-US" sz="2600" smtClean="0"/>
          </a:p>
          <a:p>
            <a:pPr eaLnBrk="1" hangingPunct="1">
              <a:lnSpc>
                <a:spcPct val="90000"/>
              </a:lnSpc>
              <a:buFont typeface="Wingdings" panose="05000000000000000000" pitchFamily="2" charset="2"/>
              <a:buNone/>
            </a:pPr>
            <a:endParaRPr lang="en-US" altLang="en-US" sz="2600" smtClean="0"/>
          </a:p>
        </p:txBody>
      </p:sp>
      <p:pic>
        <p:nvPicPr>
          <p:cNvPr id="36869" name="Picture 4"/>
          <p:cNvPicPr>
            <a:picLocks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1828800" y="2336800"/>
            <a:ext cx="5148263" cy="3821113"/>
          </a:xfrm>
          <a:noFill/>
        </p:spPr>
      </p:pic>
      <p:graphicFrame>
        <p:nvGraphicFramePr>
          <p:cNvPr id="36870"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36871" name="Klip" r:id="rId4" imgW="1423988" imgH="3055938" progId="MS_ClipArt_Gallery.2">
                  <p:embed/>
                </p:oleObj>
              </mc:Choice>
              <mc:Fallback>
                <p:oleObj name="Klip" r:id="rId4" imgW="1423988" imgH="3055938" progId="MS_ClipArt_Gallery.2">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9266A8A-A037-4CE9-A2A2-3EDF7EDF4169}" type="slidenum">
              <a:rPr lang="en-US" altLang="en-US" sz="1200" smtClean="0">
                <a:latin typeface="Garamond" panose="02020404030301010803" pitchFamily="18" charset="0"/>
              </a:rPr>
              <a:pPr>
                <a:spcBef>
                  <a:spcPct val="0"/>
                </a:spcBef>
                <a:buClrTx/>
                <a:buSzTx/>
                <a:buFontTx/>
                <a:buNone/>
              </a:pPr>
              <a:t>29</a:t>
            </a:fld>
            <a:endParaRPr lang="en-US" altLang="en-US" sz="1200" smtClean="0">
              <a:latin typeface="Garamond" panose="02020404030301010803" pitchFamily="18" charset="0"/>
            </a:endParaRPr>
          </a:p>
        </p:txBody>
      </p:sp>
      <p:sp>
        <p:nvSpPr>
          <p:cNvPr id="37891" name="Rectangle 5"/>
          <p:cNvSpPr>
            <a:spLocks noGrp="1" noChangeArrowheads="1"/>
          </p:cNvSpPr>
          <p:nvPr>
            <p:ph type="title"/>
          </p:nvPr>
        </p:nvSpPr>
        <p:spPr>
          <a:xfrm>
            <a:off x="457200" y="277813"/>
            <a:ext cx="8229600" cy="636587"/>
          </a:xfrm>
        </p:spPr>
        <p:txBody>
          <a:bodyPr/>
          <a:lstStyle/>
          <a:p>
            <a:pPr algn="ctr" eaLnBrk="1" hangingPunct="1"/>
            <a:r>
              <a:rPr lang="en-US" altLang="en-US" sz="3600" b="1" u="sng" smtClean="0"/>
              <a:t>Crossover Methods </a:t>
            </a:r>
            <a:r>
              <a:rPr lang="en-US" altLang="en-US" sz="3600" b="1" smtClean="0"/>
              <a:t>(contd.)</a:t>
            </a:r>
            <a:endParaRPr lang="en-US" altLang="en-US" sz="3600" b="1" u="sng" smtClean="0"/>
          </a:p>
        </p:txBody>
      </p:sp>
      <p:sp>
        <p:nvSpPr>
          <p:cNvPr id="37892" name="Rectangle 31"/>
          <p:cNvSpPr>
            <a:spLocks noGrp="1" noChangeArrowheads="1"/>
          </p:cNvSpPr>
          <p:nvPr>
            <p:ph type="body" idx="1"/>
          </p:nvPr>
        </p:nvSpPr>
        <p:spPr>
          <a:xfrm>
            <a:off x="457200" y="1219200"/>
            <a:ext cx="8229600" cy="4911725"/>
          </a:xfrm>
        </p:spPr>
        <p:txBody>
          <a:bodyPr/>
          <a:lstStyle/>
          <a:p>
            <a:pPr eaLnBrk="1" hangingPunct="1"/>
            <a:r>
              <a:rPr lang="en-US" altLang="en-US" sz="2800" b="1" smtClean="0">
                <a:solidFill>
                  <a:schemeClr val="tx2"/>
                </a:solidFill>
              </a:rPr>
              <a:t>Single Point Crossover</a:t>
            </a:r>
          </a:p>
        </p:txBody>
      </p:sp>
      <p:graphicFrame>
        <p:nvGraphicFramePr>
          <p:cNvPr id="28701" name="Group 29"/>
          <p:cNvGraphicFramePr>
            <a:graphicFrameLocks noGrp="1"/>
          </p:cNvGraphicFramePr>
          <p:nvPr>
            <p:ph idx="4294967295"/>
          </p:nvPr>
        </p:nvGraphicFramePr>
        <p:xfrm>
          <a:off x="1625600" y="2809875"/>
          <a:ext cx="5946775" cy="2667000"/>
        </p:xfrm>
        <a:graphic>
          <a:graphicData uri="http://schemas.openxmlformats.org/drawingml/2006/table">
            <a:tbl>
              <a:tblPr/>
              <a:tblGrid>
                <a:gridCol w="2209800"/>
                <a:gridCol w="3736975"/>
              </a:tblGrid>
              <a:tr h="66675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dirty="0" smtClean="0">
                          <a:ln>
                            <a:noFill/>
                          </a:ln>
                          <a:solidFill>
                            <a:srgbClr val="FF0000"/>
                          </a:solidFill>
                          <a:effectLst/>
                          <a:latin typeface="Arial" charset="0"/>
                        </a:rPr>
                        <a:t>Chromosome1</a:t>
                      </a:r>
                      <a:endParaRPr kumimoji="0" lang="en-US" sz="1800" b="1" i="0" u="none" strike="noStrike" cap="none" normalizeH="0" baseline="0" dirty="0" smtClean="0">
                        <a:ln>
                          <a:noFill/>
                        </a:ln>
                        <a:solidFill>
                          <a:srgbClr val="0000FF"/>
                        </a:solidFill>
                        <a:effectLst/>
                        <a:latin typeface="Arial"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dirty="0" smtClean="0">
                          <a:ln>
                            <a:noFill/>
                          </a:ln>
                          <a:solidFill>
                            <a:srgbClr val="FF0000"/>
                          </a:solidFill>
                          <a:effectLst/>
                          <a:latin typeface="Arial" charset="0"/>
                        </a:rPr>
                        <a:t>11011 | 00100110110</a:t>
                      </a:r>
                      <a:endParaRPr kumimoji="0" lang="en-US" sz="1800" b="1" i="0" u="none" strike="noStrike" cap="none" normalizeH="0" baseline="0" dirty="0" smtClean="0">
                        <a:ln>
                          <a:noFill/>
                        </a:ln>
                        <a:solidFill>
                          <a:schemeClr val="tx1"/>
                        </a:solidFill>
                        <a:effectLst/>
                        <a:latin typeface="Arial"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66675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rgbClr val="0000FF"/>
                          </a:solidFill>
                          <a:effectLst/>
                          <a:latin typeface="Arial" charset="0"/>
                        </a:rPr>
                        <a:t>Chromosome 2</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rgbClr val="0000FF"/>
                          </a:solidFill>
                          <a:effectLst/>
                          <a:latin typeface="Arial" charset="0"/>
                        </a:rPr>
                        <a:t>11011 | 11000011110</a:t>
                      </a:r>
                      <a:endParaRPr kumimoji="0" lang="en-US" sz="1800" b="1"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66675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chemeClr val="tx1"/>
                          </a:solidFill>
                          <a:effectLst/>
                          <a:latin typeface="Arial" charset="0"/>
                        </a:rPr>
                        <a:t>Offspring 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rgbClr val="FF0000"/>
                          </a:solidFill>
                          <a:effectLst/>
                          <a:latin typeface="Arial" charset="0"/>
                        </a:rPr>
                        <a:t>11011</a:t>
                      </a:r>
                      <a:r>
                        <a:rPr kumimoji="0" lang="en-US" sz="1800" b="1" i="0" u="none" strike="noStrike" cap="none" normalizeH="0" baseline="0" smtClean="0">
                          <a:ln>
                            <a:noFill/>
                          </a:ln>
                          <a:solidFill>
                            <a:srgbClr val="800040"/>
                          </a:solidFill>
                          <a:effectLst/>
                          <a:latin typeface="Arial" charset="0"/>
                        </a:rPr>
                        <a:t> </a:t>
                      </a:r>
                      <a:r>
                        <a:rPr kumimoji="0" lang="en-US" sz="1800" b="1" i="0" u="none" strike="noStrike" cap="none" normalizeH="0" baseline="0" smtClean="0">
                          <a:ln>
                            <a:noFill/>
                          </a:ln>
                          <a:solidFill>
                            <a:srgbClr val="000000"/>
                          </a:solidFill>
                          <a:effectLst/>
                          <a:latin typeface="Arial" charset="0"/>
                        </a:rPr>
                        <a:t>|</a:t>
                      </a:r>
                      <a:r>
                        <a:rPr kumimoji="0" lang="en-US" sz="1800" b="1" i="0" u="none" strike="noStrike" cap="none" normalizeH="0" baseline="0" smtClean="0">
                          <a:ln>
                            <a:noFill/>
                          </a:ln>
                          <a:solidFill>
                            <a:srgbClr val="000080"/>
                          </a:solidFill>
                          <a:effectLst/>
                          <a:latin typeface="Arial" charset="0"/>
                        </a:rPr>
                        <a:t> </a:t>
                      </a:r>
                      <a:r>
                        <a:rPr kumimoji="0" lang="en-US" sz="1800" b="1" i="0" u="none" strike="noStrike" cap="none" normalizeH="0" baseline="0" smtClean="0">
                          <a:ln>
                            <a:noFill/>
                          </a:ln>
                          <a:solidFill>
                            <a:srgbClr val="0000FF"/>
                          </a:solidFill>
                          <a:effectLst/>
                          <a:latin typeface="Arial" charset="0"/>
                        </a:rPr>
                        <a:t>11000011110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666750">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chemeClr val="tx1"/>
                          </a:solidFill>
                          <a:effectLst/>
                          <a:latin typeface="Arial" charset="0"/>
                        </a:rPr>
                        <a:t>Offspring 2</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rgbClr val="0000FF"/>
                          </a:solidFill>
                          <a:effectLst/>
                          <a:latin typeface="Arial" charset="0"/>
                        </a:rPr>
                        <a:t>11011 </a:t>
                      </a:r>
                      <a:r>
                        <a:rPr kumimoji="0" lang="en-US" sz="1800" b="1" i="0" u="none" strike="noStrike" cap="none" normalizeH="0" baseline="0" smtClean="0">
                          <a:ln>
                            <a:noFill/>
                          </a:ln>
                          <a:solidFill>
                            <a:srgbClr val="000000"/>
                          </a:solidFill>
                          <a:effectLst/>
                          <a:latin typeface="Arial" charset="0"/>
                        </a:rPr>
                        <a:t>|</a:t>
                      </a:r>
                      <a:r>
                        <a:rPr kumimoji="0" lang="en-US" sz="1800" b="1" i="0" u="none" strike="noStrike" cap="none" normalizeH="0" baseline="0" smtClean="0">
                          <a:ln>
                            <a:noFill/>
                          </a:ln>
                          <a:solidFill>
                            <a:schemeClr val="tx1"/>
                          </a:solidFill>
                          <a:effectLst/>
                          <a:latin typeface="Arial" charset="0"/>
                        </a:rPr>
                        <a:t> </a:t>
                      </a:r>
                      <a:r>
                        <a:rPr kumimoji="0" lang="en-US" sz="1800" b="1" i="0" u="none" strike="noStrike" cap="none" normalizeH="0" baseline="0" smtClean="0">
                          <a:ln>
                            <a:noFill/>
                          </a:ln>
                          <a:solidFill>
                            <a:srgbClr val="FF0000"/>
                          </a:solidFill>
                          <a:effectLst/>
                          <a:latin typeface="Arial" charset="0"/>
                        </a:rPr>
                        <a:t>00100110110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graphicFrame>
        <p:nvGraphicFramePr>
          <p:cNvPr id="37910"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37911"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905F6D4-CC43-4B2E-8DF8-FFD4B2EF2D77}" type="slidenum">
              <a:rPr lang="en-US" altLang="en-US" sz="1200" smtClean="0">
                <a:latin typeface="Garamond" panose="02020404030301010803" pitchFamily="18" charset="0"/>
              </a:rPr>
              <a:pPr>
                <a:spcBef>
                  <a:spcPct val="0"/>
                </a:spcBef>
                <a:buClrTx/>
                <a:buSzTx/>
                <a:buFontTx/>
                <a:buNone/>
              </a:pPr>
              <a:t>30</a:t>
            </a:fld>
            <a:endParaRPr lang="en-US" altLang="en-US" sz="1200" smtClean="0">
              <a:latin typeface="Garamond" panose="02020404030301010803" pitchFamily="18" charset="0"/>
            </a:endParaRPr>
          </a:p>
        </p:txBody>
      </p:sp>
      <p:sp>
        <p:nvSpPr>
          <p:cNvPr id="38915" name="Rectangle 2"/>
          <p:cNvSpPr>
            <a:spLocks noGrp="1" noChangeArrowheads="1"/>
          </p:cNvSpPr>
          <p:nvPr>
            <p:ph type="title"/>
          </p:nvPr>
        </p:nvSpPr>
        <p:spPr/>
        <p:txBody>
          <a:bodyPr/>
          <a:lstStyle/>
          <a:p>
            <a:pPr algn="ctr" eaLnBrk="1" hangingPunct="1"/>
            <a:r>
              <a:rPr lang="en-GB" altLang="en-US" sz="3600" b="1" u="sng" smtClean="0"/>
              <a:t>Crossover  Methods </a:t>
            </a:r>
            <a:r>
              <a:rPr lang="en-GB" altLang="en-US" sz="3600" smtClean="0"/>
              <a:t>(contd.)</a:t>
            </a:r>
            <a:endParaRPr lang="en-US" altLang="en-US" sz="3600" smtClean="0"/>
          </a:p>
        </p:txBody>
      </p:sp>
      <p:sp>
        <p:nvSpPr>
          <p:cNvPr id="38916" name="Rectangle 3"/>
          <p:cNvSpPr>
            <a:spLocks noGrp="1" noChangeArrowheads="1"/>
          </p:cNvSpPr>
          <p:nvPr>
            <p:ph type="body" sz="half" idx="1"/>
          </p:nvPr>
        </p:nvSpPr>
        <p:spPr>
          <a:xfrm>
            <a:off x="457200" y="1285875"/>
            <a:ext cx="8001000" cy="1304925"/>
          </a:xfrm>
        </p:spPr>
        <p:txBody>
          <a:bodyPr/>
          <a:lstStyle/>
          <a:p>
            <a:pPr eaLnBrk="1" hangingPunct="1"/>
            <a:r>
              <a:rPr lang="en-US" altLang="en-US" sz="2600" b="1" smtClean="0">
                <a:solidFill>
                  <a:schemeClr val="tx2"/>
                </a:solidFill>
              </a:rPr>
              <a:t>Two-Point Crossover- </a:t>
            </a:r>
            <a:r>
              <a:rPr lang="en-US" altLang="en-US" sz="2400" smtClean="0"/>
              <a:t>Two random points are chosen on the individual chromosomes (strings) and the genetic material is exchanged at these points.</a:t>
            </a:r>
          </a:p>
          <a:p>
            <a:pPr eaLnBrk="1" hangingPunct="1"/>
            <a:endParaRPr lang="en-US" altLang="en-US" sz="2600" smtClean="0"/>
          </a:p>
          <a:p>
            <a:pPr eaLnBrk="1" hangingPunct="1"/>
            <a:endParaRPr lang="en-US" altLang="en-US" sz="2600" smtClean="0"/>
          </a:p>
          <a:p>
            <a:pPr eaLnBrk="1" hangingPunct="1"/>
            <a:endParaRPr lang="en-US" altLang="en-US" sz="2600" smtClean="0"/>
          </a:p>
        </p:txBody>
      </p:sp>
      <p:graphicFrame>
        <p:nvGraphicFramePr>
          <p:cNvPr id="36872" name="Group 8"/>
          <p:cNvGraphicFramePr>
            <a:graphicFrameLocks noGrp="1"/>
          </p:cNvGraphicFramePr>
          <p:nvPr>
            <p:ph sz="half" idx="2"/>
          </p:nvPr>
        </p:nvGraphicFramePr>
        <p:xfrm>
          <a:off x="1709738" y="2790825"/>
          <a:ext cx="5791200" cy="2701925"/>
        </p:xfrm>
        <a:graphic>
          <a:graphicData uri="http://schemas.openxmlformats.org/drawingml/2006/table">
            <a:tbl>
              <a:tblPr/>
              <a:tblGrid>
                <a:gridCol w="2460625"/>
                <a:gridCol w="3330575"/>
              </a:tblGrid>
              <a:tr h="676275">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rgbClr val="FF0000"/>
                          </a:solidFill>
                          <a:effectLst/>
                          <a:latin typeface="Arial" charset="0"/>
                        </a:rPr>
                        <a:t>Chromosome1</a:t>
                      </a:r>
                      <a:endParaRPr kumimoji="0" lang="en-US" sz="1800" b="1" i="0" u="none" strike="noStrike" cap="none" normalizeH="0" baseline="0" smtClean="0">
                        <a:ln>
                          <a:noFill/>
                        </a:ln>
                        <a:solidFill>
                          <a:srgbClr val="0000FF"/>
                        </a:solidFill>
                        <a:effectLst/>
                        <a:latin typeface="Arial"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rgbClr val="FF0000"/>
                          </a:solidFill>
                          <a:effectLst/>
                          <a:latin typeface="Arial" charset="0"/>
                        </a:rPr>
                        <a:t>11011 | 00100 | 110110</a:t>
                      </a:r>
                      <a:endParaRPr kumimoji="0" lang="en-US" sz="1800" b="1"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674688">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rgbClr val="0000FF"/>
                          </a:solidFill>
                          <a:effectLst/>
                          <a:latin typeface="Arial" charset="0"/>
                        </a:rPr>
                        <a:t>Chromosome 2</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rgbClr val="0000FF"/>
                          </a:solidFill>
                          <a:effectLst/>
                          <a:latin typeface="Arial" charset="0"/>
                        </a:rPr>
                        <a:t>10101 | 11000 | 011110</a:t>
                      </a:r>
                      <a:endParaRPr kumimoji="0" lang="en-US" sz="1800" b="1"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676275">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chemeClr val="tx1"/>
                          </a:solidFill>
                          <a:effectLst/>
                          <a:latin typeface="Arial" charset="0"/>
                        </a:rPr>
                        <a:t>Offspring 1</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rgbClr val="0000FF"/>
                          </a:solidFill>
                          <a:effectLst/>
                          <a:latin typeface="Arial" charset="0"/>
                        </a:rPr>
                        <a:t>10101 </a:t>
                      </a:r>
                      <a:r>
                        <a:rPr kumimoji="0" lang="en-US" sz="1800" b="1" i="0" u="none" strike="noStrike" cap="none" normalizeH="0" baseline="0" smtClean="0">
                          <a:ln>
                            <a:noFill/>
                          </a:ln>
                          <a:solidFill>
                            <a:schemeClr val="tx1"/>
                          </a:solidFill>
                          <a:effectLst/>
                          <a:latin typeface="Arial" charset="0"/>
                        </a:rPr>
                        <a:t>|</a:t>
                      </a:r>
                      <a:r>
                        <a:rPr kumimoji="0" lang="en-US" sz="1800" b="1" i="0" u="none" strike="noStrike" cap="none" normalizeH="0" baseline="0" smtClean="0">
                          <a:ln>
                            <a:noFill/>
                          </a:ln>
                          <a:solidFill>
                            <a:srgbClr val="0000FF"/>
                          </a:solidFill>
                          <a:effectLst/>
                          <a:latin typeface="Arial" charset="0"/>
                        </a:rPr>
                        <a:t> </a:t>
                      </a:r>
                      <a:r>
                        <a:rPr kumimoji="0" lang="en-US" sz="1800" b="1" i="0" u="none" strike="noStrike" cap="none" normalizeH="0" baseline="0" smtClean="0">
                          <a:ln>
                            <a:noFill/>
                          </a:ln>
                          <a:solidFill>
                            <a:srgbClr val="FF0000"/>
                          </a:solidFill>
                          <a:effectLst/>
                          <a:latin typeface="Arial" charset="0"/>
                        </a:rPr>
                        <a:t> 00100</a:t>
                      </a:r>
                      <a:r>
                        <a:rPr kumimoji="0" lang="en-US" sz="1800" b="1" i="0" u="none" strike="noStrike" cap="none" normalizeH="0" baseline="0" smtClean="0">
                          <a:ln>
                            <a:noFill/>
                          </a:ln>
                          <a:solidFill>
                            <a:srgbClr val="0000FF"/>
                          </a:solidFill>
                          <a:effectLst/>
                          <a:latin typeface="Arial" charset="0"/>
                        </a:rPr>
                        <a:t> </a:t>
                      </a:r>
                      <a:r>
                        <a:rPr kumimoji="0" lang="en-US" sz="1800" b="1" i="0" u="none" strike="noStrike" cap="none" normalizeH="0" baseline="0" smtClean="0">
                          <a:ln>
                            <a:noFill/>
                          </a:ln>
                          <a:solidFill>
                            <a:schemeClr val="tx1"/>
                          </a:solidFill>
                          <a:effectLst/>
                          <a:latin typeface="Arial" charset="0"/>
                        </a:rPr>
                        <a:t>|</a:t>
                      </a:r>
                      <a:r>
                        <a:rPr kumimoji="0" lang="en-US" sz="1800" b="1" i="0" u="none" strike="noStrike" cap="none" normalizeH="0" baseline="0" smtClean="0">
                          <a:ln>
                            <a:noFill/>
                          </a:ln>
                          <a:solidFill>
                            <a:srgbClr val="0000FF"/>
                          </a:solidFill>
                          <a:effectLst/>
                          <a:latin typeface="Arial" charset="0"/>
                        </a:rPr>
                        <a:t>  011110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674688">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chemeClr val="tx1"/>
                          </a:solidFill>
                          <a:effectLst/>
                          <a:latin typeface="Arial" charset="0"/>
                        </a:rPr>
                        <a:t>Offspring 2</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rgbClr val="FF0000"/>
                          </a:solidFill>
                          <a:effectLst/>
                          <a:latin typeface="Arial" charset="0"/>
                        </a:rPr>
                        <a:t>11011 </a:t>
                      </a:r>
                      <a:r>
                        <a:rPr kumimoji="0" lang="en-US" sz="1800" b="1" i="0" u="none" strike="noStrike" cap="none" normalizeH="0" baseline="0" smtClean="0">
                          <a:ln>
                            <a:noFill/>
                          </a:ln>
                          <a:solidFill>
                            <a:schemeClr val="tx1"/>
                          </a:solidFill>
                          <a:effectLst/>
                          <a:latin typeface="Arial" charset="0"/>
                        </a:rPr>
                        <a:t>|</a:t>
                      </a:r>
                      <a:r>
                        <a:rPr kumimoji="0" lang="en-US" sz="1800" b="1" i="0" u="none" strike="noStrike" cap="none" normalizeH="0" baseline="0" smtClean="0">
                          <a:ln>
                            <a:noFill/>
                          </a:ln>
                          <a:solidFill>
                            <a:srgbClr val="FF0000"/>
                          </a:solidFill>
                          <a:effectLst/>
                          <a:latin typeface="Arial" charset="0"/>
                        </a:rPr>
                        <a:t>  </a:t>
                      </a:r>
                      <a:r>
                        <a:rPr kumimoji="0" lang="en-US" sz="1800" b="1" i="0" u="none" strike="noStrike" cap="none" normalizeH="0" baseline="0" smtClean="0">
                          <a:ln>
                            <a:noFill/>
                          </a:ln>
                          <a:solidFill>
                            <a:srgbClr val="0000FF"/>
                          </a:solidFill>
                          <a:effectLst/>
                          <a:latin typeface="Arial" charset="0"/>
                        </a:rPr>
                        <a:t>11000</a:t>
                      </a:r>
                      <a:r>
                        <a:rPr kumimoji="0" lang="en-US" sz="1800" b="1" i="0" u="none" strike="noStrike" cap="none" normalizeH="0" baseline="0" smtClean="0">
                          <a:ln>
                            <a:noFill/>
                          </a:ln>
                          <a:solidFill>
                            <a:srgbClr val="FF0000"/>
                          </a:solidFill>
                          <a:effectLst/>
                          <a:latin typeface="Arial" charset="0"/>
                        </a:rPr>
                        <a:t> </a:t>
                      </a:r>
                      <a:r>
                        <a:rPr kumimoji="0" lang="en-US" sz="1800" b="1" i="0" u="none" strike="noStrike" cap="none" normalizeH="0" baseline="0" smtClean="0">
                          <a:ln>
                            <a:noFill/>
                          </a:ln>
                          <a:solidFill>
                            <a:schemeClr val="tx1"/>
                          </a:solidFill>
                          <a:effectLst/>
                          <a:latin typeface="Arial" charset="0"/>
                        </a:rPr>
                        <a:t>|</a:t>
                      </a:r>
                      <a:r>
                        <a:rPr kumimoji="0" lang="en-US" sz="1800" b="1" i="0" u="none" strike="noStrike" cap="none" normalizeH="0" baseline="0" smtClean="0">
                          <a:ln>
                            <a:noFill/>
                          </a:ln>
                          <a:solidFill>
                            <a:srgbClr val="FF0000"/>
                          </a:solidFill>
                          <a:effectLst/>
                          <a:latin typeface="Arial" charset="0"/>
                        </a:rPr>
                        <a:t>  110110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38934" name="Text Box 26"/>
          <p:cNvSpPr txBox="1">
            <a:spLocks noChangeArrowheads="1"/>
          </p:cNvSpPr>
          <p:nvPr/>
        </p:nvSpPr>
        <p:spPr bwMode="auto">
          <a:xfrm>
            <a:off x="762000" y="5719763"/>
            <a:ext cx="7391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1800">
                <a:solidFill>
                  <a:srgbClr val="CC3300"/>
                </a:solidFill>
              </a:rPr>
              <a:t>NOTE: These chromosomes are different from the last example.</a:t>
            </a:r>
          </a:p>
        </p:txBody>
      </p:sp>
      <p:graphicFrame>
        <p:nvGraphicFramePr>
          <p:cNvPr id="38935"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38936"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AFEFF4DF-F5FE-4746-88FC-06FBB467497A}" type="slidenum">
              <a:rPr lang="en-US" altLang="en-US" sz="1200" smtClean="0">
                <a:latin typeface="Garamond" panose="02020404030301010803" pitchFamily="18" charset="0"/>
              </a:rPr>
              <a:pPr>
                <a:spcBef>
                  <a:spcPct val="0"/>
                </a:spcBef>
                <a:buClrTx/>
                <a:buSzTx/>
                <a:buFontTx/>
                <a:buNone/>
              </a:pPr>
              <a:t>31</a:t>
            </a:fld>
            <a:endParaRPr lang="en-US" altLang="en-US" sz="1200" smtClean="0">
              <a:latin typeface="Garamond" panose="02020404030301010803" pitchFamily="18" charset="0"/>
            </a:endParaRPr>
          </a:p>
        </p:txBody>
      </p:sp>
      <p:sp>
        <p:nvSpPr>
          <p:cNvPr id="39939" name="Rectangle 2"/>
          <p:cNvSpPr>
            <a:spLocks noGrp="1" noChangeArrowheads="1"/>
          </p:cNvSpPr>
          <p:nvPr>
            <p:ph type="title"/>
          </p:nvPr>
        </p:nvSpPr>
        <p:spPr>
          <a:xfrm>
            <a:off x="457200" y="277813"/>
            <a:ext cx="8229600" cy="636587"/>
          </a:xfrm>
        </p:spPr>
        <p:txBody>
          <a:bodyPr/>
          <a:lstStyle/>
          <a:p>
            <a:pPr algn="ctr" eaLnBrk="1" hangingPunct="1"/>
            <a:r>
              <a:rPr lang="en-US" altLang="en-US" sz="3600" b="1" u="sng" smtClean="0"/>
              <a:t>Crossover Methods</a:t>
            </a:r>
            <a:r>
              <a:rPr lang="en-US" altLang="en-US" sz="3600" b="1" smtClean="0"/>
              <a:t> (contd.)</a:t>
            </a:r>
          </a:p>
        </p:txBody>
      </p:sp>
      <p:sp>
        <p:nvSpPr>
          <p:cNvPr id="39940" name="Rectangle 3"/>
          <p:cNvSpPr>
            <a:spLocks noGrp="1" noChangeArrowheads="1"/>
          </p:cNvSpPr>
          <p:nvPr>
            <p:ph type="body" sz="half" idx="1"/>
          </p:nvPr>
        </p:nvSpPr>
        <p:spPr>
          <a:xfrm>
            <a:off x="457200" y="1219200"/>
            <a:ext cx="8305800" cy="1219200"/>
          </a:xfrm>
        </p:spPr>
        <p:txBody>
          <a:bodyPr/>
          <a:lstStyle/>
          <a:p>
            <a:pPr eaLnBrk="1" hangingPunct="1">
              <a:lnSpc>
                <a:spcPct val="90000"/>
              </a:lnSpc>
            </a:pPr>
            <a:r>
              <a:rPr lang="en-US" altLang="en-US" sz="2800" b="1" smtClean="0">
                <a:solidFill>
                  <a:schemeClr val="tx2"/>
                </a:solidFill>
              </a:rPr>
              <a:t>Uniform Crossover-</a:t>
            </a:r>
            <a:r>
              <a:rPr lang="en-US" altLang="en-US" sz="2600" smtClean="0"/>
              <a:t> </a:t>
            </a:r>
            <a:r>
              <a:rPr lang="en-US" altLang="en-US" sz="2400" smtClean="0"/>
              <a:t>Each gene (bit) is selected randomly from one of the corresponding genes of the parent chromosomes.</a:t>
            </a:r>
          </a:p>
          <a:p>
            <a:pPr eaLnBrk="1" hangingPunct="1">
              <a:lnSpc>
                <a:spcPct val="90000"/>
              </a:lnSpc>
              <a:buFont typeface="Wingdings" panose="05000000000000000000" pitchFamily="2" charset="2"/>
              <a:buNone/>
            </a:pPr>
            <a:endParaRPr lang="en-US" altLang="en-US" sz="2400" smtClean="0"/>
          </a:p>
        </p:txBody>
      </p:sp>
      <p:graphicFrame>
        <p:nvGraphicFramePr>
          <p:cNvPr id="158744" name="Group 24"/>
          <p:cNvGraphicFramePr>
            <a:graphicFrameLocks noGrp="1"/>
          </p:cNvGraphicFramePr>
          <p:nvPr>
            <p:ph sz="half" idx="2"/>
          </p:nvPr>
        </p:nvGraphicFramePr>
        <p:xfrm>
          <a:off x="1981200" y="2743200"/>
          <a:ext cx="5715000" cy="2209800"/>
        </p:xfrm>
        <a:graphic>
          <a:graphicData uri="http://schemas.openxmlformats.org/drawingml/2006/table">
            <a:tbl>
              <a:tblPr/>
              <a:tblGrid>
                <a:gridCol w="2124075"/>
                <a:gridCol w="3590925"/>
              </a:tblGrid>
              <a:tr h="733425">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rgbClr val="FF0000"/>
                          </a:solidFill>
                          <a:effectLst/>
                          <a:latin typeface="Arial" charset="0"/>
                        </a:rPr>
                        <a:t>Chromosome1</a:t>
                      </a:r>
                      <a:endParaRPr kumimoji="0" lang="en-US" sz="1800" b="1" i="0" u="none" strike="noStrike" cap="none" normalizeH="0" baseline="0" smtClean="0">
                        <a:ln>
                          <a:noFill/>
                        </a:ln>
                        <a:solidFill>
                          <a:srgbClr val="0000FF"/>
                        </a:solidFill>
                        <a:effectLst/>
                        <a:latin typeface="Arial" charset="0"/>
                      </a:endParaRP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rgbClr val="FF0000"/>
                          </a:solidFill>
                          <a:effectLst/>
                          <a:latin typeface="Arial" charset="0"/>
                        </a:rPr>
                        <a:t>11011 | 00100 | 110110</a:t>
                      </a:r>
                      <a:endParaRPr kumimoji="0" lang="en-US" sz="1800" b="1"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754063">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rgbClr val="0000FF"/>
                          </a:solidFill>
                          <a:effectLst/>
                          <a:latin typeface="Arial" charset="0"/>
                        </a:rPr>
                        <a:t>Chromosome 2</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rgbClr val="0000FF"/>
                          </a:solidFill>
                          <a:effectLst/>
                          <a:latin typeface="Arial" charset="0"/>
                        </a:rPr>
                        <a:t>10101 | 11000 |  011110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722313">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chemeClr val="tx1"/>
                          </a:solidFill>
                          <a:effectLst/>
                          <a:latin typeface="Arial" charset="0"/>
                        </a:rPr>
                        <a:t>Offspring </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rgbClr val="0000FF"/>
                          </a:solidFill>
                          <a:effectLst/>
                          <a:latin typeface="Arial" charset="0"/>
                        </a:rPr>
                        <a:t>101</a:t>
                      </a:r>
                      <a:r>
                        <a:rPr kumimoji="0" lang="en-US" sz="1800" b="1" i="0" u="none" strike="noStrike" cap="none" normalizeH="0" baseline="0" smtClean="0">
                          <a:ln>
                            <a:noFill/>
                          </a:ln>
                          <a:solidFill>
                            <a:srgbClr val="FF0000"/>
                          </a:solidFill>
                          <a:effectLst/>
                          <a:latin typeface="Arial" charset="0"/>
                        </a:rPr>
                        <a:t>11</a:t>
                      </a:r>
                      <a:r>
                        <a:rPr kumimoji="0" lang="en-US" sz="1800" b="1" i="0" u="none" strike="noStrike" cap="none" normalizeH="0" baseline="0" smtClean="0">
                          <a:ln>
                            <a:noFill/>
                          </a:ln>
                          <a:solidFill>
                            <a:schemeClr val="tx1"/>
                          </a:solidFill>
                          <a:effectLst/>
                          <a:latin typeface="Arial" charset="0"/>
                        </a:rPr>
                        <a:t> |</a:t>
                      </a:r>
                      <a:r>
                        <a:rPr kumimoji="0" lang="en-US" sz="1800" b="1" i="0" u="none" strike="noStrike" cap="none" normalizeH="0" baseline="0" smtClean="0">
                          <a:ln>
                            <a:noFill/>
                          </a:ln>
                          <a:solidFill>
                            <a:srgbClr val="0000FF"/>
                          </a:solidFill>
                          <a:effectLst/>
                          <a:latin typeface="Arial" charset="0"/>
                        </a:rPr>
                        <a:t> </a:t>
                      </a:r>
                      <a:r>
                        <a:rPr kumimoji="0" lang="en-US" sz="1800" b="1" i="0" u="none" strike="noStrike" cap="none" normalizeH="0" baseline="0" smtClean="0">
                          <a:ln>
                            <a:noFill/>
                          </a:ln>
                          <a:solidFill>
                            <a:srgbClr val="FF0000"/>
                          </a:solidFill>
                          <a:effectLst/>
                          <a:latin typeface="Arial" charset="0"/>
                        </a:rPr>
                        <a:t>00</a:t>
                      </a:r>
                      <a:r>
                        <a:rPr kumimoji="0" lang="en-US" sz="1800" b="1" i="0" u="none" strike="noStrike" cap="none" normalizeH="0" baseline="0" smtClean="0">
                          <a:ln>
                            <a:noFill/>
                          </a:ln>
                          <a:solidFill>
                            <a:srgbClr val="0000FF"/>
                          </a:solidFill>
                          <a:effectLst/>
                          <a:latin typeface="Arial" charset="0"/>
                        </a:rPr>
                        <a:t>00</a:t>
                      </a:r>
                      <a:r>
                        <a:rPr kumimoji="0" lang="en-US" sz="1800" b="1" i="0" u="none" strike="noStrike" cap="none" normalizeH="0" baseline="0" smtClean="0">
                          <a:ln>
                            <a:noFill/>
                          </a:ln>
                          <a:solidFill>
                            <a:srgbClr val="FF0000"/>
                          </a:solidFill>
                          <a:effectLst/>
                          <a:latin typeface="Arial" charset="0"/>
                        </a:rPr>
                        <a:t>0</a:t>
                      </a:r>
                      <a:r>
                        <a:rPr kumimoji="0" lang="en-US" sz="1800" b="1" i="0" u="none" strike="noStrike" cap="none" normalizeH="0" baseline="0" smtClean="0">
                          <a:ln>
                            <a:noFill/>
                          </a:ln>
                          <a:solidFill>
                            <a:srgbClr val="0000FF"/>
                          </a:solidFill>
                          <a:effectLst/>
                          <a:latin typeface="Arial" charset="0"/>
                        </a:rPr>
                        <a:t> </a:t>
                      </a:r>
                      <a:r>
                        <a:rPr kumimoji="0" lang="en-US" sz="1800" b="1" i="0" u="none" strike="noStrike" cap="none" normalizeH="0" baseline="0" smtClean="0">
                          <a:ln>
                            <a:noFill/>
                          </a:ln>
                          <a:solidFill>
                            <a:schemeClr val="tx1"/>
                          </a:solidFill>
                          <a:effectLst/>
                          <a:latin typeface="Arial" charset="0"/>
                        </a:rPr>
                        <a:t>|</a:t>
                      </a:r>
                      <a:r>
                        <a:rPr kumimoji="0" lang="en-US" sz="1800" b="1" i="0" u="none" strike="noStrike" cap="none" normalizeH="0" baseline="0" smtClean="0">
                          <a:ln>
                            <a:noFill/>
                          </a:ln>
                          <a:solidFill>
                            <a:srgbClr val="0000FF"/>
                          </a:solidFill>
                          <a:effectLst/>
                          <a:latin typeface="Arial" charset="0"/>
                        </a:rPr>
                        <a:t> </a:t>
                      </a:r>
                      <a:r>
                        <a:rPr kumimoji="0" lang="en-US" sz="1800" b="1" i="0" u="none" strike="noStrike" cap="none" normalizeH="0" baseline="0" smtClean="0">
                          <a:ln>
                            <a:noFill/>
                          </a:ln>
                          <a:solidFill>
                            <a:srgbClr val="FF0000"/>
                          </a:solidFill>
                          <a:effectLst/>
                          <a:latin typeface="Arial" charset="0"/>
                        </a:rPr>
                        <a:t> 110</a:t>
                      </a:r>
                      <a:r>
                        <a:rPr kumimoji="0" lang="en-US" sz="1800" b="1" i="0" u="none" strike="noStrike" cap="none" normalizeH="0" baseline="0" smtClean="0">
                          <a:ln>
                            <a:noFill/>
                          </a:ln>
                          <a:solidFill>
                            <a:srgbClr val="0000FF"/>
                          </a:solidFill>
                          <a:effectLst/>
                          <a:latin typeface="Arial" charset="0"/>
                        </a:rPr>
                        <a:t>110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39955" name="Text Box 25"/>
          <p:cNvSpPr txBox="1">
            <a:spLocks noChangeArrowheads="1"/>
          </p:cNvSpPr>
          <p:nvPr/>
        </p:nvSpPr>
        <p:spPr bwMode="auto">
          <a:xfrm>
            <a:off x="1066800" y="5334000"/>
            <a:ext cx="70866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1800">
                <a:solidFill>
                  <a:srgbClr val="CC3300"/>
                </a:solidFill>
              </a:rPr>
              <a:t>NOTE: Uniform Crossover yields ONLY 1 offspring.</a:t>
            </a:r>
          </a:p>
        </p:txBody>
      </p:sp>
      <p:graphicFrame>
        <p:nvGraphicFramePr>
          <p:cNvPr id="39956"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39957"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BCEC593B-C5B6-41FC-95E6-AAA27D78A57E}" type="slidenum">
              <a:rPr lang="en-US" altLang="en-US" sz="1200" smtClean="0">
                <a:latin typeface="Garamond" panose="02020404030301010803" pitchFamily="18" charset="0"/>
              </a:rPr>
              <a:pPr>
                <a:spcBef>
                  <a:spcPct val="0"/>
                </a:spcBef>
                <a:buClrTx/>
                <a:buSzTx/>
                <a:buFontTx/>
                <a:buNone/>
              </a:pPr>
              <a:t>32</a:t>
            </a:fld>
            <a:endParaRPr lang="en-US" altLang="en-US" sz="1200" smtClean="0">
              <a:latin typeface="Garamond" panose="02020404030301010803" pitchFamily="18" charset="0"/>
            </a:endParaRPr>
          </a:p>
        </p:txBody>
      </p:sp>
      <p:sp>
        <p:nvSpPr>
          <p:cNvPr id="40963" name="Rectangle 2"/>
          <p:cNvSpPr>
            <a:spLocks noGrp="1" noChangeArrowheads="1"/>
          </p:cNvSpPr>
          <p:nvPr>
            <p:ph type="title"/>
          </p:nvPr>
        </p:nvSpPr>
        <p:spPr/>
        <p:txBody>
          <a:bodyPr/>
          <a:lstStyle/>
          <a:p>
            <a:pPr algn="ctr" eaLnBrk="1" hangingPunct="1"/>
            <a:r>
              <a:rPr lang="en-US" altLang="en-US" sz="4000" b="1" u="sng" smtClean="0"/>
              <a:t>Crossover </a:t>
            </a:r>
            <a:r>
              <a:rPr lang="en-US" altLang="en-US" sz="4000" b="1" smtClean="0"/>
              <a:t>(contd.)</a:t>
            </a:r>
          </a:p>
        </p:txBody>
      </p:sp>
      <p:sp>
        <p:nvSpPr>
          <p:cNvPr id="40964" name="Rectangle 3"/>
          <p:cNvSpPr>
            <a:spLocks noGrp="1" noChangeArrowheads="1"/>
          </p:cNvSpPr>
          <p:nvPr>
            <p:ph type="body" idx="1"/>
          </p:nvPr>
        </p:nvSpPr>
        <p:spPr/>
        <p:txBody>
          <a:bodyPr/>
          <a:lstStyle/>
          <a:p>
            <a:pPr eaLnBrk="1" hangingPunct="1"/>
            <a:r>
              <a:rPr lang="en-US" altLang="en-US" sz="2800" smtClean="0"/>
              <a:t>Crossover between 2 good solutions </a:t>
            </a:r>
            <a:r>
              <a:rPr lang="en-US" altLang="en-US" sz="2800" b="1" smtClean="0">
                <a:solidFill>
                  <a:srgbClr val="CC3300"/>
                </a:solidFill>
              </a:rPr>
              <a:t>MAY NOT ALWAYS</a:t>
            </a:r>
            <a:r>
              <a:rPr lang="en-US" altLang="en-US" sz="2800" smtClean="0"/>
              <a:t> yield a better or as good a solution.</a:t>
            </a:r>
          </a:p>
          <a:p>
            <a:pPr eaLnBrk="1" hangingPunct="1">
              <a:buFont typeface="Wingdings" panose="05000000000000000000" pitchFamily="2" charset="2"/>
              <a:buNone/>
            </a:pPr>
            <a:endParaRPr lang="en-US" altLang="en-US" sz="2800" smtClean="0"/>
          </a:p>
          <a:p>
            <a:pPr eaLnBrk="1" hangingPunct="1"/>
            <a:r>
              <a:rPr lang="en-US" altLang="en-US" sz="2800" smtClean="0"/>
              <a:t>Since parents are good, probability of the child being good is high.</a:t>
            </a:r>
          </a:p>
          <a:p>
            <a:pPr eaLnBrk="1" hangingPunct="1">
              <a:buFont typeface="Wingdings" panose="05000000000000000000" pitchFamily="2" charset="2"/>
              <a:buNone/>
            </a:pPr>
            <a:endParaRPr lang="en-US" altLang="en-US" sz="2800" smtClean="0"/>
          </a:p>
          <a:p>
            <a:pPr eaLnBrk="1" hangingPunct="1"/>
            <a:r>
              <a:rPr lang="en-US" altLang="en-US" sz="2800" smtClean="0"/>
              <a:t>If offspring is not good (poor solution), it will be removed in the next iteration during “Selection”.</a:t>
            </a:r>
            <a:r>
              <a:rPr lang="en-US" altLang="en-US" sz="2800" smtClean="0">
                <a:solidFill>
                  <a:schemeClr val="tx2"/>
                </a:solidFill>
              </a:rPr>
              <a:t> </a:t>
            </a:r>
          </a:p>
        </p:txBody>
      </p:sp>
      <p:graphicFrame>
        <p:nvGraphicFramePr>
          <p:cNvPr id="40965"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40966"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BB26274-453C-46B2-B3D0-CD474386C8FF}" type="slidenum">
              <a:rPr lang="en-US" altLang="en-US" sz="1200" smtClean="0">
                <a:latin typeface="Garamond" panose="02020404030301010803" pitchFamily="18" charset="0"/>
              </a:rPr>
              <a:pPr>
                <a:spcBef>
                  <a:spcPct val="0"/>
                </a:spcBef>
                <a:buClrTx/>
                <a:buSzTx/>
                <a:buFontTx/>
                <a:buNone/>
              </a:pPr>
              <a:t>33</a:t>
            </a:fld>
            <a:endParaRPr lang="en-US" altLang="en-US" sz="1200" smtClean="0">
              <a:latin typeface="Garamond" panose="02020404030301010803" pitchFamily="18" charset="0"/>
            </a:endParaRPr>
          </a:p>
        </p:txBody>
      </p:sp>
      <p:sp>
        <p:nvSpPr>
          <p:cNvPr id="41987" name="Rectangle 2"/>
          <p:cNvSpPr>
            <a:spLocks noGrp="1" noChangeArrowheads="1"/>
          </p:cNvSpPr>
          <p:nvPr>
            <p:ph type="title"/>
          </p:nvPr>
        </p:nvSpPr>
        <p:spPr>
          <a:xfrm>
            <a:off x="457200" y="277813"/>
            <a:ext cx="8229600" cy="788987"/>
          </a:xfrm>
        </p:spPr>
        <p:txBody>
          <a:bodyPr/>
          <a:lstStyle/>
          <a:p>
            <a:pPr algn="ctr" eaLnBrk="1" hangingPunct="1"/>
            <a:r>
              <a:rPr lang="en-US" altLang="en-US" sz="4000" b="1" u="sng" smtClean="0"/>
              <a:t>Elitism</a:t>
            </a:r>
            <a:r>
              <a:rPr lang="en-US" altLang="en-US" sz="4600" smtClean="0"/>
              <a:t>	</a:t>
            </a:r>
          </a:p>
        </p:txBody>
      </p:sp>
      <p:sp>
        <p:nvSpPr>
          <p:cNvPr id="41988" name="Rectangle 3"/>
          <p:cNvSpPr>
            <a:spLocks noGrp="1" noChangeArrowheads="1"/>
          </p:cNvSpPr>
          <p:nvPr>
            <p:ph type="body" idx="1"/>
          </p:nvPr>
        </p:nvSpPr>
        <p:spPr>
          <a:xfrm>
            <a:off x="685800" y="1219200"/>
            <a:ext cx="7620000" cy="4724400"/>
          </a:xfrm>
        </p:spPr>
        <p:txBody>
          <a:bodyPr/>
          <a:lstStyle/>
          <a:p>
            <a:pPr eaLnBrk="1" hangingPunct="1">
              <a:lnSpc>
                <a:spcPct val="90000"/>
              </a:lnSpc>
              <a:buFont typeface="Wingdings" panose="05000000000000000000" pitchFamily="2" charset="2"/>
              <a:buNone/>
            </a:pPr>
            <a:r>
              <a:rPr lang="en-US" altLang="en-US" sz="2800" i="1" smtClean="0">
                <a:solidFill>
                  <a:schemeClr val="tx2"/>
                </a:solidFill>
              </a:rPr>
              <a:t>   Elitism is a method which copies the best chromosome to the new offspring population before crossover and mutation.</a:t>
            </a:r>
          </a:p>
          <a:p>
            <a:pPr eaLnBrk="1" hangingPunct="1">
              <a:lnSpc>
                <a:spcPct val="90000"/>
              </a:lnSpc>
              <a:buFont typeface="Wingdings" panose="05000000000000000000" pitchFamily="2" charset="2"/>
              <a:buNone/>
            </a:pPr>
            <a:endParaRPr lang="en-US" altLang="en-US" sz="2400" smtClean="0"/>
          </a:p>
          <a:p>
            <a:pPr eaLnBrk="1" hangingPunct="1">
              <a:lnSpc>
                <a:spcPct val="90000"/>
              </a:lnSpc>
            </a:pPr>
            <a:r>
              <a:rPr lang="en-US" altLang="en-US" sz="2400" smtClean="0"/>
              <a:t>When creating a new population by crossover or mutation the best chromosome might be lost. </a:t>
            </a:r>
          </a:p>
          <a:p>
            <a:pPr eaLnBrk="1" hangingPunct="1">
              <a:lnSpc>
                <a:spcPct val="90000"/>
              </a:lnSpc>
              <a:buFont typeface="Wingdings" panose="05000000000000000000" pitchFamily="2" charset="2"/>
              <a:buNone/>
            </a:pPr>
            <a:endParaRPr lang="en-US" altLang="en-US" sz="2400" smtClean="0"/>
          </a:p>
          <a:p>
            <a:pPr eaLnBrk="1" hangingPunct="1">
              <a:lnSpc>
                <a:spcPct val="90000"/>
              </a:lnSpc>
            </a:pPr>
            <a:r>
              <a:rPr lang="en-US" altLang="en-US" sz="2400" smtClean="0"/>
              <a:t>Forces GAs to retain some number of the best individuals at each generation.</a:t>
            </a:r>
          </a:p>
          <a:p>
            <a:pPr eaLnBrk="1" hangingPunct="1">
              <a:lnSpc>
                <a:spcPct val="90000"/>
              </a:lnSpc>
            </a:pPr>
            <a:endParaRPr lang="en-US" altLang="en-US" sz="2400" smtClean="0"/>
          </a:p>
          <a:p>
            <a:pPr eaLnBrk="1" hangingPunct="1">
              <a:lnSpc>
                <a:spcPct val="90000"/>
              </a:lnSpc>
            </a:pPr>
            <a:r>
              <a:rPr lang="en-US" altLang="en-US" sz="2400" smtClean="0"/>
              <a:t>Has been found that elitism significantly improves performance.</a:t>
            </a:r>
          </a:p>
          <a:p>
            <a:pPr eaLnBrk="1" hangingPunct="1">
              <a:lnSpc>
                <a:spcPct val="90000"/>
              </a:lnSpc>
              <a:buFont typeface="Wingdings" panose="05000000000000000000" pitchFamily="2" charset="2"/>
              <a:buNone/>
            </a:pPr>
            <a:endParaRPr lang="en-US" altLang="en-US" sz="2400" smtClean="0"/>
          </a:p>
        </p:txBody>
      </p:sp>
      <p:graphicFrame>
        <p:nvGraphicFramePr>
          <p:cNvPr id="41989"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41990"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67E2446E-7D28-4FCB-ADC7-DCBF01969B16}" type="slidenum">
              <a:rPr lang="en-US" altLang="en-US" sz="1200" smtClean="0">
                <a:latin typeface="Garamond" panose="02020404030301010803" pitchFamily="18" charset="0"/>
              </a:rPr>
              <a:pPr>
                <a:spcBef>
                  <a:spcPct val="0"/>
                </a:spcBef>
                <a:buClrTx/>
                <a:buSzTx/>
                <a:buFontTx/>
                <a:buNone/>
              </a:pPr>
              <a:t>34</a:t>
            </a:fld>
            <a:endParaRPr lang="en-US" altLang="en-US" sz="1200" smtClean="0">
              <a:latin typeface="Garamond" panose="02020404030301010803" pitchFamily="18" charset="0"/>
            </a:endParaRPr>
          </a:p>
        </p:txBody>
      </p:sp>
      <p:sp>
        <p:nvSpPr>
          <p:cNvPr id="43011" name="Rectangle 5"/>
          <p:cNvSpPr>
            <a:spLocks noGrp="1" noChangeArrowheads="1"/>
          </p:cNvSpPr>
          <p:nvPr>
            <p:ph type="title"/>
          </p:nvPr>
        </p:nvSpPr>
        <p:spPr>
          <a:xfrm>
            <a:off x="457200" y="277813"/>
            <a:ext cx="8229600" cy="636587"/>
          </a:xfrm>
        </p:spPr>
        <p:txBody>
          <a:bodyPr/>
          <a:lstStyle/>
          <a:p>
            <a:pPr algn="ctr" eaLnBrk="1" hangingPunct="1"/>
            <a:r>
              <a:rPr lang="en-US" altLang="en-US" sz="4000" b="1" u="sng" smtClean="0"/>
              <a:t>Mutation</a:t>
            </a:r>
          </a:p>
        </p:txBody>
      </p:sp>
      <p:sp>
        <p:nvSpPr>
          <p:cNvPr id="43012" name="Rectangle 6"/>
          <p:cNvSpPr>
            <a:spLocks noGrp="1" noChangeArrowheads="1"/>
          </p:cNvSpPr>
          <p:nvPr>
            <p:ph type="body" idx="1"/>
          </p:nvPr>
        </p:nvSpPr>
        <p:spPr>
          <a:xfrm>
            <a:off x="457200" y="1219200"/>
            <a:ext cx="8229600" cy="4911725"/>
          </a:xfrm>
        </p:spPr>
        <p:txBody>
          <a:bodyPr/>
          <a:lstStyle/>
          <a:p>
            <a:pPr eaLnBrk="1" hangingPunct="1">
              <a:buFont typeface="Wingdings" panose="05000000000000000000" pitchFamily="2" charset="2"/>
              <a:buNone/>
            </a:pPr>
            <a:r>
              <a:rPr lang="en-US" altLang="en-US" sz="2800" i="1" smtClean="0"/>
              <a:t>   </a:t>
            </a:r>
            <a:r>
              <a:rPr lang="en-US" altLang="en-US" sz="2800" i="1" smtClean="0">
                <a:solidFill>
                  <a:schemeClr val="tx2"/>
                </a:solidFill>
              </a:rPr>
              <a:t>It is the process by which a string is deliberately changed so as to maintain diversity in the population set.</a:t>
            </a:r>
          </a:p>
          <a:p>
            <a:pPr eaLnBrk="1" hangingPunct="1">
              <a:buFont typeface="Wingdings" panose="05000000000000000000" pitchFamily="2" charset="2"/>
              <a:buNone/>
            </a:pPr>
            <a:endParaRPr lang="en-US" altLang="en-US" sz="2800" i="1" smtClean="0">
              <a:solidFill>
                <a:schemeClr val="tx2"/>
              </a:solidFill>
            </a:endParaRPr>
          </a:p>
          <a:p>
            <a:pPr eaLnBrk="1" hangingPunct="1">
              <a:buFont typeface="Wingdings" panose="05000000000000000000" pitchFamily="2" charset="2"/>
              <a:buNone/>
            </a:pPr>
            <a:r>
              <a:rPr lang="en-US" altLang="en-US" sz="2800" i="1" smtClean="0">
                <a:solidFill>
                  <a:schemeClr val="tx2"/>
                </a:solidFill>
              </a:rPr>
              <a:t>   </a:t>
            </a:r>
            <a:r>
              <a:rPr lang="en-US" altLang="en-US" sz="2400" smtClean="0"/>
              <a:t>We saw in the giraffes’ example, that mutations could be beneficial.</a:t>
            </a:r>
          </a:p>
          <a:p>
            <a:pPr eaLnBrk="1" hangingPunct="1">
              <a:buFont typeface="Wingdings" panose="05000000000000000000" pitchFamily="2" charset="2"/>
              <a:buNone/>
            </a:pPr>
            <a:endParaRPr lang="en-US" altLang="en-US" sz="2400" smtClean="0"/>
          </a:p>
          <a:p>
            <a:pPr eaLnBrk="1" hangingPunct="1">
              <a:buFont typeface="Wingdings" panose="05000000000000000000" pitchFamily="2" charset="2"/>
              <a:buNone/>
            </a:pPr>
            <a:r>
              <a:rPr lang="en-US" altLang="en-US" sz="2800" b="1" i="1" smtClean="0">
                <a:solidFill>
                  <a:schemeClr val="tx2"/>
                </a:solidFill>
              </a:rPr>
              <a:t>   </a:t>
            </a:r>
            <a:r>
              <a:rPr lang="en-US" altLang="en-US" sz="2800" b="1" i="1" smtClean="0">
                <a:solidFill>
                  <a:srgbClr val="CC3300"/>
                </a:solidFill>
              </a:rPr>
              <a:t>Mutation Probability-</a:t>
            </a:r>
            <a:r>
              <a:rPr lang="en-US" altLang="en-US" i="1" smtClean="0"/>
              <a:t> </a:t>
            </a:r>
            <a:r>
              <a:rPr lang="en-US" altLang="en-US" sz="2400" smtClean="0"/>
              <a:t>determines how often the parts of a chromosome will be mutated.</a:t>
            </a:r>
            <a:r>
              <a:rPr lang="en-US" altLang="en-US" smtClean="0"/>
              <a:t> </a:t>
            </a:r>
          </a:p>
        </p:txBody>
      </p:sp>
      <p:graphicFrame>
        <p:nvGraphicFramePr>
          <p:cNvPr id="43013"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43014"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Number Placeholder 6"/>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7CE4B0D7-2E6F-4D7B-932E-6196DBE237E8}" type="slidenum">
              <a:rPr lang="en-US" altLang="en-US" sz="1200" smtClean="0">
                <a:latin typeface="Garamond" panose="02020404030301010803" pitchFamily="18" charset="0"/>
              </a:rPr>
              <a:pPr>
                <a:spcBef>
                  <a:spcPct val="0"/>
                </a:spcBef>
                <a:buClrTx/>
                <a:buSzTx/>
                <a:buFontTx/>
                <a:buNone/>
              </a:pPr>
              <a:t>35</a:t>
            </a:fld>
            <a:endParaRPr lang="en-US" altLang="en-US" sz="1200" smtClean="0">
              <a:latin typeface="Garamond" panose="02020404030301010803" pitchFamily="18" charset="0"/>
            </a:endParaRPr>
          </a:p>
        </p:txBody>
      </p:sp>
      <p:sp>
        <p:nvSpPr>
          <p:cNvPr id="44035" name="Rectangle 2"/>
          <p:cNvSpPr>
            <a:spLocks noGrp="1" noChangeArrowheads="1"/>
          </p:cNvSpPr>
          <p:nvPr>
            <p:ph type="title"/>
          </p:nvPr>
        </p:nvSpPr>
        <p:spPr/>
        <p:txBody>
          <a:bodyPr/>
          <a:lstStyle/>
          <a:p>
            <a:pPr algn="ctr" eaLnBrk="1" hangingPunct="1"/>
            <a:r>
              <a:rPr lang="en-US" altLang="en-US" sz="4000" b="1" u="sng" smtClean="0"/>
              <a:t>Example Of Mutation</a:t>
            </a:r>
          </a:p>
        </p:txBody>
      </p:sp>
      <p:sp>
        <p:nvSpPr>
          <p:cNvPr id="44036" name="Rectangle 3"/>
          <p:cNvSpPr>
            <a:spLocks noGrp="1" noChangeArrowheads="1"/>
          </p:cNvSpPr>
          <p:nvPr>
            <p:ph type="body" sz="half" idx="1"/>
          </p:nvPr>
        </p:nvSpPr>
        <p:spPr>
          <a:xfrm>
            <a:off x="457200" y="1600200"/>
            <a:ext cx="8229600" cy="4530725"/>
          </a:xfrm>
        </p:spPr>
        <p:txBody>
          <a:bodyPr/>
          <a:lstStyle/>
          <a:p>
            <a:pPr eaLnBrk="1" hangingPunct="1"/>
            <a:r>
              <a:rPr lang="en-US" altLang="en-US" sz="2400" smtClean="0"/>
              <a:t>For  chromosomes using Binary Encoding, randomly selected bits are inverted.</a:t>
            </a:r>
          </a:p>
        </p:txBody>
      </p:sp>
      <p:graphicFrame>
        <p:nvGraphicFramePr>
          <p:cNvPr id="37926" name="Group 38"/>
          <p:cNvGraphicFramePr>
            <a:graphicFrameLocks noGrp="1"/>
          </p:cNvGraphicFramePr>
          <p:nvPr>
            <p:ph sz="half" idx="2"/>
          </p:nvPr>
        </p:nvGraphicFramePr>
        <p:xfrm>
          <a:off x="1676400" y="3048000"/>
          <a:ext cx="5943600" cy="1897063"/>
        </p:xfrm>
        <a:graphic>
          <a:graphicData uri="http://schemas.openxmlformats.org/drawingml/2006/table">
            <a:tbl>
              <a:tblPr/>
              <a:tblGrid>
                <a:gridCol w="2209800"/>
                <a:gridCol w="3733800"/>
              </a:tblGrid>
              <a:tr h="935038">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chemeClr val="tx1"/>
                          </a:solidFill>
                          <a:effectLst/>
                          <a:latin typeface="Arial" charset="0"/>
                        </a:rPr>
                        <a:t>Offspring</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chemeClr val="tx1"/>
                          </a:solidFill>
                          <a:effectLst/>
                          <a:latin typeface="Arial" charset="0"/>
                        </a:rPr>
                        <a:t>1101</a:t>
                      </a:r>
                      <a:r>
                        <a:rPr kumimoji="0" lang="en-US" sz="1800" b="1" i="0" u="none" strike="noStrike" cap="none" normalizeH="0" baseline="0" smtClean="0">
                          <a:ln>
                            <a:noFill/>
                          </a:ln>
                          <a:solidFill>
                            <a:srgbClr val="FF3300"/>
                          </a:solidFill>
                          <a:effectLst/>
                          <a:latin typeface="Arial" charset="0"/>
                        </a:rPr>
                        <a:t>1</a:t>
                      </a:r>
                      <a:r>
                        <a:rPr kumimoji="0" lang="en-US" sz="1800" b="1" i="0" u="none" strike="noStrike" cap="none" normalizeH="0" baseline="0" smtClean="0">
                          <a:ln>
                            <a:noFill/>
                          </a:ln>
                          <a:solidFill>
                            <a:schemeClr val="tx1"/>
                          </a:solidFill>
                          <a:effectLst/>
                          <a:latin typeface="Arial" charset="0"/>
                        </a:rPr>
                        <a:t> 00100 1</a:t>
                      </a:r>
                      <a:r>
                        <a:rPr kumimoji="0" lang="en-US" sz="1800" b="1" i="0" u="none" strike="noStrike" cap="none" normalizeH="0" baseline="0" smtClean="0">
                          <a:ln>
                            <a:noFill/>
                          </a:ln>
                          <a:solidFill>
                            <a:srgbClr val="FF3300"/>
                          </a:solidFill>
                          <a:effectLst/>
                          <a:latin typeface="Arial" charset="0"/>
                        </a:rPr>
                        <a:t>1</a:t>
                      </a:r>
                      <a:r>
                        <a:rPr kumimoji="0" lang="en-US" sz="1800" b="1" i="0" u="none" strike="noStrike" cap="none" normalizeH="0" baseline="0" smtClean="0">
                          <a:ln>
                            <a:noFill/>
                          </a:ln>
                          <a:solidFill>
                            <a:schemeClr val="tx1"/>
                          </a:solidFill>
                          <a:effectLst/>
                          <a:latin typeface="Arial" charset="0"/>
                        </a:rPr>
                        <a:t>0110</a:t>
                      </a: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r>
              <a:tr h="962025">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chemeClr val="tx1"/>
                          </a:solidFill>
                          <a:effectLst/>
                          <a:latin typeface="Arial" charset="0"/>
                        </a:rPr>
                        <a:t>Mutated Offspring</a:t>
                      </a:r>
                    </a:p>
                  </a:txBody>
                  <a:tcPr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1800" b="1" i="0" u="none" strike="noStrike" cap="none" normalizeH="0" baseline="0" smtClean="0">
                          <a:ln>
                            <a:noFill/>
                          </a:ln>
                          <a:solidFill>
                            <a:schemeClr val="tx1"/>
                          </a:solidFill>
                          <a:effectLst/>
                          <a:latin typeface="Arial" charset="0"/>
                        </a:rPr>
                        <a:t>1101</a:t>
                      </a:r>
                      <a:r>
                        <a:rPr kumimoji="0" lang="en-US" sz="1800" b="1" i="0" u="none" strike="noStrike" cap="none" normalizeH="0" baseline="0" smtClean="0">
                          <a:ln>
                            <a:noFill/>
                          </a:ln>
                          <a:solidFill>
                            <a:srgbClr val="FF3300"/>
                          </a:solidFill>
                          <a:effectLst/>
                          <a:latin typeface="Arial" charset="0"/>
                        </a:rPr>
                        <a:t>0 </a:t>
                      </a:r>
                      <a:r>
                        <a:rPr kumimoji="0" lang="en-US" sz="1800" b="1" i="0" u="none" strike="noStrike" cap="none" normalizeH="0" baseline="0" smtClean="0">
                          <a:ln>
                            <a:noFill/>
                          </a:ln>
                          <a:solidFill>
                            <a:schemeClr val="tx1"/>
                          </a:solidFill>
                          <a:effectLst/>
                          <a:latin typeface="Arial" charset="0"/>
                        </a:rPr>
                        <a:t>00100 1</a:t>
                      </a:r>
                      <a:r>
                        <a:rPr kumimoji="0" lang="en-US" sz="1800" b="1" i="0" u="none" strike="noStrike" cap="none" normalizeH="0" baseline="0" smtClean="0">
                          <a:ln>
                            <a:noFill/>
                          </a:ln>
                          <a:solidFill>
                            <a:srgbClr val="FF3300"/>
                          </a:solidFill>
                          <a:effectLst/>
                          <a:latin typeface="Arial" charset="0"/>
                        </a:rPr>
                        <a:t>0</a:t>
                      </a:r>
                      <a:r>
                        <a:rPr kumimoji="0" lang="en-US" sz="1800" b="1" i="0" u="none" strike="noStrike" cap="none" normalizeH="0" baseline="0" smtClean="0">
                          <a:ln>
                            <a:noFill/>
                          </a:ln>
                          <a:solidFill>
                            <a:schemeClr val="tx1"/>
                          </a:solidFill>
                          <a:effectLst/>
                          <a:latin typeface="Arial" charset="0"/>
                        </a:rPr>
                        <a:t>0110</a:t>
                      </a:r>
                    </a:p>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endParaRPr kumimoji="0" lang="en-US" sz="1800" b="1" i="0" u="none" strike="noStrike" cap="none" normalizeH="0" baseline="0" smtClean="0">
                        <a:ln>
                          <a:noFill/>
                        </a:ln>
                        <a:solidFill>
                          <a:schemeClr val="tx1"/>
                        </a:solidFill>
                        <a:effectLst/>
                        <a:latin typeface="Arial" charset="0"/>
                      </a:endParaRPr>
                    </a:p>
                  </a:txBody>
                  <a:tcPr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r>
            </a:tbl>
          </a:graphicData>
        </a:graphic>
      </p:graphicFrame>
      <p:sp>
        <p:nvSpPr>
          <p:cNvPr id="44048" name="Text Box 39"/>
          <p:cNvSpPr txBox="1">
            <a:spLocks noChangeArrowheads="1"/>
          </p:cNvSpPr>
          <p:nvPr/>
        </p:nvSpPr>
        <p:spPr bwMode="auto">
          <a:xfrm>
            <a:off x="152400" y="5334000"/>
            <a:ext cx="8763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1800">
                <a:solidFill>
                  <a:srgbClr val="CC3300"/>
                </a:solidFill>
              </a:rPr>
              <a:t>NOTE: The number of bits to be inverted depends on the Mutation Probability.</a:t>
            </a:r>
          </a:p>
        </p:txBody>
      </p:sp>
      <p:graphicFrame>
        <p:nvGraphicFramePr>
          <p:cNvPr id="44049"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44050"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Number Placeholder 5"/>
          <p:cNvSpPr>
            <a:spLocks noGrp="1"/>
          </p:cNvSpPr>
          <p:nvPr>
            <p:ph type="sldNum" sz="quarter" idx="12"/>
          </p:nvPr>
        </p:nvSpPr>
        <p:spPr>
          <a:xfrm>
            <a:off x="6553200" y="6248400"/>
            <a:ext cx="2133600" cy="4572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337DD07F-C29D-48B7-B776-BDB73E0F2FBC}" type="slidenum">
              <a:rPr lang="en-US" altLang="en-US" sz="1200" smtClean="0">
                <a:latin typeface="Garamond" panose="02020404030301010803" pitchFamily="18" charset="0"/>
              </a:rPr>
              <a:pPr>
                <a:spcBef>
                  <a:spcPct val="0"/>
                </a:spcBef>
                <a:buClrTx/>
                <a:buSzTx/>
                <a:buFontTx/>
                <a:buNone/>
              </a:pPr>
              <a:t>36</a:t>
            </a:fld>
            <a:endParaRPr lang="en-US" altLang="en-US" sz="1200" smtClean="0">
              <a:latin typeface="Garamond" panose="02020404030301010803" pitchFamily="18" charset="0"/>
            </a:endParaRPr>
          </a:p>
        </p:txBody>
      </p:sp>
      <p:sp>
        <p:nvSpPr>
          <p:cNvPr id="45059" name="Rectangle 2"/>
          <p:cNvSpPr>
            <a:spLocks noGrp="1" noChangeArrowheads="1"/>
          </p:cNvSpPr>
          <p:nvPr>
            <p:ph type="title"/>
          </p:nvPr>
        </p:nvSpPr>
        <p:spPr>
          <a:xfrm>
            <a:off x="457200" y="76200"/>
            <a:ext cx="8229600" cy="1139825"/>
          </a:xfrm>
        </p:spPr>
        <p:txBody>
          <a:bodyPr/>
          <a:lstStyle/>
          <a:p>
            <a:pPr algn="ctr" eaLnBrk="1" hangingPunct="1"/>
            <a:r>
              <a:rPr lang="en-US" altLang="en-US" sz="4000" b="1" u="sng" smtClean="0"/>
              <a:t>Advantages Of GAs</a:t>
            </a:r>
          </a:p>
        </p:txBody>
      </p:sp>
      <p:sp>
        <p:nvSpPr>
          <p:cNvPr id="45060" name="Rectangle 3"/>
          <p:cNvSpPr>
            <a:spLocks noGrp="1" noChangeArrowheads="1"/>
          </p:cNvSpPr>
          <p:nvPr>
            <p:ph type="body" idx="1"/>
          </p:nvPr>
        </p:nvSpPr>
        <p:spPr>
          <a:xfrm>
            <a:off x="381000" y="609600"/>
            <a:ext cx="8229600" cy="2667000"/>
          </a:xfrm>
        </p:spPr>
        <p:txBody>
          <a:bodyPr/>
          <a:lstStyle/>
          <a:p>
            <a:pPr eaLnBrk="1" hangingPunct="1"/>
            <a:r>
              <a:rPr lang="en-US" altLang="en-US" sz="2800" b="1" smtClean="0">
                <a:solidFill>
                  <a:schemeClr val="tx2"/>
                </a:solidFill>
              </a:rPr>
              <a:t>Global Search Methods</a:t>
            </a:r>
            <a:r>
              <a:rPr lang="en-US" altLang="en-US" sz="2400" b="1" smtClean="0">
                <a:solidFill>
                  <a:schemeClr val="tx2"/>
                </a:solidFill>
              </a:rPr>
              <a:t>:</a:t>
            </a:r>
            <a:r>
              <a:rPr lang="en-US" altLang="en-US" sz="2400" smtClean="0"/>
              <a:t> GAs search for the function optimum starting from a </a:t>
            </a:r>
            <a:r>
              <a:rPr lang="en-US" altLang="en-US" sz="2400" i="1" smtClean="0">
                <a:solidFill>
                  <a:srgbClr val="CC3300"/>
                </a:solidFill>
              </a:rPr>
              <a:t>population of points</a:t>
            </a:r>
            <a:r>
              <a:rPr lang="en-US" altLang="en-US" sz="2400" smtClean="0"/>
              <a:t> of the function domain, not a single one. This characteristic suggests that GAs are global search methods. They can, in fact, climb many peaks in parallel, reducing the probability of finding </a:t>
            </a:r>
            <a:r>
              <a:rPr lang="en-US" altLang="en-US" sz="2400" smtClean="0">
                <a:solidFill>
                  <a:srgbClr val="FF0000"/>
                </a:solidFill>
              </a:rPr>
              <a:t>local minima</a:t>
            </a:r>
            <a:r>
              <a:rPr lang="en-US" altLang="en-US" sz="2400" smtClean="0"/>
              <a:t>, which is one of the drawbacks of traditional optimization methods.</a:t>
            </a:r>
          </a:p>
        </p:txBody>
      </p:sp>
      <p:sp>
        <p:nvSpPr>
          <p:cNvPr id="5" name="Freeform 4"/>
          <p:cNvSpPr>
            <a:spLocks/>
          </p:cNvSpPr>
          <p:nvPr/>
        </p:nvSpPr>
        <p:spPr bwMode="auto">
          <a:xfrm>
            <a:off x="1143000" y="3733800"/>
            <a:ext cx="7315200" cy="3060700"/>
          </a:xfrm>
          <a:custGeom>
            <a:avLst/>
            <a:gdLst/>
            <a:ahLst/>
            <a:cxnLst>
              <a:cxn ang="0">
                <a:pos x="0" y="2072"/>
              </a:cxn>
              <a:cxn ang="0">
                <a:pos x="432" y="1640"/>
              </a:cxn>
              <a:cxn ang="0">
                <a:pos x="912" y="1880"/>
              </a:cxn>
              <a:cxn ang="0">
                <a:pos x="1536" y="872"/>
              </a:cxn>
              <a:cxn ang="0">
                <a:pos x="2400" y="1448"/>
              </a:cxn>
              <a:cxn ang="0">
                <a:pos x="2928" y="1208"/>
              </a:cxn>
              <a:cxn ang="0">
                <a:pos x="3312" y="1448"/>
              </a:cxn>
              <a:cxn ang="0">
                <a:pos x="3888" y="56"/>
              </a:cxn>
              <a:cxn ang="0">
                <a:pos x="4608" y="1784"/>
              </a:cxn>
            </a:cxnLst>
            <a:rect l="0" t="0" r="r" b="b"/>
            <a:pathLst>
              <a:path w="4608" h="2072">
                <a:moveTo>
                  <a:pt x="0" y="2072"/>
                </a:moveTo>
                <a:cubicBezTo>
                  <a:pt x="140" y="1872"/>
                  <a:pt x="280" y="1672"/>
                  <a:pt x="432" y="1640"/>
                </a:cubicBezTo>
                <a:cubicBezTo>
                  <a:pt x="584" y="1608"/>
                  <a:pt x="728" y="2008"/>
                  <a:pt x="912" y="1880"/>
                </a:cubicBezTo>
                <a:cubicBezTo>
                  <a:pt x="1096" y="1752"/>
                  <a:pt x="1288" y="944"/>
                  <a:pt x="1536" y="872"/>
                </a:cubicBezTo>
                <a:cubicBezTo>
                  <a:pt x="1784" y="800"/>
                  <a:pt x="2168" y="1392"/>
                  <a:pt x="2400" y="1448"/>
                </a:cubicBezTo>
                <a:cubicBezTo>
                  <a:pt x="2632" y="1504"/>
                  <a:pt x="2776" y="1208"/>
                  <a:pt x="2928" y="1208"/>
                </a:cubicBezTo>
                <a:cubicBezTo>
                  <a:pt x="3080" y="1208"/>
                  <a:pt x="3152" y="1640"/>
                  <a:pt x="3312" y="1448"/>
                </a:cubicBezTo>
                <a:cubicBezTo>
                  <a:pt x="3472" y="1256"/>
                  <a:pt x="3672" y="0"/>
                  <a:pt x="3888" y="56"/>
                </a:cubicBezTo>
                <a:cubicBezTo>
                  <a:pt x="4104" y="112"/>
                  <a:pt x="4356" y="948"/>
                  <a:pt x="4608" y="1784"/>
                </a:cubicBezTo>
              </a:path>
            </a:pathLst>
          </a:custGeom>
          <a:noFill/>
          <a:ln w="38100" cap="flat" cmpd="sng">
            <a:solidFill>
              <a:schemeClr val="tx1"/>
            </a:solidFill>
            <a:prstDash val="solid"/>
            <a:round/>
            <a:headEnd type="none" w="med" len="med"/>
            <a:tailEnd type="none" w="med" len="med"/>
          </a:ln>
          <a:effectLst/>
        </p:spPr>
        <p:txBody>
          <a:bodyPr wrap="none" anchor="ctr"/>
          <a:lstStyle/>
          <a:p>
            <a:pPr algn="ctr" eaLnBrk="1" hangingPunct="1">
              <a:defRPr/>
            </a:pPr>
            <a:endParaRPr lang="en-US">
              <a:effectLst>
                <a:outerShdw blurRad="38100" dist="38100" dir="2700000" algn="tl">
                  <a:srgbClr val="000000">
                    <a:alpha val="43137"/>
                  </a:srgbClr>
                </a:outerShdw>
              </a:effectLst>
              <a:latin typeface="Arial" charset="0"/>
            </a:endParaRPr>
          </a:p>
        </p:txBody>
      </p:sp>
      <p:grpSp>
        <p:nvGrpSpPr>
          <p:cNvPr id="45062" name="Group 5"/>
          <p:cNvGrpSpPr>
            <a:grpSpLocks/>
          </p:cNvGrpSpPr>
          <p:nvPr/>
        </p:nvGrpSpPr>
        <p:grpSpPr bwMode="auto">
          <a:xfrm rot="-491010">
            <a:off x="2286000" y="5029200"/>
            <a:ext cx="609600" cy="1333500"/>
            <a:chOff x="2177" y="1140"/>
            <a:chExt cx="1132" cy="2304"/>
          </a:xfrm>
        </p:grpSpPr>
        <p:grpSp>
          <p:nvGrpSpPr>
            <p:cNvPr id="45076" name="Group 6"/>
            <p:cNvGrpSpPr>
              <a:grpSpLocks/>
            </p:cNvGrpSpPr>
            <p:nvPr/>
          </p:nvGrpSpPr>
          <p:grpSpPr bwMode="auto">
            <a:xfrm>
              <a:off x="2447" y="1138"/>
              <a:ext cx="860" cy="2304"/>
              <a:chOff x="2447" y="1138"/>
              <a:chExt cx="860" cy="2304"/>
            </a:xfrm>
          </p:grpSpPr>
          <p:sp>
            <p:nvSpPr>
              <p:cNvPr id="11" name="Freeform 7"/>
              <p:cNvSpPr>
                <a:spLocks/>
              </p:cNvSpPr>
              <p:nvPr/>
            </p:nvSpPr>
            <p:spPr bwMode="auto">
              <a:xfrm>
                <a:off x="2489" y="1511"/>
                <a:ext cx="315" cy="403"/>
              </a:xfrm>
              <a:custGeom>
                <a:avLst/>
                <a:gdLst/>
                <a:ahLst/>
                <a:cxnLst>
                  <a:cxn ang="0">
                    <a:pos x="230" y="126"/>
                  </a:cxn>
                  <a:cxn ang="0">
                    <a:pos x="215" y="61"/>
                  </a:cxn>
                  <a:cxn ang="0">
                    <a:pos x="180" y="21"/>
                  </a:cxn>
                  <a:cxn ang="0">
                    <a:pos x="130" y="0"/>
                  </a:cxn>
                  <a:cxn ang="0">
                    <a:pos x="55" y="16"/>
                  </a:cxn>
                  <a:cxn ang="0">
                    <a:pos x="15" y="91"/>
                  </a:cxn>
                  <a:cxn ang="0">
                    <a:pos x="0" y="166"/>
                  </a:cxn>
                  <a:cxn ang="0">
                    <a:pos x="0" y="246"/>
                  </a:cxn>
                  <a:cxn ang="0">
                    <a:pos x="15" y="336"/>
                  </a:cxn>
                  <a:cxn ang="0">
                    <a:pos x="70" y="391"/>
                  </a:cxn>
                  <a:cxn ang="0">
                    <a:pos x="120" y="401"/>
                  </a:cxn>
                  <a:cxn ang="0">
                    <a:pos x="185" y="386"/>
                  </a:cxn>
                  <a:cxn ang="0">
                    <a:pos x="215" y="326"/>
                  </a:cxn>
                  <a:cxn ang="0">
                    <a:pos x="235" y="266"/>
                  </a:cxn>
                  <a:cxn ang="0">
                    <a:pos x="245" y="216"/>
                  </a:cxn>
                  <a:cxn ang="0">
                    <a:pos x="245" y="181"/>
                  </a:cxn>
                  <a:cxn ang="0">
                    <a:pos x="325" y="106"/>
                  </a:cxn>
                  <a:cxn ang="0">
                    <a:pos x="330" y="81"/>
                  </a:cxn>
                  <a:cxn ang="0">
                    <a:pos x="315" y="71"/>
                  </a:cxn>
                  <a:cxn ang="0">
                    <a:pos x="235" y="156"/>
                  </a:cxn>
                  <a:cxn ang="0">
                    <a:pos x="230" y="126"/>
                  </a:cxn>
                </a:cxnLst>
                <a:rect l="0" t="0" r="r" b="b"/>
                <a:pathLst>
                  <a:path w="330" h="401">
                    <a:moveTo>
                      <a:pt x="230" y="126"/>
                    </a:moveTo>
                    <a:lnTo>
                      <a:pt x="215" y="61"/>
                    </a:lnTo>
                    <a:lnTo>
                      <a:pt x="180" y="21"/>
                    </a:lnTo>
                    <a:lnTo>
                      <a:pt x="130" y="0"/>
                    </a:lnTo>
                    <a:lnTo>
                      <a:pt x="55" y="16"/>
                    </a:lnTo>
                    <a:lnTo>
                      <a:pt x="15" y="91"/>
                    </a:lnTo>
                    <a:lnTo>
                      <a:pt x="0" y="166"/>
                    </a:lnTo>
                    <a:lnTo>
                      <a:pt x="0" y="246"/>
                    </a:lnTo>
                    <a:lnTo>
                      <a:pt x="15" y="336"/>
                    </a:lnTo>
                    <a:lnTo>
                      <a:pt x="70" y="391"/>
                    </a:lnTo>
                    <a:lnTo>
                      <a:pt x="120" y="401"/>
                    </a:lnTo>
                    <a:lnTo>
                      <a:pt x="185" y="386"/>
                    </a:lnTo>
                    <a:lnTo>
                      <a:pt x="215" y="326"/>
                    </a:lnTo>
                    <a:lnTo>
                      <a:pt x="235" y="266"/>
                    </a:lnTo>
                    <a:lnTo>
                      <a:pt x="245" y="216"/>
                    </a:lnTo>
                    <a:lnTo>
                      <a:pt x="245" y="181"/>
                    </a:lnTo>
                    <a:lnTo>
                      <a:pt x="325" y="106"/>
                    </a:lnTo>
                    <a:lnTo>
                      <a:pt x="330" y="81"/>
                    </a:lnTo>
                    <a:lnTo>
                      <a:pt x="315" y="71"/>
                    </a:lnTo>
                    <a:lnTo>
                      <a:pt x="235" y="156"/>
                    </a:lnTo>
                    <a:lnTo>
                      <a:pt x="230" y="126"/>
                    </a:lnTo>
                    <a:close/>
                  </a:path>
                </a:pathLst>
              </a:custGeom>
              <a:solidFill>
                <a:srgbClr val="000000"/>
              </a:solidFill>
              <a:ln w="9525">
                <a:noFill/>
                <a:round/>
                <a:headEnd/>
                <a:tailEnd/>
              </a:ln>
            </p:spPr>
            <p:txBody>
              <a:bodyPr/>
              <a:lstStyle/>
              <a:p>
                <a:pPr algn="ctr" eaLnBrk="1" hangingPunct="1">
                  <a:defRPr/>
                </a:pPr>
                <a:endParaRPr lang="en-US">
                  <a:effectLst>
                    <a:outerShdw blurRad="38100" dist="38100" dir="2700000" algn="tl">
                      <a:srgbClr val="000000">
                        <a:alpha val="43137"/>
                      </a:srgbClr>
                    </a:outerShdw>
                  </a:effectLst>
                  <a:latin typeface="Arial" charset="0"/>
                </a:endParaRPr>
              </a:p>
            </p:txBody>
          </p:sp>
          <p:sp>
            <p:nvSpPr>
              <p:cNvPr id="12" name="Freeform 8"/>
              <p:cNvSpPr>
                <a:spLocks/>
              </p:cNvSpPr>
              <p:nvPr/>
            </p:nvSpPr>
            <p:spPr bwMode="auto">
              <a:xfrm>
                <a:off x="2552" y="1108"/>
                <a:ext cx="569" cy="677"/>
              </a:xfrm>
              <a:custGeom>
                <a:avLst/>
                <a:gdLst/>
                <a:ahLst/>
                <a:cxnLst>
                  <a:cxn ang="0">
                    <a:pos x="11" y="681"/>
                  </a:cxn>
                  <a:cxn ang="0">
                    <a:pos x="0" y="620"/>
                  </a:cxn>
                  <a:cxn ang="0">
                    <a:pos x="26" y="540"/>
                  </a:cxn>
                  <a:cxn ang="0">
                    <a:pos x="96" y="475"/>
                  </a:cxn>
                  <a:cxn ang="0">
                    <a:pos x="196" y="385"/>
                  </a:cxn>
                  <a:cxn ang="0">
                    <a:pos x="301" y="285"/>
                  </a:cxn>
                  <a:cxn ang="0">
                    <a:pos x="396" y="160"/>
                  </a:cxn>
                  <a:cxn ang="0">
                    <a:pos x="426" y="85"/>
                  </a:cxn>
                  <a:cxn ang="0">
                    <a:pos x="436" y="0"/>
                  </a:cxn>
                  <a:cxn ang="0">
                    <a:pos x="456" y="0"/>
                  </a:cxn>
                  <a:cxn ang="0">
                    <a:pos x="446" y="90"/>
                  </a:cxn>
                  <a:cxn ang="0">
                    <a:pos x="461" y="90"/>
                  </a:cxn>
                  <a:cxn ang="0">
                    <a:pos x="541" y="30"/>
                  </a:cxn>
                  <a:cxn ang="0">
                    <a:pos x="556" y="50"/>
                  </a:cxn>
                  <a:cxn ang="0">
                    <a:pos x="491" y="95"/>
                  </a:cxn>
                  <a:cxn ang="0">
                    <a:pos x="481" y="125"/>
                  </a:cxn>
                  <a:cxn ang="0">
                    <a:pos x="501" y="135"/>
                  </a:cxn>
                  <a:cxn ang="0">
                    <a:pos x="566" y="135"/>
                  </a:cxn>
                  <a:cxn ang="0">
                    <a:pos x="581" y="145"/>
                  </a:cxn>
                  <a:cxn ang="0">
                    <a:pos x="576" y="160"/>
                  </a:cxn>
                  <a:cxn ang="0">
                    <a:pos x="496" y="155"/>
                  </a:cxn>
                  <a:cxn ang="0">
                    <a:pos x="471" y="155"/>
                  </a:cxn>
                  <a:cxn ang="0">
                    <a:pos x="466" y="170"/>
                  </a:cxn>
                  <a:cxn ang="0">
                    <a:pos x="521" y="245"/>
                  </a:cxn>
                  <a:cxn ang="0">
                    <a:pos x="506" y="260"/>
                  </a:cxn>
                  <a:cxn ang="0">
                    <a:pos x="451" y="190"/>
                  </a:cxn>
                  <a:cxn ang="0">
                    <a:pos x="431" y="190"/>
                  </a:cxn>
                  <a:cxn ang="0">
                    <a:pos x="391" y="220"/>
                  </a:cxn>
                  <a:cxn ang="0">
                    <a:pos x="321" y="315"/>
                  </a:cxn>
                  <a:cxn ang="0">
                    <a:pos x="256" y="395"/>
                  </a:cxn>
                  <a:cxn ang="0">
                    <a:pos x="181" y="480"/>
                  </a:cxn>
                  <a:cxn ang="0">
                    <a:pos x="126" y="565"/>
                  </a:cxn>
                  <a:cxn ang="0">
                    <a:pos x="56" y="675"/>
                  </a:cxn>
                  <a:cxn ang="0">
                    <a:pos x="11" y="681"/>
                  </a:cxn>
                </a:cxnLst>
                <a:rect l="0" t="0" r="r" b="b"/>
                <a:pathLst>
                  <a:path w="581" h="681">
                    <a:moveTo>
                      <a:pt x="11" y="681"/>
                    </a:moveTo>
                    <a:lnTo>
                      <a:pt x="0" y="620"/>
                    </a:lnTo>
                    <a:lnTo>
                      <a:pt x="26" y="540"/>
                    </a:lnTo>
                    <a:lnTo>
                      <a:pt x="96" y="475"/>
                    </a:lnTo>
                    <a:lnTo>
                      <a:pt x="196" y="385"/>
                    </a:lnTo>
                    <a:lnTo>
                      <a:pt x="301" y="285"/>
                    </a:lnTo>
                    <a:lnTo>
                      <a:pt x="396" y="160"/>
                    </a:lnTo>
                    <a:lnTo>
                      <a:pt x="426" y="85"/>
                    </a:lnTo>
                    <a:lnTo>
                      <a:pt x="436" y="0"/>
                    </a:lnTo>
                    <a:lnTo>
                      <a:pt x="456" y="0"/>
                    </a:lnTo>
                    <a:lnTo>
                      <a:pt x="446" y="90"/>
                    </a:lnTo>
                    <a:lnTo>
                      <a:pt x="461" y="90"/>
                    </a:lnTo>
                    <a:lnTo>
                      <a:pt x="541" y="30"/>
                    </a:lnTo>
                    <a:lnTo>
                      <a:pt x="556" y="50"/>
                    </a:lnTo>
                    <a:lnTo>
                      <a:pt x="491" y="95"/>
                    </a:lnTo>
                    <a:lnTo>
                      <a:pt x="481" y="125"/>
                    </a:lnTo>
                    <a:lnTo>
                      <a:pt x="501" y="135"/>
                    </a:lnTo>
                    <a:lnTo>
                      <a:pt x="566" y="135"/>
                    </a:lnTo>
                    <a:lnTo>
                      <a:pt x="581" y="145"/>
                    </a:lnTo>
                    <a:lnTo>
                      <a:pt x="576" y="160"/>
                    </a:lnTo>
                    <a:lnTo>
                      <a:pt x="496" y="155"/>
                    </a:lnTo>
                    <a:lnTo>
                      <a:pt x="471" y="155"/>
                    </a:lnTo>
                    <a:lnTo>
                      <a:pt x="466" y="170"/>
                    </a:lnTo>
                    <a:lnTo>
                      <a:pt x="521" y="245"/>
                    </a:lnTo>
                    <a:lnTo>
                      <a:pt x="506" y="260"/>
                    </a:lnTo>
                    <a:lnTo>
                      <a:pt x="451" y="190"/>
                    </a:lnTo>
                    <a:lnTo>
                      <a:pt x="431" y="190"/>
                    </a:lnTo>
                    <a:lnTo>
                      <a:pt x="391" y="220"/>
                    </a:lnTo>
                    <a:lnTo>
                      <a:pt x="321" y="315"/>
                    </a:lnTo>
                    <a:lnTo>
                      <a:pt x="256" y="395"/>
                    </a:lnTo>
                    <a:lnTo>
                      <a:pt x="181" y="480"/>
                    </a:lnTo>
                    <a:lnTo>
                      <a:pt x="126" y="565"/>
                    </a:lnTo>
                    <a:lnTo>
                      <a:pt x="56" y="675"/>
                    </a:lnTo>
                    <a:lnTo>
                      <a:pt x="11" y="681"/>
                    </a:lnTo>
                    <a:close/>
                  </a:path>
                </a:pathLst>
              </a:custGeom>
              <a:solidFill>
                <a:srgbClr val="000000"/>
              </a:solidFill>
              <a:ln w="9525">
                <a:noFill/>
                <a:round/>
                <a:headEnd/>
                <a:tailEnd/>
              </a:ln>
            </p:spPr>
            <p:txBody>
              <a:bodyPr/>
              <a:lstStyle/>
              <a:p>
                <a:pPr algn="ctr" eaLnBrk="1" hangingPunct="1">
                  <a:defRPr/>
                </a:pPr>
                <a:endParaRPr lang="en-US">
                  <a:effectLst>
                    <a:outerShdw blurRad="38100" dist="38100" dir="2700000" algn="tl">
                      <a:srgbClr val="000000">
                        <a:alpha val="43137"/>
                      </a:srgbClr>
                    </a:outerShdw>
                  </a:effectLst>
                  <a:latin typeface="Arial" charset="0"/>
                </a:endParaRPr>
              </a:p>
            </p:txBody>
          </p:sp>
          <p:sp>
            <p:nvSpPr>
              <p:cNvPr id="13" name="Freeform 9"/>
              <p:cNvSpPr>
                <a:spLocks/>
              </p:cNvSpPr>
              <p:nvPr/>
            </p:nvSpPr>
            <p:spPr bwMode="auto">
              <a:xfrm>
                <a:off x="2619" y="1621"/>
                <a:ext cx="663" cy="480"/>
              </a:xfrm>
              <a:custGeom>
                <a:avLst/>
                <a:gdLst/>
                <a:ahLst/>
                <a:cxnLst>
                  <a:cxn ang="0">
                    <a:pos x="0" y="360"/>
                  </a:cxn>
                  <a:cxn ang="0">
                    <a:pos x="5" y="400"/>
                  </a:cxn>
                  <a:cxn ang="0">
                    <a:pos x="40" y="430"/>
                  </a:cxn>
                  <a:cxn ang="0">
                    <a:pos x="125" y="455"/>
                  </a:cxn>
                  <a:cxn ang="0">
                    <a:pos x="215" y="475"/>
                  </a:cxn>
                  <a:cxn ang="0">
                    <a:pos x="325" y="481"/>
                  </a:cxn>
                  <a:cxn ang="0">
                    <a:pos x="370" y="475"/>
                  </a:cxn>
                  <a:cxn ang="0">
                    <a:pos x="440" y="315"/>
                  </a:cxn>
                  <a:cxn ang="0">
                    <a:pos x="500" y="190"/>
                  </a:cxn>
                  <a:cxn ang="0">
                    <a:pos x="550" y="110"/>
                  </a:cxn>
                  <a:cxn ang="0">
                    <a:pos x="570" y="110"/>
                  </a:cxn>
                  <a:cxn ang="0">
                    <a:pos x="580" y="125"/>
                  </a:cxn>
                  <a:cxn ang="0">
                    <a:pos x="580" y="165"/>
                  </a:cxn>
                  <a:cxn ang="0">
                    <a:pos x="560" y="190"/>
                  </a:cxn>
                  <a:cxn ang="0">
                    <a:pos x="570" y="200"/>
                  </a:cxn>
                  <a:cxn ang="0">
                    <a:pos x="595" y="185"/>
                  </a:cxn>
                  <a:cxn ang="0">
                    <a:pos x="600" y="160"/>
                  </a:cxn>
                  <a:cxn ang="0">
                    <a:pos x="600" y="115"/>
                  </a:cxn>
                  <a:cxn ang="0">
                    <a:pos x="620" y="135"/>
                  </a:cxn>
                  <a:cxn ang="0">
                    <a:pos x="635" y="170"/>
                  </a:cxn>
                  <a:cxn ang="0">
                    <a:pos x="650" y="165"/>
                  </a:cxn>
                  <a:cxn ang="0">
                    <a:pos x="635" y="125"/>
                  </a:cxn>
                  <a:cxn ang="0">
                    <a:pos x="615" y="105"/>
                  </a:cxn>
                  <a:cxn ang="0">
                    <a:pos x="600" y="90"/>
                  </a:cxn>
                  <a:cxn ang="0">
                    <a:pos x="635" y="80"/>
                  </a:cxn>
                  <a:cxn ang="0">
                    <a:pos x="670" y="95"/>
                  </a:cxn>
                  <a:cxn ang="0">
                    <a:pos x="675" y="75"/>
                  </a:cxn>
                  <a:cxn ang="0">
                    <a:pos x="635" y="60"/>
                  </a:cxn>
                  <a:cxn ang="0">
                    <a:pos x="595" y="65"/>
                  </a:cxn>
                  <a:cxn ang="0">
                    <a:pos x="600" y="40"/>
                  </a:cxn>
                  <a:cxn ang="0">
                    <a:pos x="625" y="20"/>
                  </a:cxn>
                  <a:cxn ang="0">
                    <a:pos x="660" y="20"/>
                  </a:cxn>
                  <a:cxn ang="0">
                    <a:pos x="681" y="10"/>
                  </a:cxn>
                  <a:cxn ang="0">
                    <a:pos x="640" y="0"/>
                  </a:cxn>
                  <a:cxn ang="0">
                    <a:pos x="605" y="5"/>
                  </a:cxn>
                  <a:cxn ang="0">
                    <a:pos x="585" y="20"/>
                  </a:cxn>
                  <a:cxn ang="0">
                    <a:pos x="535" y="50"/>
                  </a:cxn>
                  <a:cxn ang="0">
                    <a:pos x="510" y="90"/>
                  </a:cxn>
                  <a:cxn ang="0">
                    <a:pos x="470" y="155"/>
                  </a:cxn>
                  <a:cxn ang="0">
                    <a:pos x="420" y="245"/>
                  </a:cxn>
                  <a:cxn ang="0">
                    <a:pos x="360" y="350"/>
                  </a:cxn>
                  <a:cxn ang="0">
                    <a:pos x="335" y="410"/>
                  </a:cxn>
                  <a:cxn ang="0">
                    <a:pos x="310" y="410"/>
                  </a:cxn>
                  <a:cxn ang="0">
                    <a:pos x="215" y="405"/>
                  </a:cxn>
                  <a:cxn ang="0">
                    <a:pos x="145" y="375"/>
                  </a:cxn>
                  <a:cxn ang="0">
                    <a:pos x="80" y="340"/>
                  </a:cxn>
                  <a:cxn ang="0">
                    <a:pos x="30" y="330"/>
                  </a:cxn>
                  <a:cxn ang="0">
                    <a:pos x="25" y="330"/>
                  </a:cxn>
                  <a:cxn ang="0">
                    <a:pos x="0" y="360"/>
                  </a:cxn>
                </a:cxnLst>
                <a:rect l="0" t="0" r="r" b="b"/>
                <a:pathLst>
                  <a:path w="681" h="481">
                    <a:moveTo>
                      <a:pt x="0" y="360"/>
                    </a:moveTo>
                    <a:lnTo>
                      <a:pt x="5" y="400"/>
                    </a:lnTo>
                    <a:lnTo>
                      <a:pt x="40" y="430"/>
                    </a:lnTo>
                    <a:lnTo>
                      <a:pt x="125" y="455"/>
                    </a:lnTo>
                    <a:lnTo>
                      <a:pt x="215" y="475"/>
                    </a:lnTo>
                    <a:lnTo>
                      <a:pt x="325" y="481"/>
                    </a:lnTo>
                    <a:lnTo>
                      <a:pt x="370" y="475"/>
                    </a:lnTo>
                    <a:lnTo>
                      <a:pt x="440" y="315"/>
                    </a:lnTo>
                    <a:lnTo>
                      <a:pt x="500" y="190"/>
                    </a:lnTo>
                    <a:lnTo>
                      <a:pt x="550" y="110"/>
                    </a:lnTo>
                    <a:lnTo>
                      <a:pt x="570" y="110"/>
                    </a:lnTo>
                    <a:lnTo>
                      <a:pt x="580" y="125"/>
                    </a:lnTo>
                    <a:lnTo>
                      <a:pt x="580" y="165"/>
                    </a:lnTo>
                    <a:lnTo>
                      <a:pt x="560" y="190"/>
                    </a:lnTo>
                    <a:lnTo>
                      <a:pt x="570" y="200"/>
                    </a:lnTo>
                    <a:lnTo>
                      <a:pt x="595" y="185"/>
                    </a:lnTo>
                    <a:lnTo>
                      <a:pt x="600" y="160"/>
                    </a:lnTo>
                    <a:lnTo>
                      <a:pt x="600" y="115"/>
                    </a:lnTo>
                    <a:lnTo>
                      <a:pt x="620" y="135"/>
                    </a:lnTo>
                    <a:lnTo>
                      <a:pt x="635" y="170"/>
                    </a:lnTo>
                    <a:lnTo>
                      <a:pt x="650" y="165"/>
                    </a:lnTo>
                    <a:lnTo>
                      <a:pt x="635" y="125"/>
                    </a:lnTo>
                    <a:lnTo>
                      <a:pt x="615" y="105"/>
                    </a:lnTo>
                    <a:lnTo>
                      <a:pt x="600" y="90"/>
                    </a:lnTo>
                    <a:lnTo>
                      <a:pt x="635" y="80"/>
                    </a:lnTo>
                    <a:lnTo>
                      <a:pt x="670" y="95"/>
                    </a:lnTo>
                    <a:lnTo>
                      <a:pt x="675" y="75"/>
                    </a:lnTo>
                    <a:lnTo>
                      <a:pt x="635" y="60"/>
                    </a:lnTo>
                    <a:lnTo>
                      <a:pt x="595" y="65"/>
                    </a:lnTo>
                    <a:lnTo>
                      <a:pt x="600" y="40"/>
                    </a:lnTo>
                    <a:lnTo>
                      <a:pt x="625" y="20"/>
                    </a:lnTo>
                    <a:lnTo>
                      <a:pt x="660" y="20"/>
                    </a:lnTo>
                    <a:lnTo>
                      <a:pt x="681" y="10"/>
                    </a:lnTo>
                    <a:lnTo>
                      <a:pt x="640" y="0"/>
                    </a:lnTo>
                    <a:lnTo>
                      <a:pt x="605" y="5"/>
                    </a:lnTo>
                    <a:lnTo>
                      <a:pt x="585" y="20"/>
                    </a:lnTo>
                    <a:lnTo>
                      <a:pt x="535" y="50"/>
                    </a:lnTo>
                    <a:lnTo>
                      <a:pt x="510" y="90"/>
                    </a:lnTo>
                    <a:lnTo>
                      <a:pt x="470" y="155"/>
                    </a:lnTo>
                    <a:lnTo>
                      <a:pt x="420" y="245"/>
                    </a:lnTo>
                    <a:lnTo>
                      <a:pt x="360" y="350"/>
                    </a:lnTo>
                    <a:lnTo>
                      <a:pt x="335" y="410"/>
                    </a:lnTo>
                    <a:lnTo>
                      <a:pt x="310" y="410"/>
                    </a:lnTo>
                    <a:lnTo>
                      <a:pt x="215" y="405"/>
                    </a:lnTo>
                    <a:lnTo>
                      <a:pt x="145" y="375"/>
                    </a:lnTo>
                    <a:lnTo>
                      <a:pt x="80" y="340"/>
                    </a:lnTo>
                    <a:lnTo>
                      <a:pt x="30" y="330"/>
                    </a:lnTo>
                    <a:lnTo>
                      <a:pt x="25" y="330"/>
                    </a:lnTo>
                    <a:lnTo>
                      <a:pt x="0" y="360"/>
                    </a:lnTo>
                    <a:close/>
                  </a:path>
                </a:pathLst>
              </a:custGeom>
              <a:solidFill>
                <a:srgbClr val="000000"/>
              </a:solidFill>
              <a:ln w="9525">
                <a:noFill/>
                <a:round/>
                <a:headEnd/>
                <a:tailEnd/>
              </a:ln>
            </p:spPr>
            <p:txBody>
              <a:bodyPr/>
              <a:lstStyle/>
              <a:p>
                <a:pPr algn="ctr" eaLnBrk="1" hangingPunct="1">
                  <a:defRPr/>
                </a:pPr>
                <a:endParaRPr lang="en-US">
                  <a:effectLst>
                    <a:outerShdw blurRad="38100" dist="38100" dir="2700000" algn="tl">
                      <a:srgbClr val="000000">
                        <a:alpha val="43137"/>
                      </a:srgbClr>
                    </a:outerShdw>
                  </a:effectLst>
                  <a:latin typeface="Arial" charset="0"/>
                </a:endParaRPr>
              </a:p>
            </p:txBody>
          </p:sp>
          <p:sp>
            <p:nvSpPr>
              <p:cNvPr id="14" name="Freeform 10"/>
              <p:cNvSpPr>
                <a:spLocks/>
              </p:cNvSpPr>
              <p:nvPr/>
            </p:nvSpPr>
            <p:spPr bwMode="auto">
              <a:xfrm>
                <a:off x="2440" y="1974"/>
                <a:ext cx="351" cy="727"/>
              </a:xfrm>
              <a:custGeom>
                <a:avLst/>
                <a:gdLst/>
                <a:ahLst/>
                <a:cxnLst>
                  <a:cxn ang="0">
                    <a:pos x="60" y="75"/>
                  </a:cxn>
                  <a:cxn ang="0">
                    <a:pos x="110" y="15"/>
                  </a:cxn>
                  <a:cxn ang="0">
                    <a:pos x="165" y="0"/>
                  </a:cxn>
                  <a:cxn ang="0">
                    <a:pos x="246" y="20"/>
                  </a:cxn>
                  <a:cxn ang="0">
                    <a:pos x="261" y="60"/>
                  </a:cxn>
                  <a:cxn ang="0">
                    <a:pos x="266" y="135"/>
                  </a:cxn>
                  <a:cxn ang="0">
                    <a:pos x="236" y="255"/>
                  </a:cxn>
                  <a:cxn ang="0">
                    <a:pos x="221" y="305"/>
                  </a:cxn>
                  <a:cxn ang="0">
                    <a:pos x="221" y="360"/>
                  </a:cxn>
                  <a:cxn ang="0">
                    <a:pos x="241" y="411"/>
                  </a:cxn>
                  <a:cxn ang="0">
                    <a:pos x="271" y="451"/>
                  </a:cxn>
                  <a:cxn ang="0">
                    <a:pos x="341" y="511"/>
                  </a:cxn>
                  <a:cxn ang="0">
                    <a:pos x="356" y="576"/>
                  </a:cxn>
                  <a:cxn ang="0">
                    <a:pos x="346" y="626"/>
                  </a:cxn>
                  <a:cxn ang="0">
                    <a:pos x="326" y="666"/>
                  </a:cxn>
                  <a:cxn ang="0">
                    <a:pos x="276" y="711"/>
                  </a:cxn>
                  <a:cxn ang="0">
                    <a:pos x="236" y="726"/>
                  </a:cxn>
                  <a:cxn ang="0">
                    <a:pos x="175" y="721"/>
                  </a:cxn>
                  <a:cxn ang="0">
                    <a:pos x="115" y="706"/>
                  </a:cxn>
                  <a:cxn ang="0">
                    <a:pos x="80" y="666"/>
                  </a:cxn>
                  <a:cxn ang="0">
                    <a:pos x="40" y="601"/>
                  </a:cxn>
                  <a:cxn ang="0">
                    <a:pos x="20" y="541"/>
                  </a:cxn>
                  <a:cxn ang="0">
                    <a:pos x="0" y="436"/>
                  </a:cxn>
                  <a:cxn ang="0">
                    <a:pos x="0" y="320"/>
                  </a:cxn>
                  <a:cxn ang="0">
                    <a:pos x="25" y="195"/>
                  </a:cxn>
                  <a:cxn ang="0">
                    <a:pos x="45" y="120"/>
                  </a:cxn>
                  <a:cxn ang="0">
                    <a:pos x="60" y="75"/>
                  </a:cxn>
                </a:cxnLst>
                <a:rect l="0" t="0" r="r" b="b"/>
                <a:pathLst>
                  <a:path w="356" h="726">
                    <a:moveTo>
                      <a:pt x="60" y="75"/>
                    </a:moveTo>
                    <a:lnTo>
                      <a:pt x="110" y="15"/>
                    </a:lnTo>
                    <a:lnTo>
                      <a:pt x="165" y="0"/>
                    </a:lnTo>
                    <a:lnTo>
                      <a:pt x="246" y="20"/>
                    </a:lnTo>
                    <a:lnTo>
                      <a:pt x="261" y="60"/>
                    </a:lnTo>
                    <a:lnTo>
                      <a:pt x="266" y="135"/>
                    </a:lnTo>
                    <a:lnTo>
                      <a:pt x="236" y="255"/>
                    </a:lnTo>
                    <a:lnTo>
                      <a:pt x="221" y="305"/>
                    </a:lnTo>
                    <a:lnTo>
                      <a:pt x="221" y="360"/>
                    </a:lnTo>
                    <a:lnTo>
                      <a:pt x="241" y="411"/>
                    </a:lnTo>
                    <a:lnTo>
                      <a:pt x="271" y="451"/>
                    </a:lnTo>
                    <a:lnTo>
                      <a:pt x="341" y="511"/>
                    </a:lnTo>
                    <a:lnTo>
                      <a:pt x="356" y="576"/>
                    </a:lnTo>
                    <a:lnTo>
                      <a:pt x="346" y="626"/>
                    </a:lnTo>
                    <a:lnTo>
                      <a:pt x="326" y="666"/>
                    </a:lnTo>
                    <a:lnTo>
                      <a:pt x="276" y="711"/>
                    </a:lnTo>
                    <a:lnTo>
                      <a:pt x="236" y="726"/>
                    </a:lnTo>
                    <a:lnTo>
                      <a:pt x="175" y="721"/>
                    </a:lnTo>
                    <a:lnTo>
                      <a:pt x="115" y="706"/>
                    </a:lnTo>
                    <a:lnTo>
                      <a:pt x="80" y="666"/>
                    </a:lnTo>
                    <a:lnTo>
                      <a:pt x="40" y="601"/>
                    </a:lnTo>
                    <a:lnTo>
                      <a:pt x="20" y="541"/>
                    </a:lnTo>
                    <a:lnTo>
                      <a:pt x="0" y="436"/>
                    </a:lnTo>
                    <a:lnTo>
                      <a:pt x="0" y="320"/>
                    </a:lnTo>
                    <a:lnTo>
                      <a:pt x="25" y="195"/>
                    </a:lnTo>
                    <a:lnTo>
                      <a:pt x="45" y="120"/>
                    </a:lnTo>
                    <a:lnTo>
                      <a:pt x="60" y="75"/>
                    </a:lnTo>
                    <a:close/>
                  </a:path>
                </a:pathLst>
              </a:custGeom>
              <a:solidFill>
                <a:srgbClr val="000000"/>
              </a:solidFill>
              <a:ln w="9525">
                <a:noFill/>
                <a:round/>
                <a:headEnd/>
                <a:tailEnd/>
              </a:ln>
            </p:spPr>
            <p:txBody>
              <a:bodyPr/>
              <a:lstStyle/>
              <a:p>
                <a:pPr algn="ctr" eaLnBrk="1" hangingPunct="1">
                  <a:defRPr/>
                </a:pPr>
                <a:endParaRPr lang="en-US">
                  <a:effectLst>
                    <a:outerShdw blurRad="38100" dist="38100" dir="2700000" algn="tl">
                      <a:srgbClr val="000000">
                        <a:alpha val="43137"/>
                      </a:srgbClr>
                    </a:outerShdw>
                  </a:effectLst>
                  <a:latin typeface="Arial" charset="0"/>
                </a:endParaRPr>
              </a:p>
            </p:txBody>
          </p:sp>
          <p:sp>
            <p:nvSpPr>
              <p:cNvPr id="15" name="Freeform 11"/>
              <p:cNvSpPr>
                <a:spLocks/>
              </p:cNvSpPr>
              <p:nvPr/>
            </p:nvSpPr>
            <p:spPr bwMode="auto">
              <a:xfrm>
                <a:off x="2588" y="2576"/>
                <a:ext cx="301" cy="839"/>
              </a:xfrm>
              <a:custGeom>
                <a:avLst/>
                <a:gdLst/>
                <a:ahLst/>
                <a:cxnLst>
                  <a:cxn ang="0">
                    <a:pos x="30" y="55"/>
                  </a:cxn>
                  <a:cxn ang="0">
                    <a:pos x="45" y="10"/>
                  </a:cxn>
                  <a:cxn ang="0">
                    <a:pos x="90" y="0"/>
                  </a:cxn>
                  <a:cxn ang="0">
                    <a:pos x="130" y="20"/>
                  </a:cxn>
                  <a:cxn ang="0">
                    <a:pos x="180" y="105"/>
                  </a:cxn>
                  <a:cxn ang="0">
                    <a:pos x="240" y="205"/>
                  </a:cxn>
                  <a:cxn ang="0">
                    <a:pos x="285" y="288"/>
                  </a:cxn>
                  <a:cxn ang="0">
                    <a:pos x="300" y="375"/>
                  </a:cxn>
                  <a:cxn ang="0">
                    <a:pos x="295" y="436"/>
                  </a:cxn>
                  <a:cxn ang="0">
                    <a:pos x="250" y="516"/>
                  </a:cxn>
                  <a:cxn ang="0">
                    <a:pos x="195" y="571"/>
                  </a:cxn>
                  <a:cxn ang="0">
                    <a:pos x="150" y="596"/>
                  </a:cxn>
                  <a:cxn ang="0">
                    <a:pos x="80" y="611"/>
                  </a:cxn>
                  <a:cxn ang="0">
                    <a:pos x="55" y="636"/>
                  </a:cxn>
                  <a:cxn ang="0">
                    <a:pos x="75" y="676"/>
                  </a:cxn>
                  <a:cxn ang="0">
                    <a:pos x="110" y="711"/>
                  </a:cxn>
                  <a:cxn ang="0">
                    <a:pos x="135" y="776"/>
                  </a:cxn>
                  <a:cxn ang="0">
                    <a:pos x="175" y="771"/>
                  </a:cxn>
                  <a:cxn ang="0">
                    <a:pos x="200" y="806"/>
                  </a:cxn>
                  <a:cxn ang="0">
                    <a:pos x="165" y="836"/>
                  </a:cxn>
                  <a:cxn ang="0">
                    <a:pos x="135" y="821"/>
                  </a:cxn>
                  <a:cxn ang="0">
                    <a:pos x="100" y="796"/>
                  </a:cxn>
                  <a:cxn ang="0">
                    <a:pos x="85" y="731"/>
                  </a:cxn>
                  <a:cxn ang="0">
                    <a:pos x="35" y="686"/>
                  </a:cxn>
                  <a:cxn ang="0">
                    <a:pos x="0" y="636"/>
                  </a:cxn>
                  <a:cxn ang="0">
                    <a:pos x="5" y="601"/>
                  </a:cxn>
                  <a:cxn ang="0">
                    <a:pos x="40" y="586"/>
                  </a:cxn>
                  <a:cxn ang="0">
                    <a:pos x="125" y="556"/>
                  </a:cxn>
                  <a:cxn ang="0">
                    <a:pos x="195" y="516"/>
                  </a:cxn>
                  <a:cxn ang="0">
                    <a:pos x="220" y="456"/>
                  </a:cxn>
                  <a:cxn ang="0">
                    <a:pos x="235" y="410"/>
                  </a:cxn>
                  <a:cxn ang="0">
                    <a:pos x="235" y="370"/>
                  </a:cxn>
                  <a:cxn ang="0">
                    <a:pos x="230" y="320"/>
                  </a:cxn>
                  <a:cxn ang="0">
                    <a:pos x="210" y="280"/>
                  </a:cxn>
                  <a:cxn ang="0">
                    <a:pos x="175" y="220"/>
                  </a:cxn>
                  <a:cxn ang="0">
                    <a:pos x="115" y="155"/>
                  </a:cxn>
                  <a:cxn ang="0">
                    <a:pos x="75" y="120"/>
                  </a:cxn>
                  <a:cxn ang="0">
                    <a:pos x="40" y="80"/>
                  </a:cxn>
                  <a:cxn ang="0">
                    <a:pos x="30" y="55"/>
                  </a:cxn>
                </a:cxnLst>
                <a:rect l="0" t="0" r="r" b="b"/>
                <a:pathLst>
                  <a:path w="300" h="836">
                    <a:moveTo>
                      <a:pt x="30" y="55"/>
                    </a:moveTo>
                    <a:lnTo>
                      <a:pt x="45" y="10"/>
                    </a:lnTo>
                    <a:lnTo>
                      <a:pt x="90" y="0"/>
                    </a:lnTo>
                    <a:lnTo>
                      <a:pt x="130" y="20"/>
                    </a:lnTo>
                    <a:lnTo>
                      <a:pt x="180" y="105"/>
                    </a:lnTo>
                    <a:lnTo>
                      <a:pt x="240" y="205"/>
                    </a:lnTo>
                    <a:lnTo>
                      <a:pt x="285" y="288"/>
                    </a:lnTo>
                    <a:lnTo>
                      <a:pt x="300" y="375"/>
                    </a:lnTo>
                    <a:lnTo>
                      <a:pt x="295" y="436"/>
                    </a:lnTo>
                    <a:lnTo>
                      <a:pt x="250" y="516"/>
                    </a:lnTo>
                    <a:lnTo>
                      <a:pt x="195" y="571"/>
                    </a:lnTo>
                    <a:lnTo>
                      <a:pt x="150" y="596"/>
                    </a:lnTo>
                    <a:lnTo>
                      <a:pt x="80" y="611"/>
                    </a:lnTo>
                    <a:lnTo>
                      <a:pt x="55" y="636"/>
                    </a:lnTo>
                    <a:lnTo>
                      <a:pt x="75" y="676"/>
                    </a:lnTo>
                    <a:lnTo>
                      <a:pt x="110" y="711"/>
                    </a:lnTo>
                    <a:lnTo>
                      <a:pt x="135" y="776"/>
                    </a:lnTo>
                    <a:lnTo>
                      <a:pt x="175" y="771"/>
                    </a:lnTo>
                    <a:lnTo>
                      <a:pt x="200" y="806"/>
                    </a:lnTo>
                    <a:lnTo>
                      <a:pt x="165" y="836"/>
                    </a:lnTo>
                    <a:lnTo>
                      <a:pt x="135" y="821"/>
                    </a:lnTo>
                    <a:lnTo>
                      <a:pt x="100" y="796"/>
                    </a:lnTo>
                    <a:lnTo>
                      <a:pt x="85" y="731"/>
                    </a:lnTo>
                    <a:lnTo>
                      <a:pt x="35" y="686"/>
                    </a:lnTo>
                    <a:lnTo>
                      <a:pt x="0" y="636"/>
                    </a:lnTo>
                    <a:lnTo>
                      <a:pt x="5" y="601"/>
                    </a:lnTo>
                    <a:lnTo>
                      <a:pt x="40" y="586"/>
                    </a:lnTo>
                    <a:lnTo>
                      <a:pt x="125" y="556"/>
                    </a:lnTo>
                    <a:lnTo>
                      <a:pt x="195" y="516"/>
                    </a:lnTo>
                    <a:lnTo>
                      <a:pt x="220" y="456"/>
                    </a:lnTo>
                    <a:lnTo>
                      <a:pt x="235" y="410"/>
                    </a:lnTo>
                    <a:lnTo>
                      <a:pt x="235" y="370"/>
                    </a:lnTo>
                    <a:lnTo>
                      <a:pt x="230" y="320"/>
                    </a:lnTo>
                    <a:lnTo>
                      <a:pt x="210" y="280"/>
                    </a:lnTo>
                    <a:lnTo>
                      <a:pt x="175" y="220"/>
                    </a:lnTo>
                    <a:lnTo>
                      <a:pt x="115" y="155"/>
                    </a:lnTo>
                    <a:lnTo>
                      <a:pt x="75" y="120"/>
                    </a:lnTo>
                    <a:lnTo>
                      <a:pt x="40" y="80"/>
                    </a:lnTo>
                    <a:lnTo>
                      <a:pt x="30" y="55"/>
                    </a:lnTo>
                    <a:close/>
                  </a:path>
                </a:pathLst>
              </a:custGeom>
              <a:solidFill>
                <a:srgbClr val="000000"/>
              </a:solidFill>
              <a:ln w="9525">
                <a:noFill/>
                <a:round/>
                <a:headEnd/>
                <a:tailEnd/>
              </a:ln>
            </p:spPr>
            <p:txBody>
              <a:bodyPr/>
              <a:lstStyle/>
              <a:p>
                <a:pPr algn="ctr" eaLnBrk="1" hangingPunct="1">
                  <a:defRPr/>
                </a:pPr>
                <a:endParaRPr lang="en-US">
                  <a:effectLst>
                    <a:outerShdw blurRad="38100" dist="38100" dir="2700000" algn="tl">
                      <a:srgbClr val="000000">
                        <a:alpha val="43137"/>
                      </a:srgbClr>
                    </a:outerShdw>
                  </a:effectLst>
                  <a:latin typeface="Arial" charset="0"/>
                </a:endParaRPr>
              </a:p>
            </p:txBody>
          </p:sp>
          <p:sp>
            <p:nvSpPr>
              <p:cNvPr id="16" name="Freeform 12"/>
              <p:cNvSpPr>
                <a:spLocks/>
              </p:cNvSpPr>
              <p:nvPr/>
            </p:nvSpPr>
            <p:spPr bwMode="auto">
              <a:xfrm>
                <a:off x="2600" y="2383"/>
                <a:ext cx="616" cy="444"/>
              </a:xfrm>
              <a:custGeom>
                <a:avLst/>
                <a:gdLst/>
                <a:ahLst/>
                <a:cxnLst>
                  <a:cxn ang="0">
                    <a:pos x="0" y="225"/>
                  </a:cxn>
                  <a:cxn ang="0">
                    <a:pos x="5" y="265"/>
                  </a:cxn>
                  <a:cxn ang="0">
                    <a:pos x="80" y="295"/>
                  </a:cxn>
                  <a:cxn ang="0">
                    <a:pos x="160" y="300"/>
                  </a:cxn>
                  <a:cxn ang="0">
                    <a:pos x="235" y="270"/>
                  </a:cxn>
                  <a:cxn ang="0">
                    <a:pos x="290" y="185"/>
                  </a:cxn>
                  <a:cxn ang="0">
                    <a:pos x="330" y="100"/>
                  </a:cxn>
                  <a:cxn ang="0">
                    <a:pos x="345" y="85"/>
                  </a:cxn>
                  <a:cxn ang="0">
                    <a:pos x="370" y="90"/>
                  </a:cxn>
                  <a:cxn ang="0">
                    <a:pos x="405" y="160"/>
                  </a:cxn>
                  <a:cxn ang="0">
                    <a:pos x="435" y="285"/>
                  </a:cxn>
                  <a:cxn ang="0">
                    <a:pos x="455" y="380"/>
                  </a:cxn>
                  <a:cxn ang="0">
                    <a:pos x="465" y="430"/>
                  </a:cxn>
                  <a:cxn ang="0">
                    <a:pos x="495" y="441"/>
                  </a:cxn>
                  <a:cxn ang="0">
                    <a:pos x="520" y="420"/>
                  </a:cxn>
                  <a:cxn ang="0">
                    <a:pos x="540" y="350"/>
                  </a:cxn>
                  <a:cxn ang="0">
                    <a:pos x="570" y="285"/>
                  </a:cxn>
                  <a:cxn ang="0">
                    <a:pos x="585" y="205"/>
                  </a:cxn>
                  <a:cxn ang="0">
                    <a:pos x="615" y="200"/>
                  </a:cxn>
                  <a:cxn ang="0">
                    <a:pos x="621" y="185"/>
                  </a:cxn>
                  <a:cxn ang="0">
                    <a:pos x="600" y="165"/>
                  </a:cxn>
                  <a:cxn ang="0">
                    <a:pos x="565" y="170"/>
                  </a:cxn>
                  <a:cxn ang="0">
                    <a:pos x="550" y="220"/>
                  </a:cxn>
                  <a:cxn ang="0">
                    <a:pos x="545" y="260"/>
                  </a:cxn>
                  <a:cxn ang="0">
                    <a:pos x="525" y="315"/>
                  </a:cxn>
                  <a:cxn ang="0">
                    <a:pos x="500" y="335"/>
                  </a:cxn>
                  <a:cxn ang="0">
                    <a:pos x="480" y="275"/>
                  </a:cxn>
                  <a:cxn ang="0">
                    <a:pos x="455" y="170"/>
                  </a:cxn>
                  <a:cxn ang="0">
                    <a:pos x="440" y="120"/>
                  </a:cxn>
                  <a:cxn ang="0">
                    <a:pos x="410" y="60"/>
                  </a:cxn>
                  <a:cxn ang="0">
                    <a:pos x="385" y="15"/>
                  </a:cxn>
                  <a:cxn ang="0">
                    <a:pos x="340" y="0"/>
                  </a:cxn>
                  <a:cxn ang="0">
                    <a:pos x="320" y="5"/>
                  </a:cxn>
                  <a:cxn ang="0">
                    <a:pos x="290" y="70"/>
                  </a:cxn>
                  <a:cxn ang="0">
                    <a:pos x="255" y="150"/>
                  </a:cxn>
                  <a:cxn ang="0">
                    <a:pos x="220" y="185"/>
                  </a:cxn>
                  <a:cxn ang="0">
                    <a:pos x="175" y="220"/>
                  </a:cxn>
                  <a:cxn ang="0">
                    <a:pos x="120" y="190"/>
                  </a:cxn>
                  <a:cxn ang="0">
                    <a:pos x="55" y="170"/>
                  </a:cxn>
                  <a:cxn ang="0">
                    <a:pos x="30" y="190"/>
                  </a:cxn>
                  <a:cxn ang="0">
                    <a:pos x="0" y="225"/>
                  </a:cxn>
                </a:cxnLst>
                <a:rect l="0" t="0" r="r" b="b"/>
                <a:pathLst>
                  <a:path w="621" h="441">
                    <a:moveTo>
                      <a:pt x="0" y="225"/>
                    </a:moveTo>
                    <a:lnTo>
                      <a:pt x="5" y="265"/>
                    </a:lnTo>
                    <a:lnTo>
                      <a:pt x="80" y="295"/>
                    </a:lnTo>
                    <a:lnTo>
                      <a:pt x="160" y="300"/>
                    </a:lnTo>
                    <a:lnTo>
                      <a:pt x="235" y="270"/>
                    </a:lnTo>
                    <a:lnTo>
                      <a:pt x="290" y="185"/>
                    </a:lnTo>
                    <a:lnTo>
                      <a:pt x="330" y="100"/>
                    </a:lnTo>
                    <a:lnTo>
                      <a:pt x="345" y="85"/>
                    </a:lnTo>
                    <a:lnTo>
                      <a:pt x="370" y="90"/>
                    </a:lnTo>
                    <a:lnTo>
                      <a:pt x="405" y="160"/>
                    </a:lnTo>
                    <a:lnTo>
                      <a:pt x="435" y="285"/>
                    </a:lnTo>
                    <a:lnTo>
                      <a:pt x="455" y="380"/>
                    </a:lnTo>
                    <a:lnTo>
                      <a:pt x="465" y="430"/>
                    </a:lnTo>
                    <a:lnTo>
                      <a:pt x="495" y="441"/>
                    </a:lnTo>
                    <a:lnTo>
                      <a:pt x="520" y="420"/>
                    </a:lnTo>
                    <a:lnTo>
                      <a:pt x="540" y="350"/>
                    </a:lnTo>
                    <a:lnTo>
                      <a:pt x="570" y="285"/>
                    </a:lnTo>
                    <a:lnTo>
                      <a:pt x="585" y="205"/>
                    </a:lnTo>
                    <a:lnTo>
                      <a:pt x="615" y="200"/>
                    </a:lnTo>
                    <a:lnTo>
                      <a:pt x="621" y="185"/>
                    </a:lnTo>
                    <a:lnTo>
                      <a:pt x="600" y="165"/>
                    </a:lnTo>
                    <a:lnTo>
                      <a:pt x="565" y="170"/>
                    </a:lnTo>
                    <a:lnTo>
                      <a:pt x="550" y="220"/>
                    </a:lnTo>
                    <a:lnTo>
                      <a:pt x="545" y="260"/>
                    </a:lnTo>
                    <a:lnTo>
                      <a:pt x="525" y="315"/>
                    </a:lnTo>
                    <a:lnTo>
                      <a:pt x="500" y="335"/>
                    </a:lnTo>
                    <a:lnTo>
                      <a:pt x="480" y="275"/>
                    </a:lnTo>
                    <a:lnTo>
                      <a:pt x="455" y="170"/>
                    </a:lnTo>
                    <a:lnTo>
                      <a:pt x="440" y="120"/>
                    </a:lnTo>
                    <a:lnTo>
                      <a:pt x="410" y="60"/>
                    </a:lnTo>
                    <a:lnTo>
                      <a:pt x="385" y="15"/>
                    </a:lnTo>
                    <a:lnTo>
                      <a:pt x="340" y="0"/>
                    </a:lnTo>
                    <a:lnTo>
                      <a:pt x="320" y="5"/>
                    </a:lnTo>
                    <a:lnTo>
                      <a:pt x="290" y="70"/>
                    </a:lnTo>
                    <a:lnTo>
                      <a:pt x="255" y="150"/>
                    </a:lnTo>
                    <a:lnTo>
                      <a:pt x="220" y="185"/>
                    </a:lnTo>
                    <a:lnTo>
                      <a:pt x="175" y="220"/>
                    </a:lnTo>
                    <a:lnTo>
                      <a:pt x="120" y="190"/>
                    </a:lnTo>
                    <a:lnTo>
                      <a:pt x="55" y="170"/>
                    </a:lnTo>
                    <a:lnTo>
                      <a:pt x="30" y="190"/>
                    </a:lnTo>
                    <a:lnTo>
                      <a:pt x="0" y="225"/>
                    </a:lnTo>
                    <a:close/>
                  </a:path>
                </a:pathLst>
              </a:custGeom>
              <a:solidFill>
                <a:srgbClr val="000000"/>
              </a:solidFill>
              <a:ln w="9525">
                <a:noFill/>
                <a:round/>
                <a:headEnd/>
                <a:tailEnd/>
              </a:ln>
            </p:spPr>
            <p:txBody>
              <a:bodyPr/>
              <a:lstStyle/>
              <a:p>
                <a:pPr algn="ctr" eaLnBrk="1" hangingPunct="1">
                  <a:defRPr/>
                </a:pPr>
                <a:endParaRPr lang="en-US">
                  <a:effectLst>
                    <a:outerShdw blurRad="38100" dist="38100" dir="2700000" algn="tl">
                      <a:srgbClr val="000000">
                        <a:alpha val="43137"/>
                      </a:srgbClr>
                    </a:outerShdw>
                  </a:effectLst>
                  <a:latin typeface="Arial" charset="0"/>
                </a:endParaRPr>
              </a:p>
            </p:txBody>
          </p:sp>
        </p:grpSp>
        <p:grpSp>
          <p:nvGrpSpPr>
            <p:cNvPr id="45077" name="Group 13"/>
            <p:cNvGrpSpPr>
              <a:grpSpLocks/>
            </p:cNvGrpSpPr>
            <p:nvPr/>
          </p:nvGrpSpPr>
          <p:grpSpPr bwMode="auto">
            <a:xfrm>
              <a:off x="2176" y="1951"/>
              <a:ext cx="422" cy="686"/>
              <a:chOff x="2176" y="1951"/>
              <a:chExt cx="422" cy="686"/>
            </a:xfrm>
          </p:grpSpPr>
          <p:sp>
            <p:nvSpPr>
              <p:cNvPr id="9" name="Freeform 14"/>
              <p:cNvSpPr>
                <a:spLocks/>
              </p:cNvSpPr>
              <p:nvPr/>
            </p:nvSpPr>
            <p:spPr bwMode="auto">
              <a:xfrm>
                <a:off x="2172" y="1954"/>
                <a:ext cx="386" cy="656"/>
              </a:xfrm>
              <a:custGeom>
                <a:avLst/>
                <a:gdLst/>
                <a:ahLst/>
                <a:cxnLst>
                  <a:cxn ang="0">
                    <a:pos x="100" y="95"/>
                  </a:cxn>
                  <a:cxn ang="0">
                    <a:pos x="130" y="35"/>
                  </a:cxn>
                  <a:cxn ang="0">
                    <a:pos x="150" y="15"/>
                  </a:cxn>
                  <a:cxn ang="0">
                    <a:pos x="180" y="5"/>
                  </a:cxn>
                  <a:cxn ang="0">
                    <a:pos x="220" y="0"/>
                  </a:cxn>
                  <a:cxn ang="0">
                    <a:pos x="270" y="10"/>
                  </a:cxn>
                  <a:cxn ang="0">
                    <a:pos x="340" y="45"/>
                  </a:cxn>
                  <a:cxn ang="0">
                    <a:pos x="360" y="75"/>
                  </a:cxn>
                  <a:cxn ang="0">
                    <a:pos x="380" y="105"/>
                  </a:cxn>
                  <a:cxn ang="0">
                    <a:pos x="385" y="135"/>
                  </a:cxn>
                  <a:cxn ang="0">
                    <a:pos x="391" y="175"/>
                  </a:cxn>
                  <a:cxn ang="0">
                    <a:pos x="391" y="225"/>
                  </a:cxn>
                  <a:cxn ang="0">
                    <a:pos x="385" y="275"/>
                  </a:cxn>
                  <a:cxn ang="0">
                    <a:pos x="380" y="315"/>
                  </a:cxn>
                  <a:cxn ang="0">
                    <a:pos x="380" y="356"/>
                  </a:cxn>
                  <a:cxn ang="0">
                    <a:pos x="380" y="391"/>
                  </a:cxn>
                  <a:cxn ang="0">
                    <a:pos x="385" y="436"/>
                  </a:cxn>
                  <a:cxn ang="0">
                    <a:pos x="391" y="476"/>
                  </a:cxn>
                  <a:cxn ang="0">
                    <a:pos x="385" y="506"/>
                  </a:cxn>
                  <a:cxn ang="0">
                    <a:pos x="370" y="556"/>
                  </a:cxn>
                  <a:cxn ang="0">
                    <a:pos x="350" y="586"/>
                  </a:cxn>
                  <a:cxn ang="0">
                    <a:pos x="330" y="611"/>
                  </a:cxn>
                  <a:cxn ang="0">
                    <a:pos x="285" y="626"/>
                  </a:cxn>
                  <a:cxn ang="0">
                    <a:pos x="235" y="641"/>
                  </a:cxn>
                  <a:cxn ang="0">
                    <a:pos x="180" y="646"/>
                  </a:cxn>
                  <a:cxn ang="0">
                    <a:pos x="135" y="656"/>
                  </a:cxn>
                  <a:cxn ang="0">
                    <a:pos x="80" y="641"/>
                  </a:cxn>
                  <a:cxn ang="0">
                    <a:pos x="30" y="591"/>
                  </a:cxn>
                  <a:cxn ang="0">
                    <a:pos x="10" y="541"/>
                  </a:cxn>
                  <a:cxn ang="0">
                    <a:pos x="0" y="471"/>
                  </a:cxn>
                  <a:cxn ang="0">
                    <a:pos x="0" y="391"/>
                  </a:cxn>
                  <a:cxn ang="0">
                    <a:pos x="15" y="320"/>
                  </a:cxn>
                  <a:cxn ang="0">
                    <a:pos x="30" y="255"/>
                  </a:cxn>
                  <a:cxn ang="0">
                    <a:pos x="50" y="200"/>
                  </a:cxn>
                  <a:cxn ang="0">
                    <a:pos x="60" y="170"/>
                  </a:cxn>
                  <a:cxn ang="0">
                    <a:pos x="75" y="120"/>
                  </a:cxn>
                  <a:cxn ang="0">
                    <a:pos x="100" y="95"/>
                  </a:cxn>
                </a:cxnLst>
                <a:rect l="0" t="0" r="r" b="b"/>
                <a:pathLst>
                  <a:path w="391" h="656">
                    <a:moveTo>
                      <a:pt x="100" y="95"/>
                    </a:moveTo>
                    <a:lnTo>
                      <a:pt x="130" y="35"/>
                    </a:lnTo>
                    <a:lnTo>
                      <a:pt x="150" y="15"/>
                    </a:lnTo>
                    <a:lnTo>
                      <a:pt x="180" y="5"/>
                    </a:lnTo>
                    <a:lnTo>
                      <a:pt x="220" y="0"/>
                    </a:lnTo>
                    <a:lnTo>
                      <a:pt x="270" y="10"/>
                    </a:lnTo>
                    <a:lnTo>
                      <a:pt x="340" y="45"/>
                    </a:lnTo>
                    <a:lnTo>
                      <a:pt x="360" y="75"/>
                    </a:lnTo>
                    <a:lnTo>
                      <a:pt x="380" y="105"/>
                    </a:lnTo>
                    <a:lnTo>
                      <a:pt x="385" y="135"/>
                    </a:lnTo>
                    <a:lnTo>
                      <a:pt x="391" y="175"/>
                    </a:lnTo>
                    <a:lnTo>
                      <a:pt x="391" y="225"/>
                    </a:lnTo>
                    <a:lnTo>
                      <a:pt x="385" y="275"/>
                    </a:lnTo>
                    <a:lnTo>
                      <a:pt x="380" y="315"/>
                    </a:lnTo>
                    <a:lnTo>
                      <a:pt x="380" y="356"/>
                    </a:lnTo>
                    <a:lnTo>
                      <a:pt x="380" y="391"/>
                    </a:lnTo>
                    <a:lnTo>
                      <a:pt x="385" y="436"/>
                    </a:lnTo>
                    <a:lnTo>
                      <a:pt x="391" y="476"/>
                    </a:lnTo>
                    <a:lnTo>
                      <a:pt x="385" y="506"/>
                    </a:lnTo>
                    <a:lnTo>
                      <a:pt x="370" y="556"/>
                    </a:lnTo>
                    <a:lnTo>
                      <a:pt x="350" y="586"/>
                    </a:lnTo>
                    <a:lnTo>
                      <a:pt x="330" y="611"/>
                    </a:lnTo>
                    <a:lnTo>
                      <a:pt x="285" y="626"/>
                    </a:lnTo>
                    <a:lnTo>
                      <a:pt x="235" y="641"/>
                    </a:lnTo>
                    <a:lnTo>
                      <a:pt x="180" y="646"/>
                    </a:lnTo>
                    <a:lnTo>
                      <a:pt x="135" y="656"/>
                    </a:lnTo>
                    <a:lnTo>
                      <a:pt x="80" y="641"/>
                    </a:lnTo>
                    <a:lnTo>
                      <a:pt x="30" y="591"/>
                    </a:lnTo>
                    <a:lnTo>
                      <a:pt x="10" y="541"/>
                    </a:lnTo>
                    <a:lnTo>
                      <a:pt x="0" y="471"/>
                    </a:lnTo>
                    <a:lnTo>
                      <a:pt x="0" y="391"/>
                    </a:lnTo>
                    <a:lnTo>
                      <a:pt x="15" y="320"/>
                    </a:lnTo>
                    <a:lnTo>
                      <a:pt x="30" y="255"/>
                    </a:lnTo>
                    <a:lnTo>
                      <a:pt x="50" y="200"/>
                    </a:lnTo>
                    <a:lnTo>
                      <a:pt x="60" y="170"/>
                    </a:lnTo>
                    <a:lnTo>
                      <a:pt x="75" y="120"/>
                    </a:lnTo>
                    <a:lnTo>
                      <a:pt x="100" y="95"/>
                    </a:lnTo>
                    <a:close/>
                  </a:path>
                </a:pathLst>
              </a:custGeom>
              <a:solidFill>
                <a:srgbClr val="CC9900"/>
              </a:solidFill>
              <a:ln w="9525">
                <a:noFill/>
                <a:round/>
                <a:headEnd/>
                <a:tailEnd/>
              </a:ln>
            </p:spPr>
            <p:txBody>
              <a:bodyPr/>
              <a:lstStyle/>
              <a:p>
                <a:pPr algn="ctr" eaLnBrk="1" hangingPunct="1">
                  <a:defRPr/>
                </a:pPr>
                <a:endParaRPr lang="en-US">
                  <a:effectLst>
                    <a:outerShdw blurRad="38100" dist="38100" dir="2700000" algn="tl">
                      <a:srgbClr val="000000">
                        <a:alpha val="43137"/>
                      </a:srgbClr>
                    </a:outerShdw>
                  </a:effectLst>
                  <a:latin typeface="Arial" charset="0"/>
                </a:endParaRPr>
              </a:p>
            </p:txBody>
          </p:sp>
          <p:sp>
            <p:nvSpPr>
              <p:cNvPr id="10" name="Freeform 15"/>
              <p:cNvSpPr>
                <a:spLocks/>
              </p:cNvSpPr>
              <p:nvPr/>
            </p:nvSpPr>
            <p:spPr bwMode="auto">
              <a:xfrm>
                <a:off x="2176" y="1951"/>
                <a:ext cx="422" cy="686"/>
              </a:xfrm>
              <a:custGeom>
                <a:avLst/>
                <a:gdLst/>
                <a:ahLst/>
                <a:cxnLst>
                  <a:cxn ang="0">
                    <a:pos x="190" y="25"/>
                  </a:cxn>
                  <a:cxn ang="0">
                    <a:pos x="255" y="70"/>
                  </a:cxn>
                  <a:cxn ang="0">
                    <a:pos x="240" y="220"/>
                  </a:cxn>
                  <a:cxn ang="0">
                    <a:pos x="290" y="95"/>
                  </a:cxn>
                  <a:cxn ang="0">
                    <a:pos x="365" y="85"/>
                  </a:cxn>
                  <a:cxn ang="0">
                    <a:pos x="395" y="185"/>
                  </a:cxn>
                  <a:cxn ang="0">
                    <a:pos x="265" y="240"/>
                  </a:cxn>
                  <a:cxn ang="0">
                    <a:pos x="290" y="260"/>
                  </a:cxn>
                  <a:cxn ang="0">
                    <a:pos x="395" y="230"/>
                  </a:cxn>
                  <a:cxn ang="0">
                    <a:pos x="380" y="386"/>
                  </a:cxn>
                  <a:cxn ang="0">
                    <a:pos x="300" y="481"/>
                  </a:cxn>
                  <a:cxn ang="0">
                    <a:pos x="200" y="506"/>
                  </a:cxn>
                  <a:cxn ang="0">
                    <a:pos x="375" y="486"/>
                  </a:cxn>
                  <a:cxn ang="0">
                    <a:pos x="350" y="601"/>
                  </a:cxn>
                  <a:cxn ang="0">
                    <a:pos x="225" y="641"/>
                  </a:cxn>
                  <a:cxn ang="0">
                    <a:pos x="200" y="516"/>
                  </a:cxn>
                  <a:cxn ang="0">
                    <a:pos x="220" y="356"/>
                  </a:cxn>
                  <a:cxn ang="0">
                    <a:pos x="235" y="230"/>
                  </a:cxn>
                  <a:cxn ang="0">
                    <a:pos x="140" y="145"/>
                  </a:cxn>
                  <a:cxn ang="0">
                    <a:pos x="130" y="185"/>
                  </a:cxn>
                  <a:cxn ang="0">
                    <a:pos x="220" y="265"/>
                  </a:cxn>
                  <a:cxn ang="0">
                    <a:pos x="180" y="421"/>
                  </a:cxn>
                  <a:cxn ang="0">
                    <a:pos x="95" y="416"/>
                  </a:cxn>
                  <a:cxn ang="0">
                    <a:pos x="50" y="386"/>
                  </a:cxn>
                  <a:cxn ang="0">
                    <a:pos x="120" y="481"/>
                  </a:cxn>
                  <a:cxn ang="0">
                    <a:pos x="160" y="536"/>
                  </a:cxn>
                  <a:cxn ang="0">
                    <a:pos x="185" y="621"/>
                  </a:cxn>
                  <a:cxn ang="0">
                    <a:pos x="135" y="651"/>
                  </a:cxn>
                  <a:cxn ang="0">
                    <a:pos x="50" y="541"/>
                  </a:cxn>
                  <a:cxn ang="0">
                    <a:pos x="35" y="406"/>
                  </a:cxn>
                  <a:cxn ang="0">
                    <a:pos x="65" y="240"/>
                  </a:cxn>
                  <a:cxn ang="0">
                    <a:pos x="45" y="235"/>
                  </a:cxn>
                  <a:cxn ang="0">
                    <a:pos x="0" y="406"/>
                  </a:cxn>
                  <a:cxn ang="0">
                    <a:pos x="35" y="611"/>
                  </a:cxn>
                  <a:cxn ang="0">
                    <a:pos x="180" y="686"/>
                  </a:cxn>
                  <a:cxn ang="0">
                    <a:pos x="275" y="666"/>
                  </a:cxn>
                  <a:cxn ang="0">
                    <a:pos x="390" y="581"/>
                  </a:cxn>
                  <a:cxn ang="0">
                    <a:pos x="415" y="466"/>
                  </a:cxn>
                  <a:cxn ang="0">
                    <a:pos x="410" y="340"/>
                  </a:cxn>
                  <a:cxn ang="0">
                    <a:pos x="415" y="175"/>
                  </a:cxn>
                  <a:cxn ang="0">
                    <a:pos x="370" y="35"/>
                  </a:cxn>
                  <a:cxn ang="0">
                    <a:pos x="225" y="0"/>
                  </a:cxn>
                  <a:cxn ang="0">
                    <a:pos x="120" y="80"/>
                  </a:cxn>
                  <a:cxn ang="0">
                    <a:pos x="95" y="155"/>
                  </a:cxn>
                </a:cxnLst>
                <a:rect l="0" t="0" r="r" b="b"/>
                <a:pathLst>
                  <a:path w="421" h="686">
                    <a:moveTo>
                      <a:pt x="130" y="100"/>
                    </a:moveTo>
                    <a:lnTo>
                      <a:pt x="160" y="50"/>
                    </a:lnTo>
                    <a:lnTo>
                      <a:pt x="190" y="25"/>
                    </a:lnTo>
                    <a:lnTo>
                      <a:pt x="250" y="25"/>
                    </a:lnTo>
                    <a:lnTo>
                      <a:pt x="290" y="35"/>
                    </a:lnTo>
                    <a:lnTo>
                      <a:pt x="255" y="70"/>
                    </a:lnTo>
                    <a:lnTo>
                      <a:pt x="235" y="135"/>
                    </a:lnTo>
                    <a:lnTo>
                      <a:pt x="235" y="200"/>
                    </a:lnTo>
                    <a:lnTo>
                      <a:pt x="240" y="220"/>
                    </a:lnTo>
                    <a:lnTo>
                      <a:pt x="255" y="185"/>
                    </a:lnTo>
                    <a:lnTo>
                      <a:pt x="265" y="130"/>
                    </a:lnTo>
                    <a:lnTo>
                      <a:pt x="290" y="95"/>
                    </a:lnTo>
                    <a:lnTo>
                      <a:pt x="305" y="75"/>
                    </a:lnTo>
                    <a:lnTo>
                      <a:pt x="335" y="55"/>
                    </a:lnTo>
                    <a:lnTo>
                      <a:pt x="365" y="85"/>
                    </a:lnTo>
                    <a:lnTo>
                      <a:pt x="390" y="120"/>
                    </a:lnTo>
                    <a:lnTo>
                      <a:pt x="395" y="165"/>
                    </a:lnTo>
                    <a:lnTo>
                      <a:pt x="395" y="185"/>
                    </a:lnTo>
                    <a:lnTo>
                      <a:pt x="360" y="225"/>
                    </a:lnTo>
                    <a:lnTo>
                      <a:pt x="305" y="240"/>
                    </a:lnTo>
                    <a:lnTo>
                      <a:pt x="265" y="240"/>
                    </a:lnTo>
                    <a:lnTo>
                      <a:pt x="250" y="235"/>
                    </a:lnTo>
                    <a:lnTo>
                      <a:pt x="245" y="260"/>
                    </a:lnTo>
                    <a:lnTo>
                      <a:pt x="290" y="260"/>
                    </a:lnTo>
                    <a:lnTo>
                      <a:pt x="350" y="255"/>
                    </a:lnTo>
                    <a:lnTo>
                      <a:pt x="385" y="245"/>
                    </a:lnTo>
                    <a:lnTo>
                      <a:pt x="395" y="230"/>
                    </a:lnTo>
                    <a:lnTo>
                      <a:pt x="395" y="275"/>
                    </a:lnTo>
                    <a:lnTo>
                      <a:pt x="385" y="330"/>
                    </a:lnTo>
                    <a:lnTo>
                      <a:pt x="380" y="386"/>
                    </a:lnTo>
                    <a:lnTo>
                      <a:pt x="390" y="436"/>
                    </a:lnTo>
                    <a:lnTo>
                      <a:pt x="350" y="466"/>
                    </a:lnTo>
                    <a:lnTo>
                      <a:pt x="300" y="481"/>
                    </a:lnTo>
                    <a:lnTo>
                      <a:pt x="245" y="481"/>
                    </a:lnTo>
                    <a:lnTo>
                      <a:pt x="205" y="481"/>
                    </a:lnTo>
                    <a:lnTo>
                      <a:pt x="200" y="506"/>
                    </a:lnTo>
                    <a:lnTo>
                      <a:pt x="260" y="506"/>
                    </a:lnTo>
                    <a:lnTo>
                      <a:pt x="315" y="496"/>
                    </a:lnTo>
                    <a:lnTo>
                      <a:pt x="375" y="486"/>
                    </a:lnTo>
                    <a:lnTo>
                      <a:pt x="395" y="471"/>
                    </a:lnTo>
                    <a:lnTo>
                      <a:pt x="390" y="526"/>
                    </a:lnTo>
                    <a:lnTo>
                      <a:pt x="350" y="601"/>
                    </a:lnTo>
                    <a:lnTo>
                      <a:pt x="310" y="621"/>
                    </a:lnTo>
                    <a:lnTo>
                      <a:pt x="265" y="636"/>
                    </a:lnTo>
                    <a:lnTo>
                      <a:pt x="225" y="641"/>
                    </a:lnTo>
                    <a:lnTo>
                      <a:pt x="200" y="606"/>
                    </a:lnTo>
                    <a:lnTo>
                      <a:pt x="185" y="551"/>
                    </a:lnTo>
                    <a:lnTo>
                      <a:pt x="200" y="516"/>
                    </a:lnTo>
                    <a:lnTo>
                      <a:pt x="200" y="476"/>
                    </a:lnTo>
                    <a:lnTo>
                      <a:pt x="200" y="426"/>
                    </a:lnTo>
                    <a:lnTo>
                      <a:pt x="220" y="356"/>
                    </a:lnTo>
                    <a:lnTo>
                      <a:pt x="240" y="295"/>
                    </a:lnTo>
                    <a:lnTo>
                      <a:pt x="240" y="255"/>
                    </a:lnTo>
                    <a:lnTo>
                      <a:pt x="235" y="230"/>
                    </a:lnTo>
                    <a:lnTo>
                      <a:pt x="205" y="225"/>
                    </a:lnTo>
                    <a:lnTo>
                      <a:pt x="160" y="190"/>
                    </a:lnTo>
                    <a:lnTo>
                      <a:pt x="140" y="145"/>
                    </a:lnTo>
                    <a:lnTo>
                      <a:pt x="120" y="120"/>
                    </a:lnTo>
                    <a:lnTo>
                      <a:pt x="115" y="145"/>
                    </a:lnTo>
                    <a:lnTo>
                      <a:pt x="130" y="185"/>
                    </a:lnTo>
                    <a:lnTo>
                      <a:pt x="160" y="220"/>
                    </a:lnTo>
                    <a:lnTo>
                      <a:pt x="190" y="250"/>
                    </a:lnTo>
                    <a:lnTo>
                      <a:pt x="220" y="265"/>
                    </a:lnTo>
                    <a:lnTo>
                      <a:pt x="200" y="330"/>
                    </a:lnTo>
                    <a:lnTo>
                      <a:pt x="185" y="376"/>
                    </a:lnTo>
                    <a:lnTo>
                      <a:pt x="180" y="421"/>
                    </a:lnTo>
                    <a:lnTo>
                      <a:pt x="170" y="461"/>
                    </a:lnTo>
                    <a:lnTo>
                      <a:pt x="140" y="461"/>
                    </a:lnTo>
                    <a:lnTo>
                      <a:pt x="95" y="416"/>
                    </a:lnTo>
                    <a:lnTo>
                      <a:pt x="70" y="381"/>
                    </a:lnTo>
                    <a:lnTo>
                      <a:pt x="50" y="356"/>
                    </a:lnTo>
                    <a:lnTo>
                      <a:pt x="50" y="386"/>
                    </a:lnTo>
                    <a:lnTo>
                      <a:pt x="70" y="416"/>
                    </a:lnTo>
                    <a:lnTo>
                      <a:pt x="105" y="451"/>
                    </a:lnTo>
                    <a:lnTo>
                      <a:pt x="120" y="481"/>
                    </a:lnTo>
                    <a:lnTo>
                      <a:pt x="150" y="496"/>
                    </a:lnTo>
                    <a:lnTo>
                      <a:pt x="165" y="511"/>
                    </a:lnTo>
                    <a:lnTo>
                      <a:pt x="160" y="536"/>
                    </a:lnTo>
                    <a:lnTo>
                      <a:pt x="165" y="571"/>
                    </a:lnTo>
                    <a:lnTo>
                      <a:pt x="170" y="601"/>
                    </a:lnTo>
                    <a:lnTo>
                      <a:pt x="185" y="621"/>
                    </a:lnTo>
                    <a:lnTo>
                      <a:pt x="190" y="646"/>
                    </a:lnTo>
                    <a:lnTo>
                      <a:pt x="175" y="656"/>
                    </a:lnTo>
                    <a:lnTo>
                      <a:pt x="135" y="651"/>
                    </a:lnTo>
                    <a:lnTo>
                      <a:pt x="95" y="626"/>
                    </a:lnTo>
                    <a:lnTo>
                      <a:pt x="65" y="586"/>
                    </a:lnTo>
                    <a:lnTo>
                      <a:pt x="50" y="541"/>
                    </a:lnTo>
                    <a:lnTo>
                      <a:pt x="35" y="506"/>
                    </a:lnTo>
                    <a:lnTo>
                      <a:pt x="35" y="461"/>
                    </a:lnTo>
                    <a:lnTo>
                      <a:pt x="35" y="406"/>
                    </a:lnTo>
                    <a:lnTo>
                      <a:pt x="45" y="371"/>
                    </a:lnTo>
                    <a:lnTo>
                      <a:pt x="50" y="325"/>
                    </a:lnTo>
                    <a:lnTo>
                      <a:pt x="65" y="240"/>
                    </a:lnTo>
                    <a:lnTo>
                      <a:pt x="90" y="165"/>
                    </a:lnTo>
                    <a:lnTo>
                      <a:pt x="65" y="175"/>
                    </a:lnTo>
                    <a:lnTo>
                      <a:pt x="45" y="235"/>
                    </a:lnTo>
                    <a:lnTo>
                      <a:pt x="20" y="295"/>
                    </a:lnTo>
                    <a:lnTo>
                      <a:pt x="10" y="361"/>
                    </a:lnTo>
                    <a:lnTo>
                      <a:pt x="0" y="406"/>
                    </a:lnTo>
                    <a:lnTo>
                      <a:pt x="0" y="481"/>
                    </a:lnTo>
                    <a:lnTo>
                      <a:pt x="10" y="561"/>
                    </a:lnTo>
                    <a:lnTo>
                      <a:pt x="35" y="611"/>
                    </a:lnTo>
                    <a:lnTo>
                      <a:pt x="75" y="651"/>
                    </a:lnTo>
                    <a:lnTo>
                      <a:pt x="130" y="671"/>
                    </a:lnTo>
                    <a:lnTo>
                      <a:pt x="180" y="686"/>
                    </a:lnTo>
                    <a:lnTo>
                      <a:pt x="215" y="676"/>
                    </a:lnTo>
                    <a:lnTo>
                      <a:pt x="230" y="671"/>
                    </a:lnTo>
                    <a:lnTo>
                      <a:pt x="275" y="666"/>
                    </a:lnTo>
                    <a:lnTo>
                      <a:pt x="325" y="651"/>
                    </a:lnTo>
                    <a:lnTo>
                      <a:pt x="370" y="621"/>
                    </a:lnTo>
                    <a:lnTo>
                      <a:pt x="390" y="581"/>
                    </a:lnTo>
                    <a:lnTo>
                      <a:pt x="415" y="536"/>
                    </a:lnTo>
                    <a:lnTo>
                      <a:pt x="421" y="501"/>
                    </a:lnTo>
                    <a:lnTo>
                      <a:pt x="415" y="466"/>
                    </a:lnTo>
                    <a:lnTo>
                      <a:pt x="410" y="421"/>
                    </a:lnTo>
                    <a:lnTo>
                      <a:pt x="410" y="381"/>
                    </a:lnTo>
                    <a:lnTo>
                      <a:pt x="410" y="340"/>
                    </a:lnTo>
                    <a:lnTo>
                      <a:pt x="415" y="285"/>
                    </a:lnTo>
                    <a:lnTo>
                      <a:pt x="415" y="220"/>
                    </a:lnTo>
                    <a:lnTo>
                      <a:pt x="415" y="175"/>
                    </a:lnTo>
                    <a:lnTo>
                      <a:pt x="410" y="115"/>
                    </a:lnTo>
                    <a:lnTo>
                      <a:pt x="390" y="70"/>
                    </a:lnTo>
                    <a:lnTo>
                      <a:pt x="370" y="35"/>
                    </a:lnTo>
                    <a:lnTo>
                      <a:pt x="320" y="15"/>
                    </a:lnTo>
                    <a:lnTo>
                      <a:pt x="265" y="0"/>
                    </a:lnTo>
                    <a:lnTo>
                      <a:pt x="225" y="0"/>
                    </a:lnTo>
                    <a:lnTo>
                      <a:pt x="170" y="5"/>
                    </a:lnTo>
                    <a:lnTo>
                      <a:pt x="135" y="35"/>
                    </a:lnTo>
                    <a:lnTo>
                      <a:pt x="120" y="80"/>
                    </a:lnTo>
                    <a:lnTo>
                      <a:pt x="80" y="115"/>
                    </a:lnTo>
                    <a:lnTo>
                      <a:pt x="75" y="150"/>
                    </a:lnTo>
                    <a:lnTo>
                      <a:pt x="95" y="155"/>
                    </a:lnTo>
                    <a:lnTo>
                      <a:pt x="120" y="120"/>
                    </a:lnTo>
                    <a:lnTo>
                      <a:pt x="130" y="100"/>
                    </a:lnTo>
                    <a:close/>
                  </a:path>
                </a:pathLst>
              </a:custGeom>
              <a:solidFill>
                <a:srgbClr val="000000"/>
              </a:solidFill>
              <a:ln w="9525">
                <a:noFill/>
                <a:round/>
                <a:headEnd/>
                <a:tailEnd/>
              </a:ln>
            </p:spPr>
            <p:txBody>
              <a:bodyPr/>
              <a:lstStyle/>
              <a:p>
                <a:pPr algn="ctr" eaLnBrk="1" hangingPunct="1">
                  <a:defRPr/>
                </a:pPr>
                <a:endParaRPr lang="en-US">
                  <a:effectLst>
                    <a:outerShdw blurRad="38100" dist="38100" dir="2700000" algn="tl">
                      <a:srgbClr val="000000">
                        <a:alpha val="43137"/>
                      </a:srgbClr>
                    </a:outerShdw>
                  </a:effectLst>
                  <a:latin typeface="Arial" charset="0"/>
                </a:endParaRPr>
              </a:p>
            </p:txBody>
          </p:sp>
        </p:grpSp>
      </p:grpSp>
      <p:grpSp>
        <p:nvGrpSpPr>
          <p:cNvPr id="45063" name="Group 16"/>
          <p:cNvGrpSpPr>
            <a:grpSpLocks/>
          </p:cNvGrpSpPr>
          <p:nvPr/>
        </p:nvGrpSpPr>
        <p:grpSpPr bwMode="auto">
          <a:xfrm rot="1926884">
            <a:off x="3352800" y="4019550"/>
            <a:ext cx="685800" cy="1143000"/>
            <a:chOff x="2177" y="1140"/>
            <a:chExt cx="1132" cy="2304"/>
          </a:xfrm>
        </p:grpSpPr>
        <p:grpSp>
          <p:nvGrpSpPr>
            <p:cNvPr id="45066" name="Group 17"/>
            <p:cNvGrpSpPr>
              <a:grpSpLocks/>
            </p:cNvGrpSpPr>
            <p:nvPr/>
          </p:nvGrpSpPr>
          <p:grpSpPr bwMode="auto">
            <a:xfrm>
              <a:off x="2448" y="1140"/>
              <a:ext cx="857" cy="2303"/>
              <a:chOff x="2448" y="1140"/>
              <a:chExt cx="857" cy="2303"/>
            </a:xfrm>
          </p:grpSpPr>
          <p:sp>
            <p:nvSpPr>
              <p:cNvPr id="22" name="Freeform 18"/>
              <p:cNvSpPr>
                <a:spLocks/>
              </p:cNvSpPr>
              <p:nvPr/>
            </p:nvSpPr>
            <p:spPr bwMode="auto">
              <a:xfrm>
                <a:off x="2463" y="1548"/>
                <a:ext cx="330" cy="403"/>
              </a:xfrm>
              <a:custGeom>
                <a:avLst/>
                <a:gdLst/>
                <a:ahLst/>
                <a:cxnLst>
                  <a:cxn ang="0">
                    <a:pos x="230" y="126"/>
                  </a:cxn>
                  <a:cxn ang="0">
                    <a:pos x="215" y="61"/>
                  </a:cxn>
                  <a:cxn ang="0">
                    <a:pos x="180" y="21"/>
                  </a:cxn>
                  <a:cxn ang="0">
                    <a:pos x="130" y="0"/>
                  </a:cxn>
                  <a:cxn ang="0">
                    <a:pos x="55" y="16"/>
                  </a:cxn>
                  <a:cxn ang="0">
                    <a:pos x="15" y="91"/>
                  </a:cxn>
                  <a:cxn ang="0">
                    <a:pos x="0" y="166"/>
                  </a:cxn>
                  <a:cxn ang="0">
                    <a:pos x="0" y="246"/>
                  </a:cxn>
                  <a:cxn ang="0">
                    <a:pos x="15" y="336"/>
                  </a:cxn>
                  <a:cxn ang="0">
                    <a:pos x="70" y="391"/>
                  </a:cxn>
                  <a:cxn ang="0">
                    <a:pos x="120" y="401"/>
                  </a:cxn>
                  <a:cxn ang="0">
                    <a:pos x="185" y="386"/>
                  </a:cxn>
                  <a:cxn ang="0">
                    <a:pos x="215" y="326"/>
                  </a:cxn>
                  <a:cxn ang="0">
                    <a:pos x="235" y="266"/>
                  </a:cxn>
                  <a:cxn ang="0">
                    <a:pos x="245" y="216"/>
                  </a:cxn>
                  <a:cxn ang="0">
                    <a:pos x="245" y="181"/>
                  </a:cxn>
                  <a:cxn ang="0">
                    <a:pos x="325" y="106"/>
                  </a:cxn>
                  <a:cxn ang="0">
                    <a:pos x="330" y="81"/>
                  </a:cxn>
                  <a:cxn ang="0">
                    <a:pos x="315" y="71"/>
                  </a:cxn>
                  <a:cxn ang="0">
                    <a:pos x="235" y="156"/>
                  </a:cxn>
                  <a:cxn ang="0">
                    <a:pos x="230" y="126"/>
                  </a:cxn>
                </a:cxnLst>
                <a:rect l="0" t="0" r="r" b="b"/>
                <a:pathLst>
                  <a:path w="330" h="401">
                    <a:moveTo>
                      <a:pt x="230" y="126"/>
                    </a:moveTo>
                    <a:lnTo>
                      <a:pt x="215" y="61"/>
                    </a:lnTo>
                    <a:lnTo>
                      <a:pt x="180" y="21"/>
                    </a:lnTo>
                    <a:lnTo>
                      <a:pt x="130" y="0"/>
                    </a:lnTo>
                    <a:lnTo>
                      <a:pt x="55" y="16"/>
                    </a:lnTo>
                    <a:lnTo>
                      <a:pt x="15" y="91"/>
                    </a:lnTo>
                    <a:lnTo>
                      <a:pt x="0" y="166"/>
                    </a:lnTo>
                    <a:lnTo>
                      <a:pt x="0" y="246"/>
                    </a:lnTo>
                    <a:lnTo>
                      <a:pt x="15" y="336"/>
                    </a:lnTo>
                    <a:lnTo>
                      <a:pt x="70" y="391"/>
                    </a:lnTo>
                    <a:lnTo>
                      <a:pt x="120" y="401"/>
                    </a:lnTo>
                    <a:lnTo>
                      <a:pt x="185" y="386"/>
                    </a:lnTo>
                    <a:lnTo>
                      <a:pt x="215" y="326"/>
                    </a:lnTo>
                    <a:lnTo>
                      <a:pt x="235" y="266"/>
                    </a:lnTo>
                    <a:lnTo>
                      <a:pt x="245" y="216"/>
                    </a:lnTo>
                    <a:lnTo>
                      <a:pt x="245" y="181"/>
                    </a:lnTo>
                    <a:lnTo>
                      <a:pt x="325" y="106"/>
                    </a:lnTo>
                    <a:lnTo>
                      <a:pt x="330" y="81"/>
                    </a:lnTo>
                    <a:lnTo>
                      <a:pt x="315" y="71"/>
                    </a:lnTo>
                    <a:lnTo>
                      <a:pt x="235" y="156"/>
                    </a:lnTo>
                    <a:lnTo>
                      <a:pt x="230" y="126"/>
                    </a:lnTo>
                    <a:close/>
                  </a:path>
                </a:pathLst>
              </a:custGeom>
              <a:solidFill>
                <a:srgbClr val="000000"/>
              </a:solidFill>
              <a:ln w="9525">
                <a:noFill/>
                <a:round/>
                <a:headEnd/>
                <a:tailEnd/>
              </a:ln>
            </p:spPr>
            <p:txBody>
              <a:bodyPr/>
              <a:lstStyle/>
              <a:p>
                <a:pPr algn="ctr" eaLnBrk="1" hangingPunct="1">
                  <a:defRPr/>
                </a:pPr>
                <a:endParaRPr lang="en-US">
                  <a:effectLst>
                    <a:outerShdw blurRad="38100" dist="38100" dir="2700000" algn="tl">
                      <a:srgbClr val="000000">
                        <a:alpha val="43137"/>
                      </a:srgbClr>
                    </a:outerShdw>
                  </a:effectLst>
                  <a:latin typeface="Arial" charset="0"/>
                </a:endParaRPr>
              </a:p>
            </p:txBody>
          </p:sp>
          <p:sp>
            <p:nvSpPr>
              <p:cNvPr id="23" name="Freeform 19"/>
              <p:cNvSpPr>
                <a:spLocks/>
              </p:cNvSpPr>
              <p:nvPr/>
            </p:nvSpPr>
            <p:spPr bwMode="auto">
              <a:xfrm>
                <a:off x="2528" y="1139"/>
                <a:ext cx="584" cy="688"/>
              </a:xfrm>
              <a:custGeom>
                <a:avLst/>
                <a:gdLst/>
                <a:ahLst/>
                <a:cxnLst>
                  <a:cxn ang="0">
                    <a:pos x="11" y="681"/>
                  </a:cxn>
                  <a:cxn ang="0">
                    <a:pos x="0" y="620"/>
                  </a:cxn>
                  <a:cxn ang="0">
                    <a:pos x="26" y="540"/>
                  </a:cxn>
                  <a:cxn ang="0">
                    <a:pos x="96" y="475"/>
                  </a:cxn>
                  <a:cxn ang="0">
                    <a:pos x="196" y="385"/>
                  </a:cxn>
                  <a:cxn ang="0">
                    <a:pos x="301" y="285"/>
                  </a:cxn>
                  <a:cxn ang="0">
                    <a:pos x="396" y="160"/>
                  </a:cxn>
                  <a:cxn ang="0">
                    <a:pos x="426" y="85"/>
                  </a:cxn>
                  <a:cxn ang="0">
                    <a:pos x="436" y="0"/>
                  </a:cxn>
                  <a:cxn ang="0">
                    <a:pos x="456" y="0"/>
                  </a:cxn>
                  <a:cxn ang="0">
                    <a:pos x="446" y="90"/>
                  </a:cxn>
                  <a:cxn ang="0">
                    <a:pos x="461" y="90"/>
                  </a:cxn>
                  <a:cxn ang="0">
                    <a:pos x="541" y="30"/>
                  </a:cxn>
                  <a:cxn ang="0">
                    <a:pos x="556" y="50"/>
                  </a:cxn>
                  <a:cxn ang="0">
                    <a:pos x="491" y="95"/>
                  </a:cxn>
                  <a:cxn ang="0">
                    <a:pos x="481" y="125"/>
                  </a:cxn>
                  <a:cxn ang="0">
                    <a:pos x="501" y="135"/>
                  </a:cxn>
                  <a:cxn ang="0">
                    <a:pos x="566" y="135"/>
                  </a:cxn>
                  <a:cxn ang="0">
                    <a:pos x="581" y="145"/>
                  </a:cxn>
                  <a:cxn ang="0">
                    <a:pos x="576" y="160"/>
                  </a:cxn>
                  <a:cxn ang="0">
                    <a:pos x="496" y="155"/>
                  </a:cxn>
                  <a:cxn ang="0">
                    <a:pos x="471" y="155"/>
                  </a:cxn>
                  <a:cxn ang="0">
                    <a:pos x="466" y="170"/>
                  </a:cxn>
                  <a:cxn ang="0">
                    <a:pos x="521" y="245"/>
                  </a:cxn>
                  <a:cxn ang="0">
                    <a:pos x="506" y="260"/>
                  </a:cxn>
                  <a:cxn ang="0">
                    <a:pos x="451" y="190"/>
                  </a:cxn>
                  <a:cxn ang="0">
                    <a:pos x="431" y="190"/>
                  </a:cxn>
                  <a:cxn ang="0">
                    <a:pos x="391" y="220"/>
                  </a:cxn>
                  <a:cxn ang="0">
                    <a:pos x="321" y="315"/>
                  </a:cxn>
                  <a:cxn ang="0">
                    <a:pos x="256" y="395"/>
                  </a:cxn>
                  <a:cxn ang="0">
                    <a:pos x="181" y="480"/>
                  </a:cxn>
                  <a:cxn ang="0">
                    <a:pos x="126" y="565"/>
                  </a:cxn>
                  <a:cxn ang="0">
                    <a:pos x="56" y="675"/>
                  </a:cxn>
                  <a:cxn ang="0">
                    <a:pos x="11" y="681"/>
                  </a:cxn>
                </a:cxnLst>
                <a:rect l="0" t="0" r="r" b="b"/>
                <a:pathLst>
                  <a:path w="581" h="681">
                    <a:moveTo>
                      <a:pt x="11" y="681"/>
                    </a:moveTo>
                    <a:lnTo>
                      <a:pt x="0" y="620"/>
                    </a:lnTo>
                    <a:lnTo>
                      <a:pt x="26" y="540"/>
                    </a:lnTo>
                    <a:lnTo>
                      <a:pt x="96" y="475"/>
                    </a:lnTo>
                    <a:lnTo>
                      <a:pt x="196" y="385"/>
                    </a:lnTo>
                    <a:lnTo>
                      <a:pt x="301" y="285"/>
                    </a:lnTo>
                    <a:lnTo>
                      <a:pt x="396" y="160"/>
                    </a:lnTo>
                    <a:lnTo>
                      <a:pt x="426" y="85"/>
                    </a:lnTo>
                    <a:lnTo>
                      <a:pt x="436" y="0"/>
                    </a:lnTo>
                    <a:lnTo>
                      <a:pt x="456" y="0"/>
                    </a:lnTo>
                    <a:lnTo>
                      <a:pt x="446" y="90"/>
                    </a:lnTo>
                    <a:lnTo>
                      <a:pt x="461" y="90"/>
                    </a:lnTo>
                    <a:lnTo>
                      <a:pt x="541" y="30"/>
                    </a:lnTo>
                    <a:lnTo>
                      <a:pt x="556" y="50"/>
                    </a:lnTo>
                    <a:lnTo>
                      <a:pt x="491" y="95"/>
                    </a:lnTo>
                    <a:lnTo>
                      <a:pt x="481" y="125"/>
                    </a:lnTo>
                    <a:lnTo>
                      <a:pt x="501" y="135"/>
                    </a:lnTo>
                    <a:lnTo>
                      <a:pt x="566" y="135"/>
                    </a:lnTo>
                    <a:lnTo>
                      <a:pt x="581" y="145"/>
                    </a:lnTo>
                    <a:lnTo>
                      <a:pt x="576" y="160"/>
                    </a:lnTo>
                    <a:lnTo>
                      <a:pt x="496" y="155"/>
                    </a:lnTo>
                    <a:lnTo>
                      <a:pt x="471" y="155"/>
                    </a:lnTo>
                    <a:lnTo>
                      <a:pt x="466" y="170"/>
                    </a:lnTo>
                    <a:lnTo>
                      <a:pt x="521" y="245"/>
                    </a:lnTo>
                    <a:lnTo>
                      <a:pt x="506" y="260"/>
                    </a:lnTo>
                    <a:lnTo>
                      <a:pt x="451" y="190"/>
                    </a:lnTo>
                    <a:lnTo>
                      <a:pt x="431" y="190"/>
                    </a:lnTo>
                    <a:lnTo>
                      <a:pt x="391" y="220"/>
                    </a:lnTo>
                    <a:lnTo>
                      <a:pt x="321" y="315"/>
                    </a:lnTo>
                    <a:lnTo>
                      <a:pt x="256" y="395"/>
                    </a:lnTo>
                    <a:lnTo>
                      <a:pt x="181" y="480"/>
                    </a:lnTo>
                    <a:lnTo>
                      <a:pt x="126" y="565"/>
                    </a:lnTo>
                    <a:lnTo>
                      <a:pt x="56" y="675"/>
                    </a:lnTo>
                    <a:lnTo>
                      <a:pt x="11" y="681"/>
                    </a:lnTo>
                    <a:close/>
                  </a:path>
                </a:pathLst>
              </a:custGeom>
              <a:solidFill>
                <a:srgbClr val="000000"/>
              </a:solidFill>
              <a:ln w="9525">
                <a:noFill/>
                <a:round/>
                <a:headEnd/>
                <a:tailEnd/>
              </a:ln>
            </p:spPr>
            <p:txBody>
              <a:bodyPr/>
              <a:lstStyle/>
              <a:p>
                <a:pPr algn="ctr" eaLnBrk="1" hangingPunct="1">
                  <a:defRPr/>
                </a:pPr>
                <a:endParaRPr lang="en-US">
                  <a:effectLst>
                    <a:outerShdw blurRad="38100" dist="38100" dir="2700000" algn="tl">
                      <a:srgbClr val="000000">
                        <a:alpha val="43137"/>
                      </a:srgbClr>
                    </a:outerShdw>
                  </a:effectLst>
                  <a:latin typeface="Arial" charset="0"/>
                </a:endParaRPr>
              </a:p>
            </p:txBody>
          </p:sp>
          <p:sp>
            <p:nvSpPr>
              <p:cNvPr id="24" name="Freeform 20"/>
              <p:cNvSpPr>
                <a:spLocks/>
              </p:cNvSpPr>
              <p:nvPr/>
            </p:nvSpPr>
            <p:spPr bwMode="auto">
              <a:xfrm>
                <a:off x="2592" y="1654"/>
                <a:ext cx="681" cy="483"/>
              </a:xfrm>
              <a:custGeom>
                <a:avLst/>
                <a:gdLst/>
                <a:ahLst/>
                <a:cxnLst>
                  <a:cxn ang="0">
                    <a:pos x="0" y="360"/>
                  </a:cxn>
                  <a:cxn ang="0">
                    <a:pos x="5" y="400"/>
                  </a:cxn>
                  <a:cxn ang="0">
                    <a:pos x="40" y="430"/>
                  </a:cxn>
                  <a:cxn ang="0">
                    <a:pos x="125" y="455"/>
                  </a:cxn>
                  <a:cxn ang="0">
                    <a:pos x="215" y="475"/>
                  </a:cxn>
                  <a:cxn ang="0">
                    <a:pos x="325" y="481"/>
                  </a:cxn>
                  <a:cxn ang="0">
                    <a:pos x="370" y="475"/>
                  </a:cxn>
                  <a:cxn ang="0">
                    <a:pos x="440" y="315"/>
                  </a:cxn>
                  <a:cxn ang="0">
                    <a:pos x="500" y="190"/>
                  </a:cxn>
                  <a:cxn ang="0">
                    <a:pos x="550" y="110"/>
                  </a:cxn>
                  <a:cxn ang="0">
                    <a:pos x="570" y="110"/>
                  </a:cxn>
                  <a:cxn ang="0">
                    <a:pos x="580" y="125"/>
                  </a:cxn>
                  <a:cxn ang="0">
                    <a:pos x="580" y="165"/>
                  </a:cxn>
                  <a:cxn ang="0">
                    <a:pos x="560" y="190"/>
                  </a:cxn>
                  <a:cxn ang="0">
                    <a:pos x="570" y="200"/>
                  </a:cxn>
                  <a:cxn ang="0">
                    <a:pos x="595" y="185"/>
                  </a:cxn>
                  <a:cxn ang="0">
                    <a:pos x="600" y="160"/>
                  </a:cxn>
                  <a:cxn ang="0">
                    <a:pos x="600" y="115"/>
                  </a:cxn>
                  <a:cxn ang="0">
                    <a:pos x="620" y="135"/>
                  </a:cxn>
                  <a:cxn ang="0">
                    <a:pos x="635" y="170"/>
                  </a:cxn>
                  <a:cxn ang="0">
                    <a:pos x="650" y="165"/>
                  </a:cxn>
                  <a:cxn ang="0">
                    <a:pos x="635" y="125"/>
                  </a:cxn>
                  <a:cxn ang="0">
                    <a:pos x="615" y="105"/>
                  </a:cxn>
                  <a:cxn ang="0">
                    <a:pos x="600" y="90"/>
                  </a:cxn>
                  <a:cxn ang="0">
                    <a:pos x="635" y="80"/>
                  </a:cxn>
                  <a:cxn ang="0">
                    <a:pos x="670" y="95"/>
                  </a:cxn>
                  <a:cxn ang="0">
                    <a:pos x="675" y="75"/>
                  </a:cxn>
                  <a:cxn ang="0">
                    <a:pos x="635" y="60"/>
                  </a:cxn>
                  <a:cxn ang="0">
                    <a:pos x="595" y="65"/>
                  </a:cxn>
                  <a:cxn ang="0">
                    <a:pos x="600" y="40"/>
                  </a:cxn>
                  <a:cxn ang="0">
                    <a:pos x="625" y="20"/>
                  </a:cxn>
                  <a:cxn ang="0">
                    <a:pos x="660" y="20"/>
                  </a:cxn>
                  <a:cxn ang="0">
                    <a:pos x="681" y="10"/>
                  </a:cxn>
                  <a:cxn ang="0">
                    <a:pos x="640" y="0"/>
                  </a:cxn>
                  <a:cxn ang="0">
                    <a:pos x="605" y="5"/>
                  </a:cxn>
                  <a:cxn ang="0">
                    <a:pos x="585" y="20"/>
                  </a:cxn>
                  <a:cxn ang="0">
                    <a:pos x="535" y="50"/>
                  </a:cxn>
                  <a:cxn ang="0">
                    <a:pos x="510" y="90"/>
                  </a:cxn>
                  <a:cxn ang="0">
                    <a:pos x="470" y="155"/>
                  </a:cxn>
                  <a:cxn ang="0">
                    <a:pos x="420" y="245"/>
                  </a:cxn>
                  <a:cxn ang="0">
                    <a:pos x="360" y="350"/>
                  </a:cxn>
                  <a:cxn ang="0">
                    <a:pos x="335" y="410"/>
                  </a:cxn>
                  <a:cxn ang="0">
                    <a:pos x="310" y="410"/>
                  </a:cxn>
                  <a:cxn ang="0">
                    <a:pos x="215" y="405"/>
                  </a:cxn>
                  <a:cxn ang="0">
                    <a:pos x="145" y="375"/>
                  </a:cxn>
                  <a:cxn ang="0">
                    <a:pos x="80" y="340"/>
                  </a:cxn>
                  <a:cxn ang="0">
                    <a:pos x="30" y="330"/>
                  </a:cxn>
                  <a:cxn ang="0">
                    <a:pos x="25" y="330"/>
                  </a:cxn>
                  <a:cxn ang="0">
                    <a:pos x="0" y="360"/>
                  </a:cxn>
                </a:cxnLst>
                <a:rect l="0" t="0" r="r" b="b"/>
                <a:pathLst>
                  <a:path w="681" h="481">
                    <a:moveTo>
                      <a:pt x="0" y="360"/>
                    </a:moveTo>
                    <a:lnTo>
                      <a:pt x="5" y="400"/>
                    </a:lnTo>
                    <a:lnTo>
                      <a:pt x="40" y="430"/>
                    </a:lnTo>
                    <a:lnTo>
                      <a:pt x="125" y="455"/>
                    </a:lnTo>
                    <a:lnTo>
                      <a:pt x="215" y="475"/>
                    </a:lnTo>
                    <a:lnTo>
                      <a:pt x="325" y="481"/>
                    </a:lnTo>
                    <a:lnTo>
                      <a:pt x="370" y="475"/>
                    </a:lnTo>
                    <a:lnTo>
                      <a:pt x="440" y="315"/>
                    </a:lnTo>
                    <a:lnTo>
                      <a:pt x="500" y="190"/>
                    </a:lnTo>
                    <a:lnTo>
                      <a:pt x="550" y="110"/>
                    </a:lnTo>
                    <a:lnTo>
                      <a:pt x="570" y="110"/>
                    </a:lnTo>
                    <a:lnTo>
                      <a:pt x="580" y="125"/>
                    </a:lnTo>
                    <a:lnTo>
                      <a:pt x="580" y="165"/>
                    </a:lnTo>
                    <a:lnTo>
                      <a:pt x="560" y="190"/>
                    </a:lnTo>
                    <a:lnTo>
                      <a:pt x="570" y="200"/>
                    </a:lnTo>
                    <a:lnTo>
                      <a:pt x="595" y="185"/>
                    </a:lnTo>
                    <a:lnTo>
                      <a:pt x="600" y="160"/>
                    </a:lnTo>
                    <a:lnTo>
                      <a:pt x="600" y="115"/>
                    </a:lnTo>
                    <a:lnTo>
                      <a:pt x="620" y="135"/>
                    </a:lnTo>
                    <a:lnTo>
                      <a:pt x="635" y="170"/>
                    </a:lnTo>
                    <a:lnTo>
                      <a:pt x="650" y="165"/>
                    </a:lnTo>
                    <a:lnTo>
                      <a:pt x="635" y="125"/>
                    </a:lnTo>
                    <a:lnTo>
                      <a:pt x="615" y="105"/>
                    </a:lnTo>
                    <a:lnTo>
                      <a:pt x="600" y="90"/>
                    </a:lnTo>
                    <a:lnTo>
                      <a:pt x="635" y="80"/>
                    </a:lnTo>
                    <a:lnTo>
                      <a:pt x="670" y="95"/>
                    </a:lnTo>
                    <a:lnTo>
                      <a:pt x="675" y="75"/>
                    </a:lnTo>
                    <a:lnTo>
                      <a:pt x="635" y="60"/>
                    </a:lnTo>
                    <a:lnTo>
                      <a:pt x="595" y="65"/>
                    </a:lnTo>
                    <a:lnTo>
                      <a:pt x="600" y="40"/>
                    </a:lnTo>
                    <a:lnTo>
                      <a:pt x="625" y="20"/>
                    </a:lnTo>
                    <a:lnTo>
                      <a:pt x="660" y="20"/>
                    </a:lnTo>
                    <a:lnTo>
                      <a:pt x="681" y="10"/>
                    </a:lnTo>
                    <a:lnTo>
                      <a:pt x="640" y="0"/>
                    </a:lnTo>
                    <a:lnTo>
                      <a:pt x="605" y="5"/>
                    </a:lnTo>
                    <a:lnTo>
                      <a:pt x="585" y="20"/>
                    </a:lnTo>
                    <a:lnTo>
                      <a:pt x="535" y="50"/>
                    </a:lnTo>
                    <a:lnTo>
                      <a:pt x="510" y="90"/>
                    </a:lnTo>
                    <a:lnTo>
                      <a:pt x="470" y="155"/>
                    </a:lnTo>
                    <a:lnTo>
                      <a:pt x="420" y="245"/>
                    </a:lnTo>
                    <a:lnTo>
                      <a:pt x="360" y="350"/>
                    </a:lnTo>
                    <a:lnTo>
                      <a:pt x="335" y="410"/>
                    </a:lnTo>
                    <a:lnTo>
                      <a:pt x="310" y="410"/>
                    </a:lnTo>
                    <a:lnTo>
                      <a:pt x="215" y="405"/>
                    </a:lnTo>
                    <a:lnTo>
                      <a:pt x="145" y="375"/>
                    </a:lnTo>
                    <a:lnTo>
                      <a:pt x="80" y="340"/>
                    </a:lnTo>
                    <a:lnTo>
                      <a:pt x="30" y="330"/>
                    </a:lnTo>
                    <a:lnTo>
                      <a:pt x="25" y="330"/>
                    </a:lnTo>
                    <a:lnTo>
                      <a:pt x="0" y="360"/>
                    </a:lnTo>
                    <a:close/>
                  </a:path>
                </a:pathLst>
              </a:custGeom>
              <a:solidFill>
                <a:srgbClr val="000000"/>
              </a:solidFill>
              <a:ln w="9525">
                <a:noFill/>
                <a:round/>
                <a:headEnd/>
                <a:tailEnd/>
              </a:ln>
            </p:spPr>
            <p:txBody>
              <a:bodyPr/>
              <a:lstStyle/>
              <a:p>
                <a:pPr algn="ctr" eaLnBrk="1" hangingPunct="1">
                  <a:defRPr/>
                </a:pPr>
                <a:endParaRPr lang="en-US">
                  <a:effectLst>
                    <a:outerShdw blurRad="38100" dist="38100" dir="2700000" algn="tl">
                      <a:srgbClr val="000000">
                        <a:alpha val="43137"/>
                      </a:srgbClr>
                    </a:outerShdw>
                  </a:effectLst>
                  <a:latin typeface="Arial" charset="0"/>
                </a:endParaRPr>
              </a:p>
            </p:txBody>
          </p:sp>
          <p:sp>
            <p:nvSpPr>
              <p:cNvPr id="25" name="Freeform 21"/>
              <p:cNvSpPr>
                <a:spLocks/>
              </p:cNvSpPr>
              <p:nvPr/>
            </p:nvSpPr>
            <p:spPr bwMode="auto">
              <a:xfrm>
                <a:off x="2413" y="2007"/>
                <a:ext cx="354" cy="726"/>
              </a:xfrm>
              <a:custGeom>
                <a:avLst/>
                <a:gdLst/>
                <a:ahLst/>
                <a:cxnLst>
                  <a:cxn ang="0">
                    <a:pos x="60" y="75"/>
                  </a:cxn>
                  <a:cxn ang="0">
                    <a:pos x="110" y="15"/>
                  </a:cxn>
                  <a:cxn ang="0">
                    <a:pos x="165" y="0"/>
                  </a:cxn>
                  <a:cxn ang="0">
                    <a:pos x="246" y="20"/>
                  </a:cxn>
                  <a:cxn ang="0">
                    <a:pos x="261" y="60"/>
                  </a:cxn>
                  <a:cxn ang="0">
                    <a:pos x="266" y="135"/>
                  </a:cxn>
                  <a:cxn ang="0">
                    <a:pos x="236" y="255"/>
                  </a:cxn>
                  <a:cxn ang="0">
                    <a:pos x="221" y="305"/>
                  </a:cxn>
                  <a:cxn ang="0">
                    <a:pos x="221" y="360"/>
                  </a:cxn>
                  <a:cxn ang="0">
                    <a:pos x="241" y="411"/>
                  </a:cxn>
                  <a:cxn ang="0">
                    <a:pos x="271" y="451"/>
                  </a:cxn>
                  <a:cxn ang="0">
                    <a:pos x="341" y="511"/>
                  </a:cxn>
                  <a:cxn ang="0">
                    <a:pos x="356" y="576"/>
                  </a:cxn>
                  <a:cxn ang="0">
                    <a:pos x="346" y="626"/>
                  </a:cxn>
                  <a:cxn ang="0">
                    <a:pos x="326" y="666"/>
                  </a:cxn>
                  <a:cxn ang="0">
                    <a:pos x="276" y="711"/>
                  </a:cxn>
                  <a:cxn ang="0">
                    <a:pos x="236" y="726"/>
                  </a:cxn>
                  <a:cxn ang="0">
                    <a:pos x="175" y="721"/>
                  </a:cxn>
                  <a:cxn ang="0">
                    <a:pos x="115" y="706"/>
                  </a:cxn>
                  <a:cxn ang="0">
                    <a:pos x="80" y="666"/>
                  </a:cxn>
                  <a:cxn ang="0">
                    <a:pos x="40" y="601"/>
                  </a:cxn>
                  <a:cxn ang="0">
                    <a:pos x="20" y="541"/>
                  </a:cxn>
                  <a:cxn ang="0">
                    <a:pos x="0" y="436"/>
                  </a:cxn>
                  <a:cxn ang="0">
                    <a:pos x="0" y="320"/>
                  </a:cxn>
                  <a:cxn ang="0">
                    <a:pos x="25" y="195"/>
                  </a:cxn>
                  <a:cxn ang="0">
                    <a:pos x="45" y="120"/>
                  </a:cxn>
                  <a:cxn ang="0">
                    <a:pos x="60" y="75"/>
                  </a:cxn>
                </a:cxnLst>
                <a:rect l="0" t="0" r="r" b="b"/>
                <a:pathLst>
                  <a:path w="356" h="726">
                    <a:moveTo>
                      <a:pt x="60" y="75"/>
                    </a:moveTo>
                    <a:lnTo>
                      <a:pt x="110" y="15"/>
                    </a:lnTo>
                    <a:lnTo>
                      <a:pt x="165" y="0"/>
                    </a:lnTo>
                    <a:lnTo>
                      <a:pt x="246" y="20"/>
                    </a:lnTo>
                    <a:lnTo>
                      <a:pt x="261" y="60"/>
                    </a:lnTo>
                    <a:lnTo>
                      <a:pt x="266" y="135"/>
                    </a:lnTo>
                    <a:lnTo>
                      <a:pt x="236" y="255"/>
                    </a:lnTo>
                    <a:lnTo>
                      <a:pt x="221" y="305"/>
                    </a:lnTo>
                    <a:lnTo>
                      <a:pt x="221" y="360"/>
                    </a:lnTo>
                    <a:lnTo>
                      <a:pt x="241" y="411"/>
                    </a:lnTo>
                    <a:lnTo>
                      <a:pt x="271" y="451"/>
                    </a:lnTo>
                    <a:lnTo>
                      <a:pt x="341" y="511"/>
                    </a:lnTo>
                    <a:lnTo>
                      <a:pt x="356" y="576"/>
                    </a:lnTo>
                    <a:lnTo>
                      <a:pt x="346" y="626"/>
                    </a:lnTo>
                    <a:lnTo>
                      <a:pt x="326" y="666"/>
                    </a:lnTo>
                    <a:lnTo>
                      <a:pt x="276" y="711"/>
                    </a:lnTo>
                    <a:lnTo>
                      <a:pt x="236" y="726"/>
                    </a:lnTo>
                    <a:lnTo>
                      <a:pt x="175" y="721"/>
                    </a:lnTo>
                    <a:lnTo>
                      <a:pt x="115" y="706"/>
                    </a:lnTo>
                    <a:lnTo>
                      <a:pt x="80" y="666"/>
                    </a:lnTo>
                    <a:lnTo>
                      <a:pt x="40" y="601"/>
                    </a:lnTo>
                    <a:lnTo>
                      <a:pt x="20" y="541"/>
                    </a:lnTo>
                    <a:lnTo>
                      <a:pt x="0" y="436"/>
                    </a:lnTo>
                    <a:lnTo>
                      <a:pt x="0" y="320"/>
                    </a:lnTo>
                    <a:lnTo>
                      <a:pt x="25" y="195"/>
                    </a:lnTo>
                    <a:lnTo>
                      <a:pt x="45" y="120"/>
                    </a:lnTo>
                    <a:lnTo>
                      <a:pt x="60" y="75"/>
                    </a:lnTo>
                    <a:close/>
                  </a:path>
                </a:pathLst>
              </a:custGeom>
              <a:solidFill>
                <a:srgbClr val="000000"/>
              </a:solidFill>
              <a:ln w="9525">
                <a:noFill/>
                <a:round/>
                <a:headEnd/>
                <a:tailEnd/>
              </a:ln>
            </p:spPr>
            <p:txBody>
              <a:bodyPr/>
              <a:lstStyle/>
              <a:p>
                <a:pPr algn="ctr" eaLnBrk="1" hangingPunct="1">
                  <a:defRPr/>
                </a:pPr>
                <a:endParaRPr lang="en-US">
                  <a:effectLst>
                    <a:outerShdw blurRad="38100" dist="38100" dir="2700000" algn="tl">
                      <a:srgbClr val="000000">
                        <a:alpha val="43137"/>
                      </a:srgbClr>
                    </a:outerShdw>
                  </a:effectLst>
                  <a:latin typeface="Arial" charset="0"/>
                </a:endParaRPr>
              </a:p>
            </p:txBody>
          </p:sp>
          <p:sp>
            <p:nvSpPr>
              <p:cNvPr id="26" name="Freeform 22"/>
              <p:cNvSpPr>
                <a:spLocks/>
              </p:cNvSpPr>
              <p:nvPr/>
            </p:nvSpPr>
            <p:spPr bwMode="auto">
              <a:xfrm>
                <a:off x="2573" y="2614"/>
                <a:ext cx="299" cy="838"/>
              </a:xfrm>
              <a:custGeom>
                <a:avLst/>
                <a:gdLst/>
                <a:ahLst/>
                <a:cxnLst>
                  <a:cxn ang="0">
                    <a:pos x="30" y="55"/>
                  </a:cxn>
                  <a:cxn ang="0">
                    <a:pos x="45" y="10"/>
                  </a:cxn>
                  <a:cxn ang="0">
                    <a:pos x="90" y="0"/>
                  </a:cxn>
                  <a:cxn ang="0">
                    <a:pos x="130" y="20"/>
                  </a:cxn>
                  <a:cxn ang="0">
                    <a:pos x="180" y="105"/>
                  </a:cxn>
                  <a:cxn ang="0">
                    <a:pos x="240" y="205"/>
                  </a:cxn>
                  <a:cxn ang="0">
                    <a:pos x="285" y="288"/>
                  </a:cxn>
                  <a:cxn ang="0">
                    <a:pos x="300" y="375"/>
                  </a:cxn>
                  <a:cxn ang="0">
                    <a:pos x="295" y="436"/>
                  </a:cxn>
                  <a:cxn ang="0">
                    <a:pos x="250" y="516"/>
                  </a:cxn>
                  <a:cxn ang="0">
                    <a:pos x="195" y="571"/>
                  </a:cxn>
                  <a:cxn ang="0">
                    <a:pos x="150" y="596"/>
                  </a:cxn>
                  <a:cxn ang="0">
                    <a:pos x="80" y="611"/>
                  </a:cxn>
                  <a:cxn ang="0">
                    <a:pos x="55" y="636"/>
                  </a:cxn>
                  <a:cxn ang="0">
                    <a:pos x="75" y="676"/>
                  </a:cxn>
                  <a:cxn ang="0">
                    <a:pos x="110" y="711"/>
                  </a:cxn>
                  <a:cxn ang="0">
                    <a:pos x="135" y="776"/>
                  </a:cxn>
                  <a:cxn ang="0">
                    <a:pos x="175" y="771"/>
                  </a:cxn>
                  <a:cxn ang="0">
                    <a:pos x="200" y="806"/>
                  </a:cxn>
                  <a:cxn ang="0">
                    <a:pos x="165" y="836"/>
                  </a:cxn>
                  <a:cxn ang="0">
                    <a:pos x="135" y="821"/>
                  </a:cxn>
                  <a:cxn ang="0">
                    <a:pos x="100" y="796"/>
                  </a:cxn>
                  <a:cxn ang="0">
                    <a:pos x="85" y="731"/>
                  </a:cxn>
                  <a:cxn ang="0">
                    <a:pos x="35" y="686"/>
                  </a:cxn>
                  <a:cxn ang="0">
                    <a:pos x="0" y="636"/>
                  </a:cxn>
                  <a:cxn ang="0">
                    <a:pos x="5" y="601"/>
                  </a:cxn>
                  <a:cxn ang="0">
                    <a:pos x="40" y="586"/>
                  </a:cxn>
                  <a:cxn ang="0">
                    <a:pos x="125" y="556"/>
                  </a:cxn>
                  <a:cxn ang="0">
                    <a:pos x="195" y="516"/>
                  </a:cxn>
                  <a:cxn ang="0">
                    <a:pos x="220" y="456"/>
                  </a:cxn>
                  <a:cxn ang="0">
                    <a:pos x="235" y="410"/>
                  </a:cxn>
                  <a:cxn ang="0">
                    <a:pos x="235" y="370"/>
                  </a:cxn>
                  <a:cxn ang="0">
                    <a:pos x="230" y="320"/>
                  </a:cxn>
                  <a:cxn ang="0">
                    <a:pos x="210" y="280"/>
                  </a:cxn>
                  <a:cxn ang="0">
                    <a:pos x="175" y="220"/>
                  </a:cxn>
                  <a:cxn ang="0">
                    <a:pos x="115" y="155"/>
                  </a:cxn>
                  <a:cxn ang="0">
                    <a:pos x="75" y="120"/>
                  </a:cxn>
                  <a:cxn ang="0">
                    <a:pos x="40" y="80"/>
                  </a:cxn>
                  <a:cxn ang="0">
                    <a:pos x="30" y="55"/>
                  </a:cxn>
                </a:cxnLst>
                <a:rect l="0" t="0" r="r" b="b"/>
                <a:pathLst>
                  <a:path w="300" h="836">
                    <a:moveTo>
                      <a:pt x="30" y="55"/>
                    </a:moveTo>
                    <a:lnTo>
                      <a:pt x="45" y="10"/>
                    </a:lnTo>
                    <a:lnTo>
                      <a:pt x="90" y="0"/>
                    </a:lnTo>
                    <a:lnTo>
                      <a:pt x="130" y="20"/>
                    </a:lnTo>
                    <a:lnTo>
                      <a:pt x="180" y="105"/>
                    </a:lnTo>
                    <a:lnTo>
                      <a:pt x="240" y="205"/>
                    </a:lnTo>
                    <a:lnTo>
                      <a:pt x="285" y="288"/>
                    </a:lnTo>
                    <a:lnTo>
                      <a:pt x="300" y="375"/>
                    </a:lnTo>
                    <a:lnTo>
                      <a:pt x="295" y="436"/>
                    </a:lnTo>
                    <a:lnTo>
                      <a:pt x="250" y="516"/>
                    </a:lnTo>
                    <a:lnTo>
                      <a:pt x="195" y="571"/>
                    </a:lnTo>
                    <a:lnTo>
                      <a:pt x="150" y="596"/>
                    </a:lnTo>
                    <a:lnTo>
                      <a:pt x="80" y="611"/>
                    </a:lnTo>
                    <a:lnTo>
                      <a:pt x="55" y="636"/>
                    </a:lnTo>
                    <a:lnTo>
                      <a:pt x="75" y="676"/>
                    </a:lnTo>
                    <a:lnTo>
                      <a:pt x="110" y="711"/>
                    </a:lnTo>
                    <a:lnTo>
                      <a:pt x="135" y="776"/>
                    </a:lnTo>
                    <a:lnTo>
                      <a:pt x="175" y="771"/>
                    </a:lnTo>
                    <a:lnTo>
                      <a:pt x="200" y="806"/>
                    </a:lnTo>
                    <a:lnTo>
                      <a:pt x="165" y="836"/>
                    </a:lnTo>
                    <a:lnTo>
                      <a:pt x="135" y="821"/>
                    </a:lnTo>
                    <a:lnTo>
                      <a:pt x="100" y="796"/>
                    </a:lnTo>
                    <a:lnTo>
                      <a:pt x="85" y="731"/>
                    </a:lnTo>
                    <a:lnTo>
                      <a:pt x="35" y="686"/>
                    </a:lnTo>
                    <a:lnTo>
                      <a:pt x="0" y="636"/>
                    </a:lnTo>
                    <a:lnTo>
                      <a:pt x="5" y="601"/>
                    </a:lnTo>
                    <a:lnTo>
                      <a:pt x="40" y="586"/>
                    </a:lnTo>
                    <a:lnTo>
                      <a:pt x="125" y="556"/>
                    </a:lnTo>
                    <a:lnTo>
                      <a:pt x="195" y="516"/>
                    </a:lnTo>
                    <a:lnTo>
                      <a:pt x="220" y="456"/>
                    </a:lnTo>
                    <a:lnTo>
                      <a:pt x="235" y="410"/>
                    </a:lnTo>
                    <a:lnTo>
                      <a:pt x="235" y="370"/>
                    </a:lnTo>
                    <a:lnTo>
                      <a:pt x="230" y="320"/>
                    </a:lnTo>
                    <a:lnTo>
                      <a:pt x="210" y="280"/>
                    </a:lnTo>
                    <a:lnTo>
                      <a:pt x="175" y="220"/>
                    </a:lnTo>
                    <a:lnTo>
                      <a:pt x="115" y="155"/>
                    </a:lnTo>
                    <a:lnTo>
                      <a:pt x="75" y="120"/>
                    </a:lnTo>
                    <a:lnTo>
                      <a:pt x="40" y="80"/>
                    </a:lnTo>
                    <a:lnTo>
                      <a:pt x="30" y="55"/>
                    </a:lnTo>
                    <a:close/>
                  </a:path>
                </a:pathLst>
              </a:custGeom>
              <a:solidFill>
                <a:srgbClr val="000000"/>
              </a:solidFill>
              <a:ln w="9525">
                <a:noFill/>
                <a:round/>
                <a:headEnd/>
                <a:tailEnd/>
              </a:ln>
            </p:spPr>
            <p:txBody>
              <a:bodyPr/>
              <a:lstStyle/>
              <a:p>
                <a:pPr algn="ctr" eaLnBrk="1" hangingPunct="1">
                  <a:defRPr/>
                </a:pPr>
                <a:endParaRPr lang="en-US">
                  <a:effectLst>
                    <a:outerShdw blurRad="38100" dist="38100" dir="2700000" algn="tl">
                      <a:srgbClr val="000000">
                        <a:alpha val="43137"/>
                      </a:srgbClr>
                    </a:outerShdw>
                  </a:effectLst>
                  <a:latin typeface="Arial" charset="0"/>
                </a:endParaRPr>
              </a:p>
            </p:txBody>
          </p:sp>
          <p:sp>
            <p:nvSpPr>
              <p:cNvPr id="27" name="Freeform 23"/>
              <p:cNvSpPr>
                <a:spLocks/>
              </p:cNvSpPr>
              <p:nvPr/>
            </p:nvSpPr>
            <p:spPr bwMode="auto">
              <a:xfrm>
                <a:off x="2581" y="2431"/>
                <a:ext cx="618" cy="438"/>
              </a:xfrm>
              <a:custGeom>
                <a:avLst/>
                <a:gdLst/>
                <a:ahLst/>
                <a:cxnLst>
                  <a:cxn ang="0">
                    <a:pos x="0" y="225"/>
                  </a:cxn>
                  <a:cxn ang="0">
                    <a:pos x="5" y="265"/>
                  </a:cxn>
                  <a:cxn ang="0">
                    <a:pos x="80" y="295"/>
                  </a:cxn>
                  <a:cxn ang="0">
                    <a:pos x="160" y="300"/>
                  </a:cxn>
                  <a:cxn ang="0">
                    <a:pos x="235" y="270"/>
                  </a:cxn>
                  <a:cxn ang="0">
                    <a:pos x="290" y="185"/>
                  </a:cxn>
                  <a:cxn ang="0">
                    <a:pos x="330" y="100"/>
                  </a:cxn>
                  <a:cxn ang="0">
                    <a:pos x="345" y="85"/>
                  </a:cxn>
                  <a:cxn ang="0">
                    <a:pos x="370" y="90"/>
                  </a:cxn>
                  <a:cxn ang="0">
                    <a:pos x="405" y="160"/>
                  </a:cxn>
                  <a:cxn ang="0">
                    <a:pos x="435" y="285"/>
                  </a:cxn>
                  <a:cxn ang="0">
                    <a:pos x="455" y="380"/>
                  </a:cxn>
                  <a:cxn ang="0">
                    <a:pos x="465" y="430"/>
                  </a:cxn>
                  <a:cxn ang="0">
                    <a:pos x="495" y="441"/>
                  </a:cxn>
                  <a:cxn ang="0">
                    <a:pos x="520" y="420"/>
                  </a:cxn>
                  <a:cxn ang="0">
                    <a:pos x="540" y="350"/>
                  </a:cxn>
                  <a:cxn ang="0">
                    <a:pos x="570" y="285"/>
                  </a:cxn>
                  <a:cxn ang="0">
                    <a:pos x="585" y="205"/>
                  </a:cxn>
                  <a:cxn ang="0">
                    <a:pos x="615" y="200"/>
                  </a:cxn>
                  <a:cxn ang="0">
                    <a:pos x="621" y="185"/>
                  </a:cxn>
                  <a:cxn ang="0">
                    <a:pos x="600" y="165"/>
                  </a:cxn>
                  <a:cxn ang="0">
                    <a:pos x="565" y="170"/>
                  </a:cxn>
                  <a:cxn ang="0">
                    <a:pos x="550" y="220"/>
                  </a:cxn>
                  <a:cxn ang="0">
                    <a:pos x="545" y="260"/>
                  </a:cxn>
                  <a:cxn ang="0">
                    <a:pos x="525" y="315"/>
                  </a:cxn>
                  <a:cxn ang="0">
                    <a:pos x="500" y="335"/>
                  </a:cxn>
                  <a:cxn ang="0">
                    <a:pos x="480" y="275"/>
                  </a:cxn>
                  <a:cxn ang="0">
                    <a:pos x="455" y="170"/>
                  </a:cxn>
                  <a:cxn ang="0">
                    <a:pos x="440" y="120"/>
                  </a:cxn>
                  <a:cxn ang="0">
                    <a:pos x="410" y="60"/>
                  </a:cxn>
                  <a:cxn ang="0">
                    <a:pos x="385" y="15"/>
                  </a:cxn>
                  <a:cxn ang="0">
                    <a:pos x="340" y="0"/>
                  </a:cxn>
                  <a:cxn ang="0">
                    <a:pos x="320" y="5"/>
                  </a:cxn>
                  <a:cxn ang="0">
                    <a:pos x="290" y="70"/>
                  </a:cxn>
                  <a:cxn ang="0">
                    <a:pos x="255" y="150"/>
                  </a:cxn>
                  <a:cxn ang="0">
                    <a:pos x="220" y="185"/>
                  </a:cxn>
                  <a:cxn ang="0">
                    <a:pos x="175" y="220"/>
                  </a:cxn>
                  <a:cxn ang="0">
                    <a:pos x="120" y="190"/>
                  </a:cxn>
                  <a:cxn ang="0">
                    <a:pos x="55" y="170"/>
                  </a:cxn>
                  <a:cxn ang="0">
                    <a:pos x="30" y="190"/>
                  </a:cxn>
                  <a:cxn ang="0">
                    <a:pos x="0" y="225"/>
                  </a:cxn>
                </a:cxnLst>
                <a:rect l="0" t="0" r="r" b="b"/>
                <a:pathLst>
                  <a:path w="621" h="441">
                    <a:moveTo>
                      <a:pt x="0" y="225"/>
                    </a:moveTo>
                    <a:lnTo>
                      <a:pt x="5" y="265"/>
                    </a:lnTo>
                    <a:lnTo>
                      <a:pt x="80" y="295"/>
                    </a:lnTo>
                    <a:lnTo>
                      <a:pt x="160" y="300"/>
                    </a:lnTo>
                    <a:lnTo>
                      <a:pt x="235" y="270"/>
                    </a:lnTo>
                    <a:lnTo>
                      <a:pt x="290" y="185"/>
                    </a:lnTo>
                    <a:lnTo>
                      <a:pt x="330" y="100"/>
                    </a:lnTo>
                    <a:lnTo>
                      <a:pt x="345" y="85"/>
                    </a:lnTo>
                    <a:lnTo>
                      <a:pt x="370" y="90"/>
                    </a:lnTo>
                    <a:lnTo>
                      <a:pt x="405" y="160"/>
                    </a:lnTo>
                    <a:lnTo>
                      <a:pt x="435" y="285"/>
                    </a:lnTo>
                    <a:lnTo>
                      <a:pt x="455" y="380"/>
                    </a:lnTo>
                    <a:lnTo>
                      <a:pt x="465" y="430"/>
                    </a:lnTo>
                    <a:lnTo>
                      <a:pt x="495" y="441"/>
                    </a:lnTo>
                    <a:lnTo>
                      <a:pt x="520" y="420"/>
                    </a:lnTo>
                    <a:lnTo>
                      <a:pt x="540" y="350"/>
                    </a:lnTo>
                    <a:lnTo>
                      <a:pt x="570" y="285"/>
                    </a:lnTo>
                    <a:lnTo>
                      <a:pt x="585" y="205"/>
                    </a:lnTo>
                    <a:lnTo>
                      <a:pt x="615" y="200"/>
                    </a:lnTo>
                    <a:lnTo>
                      <a:pt x="621" y="185"/>
                    </a:lnTo>
                    <a:lnTo>
                      <a:pt x="600" y="165"/>
                    </a:lnTo>
                    <a:lnTo>
                      <a:pt x="565" y="170"/>
                    </a:lnTo>
                    <a:lnTo>
                      <a:pt x="550" y="220"/>
                    </a:lnTo>
                    <a:lnTo>
                      <a:pt x="545" y="260"/>
                    </a:lnTo>
                    <a:lnTo>
                      <a:pt x="525" y="315"/>
                    </a:lnTo>
                    <a:lnTo>
                      <a:pt x="500" y="335"/>
                    </a:lnTo>
                    <a:lnTo>
                      <a:pt x="480" y="275"/>
                    </a:lnTo>
                    <a:lnTo>
                      <a:pt x="455" y="170"/>
                    </a:lnTo>
                    <a:lnTo>
                      <a:pt x="440" y="120"/>
                    </a:lnTo>
                    <a:lnTo>
                      <a:pt x="410" y="60"/>
                    </a:lnTo>
                    <a:lnTo>
                      <a:pt x="385" y="15"/>
                    </a:lnTo>
                    <a:lnTo>
                      <a:pt x="340" y="0"/>
                    </a:lnTo>
                    <a:lnTo>
                      <a:pt x="320" y="5"/>
                    </a:lnTo>
                    <a:lnTo>
                      <a:pt x="290" y="70"/>
                    </a:lnTo>
                    <a:lnTo>
                      <a:pt x="255" y="150"/>
                    </a:lnTo>
                    <a:lnTo>
                      <a:pt x="220" y="185"/>
                    </a:lnTo>
                    <a:lnTo>
                      <a:pt x="175" y="220"/>
                    </a:lnTo>
                    <a:lnTo>
                      <a:pt x="120" y="190"/>
                    </a:lnTo>
                    <a:lnTo>
                      <a:pt x="55" y="170"/>
                    </a:lnTo>
                    <a:lnTo>
                      <a:pt x="30" y="190"/>
                    </a:lnTo>
                    <a:lnTo>
                      <a:pt x="0" y="225"/>
                    </a:lnTo>
                    <a:close/>
                  </a:path>
                </a:pathLst>
              </a:custGeom>
              <a:solidFill>
                <a:srgbClr val="000000"/>
              </a:solidFill>
              <a:ln w="9525">
                <a:noFill/>
                <a:round/>
                <a:headEnd/>
                <a:tailEnd/>
              </a:ln>
            </p:spPr>
            <p:txBody>
              <a:bodyPr/>
              <a:lstStyle/>
              <a:p>
                <a:pPr algn="ctr" eaLnBrk="1" hangingPunct="1">
                  <a:defRPr/>
                </a:pPr>
                <a:endParaRPr lang="en-US">
                  <a:effectLst>
                    <a:outerShdw blurRad="38100" dist="38100" dir="2700000" algn="tl">
                      <a:srgbClr val="000000">
                        <a:alpha val="43137"/>
                      </a:srgbClr>
                    </a:outerShdw>
                  </a:effectLst>
                  <a:latin typeface="Arial" charset="0"/>
                </a:endParaRPr>
              </a:p>
            </p:txBody>
          </p:sp>
        </p:grpSp>
        <p:grpSp>
          <p:nvGrpSpPr>
            <p:cNvPr id="45067" name="Group 24"/>
            <p:cNvGrpSpPr>
              <a:grpSpLocks/>
            </p:cNvGrpSpPr>
            <p:nvPr/>
          </p:nvGrpSpPr>
          <p:grpSpPr bwMode="auto">
            <a:xfrm>
              <a:off x="2177" y="1954"/>
              <a:ext cx="422" cy="685"/>
              <a:chOff x="2177" y="1954"/>
              <a:chExt cx="422" cy="685"/>
            </a:xfrm>
          </p:grpSpPr>
          <p:sp>
            <p:nvSpPr>
              <p:cNvPr id="20" name="Freeform 25"/>
              <p:cNvSpPr>
                <a:spLocks/>
              </p:cNvSpPr>
              <p:nvPr/>
            </p:nvSpPr>
            <p:spPr bwMode="auto">
              <a:xfrm>
                <a:off x="2168" y="1956"/>
                <a:ext cx="388" cy="656"/>
              </a:xfrm>
              <a:custGeom>
                <a:avLst/>
                <a:gdLst/>
                <a:ahLst/>
                <a:cxnLst>
                  <a:cxn ang="0">
                    <a:pos x="100" y="95"/>
                  </a:cxn>
                  <a:cxn ang="0">
                    <a:pos x="130" y="35"/>
                  </a:cxn>
                  <a:cxn ang="0">
                    <a:pos x="150" y="15"/>
                  </a:cxn>
                  <a:cxn ang="0">
                    <a:pos x="180" y="5"/>
                  </a:cxn>
                  <a:cxn ang="0">
                    <a:pos x="220" y="0"/>
                  </a:cxn>
                  <a:cxn ang="0">
                    <a:pos x="270" y="10"/>
                  </a:cxn>
                  <a:cxn ang="0">
                    <a:pos x="340" y="45"/>
                  </a:cxn>
                  <a:cxn ang="0">
                    <a:pos x="360" y="75"/>
                  </a:cxn>
                  <a:cxn ang="0">
                    <a:pos x="380" y="105"/>
                  </a:cxn>
                  <a:cxn ang="0">
                    <a:pos x="385" y="135"/>
                  </a:cxn>
                  <a:cxn ang="0">
                    <a:pos x="391" y="175"/>
                  </a:cxn>
                  <a:cxn ang="0">
                    <a:pos x="391" y="225"/>
                  </a:cxn>
                  <a:cxn ang="0">
                    <a:pos x="385" y="275"/>
                  </a:cxn>
                  <a:cxn ang="0">
                    <a:pos x="380" y="315"/>
                  </a:cxn>
                  <a:cxn ang="0">
                    <a:pos x="380" y="356"/>
                  </a:cxn>
                  <a:cxn ang="0">
                    <a:pos x="380" y="391"/>
                  </a:cxn>
                  <a:cxn ang="0">
                    <a:pos x="385" y="436"/>
                  </a:cxn>
                  <a:cxn ang="0">
                    <a:pos x="391" y="476"/>
                  </a:cxn>
                  <a:cxn ang="0">
                    <a:pos x="385" y="506"/>
                  </a:cxn>
                  <a:cxn ang="0">
                    <a:pos x="370" y="556"/>
                  </a:cxn>
                  <a:cxn ang="0">
                    <a:pos x="350" y="586"/>
                  </a:cxn>
                  <a:cxn ang="0">
                    <a:pos x="330" y="611"/>
                  </a:cxn>
                  <a:cxn ang="0">
                    <a:pos x="285" y="626"/>
                  </a:cxn>
                  <a:cxn ang="0">
                    <a:pos x="235" y="641"/>
                  </a:cxn>
                  <a:cxn ang="0">
                    <a:pos x="180" y="646"/>
                  </a:cxn>
                  <a:cxn ang="0">
                    <a:pos x="135" y="656"/>
                  </a:cxn>
                  <a:cxn ang="0">
                    <a:pos x="80" y="641"/>
                  </a:cxn>
                  <a:cxn ang="0">
                    <a:pos x="30" y="591"/>
                  </a:cxn>
                  <a:cxn ang="0">
                    <a:pos x="10" y="541"/>
                  </a:cxn>
                  <a:cxn ang="0">
                    <a:pos x="0" y="471"/>
                  </a:cxn>
                  <a:cxn ang="0">
                    <a:pos x="0" y="391"/>
                  </a:cxn>
                  <a:cxn ang="0">
                    <a:pos x="15" y="320"/>
                  </a:cxn>
                  <a:cxn ang="0">
                    <a:pos x="30" y="255"/>
                  </a:cxn>
                  <a:cxn ang="0">
                    <a:pos x="50" y="200"/>
                  </a:cxn>
                  <a:cxn ang="0">
                    <a:pos x="60" y="170"/>
                  </a:cxn>
                  <a:cxn ang="0">
                    <a:pos x="75" y="120"/>
                  </a:cxn>
                  <a:cxn ang="0">
                    <a:pos x="100" y="95"/>
                  </a:cxn>
                </a:cxnLst>
                <a:rect l="0" t="0" r="r" b="b"/>
                <a:pathLst>
                  <a:path w="391" h="656">
                    <a:moveTo>
                      <a:pt x="100" y="95"/>
                    </a:moveTo>
                    <a:lnTo>
                      <a:pt x="130" y="35"/>
                    </a:lnTo>
                    <a:lnTo>
                      <a:pt x="150" y="15"/>
                    </a:lnTo>
                    <a:lnTo>
                      <a:pt x="180" y="5"/>
                    </a:lnTo>
                    <a:lnTo>
                      <a:pt x="220" y="0"/>
                    </a:lnTo>
                    <a:lnTo>
                      <a:pt x="270" y="10"/>
                    </a:lnTo>
                    <a:lnTo>
                      <a:pt x="340" y="45"/>
                    </a:lnTo>
                    <a:lnTo>
                      <a:pt x="360" y="75"/>
                    </a:lnTo>
                    <a:lnTo>
                      <a:pt x="380" y="105"/>
                    </a:lnTo>
                    <a:lnTo>
                      <a:pt x="385" y="135"/>
                    </a:lnTo>
                    <a:lnTo>
                      <a:pt x="391" y="175"/>
                    </a:lnTo>
                    <a:lnTo>
                      <a:pt x="391" y="225"/>
                    </a:lnTo>
                    <a:lnTo>
                      <a:pt x="385" y="275"/>
                    </a:lnTo>
                    <a:lnTo>
                      <a:pt x="380" y="315"/>
                    </a:lnTo>
                    <a:lnTo>
                      <a:pt x="380" y="356"/>
                    </a:lnTo>
                    <a:lnTo>
                      <a:pt x="380" y="391"/>
                    </a:lnTo>
                    <a:lnTo>
                      <a:pt x="385" y="436"/>
                    </a:lnTo>
                    <a:lnTo>
                      <a:pt x="391" y="476"/>
                    </a:lnTo>
                    <a:lnTo>
                      <a:pt x="385" y="506"/>
                    </a:lnTo>
                    <a:lnTo>
                      <a:pt x="370" y="556"/>
                    </a:lnTo>
                    <a:lnTo>
                      <a:pt x="350" y="586"/>
                    </a:lnTo>
                    <a:lnTo>
                      <a:pt x="330" y="611"/>
                    </a:lnTo>
                    <a:lnTo>
                      <a:pt x="285" y="626"/>
                    </a:lnTo>
                    <a:lnTo>
                      <a:pt x="235" y="641"/>
                    </a:lnTo>
                    <a:lnTo>
                      <a:pt x="180" y="646"/>
                    </a:lnTo>
                    <a:lnTo>
                      <a:pt x="135" y="656"/>
                    </a:lnTo>
                    <a:lnTo>
                      <a:pt x="80" y="641"/>
                    </a:lnTo>
                    <a:lnTo>
                      <a:pt x="30" y="591"/>
                    </a:lnTo>
                    <a:lnTo>
                      <a:pt x="10" y="541"/>
                    </a:lnTo>
                    <a:lnTo>
                      <a:pt x="0" y="471"/>
                    </a:lnTo>
                    <a:lnTo>
                      <a:pt x="0" y="391"/>
                    </a:lnTo>
                    <a:lnTo>
                      <a:pt x="15" y="320"/>
                    </a:lnTo>
                    <a:lnTo>
                      <a:pt x="30" y="255"/>
                    </a:lnTo>
                    <a:lnTo>
                      <a:pt x="50" y="200"/>
                    </a:lnTo>
                    <a:lnTo>
                      <a:pt x="60" y="170"/>
                    </a:lnTo>
                    <a:lnTo>
                      <a:pt x="75" y="120"/>
                    </a:lnTo>
                    <a:lnTo>
                      <a:pt x="100" y="95"/>
                    </a:lnTo>
                    <a:close/>
                  </a:path>
                </a:pathLst>
              </a:custGeom>
              <a:solidFill>
                <a:srgbClr val="CC9900"/>
              </a:solidFill>
              <a:ln w="9525">
                <a:noFill/>
                <a:round/>
                <a:headEnd/>
                <a:tailEnd/>
              </a:ln>
            </p:spPr>
            <p:txBody>
              <a:bodyPr/>
              <a:lstStyle/>
              <a:p>
                <a:pPr algn="ctr" eaLnBrk="1" hangingPunct="1">
                  <a:defRPr/>
                </a:pPr>
                <a:endParaRPr lang="en-US">
                  <a:effectLst>
                    <a:outerShdw blurRad="38100" dist="38100" dir="2700000" algn="tl">
                      <a:srgbClr val="000000">
                        <a:alpha val="43137"/>
                      </a:srgbClr>
                    </a:outerShdw>
                  </a:effectLst>
                  <a:latin typeface="Arial" charset="0"/>
                </a:endParaRPr>
              </a:p>
            </p:txBody>
          </p:sp>
          <p:sp>
            <p:nvSpPr>
              <p:cNvPr id="21" name="Freeform 26"/>
              <p:cNvSpPr>
                <a:spLocks/>
              </p:cNvSpPr>
              <p:nvPr/>
            </p:nvSpPr>
            <p:spPr bwMode="auto">
              <a:xfrm>
                <a:off x="2177" y="1954"/>
                <a:ext cx="422" cy="685"/>
              </a:xfrm>
              <a:custGeom>
                <a:avLst/>
                <a:gdLst/>
                <a:ahLst/>
                <a:cxnLst>
                  <a:cxn ang="0">
                    <a:pos x="190" y="25"/>
                  </a:cxn>
                  <a:cxn ang="0">
                    <a:pos x="255" y="70"/>
                  </a:cxn>
                  <a:cxn ang="0">
                    <a:pos x="240" y="220"/>
                  </a:cxn>
                  <a:cxn ang="0">
                    <a:pos x="290" y="95"/>
                  </a:cxn>
                  <a:cxn ang="0">
                    <a:pos x="365" y="85"/>
                  </a:cxn>
                  <a:cxn ang="0">
                    <a:pos x="395" y="185"/>
                  </a:cxn>
                  <a:cxn ang="0">
                    <a:pos x="265" y="240"/>
                  </a:cxn>
                  <a:cxn ang="0">
                    <a:pos x="290" y="260"/>
                  </a:cxn>
                  <a:cxn ang="0">
                    <a:pos x="395" y="230"/>
                  </a:cxn>
                  <a:cxn ang="0">
                    <a:pos x="380" y="386"/>
                  </a:cxn>
                  <a:cxn ang="0">
                    <a:pos x="300" y="481"/>
                  </a:cxn>
                  <a:cxn ang="0">
                    <a:pos x="200" y="506"/>
                  </a:cxn>
                  <a:cxn ang="0">
                    <a:pos x="375" y="486"/>
                  </a:cxn>
                  <a:cxn ang="0">
                    <a:pos x="350" y="601"/>
                  </a:cxn>
                  <a:cxn ang="0">
                    <a:pos x="225" y="641"/>
                  </a:cxn>
                  <a:cxn ang="0">
                    <a:pos x="200" y="516"/>
                  </a:cxn>
                  <a:cxn ang="0">
                    <a:pos x="220" y="356"/>
                  </a:cxn>
                  <a:cxn ang="0">
                    <a:pos x="235" y="230"/>
                  </a:cxn>
                  <a:cxn ang="0">
                    <a:pos x="140" y="145"/>
                  </a:cxn>
                  <a:cxn ang="0">
                    <a:pos x="130" y="185"/>
                  </a:cxn>
                  <a:cxn ang="0">
                    <a:pos x="220" y="265"/>
                  </a:cxn>
                  <a:cxn ang="0">
                    <a:pos x="180" y="421"/>
                  </a:cxn>
                  <a:cxn ang="0">
                    <a:pos x="95" y="416"/>
                  </a:cxn>
                  <a:cxn ang="0">
                    <a:pos x="50" y="386"/>
                  </a:cxn>
                  <a:cxn ang="0">
                    <a:pos x="120" y="481"/>
                  </a:cxn>
                  <a:cxn ang="0">
                    <a:pos x="160" y="536"/>
                  </a:cxn>
                  <a:cxn ang="0">
                    <a:pos x="185" y="621"/>
                  </a:cxn>
                  <a:cxn ang="0">
                    <a:pos x="135" y="651"/>
                  </a:cxn>
                  <a:cxn ang="0">
                    <a:pos x="50" y="541"/>
                  </a:cxn>
                  <a:cxn ang="0">
                    <a:pos x="35" y="406"/>
                  </a:cxn>
                  <a:cxn ang="0">
                    <a:pos x="65" y="240"/>
                  </a:cxn>
                  <a:cxn ang="0">
                    <a:pos x="45" y="235"/>
                  </a:cxn>
                  <a:cxn ang="0">
                    <a:pos x="0" y="406"/>
                  </a:cxn>
                  <a:cxn ang="0">
                    <a:pos x="35" y="611"/>
                  </a:cxn>
                  <a:cxn ang="0">
                    <a:pos x="180" y="686"/>
                  </a:cxn>
                  <a:cxn ang="0">
                    <a:pos x="275" y="666"/>
                  </a:cxn>
                  <a:cxn ang="0">
                    <a:pos x="390" y="581"/>
                  </a:cxn>
                  <a:cxn ang="0">
                    <a:pos x="415" y="466"/>
                  </a:cxn>
                  <a:cxn ang="0">
                    <a:pos x="410" y="340"/>
                  </a:cxn>
                  <a:cxn ang="0">
                    <a:pos x="415" y="175"/>
                  </a:cxn>
                  <a:cxn ang="0">
                    <a:pos x="370" y="35"/>
                  </a:cxn>
                  <a:cxn ang="0">
                    <a:pos x="225" y="0"/>
                  </a:cxn>
                  <a:cxn ang="0">
                    <a:pos x="120" y="80"/>
                  </a:cxn>
                  <a:cxn ang="0">
                    <a:pos x="95" y="155"/>
                  </a:cxn>
                </a:cxnLst>
                <a:rect l="0" t="0" r="r" b="b"/>
                <a:pathLst>
                  <a:path w="421" h="686">
                    <a:moveTo>
                      <a:pt x="130" y="100"/>
                    </a:moveTo>
                    <a:lnTo>
                      <a:pt x="160" y="50"/>
                    </a:lnTo>
                    <a:lnTo>
                      <a:pt x="190" y="25"/>
                    </a:lnTo>
                    <a:lnTo>
                      <a:pt x="250" y="25"/>
                    </a:lnTo>
                    <a:lnTo>
                      <a:pt x="290" y="35"/>
                    </a:lnTo>
                    <a:lnTo>
                      <a:pt x="255" y="70"/>
                    </a:lnTo>
                    <a:lnTo>
                      <a:pt x="235" y="135"/>
                    </a:lnTo>
                    <a:lnTo>
                      <a:pt x="235" y="200"/>
                    </a:lnTo>
                    <a:lnTo>
                      <a:pt x="240" y="220"/>
                    </a:lnTo>
                    <a:lnTo>
                      <a:pt x="255" y="185"/>
                    </a:lnTo>
                    <a:lnTo>
                      <a:pt x="265" y="130"/>
                    </a:lnTo>
                    <a:lnTo>
                      <a:pt x="290" y="95"/>
                    </a:lnTo>
                    <a:lnTo>
                      <a:pt x="305" y="75"/>
                    </a:lnTo>
                    <a:lnTo>
                      <a:pt x="335" y="55"/>
                    </a:lnTo>
                    <a:lnTo>
                      <a:pt x="365" y="85"/>
                    </a:lnTo>
                    <a:lnTo>
                      <a:pt x="390" y="120"/>
                    </a:lnTo>
                    <a:lnTo>
                      <a:pt x="395" y="165"/>
                    </a:lnTo>
                    <a:lnTo>
                      <a:pt x="395" y="185"/>
                    </a:lnTo>
                    <a:lnTo>
                      <a:pt x="360" y="225"/>
                    </a:lnTo>
                    <a:lnTo>
                      <a:pt x="305" y="240"/>
                    </a:lnTo>
                    <a:lnTo>
                      <a:pt x="265" y="240"/>
                    </a:lnTo>
                    <a:lnTo>
                      <a:pt x="250" y="235"/>
                    </a:lnTo>
                    <a:lnTo>
                      <a:pt x="245" y="260"/>
                    </a:lnTo>
                    <a:lnTo>
                      <a:pt x="290" y="260"/>
                    </a:lnTo>
                    <a:lnTo>
                      <a:pt x="350" y="255"/>
                    </a:lnTo>
                    <a:lnTo>
                      <a:pt x="385" y="245"/>
                    </a:lnTo>
                    <a:lnTo>
                      <a:pt x="395" y="230"/>
                    </a:lnTo>
                    <a:lnTo>
                      <a:pt x="395" y="275"/>
                    </a:lnTo>
                    <a:lnTo>
                      <a:pt x="385" y="330"/>
                    </a:lnTo>
                    <a:lnTo>
                      <a:pt x="380" y="386"/>
                    </a:lnTo>
                    <a:lnTo>
                      <a:pt x="390" y="436"/>
                    </a:lnTo>
                    <a:lnTo>
                      <a:pt x="350" y="466"/>
                    </a:lnTo>
                    <a:lnTo>
                      <a:pt x="300" y="481"/>
                    </a:lnTo>
                    <a:lnTo>
                      <a:pt x="245" y="481"/>
                    </a:lnTo>
                    <a:lnTo>
                      <a:pt x="205" y="481"/>
                    </a:lnTo>
                    <a:lnTo>
                      <a:pt x="200" y="506"/>
                    </a:lnTo>
                    <a:lnTo>
                      <a:pt x="260" y="506"/>
                    </a:lnTo>
                    <a:lnTo>
                      <a:pt x="315" y="496"/>
                    </a:lnTo>
                    <a:lnTo>
                      <a:pt x="375" y="486"/>
                    </a:lnTo>
                    <a:lnTo>
                      <a:pt x="395" y="471"/>
                    </a:lnTo>
                    <a:lnTo>
                      <a:pt x="390" y="526"/>
                    </a:lnTo>
                    <a:lnTo>
                      <a:pt x="350" y="601"/>
                    </a:lnTo>
                    <a:lnTo>
                      <a:pt x="310" y="621"/>
                    </a:lnTo>
                    <a:lnTo>
                      <a:pt x="265" y="636"/>
                    </a:lnTo>
                    <a:lnTo>
                      <a:pt x="225" y="641"/>
                    </a:lnTo>
                    <a:lnTo>
                      <a:pt x="200" y="606"/>
                    </a:lnTo>
                    <a:lnTo>
                      <a:pt x="185" y="551"/>
                    </a:lnTo>
                    <a:lnTo>
                      <a:pt x="200" y="516"/>
                    </a:lnTo>
                    <a:lnTo>
                      <a:pt x="200" y="476"/>
                    </a:lnTo>
                    <a:lnTo>
                      <a:pt x="200" y="426"/>
                    </a:lnTo>
                    <a:lnTo>
                      <a:pt x="220" y="356"/>
                    </a:lnTo>
                    <a:lnTo>
                      <a:pt x="240" y="295"/>
                    </a:lnTo>
                    <a:lnTo>
                      <a:pt x="240" y="255"/>
                    </a:lnTo>
                    <a:lnTo>
                      <a:pt x="235" y="230"/>
                    </a:lnTo>
                    <a:lnTo>
                      <a:pt x="205" y="225"/>
                    </a:lnTo>
                    <a:lnTo>
                      <a:pt x="160" y="190"/>
                    </a:lnTo>
                    <a:lnTo>
                      <a:pt x="140" y="145"/>
                    </a:lnTo>
                    <a:lnTo>
                      <a:pt x="120" y="120"/>
                    </a:lnTo>
                    <a:lnTo>
                      <a:pt x="115" y="145"/>
                    </a:lnTo>
                    <a:lnTo>
                      <a:pt x="130" y="185"/>
                    </a:lnTo>
                    <a:lnTo>
                      <a:pt x="160" y="220"/>
                    </a:lnTo>
                    <a:lnTo>
                      <a:pt x="190" y="250"/>
                    </a:lnTo>
                    <a:lnTo>
                      <a:pt x="220" y="265"/>
                    </a:lnTo>
                    <a:lnTo>
                      <a:pt x="200" y="330"/>
                    </a:lnTo>
                    <a:lnTo>
                      <a:pt x="185" y="376"/>
                    </a:lnTo>
                    <a:lnTo>
                      <a:pt x="180" y="421"/>
                    </a:lnTo>
                    <a:lnTo>
                      <a:pt x="170" y="461"/>
                    </a:lnTo>
                    <a:lnTo>
                      <a:pt x="140" y="461"/>
                    </a:lnTo>
                    <a:lnTo>
                      <a:pt x="95" y="416"/>
                    </a:lnTo>
                    <a:lnTo>
                      <a:pt x="70" y="381"/>
                    </a:lnTo>
                    <a:lnTo>
                      <a:pt x="50" y="356"/>
                    </a:lnTo>
                    <a:lnTo>
                      <a:pt x="50" y="386"/>
                    </a:lnTo>
                    <a:lnTo>
                      <a:pt x="70" y="416"/>
                    </a:lnTo>
                    <a:lnTo>
                      <a:pt x="105" y="451"/>
                    </a:lnTo>
                    <a:lnTo>
                      <a:pt x="120" y="481"/>
                    </a:lnTo>
                    <a:lnTo>
                      <a:pt x="150" y="496"/>
                    </a:lnTo>
                    <a:lnTo>
                      <a:pt x="165" y="511"/>
                    </a:lnTo>
                    <a:lnTo>
                      <a:pt x="160" y="536"/>
                    </a:lnTo>
                    <a:lnTo>
                      <a:pt x="165" y="571"/>
                    </a:lnTo>
                    <a:lnTo>
                      <a:pt x="170" y="601"/>
                    </a:lnTo>
                    <a:lnTo>
                      <a:pt x="185" y="621"/>
                    </a:lnTo>
                    <a:lnTo>
                      <a:pt x="190" y="646"/>
                    </a:lnTo>
                    <a:lnTo>
                      <a:pt x="175" y="656"/>
                    </a:lnTo>
                    <a:lnTo>
                      <a:pt x="135" y="651"/>
                    </a:lnTo>
                    <a:lnTo>
                      <a:pt x="95" y="626"/>
                    </a:lnTo>
                    <a:lnTo>
                      <a:pt x="65" y="586"/>
                    </a:lnTo>
                    <a:lnTo>
                      <a:pt x="50" y="541"/>
                    </a:lnTo>
                    <a:lnTo>
                      <a:pt x="35" y="506"/>
                    </a:lnTo>
                    <a:lnTo>
                      <a:pt x="35" y="461"/>
                    </a:lnTo>
                    <a:lnTo>
                      <a:pt x="35" y="406"/>
                    </a:lnTo>
                    <a:lnTo>
                      <a:pt x="45" y="371"/>
                    </a:lnTo>
                    <a:lnTo>
                      <a:pt x="50" y="325"/>
                    </a:lnTo>
                    <a:lnTo>
                      <a:pt x="65" y="240"/>
                    </a:lnTo>
                    <a:lnTo>
                      <a:pt x="90" y="165"/>
                    </a:lnTo>
                    <a:lnTo>
                      <a:pt x="65" y="175"/>
                    </a:lnTo>
                    <a:lnTo>
                      <a:pt x="45" y="235"/>
                    </a:lnTo>
                    <a:lnTo>
                      <a:pt x="20" y="295"/>
                    </a:lnTo>
                    <a:lnTo>
                      <a:pt x="10" y="361"/>
                    </a:lnTo>
                    <a:lnTo>
                      <a:pt x="0" y="406"/>
                    </a:lnTo>
                    <a:lnTo>
                      <a:pt x="0" y="481"/>
                    </a:lnTo>
                    <a:lnTo>
                      <a:pt x="10" y="561"/>
                    </a:lnTo>
                    <a:lnTo>
                      <a:pt x="35" y="611"/>
                    </a:lnTo>
                    <a:lnTo>
                      <a:pt x="75" y="651"/>
                    </a:lnTo>
                    <a:lnTo>
                      <a:pt x="130" y="671"/>
                    </a:lnTo>
                    <a:lnTo>
                      <a:pt x="180" y="686"/>
                    </a:lnTo>
                    <a:lnTo>
                      <a:pt x="215" y="676"/>
                    </a:lnTo>
                    <a:lnTo>
                      <a:pt x="230" y="671"/>
                    </a:lnTo>
                    <a:lnTo>
                      <a:pt x="275" y="666"/>
                    </a:lnTo>
                    <a:lnTo>
                      <a:pt x="325" y="651"/>
                    </a:lnTo>
                    <a:lnTo>
                      <a:pt x="370" y="621"/>
                    </a:lnTo>
                    <a:lnTo>
                      <a:pt x="390" y="581"/>
                    </a:lnTo>
                    <a:lnTo>
                      <a:pt x="415" y="536"/>
                    </a:lnTo>
                    <a:lnTo>
                      <a:pt x="421" y="501"/>
                    </a:lnTo>
                    <a:lnTo>
                      <a:pt x="415" y="466"/>
                    </a:lnTo>
                    <a:lnTo>
                      <a:pt x="410" y="421"/>
                    </a:lnTo>
                    <a:lnTo>
                      <a:pt x="410" y="381"/>
                    </a:lnTo>
                    <a:lnTo>
                      <a:pt x="410" y="340"/>
                    </a:lnTo>
                    <a:lnTo>
                      <a:pt x="415" y="285"/>
                    </a:lnTo>
                    <a:lnTo>
                      <a:pt x="415" y="220"/>
                    </a:lnTo>
                    <a:lnTo>
                      <a:pt x="415" y="175"/>
                    </a:lnTo>
                    <a:lnTo>
                      <a:pt x="410" y="115"/>
                    </a:lnTo>
                    <a:lnTo>
                      <a:pt x="390" y="70"/>
                    </a:lnTo>
                    <a:lnTo>
                      <a:pt x="370" y="35"/>
                    </a:lnTo>
                    <a:lnTo>
                      <a:pt x="320" y="15"/>
                    </a:lnTo>
                    <a:lnTo>
                      <a:pt x="265" y="0"/>
                    </a:lnTo>
                    <a:lnTo>
                      <a:pt x="225" y="0"/>
                    </a:lnTo>
                    <a:lnTo>
                      <a:pt x="170" y="5"/>
                    </a:lnTo>
                    <a:lnTo>
                      <a:pt x="135" y="35"/>
                    </a:lnTo>
                    <a:lnTo>
                      <a:pt x="120" y="80"/>
                    </a:lnTo>
                    <a:lnTo>
                      <a:pt x="80" y="115"/>
                    </a:lnTo>
                    <a:lnTo>
                      <a:pt x="75" y="150"/>
                    </a:lnTo>
                    <a:lnTo>
                      <a:pt x="95" y="155"/>
                    </a:lnTo>
                    <a:lnTo>
                      <a:pt x="120" y="120"/>
                    </a:lnTo>
                    <a:lnTo>
                      <a:pt x="130" y="100"/>
                    </a:lnTo>
                    <a:close/>
                  </a:path>
                </a:pathLst>
              </a:custGeom>
              <a:solidFill>
                <a:srgbClr val="000000"/>
              </a:solidFill>
              <a:ln w="9525">
                <a:noFill/>
                <a:round/>
                <a:headEnd/>
                <a:tailEnd/>
              </a:ln>
            </p:spPr>
            <p:txBody>
              <a:bodyPr/>
              <a:lstStyle/>
              <a:p>
                <a:pPr algn="ctr" eaLnBrk="1" hangingPunct="1">
                  <a:defRPr/>
                </a:pPr>
                <a:endParaRPr lang="en-US">
                  <a:effectLst>
                    <a:outerShdw blurRad="38100" dist="38100" dir="2700000" algn="tl">
                      <a:srgbClr val="000000">
                        <a:alpha val="43137"/>
                      </a:srgbClr>
                    </a:outerShdw>
                  </a:effectLst>
                  <a:latin typeface="Arial" charset="0"/>
                </a:endParaRPr>
              </a:p>
            </p:txBody>
          </p:sp>
        </p:grpSp>
      </p:grpSp>
      <p:graphicFrame>
        <p:nvGraphicFramePr>
          <p:cNvPr id="45064" name="Object 43"/>
          <p:cNvGraphicFramePr>
            <a:graphicFrameLocks noChangeAspect="1"/>
          </p:cNvGraphicFramePr>
          <p:nvPr/>
        </p:nvGraphicFramePr>
        <p:xfrm>
          <a:off x="6934200" y="2895600"/>
          <a:ext cx="869950" cy="1066800"/>
        </p:xfrm>
        <a:graphic>
          <a:graphicData uri="http://schemas.openxmlformats.org/presentationml/2006/ole">
            <mc:AlternateContent xmlns:mc="http://schemas.openxmlformats.org/markup-compatibility/2006">
              <mc:Choice xmlns:v="urn:schemas-microsoft-com:vml" Requires="v">
                <p:oleObj spid="_x0000_s45086" name="Clip" r:id="rId3" imgW="3212327" imgH="3935896" progId="MS_ClipArt_Gallery.5">
                  <p:embed/>
                </p:oleObj>
              </mc:Choice>
              <mc:Fallback>
                <p:oleObj name="Clip" r:id="rId3" imgW="3212327" imgH="3935896" progId="MS_ClipArt_Gallery.5">
                  <p:embed/>
                  <p:pic>
                    <p:nvPicPr>
                      <p:cNvPr id="0" name="Object 4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34200" y="2895600"/>
                        <a:ext cx="869950" cy="106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65"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45087" name="Klip" r:id="rId5" imgW="1423988" imgH="3055938" progId="MS_ClipArt_Gallery.2">
                  <p:embed/>
                </p:oleObj>
              </mc:Choice>
              <mc:Fallback>
                <p:oleObj name="Klip" r:id="rId5" imgW="1423988" imgH="3055938" progId="MS_ClipArt_Gallery.2">
                  <p:embed/>
                  <p:pic>
                    <p:nvPicPr>
                      <p:cNvPr id="0" name="Object 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2D3BF83D-35FD-4708-958A-C774E6B203A3}" type="slidenum">
              <a:rPr lang="en-US" altLang="en-US" sz="1200" smtClean="0">
                <a:latin typeface="Garamond" panose="02020404030301010803" pitchFamily="18" charset="0"/>
              </a:rPr>
              <a:pPr>
                <a:spcBef>
                  <a:spcPct val="0"/>
                </a:spcBef>
                <a:buClrTx/>
                <a:buSzTx/>
                <a:buFontTx/>
                <a:buNone/>
              </a:pPr>
              <a:t>37</a:t>
            </a:fld>
            <a:endParaRPr lang="en-US" altLang="en-US" sz="1200" smtClean="0">
              <a:latin typeface="Garamond" panose="02020404030301010803" pitchFamily="18" charset="0"/>
            </a:endParaRPr>
          </a:p>
        </p:txBody>
      </p:sp>
      <p:sp>
        <p:nvSpPr>
          <p:cNvPr id="46083" name="Rectangle 2"/>
          <p:cNvSpPr>
            <a:spLocks noGrp="1" noChangeArrowheads="1"/>
          </p:cNvSpPr>
          <p:nvPr>
            <p:ph type="title"/>
          </p:nvPr>
        </p:nvSpPr>
        <p:spPr/>
        <p:txBody>
          <a:bodyPr/>
          <a:lstStyle/>
          <a:p>
            <a:pPr algn="ctr" eaLnBrk="1" hangingPunct="1"/>
            <a:r>
              <a:rPr lang="en-US" altLang="en-US" sz="4000" b="1" u="sng" smtClean="0"/>
              <a:t>Advantages of GAs </a:t>
            </a:r>
            <a:r>
              <a:rPr lang="en-US" altLang="en-US" sz="4000" smtClean="0"/>
              <a:t>(contd.)</a:t>
            </a:r>
            <a:endParaRPr lang="en-US" altLang="en-US" sz="4000" u="sng" smtClean="0"/>
          </a:p>
        </p:txBody>
      </p:sp>
      <p:sp>
        <p:nvSpPr>
          <p:cNvPr id="46084" name="Rectangle 3"/>
          <p:cNvSpPr>
            <a:spLocks noGrp="1" noChangeArrowheads="1"/>
          </p:cNvSpPr>
          <p:nvPr>
            <p:ph type="body" idx="1"/>
          </p:nvPr>
        </p:nvSpPr>
        <p:spPr/>
        <p:txBody>
          <a:bodyPr/>
          <a:lstStyle/>
          <a:p>
            <a:pPr eaLnBrk="1" hangingPunct="1"/>
            <a:r>
              <a:rPr lang="en-US" altLang="en-US" sz="2800" b="1" smtClean="0">
                <a:solidFill>
                  <a:schemeClr val="tx2"/>
                </a:solidFill>
              </a:rPr>
              <a:t>Blind Search Methods: </a:t>
            </a:r>
            <a:r>
              <a:rPr lang="en-US" altLang="en-US" sz="2400" smtClean="0"/>
              <a:t>GAs only use the information about the </a:t>
            </a:r>
            <a:r>
              <a:rPr lang="en-US" altLang="en-US" sz="2400" i="1" smtClean="0">
                <a:solidFill>
                  <a:srgbClr val="CC3300"/>
                </a:solidFill>
              </a:rPr>
              <a:t>objective function</a:t>
            </a:r>
            <a:r>
              <a:rPr lang="en-US" altLang="en-US" sz="2400" smtClean="0"/>
              <a:t>. They do not require knowledge of the first derivative or any other auxiliary information, allowing a number of problems to be solved without the need to formulate restrictive assumptions. For this reason, GAs are often called blind search methods.</a:t>
            </a:r>
          </a:p>
          <a:p>
            <a:pPr eaLnBrk="1" hangingPunct="1">
              <a:buFont typeface="Wingdings" panose="05000000000000000000" pitchFamily="2" charset="2"/>
              <a:buNone/>
            </a:pPr>
            <a:endParaRPr lang="en-US" altLang="en-US" smtClean="0"/>
          </a:p>
        </p:txBody>
      </p:sp>
      <p:graphicFrame>
        <p:nvGraphicFramePr>
          <p:cNvPr id="46085"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46086"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9ADD4EF7-03C7-4DC1-8119-3AFFB59560B1}" type="slidenum">
              <a:rPr lang="en-US" altLang="en-US" sz="1200" smtClean="0">
                <a:latin typeface="Garamond" panose="02020404030301010803" pitchFamily="18" charset="0"/>
              </a:rPr>
              <a:pPr>
                <a:spcBef>
                  <a:spcPct val="0"/>
                </a:spcBef>
                <a:buClrTx/>
                <a:buSzTx/>
                <a:buFontTx/>
                <a:buNone/>
              </a:pPr>
              <a:t>38</a:t>
            </a:fld>
            <a:endParaRPr lang="en-US" altLang="en-US" sz="1200" smtClean="0">
              <a:latin typeface="Garamond" panose="02020404030301010803" pitchFamily="18" charset="0"/>
            </a:endParaRPr>
          </a:p>
        </p:txBody>
      </p:sp>
      <p:sp>
        <p:nvSpPr>
          <p:cNvPr id="47107" name="Rectangle 2"/>
          <p:cNvSpPr>
            <a:spLocks noGrp="1" noChangeArrowheads="1"/>
          </p:cNvSpPr>
          <p:nvPr>
            <p:ph type="title"/>
          </p:nvPr>
        </p:nvSpPr>
        <p:spPr/>
        <p:txBody>
          <a:bodyPr/>
          <a:lstStyle/>
          <a:p>
            <a:pPr algn="ctr" eaLnBrk="1" hangingPunct="1"/>
            <a:r>
              <a:rPr lang="en-US" altLang="en-US" sz="4000" b="1" u="sng" smtClean="0"/>
              <a:t>Advantages of GAs</a:t>
            </a:r>
            <a:r>
              <a:rPr lang="en-US" altLang="en-US" smtClean="0"/>
              <a:t> (contd.)</a:t>
            </a:r>
          </a:p>
        </p:txBody>
      </p:sp>
      <p:sp>
        <p:nvSpPr>
          <p:cNvPr id="47108" name="Rectangle 3"/>
          <p:cNvSpPr>
            <a:spLocks noGrp="1" noChangeArrowheads="1"/>
          </p:cNvSpPr>
          <p:nvPr>
            <p:ph type="body" idx="1"/>
          </p:nvPr>
        </p:nvSpPr>
        <p:spPr/>
        <p:txBody>
          <a:bodyPr/>
          <a:lstStyle/>
          <a:p>
            <a:pPr eaLnBrk="1" hangingPunct="1"/>
            <a:r>
              <a:rPr lang="en-US" altLang="en-US" sz="2800" b="1" smtClean="0">
                <a:solidFill>
                  <a:schemeClr val="tx2"/>
                </a:solidFill>
              </a:rPr>
              <a:t>GAs use probabilistic transition rules</a:t>
            </a:r>
            <a:r>
              <a:rPr lang="en-US" altLang="en-US" smtClean="0"/>
              <a:t> </a:t>
            </a:r>
            <a:r>
              <a:rPr lang="en-US" altLang="en-US" sz="2400" smtClean="0"/>
              <a:t>during iterations, unlike the traditional methods that use fixed transition rules.</a:t>
            </a:r>
          </a:p>
          <a:p>
            <a:pPr eaLnBrk="1" hangingPunct="1">
              <a:buFont typeface="Wingdings" panose="05000000000000000000" pitchFamily="2" charset="2"/>
              <a:buNone/>
            </a:pPr>
            <a:r>
              <a:rPr lang="en-US" altLang="en-US" sz="2400" smtClean="0"/>
              <a:t>   This makes them more </a:t>
            </a:r>
            <a:r>
              <a:rPr lang="en-US" altLang="en-US" sz="2400" smtClean="0">
                <a:solidFill>
                  <a:srgbClr val="CC3300"/>
                </a:solidFill>
              </a:rPr>
              <a:t>robust</a:t>
            </a:r>
            <a:r>
              <a:rPr lang="en-US" altLang="en-US" sz="2400" smtClean="0"/>
              <a:t> and applicable to a large range of problems.</a:t>
            </a:r>
          </a:p>
        </p:txBody>
      </p:sp>
      <p:graphicFrame>
        <p:nvGraphicFramePr>
          <p:cNvPr id="47109"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47110"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4CBA1BE-03BE-469B-8F6C-8985E39FD849}" type="slidenum">
              <a:rPr lang="en-US" altLang="en-US" sz="1200" smtClean="0">
                <a:latin typeface="Garamond" panose="02020404030301010803" pitchFamily="18" charset="0"/>
              </a:rPr>
              <a:pPr>
                <a:spcBef>
                  <a:spcPct val="0"/>
                </a:spcBef>
                <a:buClrTx/>
                <a:buSzTx/>
                <a:buFontTx/>
                <a:buNone/>
              </a:pPr>
              <a:t>39</a:t>
            </a:fld>
            <a:endParaRPr lang="en-US" altLang="en-US" sz="1200" smtClean="0">
              <a:latin typeface="Garamond" panose="02020404030301010803" pitchFamily="18" charset="0"/>
            </a:endParaRPr>
          </a:p>
        </p:txBody>
      </p:sp>
      <p:sp>
        <p:nvSpPr>
          <p:cNvPr id="48131" name="Rectangle 2"/>
          <p:cNvSpPr>
            <a:spLocks noGrp="1" noChangeArrowheads="1"/>
          </p:cNvSpPr>
          <p:nvPr>
            <p:ph type="title"/>
          </p:nvPr>
        </p:nvSpPr>
        <p:spPr/>
        <p:txBody>
          <a:bodyPr/>
          <a:lstStyle/>
          <a:p>
            <a:pPr algn="ctr" eaLnBrk="1" hangingPunct="1"/>
            <a:r>
              <a:rPr lang="en-US" altLang="en-US" sz="4000" b="1" u="sng" smtClean="0"/>
              <a:t>Advantages of GAs</a:t>
            </a:r>
            <a:r>
              <a:rPr lang="en-US" altLang="en-US" sz="4000" b="1" smtClean="0"/>
              <a:t> </a:t>
            </a:r>
            <a:r>
              <a:rPr lang="en-US" altLang="en-US" sz="4000" smtClean="0"/>
              <a:t>(contd.)</a:t>
            </a:r>
          </a:p>
        </p:txBody>
      </p:sp>
      <p:sp>
        <p:nvSpPr>
          <p:cNvPr id="48132" name="Rectangle 3"/>
          <p:cNvSpPr>
            <a:spLocks noGrp="1" noChangeArrowheads="1"/>
          </p:cNvSpPr>
          <p:nvPr>
            <p:ph type="body" idx="1"/>
          </p:nvPr>
        </p:nvSpPr>
        <p:spPr/>
        <p:txBody>
          <a:bodyPr/>
          <a:lstStyle/>
          <a:p>
            <a:pPr eaLnBrk="1" hangingPunct="1"/>
            <a:r>
              <a:rPr lang="en-US" altLang="en-US" sz="2800" b="1" smtClean="0">
                <a:solidFill>
                  <a:schemeClr val="tx2"/>
                </a:solidFill>
              </a:rPr>
              <a:t>GAs can be easily used in </a:t>
            </a:r>
            <a:r>
              <a:rPr lang="en-US" altLang="en-US" sz="2800" b="1" i="1" smtClean="0">
                <a:solidFill>
                  <a:schemeClr val="tx2"/>
                </a:solidFill>
              </a:rPr>
              <a:t>parallel machines-</a:t>
            </a:r>
            <a:r>
              <a:rPr lang="en-US" altLang="en-US" smtClean="0"/>
              <a:t> </a:t>
            </a:r>
            <a:r>
              <a:rPr lang="en-US" altLang="en-US" sz="2400" smtClean="0"/>
              <a:t>Since in real-world design optimization problems, most computational time is spent in evaluating a solution, with multiple processors all solutions in a population can be evaluated in a distributed manner. This reduces the overall computational time substantially.</a:t>
            </a:r>
          </a:p>
        </p:txBody>
      </p:sp>
      <p:graphicFrame>
        <p:nvGraphicFramePr>
          <p:cNvPr id="48133"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48134"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685800" y="277813"/>
            <a:ext cx="6400800" cy="1139825"/>
          </a:xfrm>
        </p:spPr>
        <p:txBody>
          <a:bodyPr/>
          <a:lstStyle/>
          <a:p>
            <a:pPr eaLnBrk="1" hangingPunct="1"/>
            <a:r>
              <a:rPr lang="en-US" altLang="en-US" smtClean="0"/>
              <a:t>Simple Example </a:t>
            </a:r>
            <a:br>
              <a:rPr lang="en-US" altLang="en-US" smtClean="0"/>
            </a:br>
            <a:r>
              <a:rPr lang="en-US" altLang="en-US" sz="3200" smtClean="0"/>
              <a:t>(Goldberg98)</a:t>
            </a:r>
          </a:p>
        </p:txBody>
      </p:sp>
      <p:sp>
        <p:nvSpPr>
          <p:cNvPr id="49155" name="Rectangle 4"/>
          <p:cNvSpPr>
            <a:spLocks noGrp="1" noChangeArrowheads="1"/>
          </p:cNvSpPr>
          <p:nvPr>
            <p:ph type="body" idx="1"/>
          </p:nvPr>
        </p:nvSpPr>
        <p:spPr>
          <a:xfrm>
            <a:off x="914400" y="1905000"/>
            <a:ext cx="8001000" cy="4191000"/>
          </a:xfrm>
          <a:noFill/>
        </p:spPr>
        <p:txBody>
          <a:bodyPr/>
          <a:lstStyle/>
          <a:p>
            <a:pPr eaLnBrk="1" hangingPunct="1"/>
            <a:r>
              <a:rPr lang="en-US" altLang="en-US" sz="2400" b="1" smtClean="0">
                <a:solidFill>
                  <a:srgbClr val="FF0000"/>
                </a:solidFill>
              </a:rPr>
              <a:t>Simple problem: max </a:t>
            </a:r>
            <a:r>
              <a:rPr lang="en-US" altLang="en-US" sz="2400" b="1" i="1" smtClean="0">
                <a:solidFill>
                  <a:srgbClr val="FF0000"/>
                </a:solidFill>
              </a:rPr>
              <a:t>x</a:t>
            </a:r>
            <a:r>
              <a:rPr lang="en-US" altLang="en-US" sz="2400" b="1" baseline="30000" smtClean="0">
                <a:solidFill>
                  <a:srgbClr val="FF0000"/>
                </a:solidFill>
              </a:rPr>
              <a:t>2</a:t>
            </a:r>
            <a:r>
              <a:rPr lang="en-US" altLang="en-US" sz="2400" b="1" smtClean="0">
                <a:solidFill>
                  <a:srgbClr val="FF0000"/>
                </a:solidFill>
              </a:rPr>
              <a:t> over {0,1,…,31}</a:t>
            </a:r>
          </a:p>
          <a:p>
            <a:pPr eaLnBrk="1" hangingPunct="1"/>
            <a:r>
              <a:rPr lang="en-US" altLang="en-US" sz="2400" smtClean="0"/>
              <a:t>GA approach:</a:t>
            </a:r>
          </a:p>
          <a:p>
            <a:pPr lvl="1" eaLnBrk="1" hangingPunct="1"/>
            <a:r>
              <a:rPr lang="en-US" altLang="en-US" sz="2400" smtClean="0"/>
              <a:t>Representation: binary code, e.g. 01101 </a:t>
            </a:r>
            <a:r>
              <a:rPr lang="en-US" altLang="en-US" sz="2400" smtClean="0">
                <a:sym typeface="Symbol" panose="05050102010706020507" pitchFamily="18" charset="2"/>
              </a:rPr>
              <a:t> </a:t>
            </a:r>
            <a:r>
              <a:rPr lang="en-US" altLang="en-US" sz="2400" smtClean="0"/>
              <a:t>13</a:t>
            </a:r>
          </a:p>
          <a:p>
            <a:pPr lvl="1" eaLnBrk="1" hangingPunct="1"/>
            <a:r>
              <a:rPr lang="en-US" altLang="en-US" sz="2400" smtClean="0"/>
              <a:t>Population size: 4</a:t>
            </a:r>
          </a:p>
          <a:p>
            <a:pPr lvl="1" eaLnBrk="1" hangingPunct="1"/>
            <a:r>
              <a:rPr lang="en-US" altLang="en-US" sz="2400" smtClean="0"/>
              <a:t>1-point xover, bitwise mutation </a:t>
            </a:r>
          </a:p>
          <a:p>
            <a:pPr lvl="1" eaLnBrk="1" hangingPunct="1"/>
            <a:r>
              <a:rPr lang="en-US" altLang="en-US" sz="2400" smtClean="0"/>
              <a:t>Roulette wheel selection</a:t>
            </a:r>
          </a:p>
          <a:p>
            <a:pPr lvl="1" eaLnBrk="1" hangingPunct="1"/>
            <a:r>
              <a:rPr lang="en-US" altLang="en-US" sz="2400" smtClean="0"/>
              <a:t>Random initialization</a:t>
            </a:r>
          </a:p>
          <a:p>
            <a:pPr eaLnBrk="1" hangingPunct="1"/>
            <a:r>
              <a:rPr lang="en-US" altLang="en-US" sz="2400" smtClean="0"/>
              <a:t>We show one generational cycle done by hand </a:t>
            </a:r>
            <a:endParaRPr lang="en-GB" altLang="en-US" sz="2400" smtClean="0"/>
          </a:p>
        </p:txBody>
      </p:sp>
      <p:graphicFrame>
        <p:nvGraphicFramePr>
          <p:cNvPr id="49156"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49157"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838200" y="277813"/>
            <a:ext cx="7848600" cy="1139825"/>
          </a:xfrm>
        </p:spPr>
        <p:txBody>
          <a:bodyPr/>
          <a:lstStyle/>
          <a:p>
            <a:pPr eaLnBrk="1" hangingPunct="1"/>
            <a:r>
              <a:rPr lang="en-US" altLang="en-US" smtClean="0"/>
              <a:t>Selection</a:t>
            </a:r>
          </a:p>
        </p:txBody>
      </p:sp>
      <p:pic>
        <p:nvPicPr>
          <p:cNvPr id="50179"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600200"/>
            <a:ext cx="8382000"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0180"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50181" name="Klip" r:id="rId4" imgW="1423988" imgH="3055938" progId="MS_ClipArt_Gallery.2">
                  <p:embed/>
                </p:oleObj>
              </mc:Choice>
              <mc:Fallback>
                <p:oleObj name="Klip" r:id="rId4" imgW="1423988" imgH="3055938" progId="MS_ClipArt_Gallery.2">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990600" y="277813"/>
            <a:ext cx="7696200" cy="1139825"/>
          </a:xfrm>
        </p:spPr>
        <p:txBody>
          <a:bodyPr/>
          <a:lstStyle/>
          <a:p>
            <a:pPr eaLnBrk="1" hangingPunct="1"/>
            <a:r>
              <a:rPr lang="en-US" altLang="en-US" smtClean="0"/>
              <a:t>Crossover</a:t>
            </a:r>
          </a:p>
        </p:txBody>
      </p:sp>
      <p:pic>
        <p:nvPicPr>
          <p:cNvPr id="5120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 y="1828800"/>
            <a:ext cx="8239125" cy="341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4" name="Rectangle 5"/>
          <p:cNvSpPr>
            <a:spLocks noChangeArrowheads="1"/>
          </p:cNvSpPr>
          <p:nvPr/>
        </p:nvSpPr>
        <p:spPr bwMode="auto">
          <a:xfrm>
            <a:off x="7239000" y="4038600"/>
            <a:ext cx="1295400" cy="1219200"/>
          </a:xfrm>
          <a:prstGeom prst="rect">
            <a:avLst/>
          </a:prstGeom>
          <a:noFill/>
          <a:ln w="762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graphicFrame>
        <p:nvGraphicFramePr>
          <p:cNvPr id="51205"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51206" name="Klip" r:id="rId4" imgW="1423988" imgH="3055938" progId="MS_ClipArt_Gallery.2">
                  <p:embed/>
                </p:oleObj>
              </mc:Choice>
              <mc:Fallback>
                <p:oleObj name="Klip" r:id="rId4" imgW="1423988" imgH="3055938" progId="MS_ClipArt_Gallery.2">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685800" y="277813"/>
            <a:ext cx="8001000" cy="1139825"/>
          </a:xfrm>
        </p:spPr>
        <p:txBody>
          <a:bodyPr/>
          <a:lstStyle/>
          <a:p>
            <a:pPr eaLnBrk="1" hangingPunct="1"/>
            <a:r>
              <a:rPr lang="en-US" altLang="en-US" smtClean="0"/>
              <a:t>Mutation</a:t>
            </a:r>
          </a:p>
        </p:txBody>
      </p:sp>
      <p:pic>
        <p:nvPicPr>
          <p:cNvPr id="5222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1752600"/>
            <a:ext cx="7400925" cy="340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8" name="Rectangle 5"/>
          <p:cNvSpPr>
            <a:spLocks noChangeArrowheads="1"/>
          </p:cNvSpPr>
          <p:nvPr/>
        </p:nvSpPr>
        <p:spPr bwMode="auto">
          <a:xfrm>
            <a:off x="3962400" y="2514600"/>
            <a:ext cx="304800" cy="381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52229" name="Rectangle 6"/>
          <p:cNvSpPr>
            <a:spLocks noChangeArrowheads="1"/>
          </p:cNvSpPr>
          <p:nvPr/>
        </p:nvSpPr>
        <p:spPr bwMode="auto">
          <a:xfrm>
            <a:off x="4495800" y="3581400"/>
            <a:ext cx="304800" cy="381000"/>
          </a:xfrm>
          <a:prstGeom prst="rect">
            <a:avLst/>
          </a:prstGeom>
          <a:noFill/>
          <a:ln w="381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graphicFrame>
        <p:nvGraphicFramePr>
          <p:cNvPr id="52230"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52231" name="Klip" r:id="rId4" imgW="1423988" imgH="3055938" progId="MS_ClipArt_Gallery.2">
                  <p:embed/>
                </p:oleObj>
              </mc:Choice>
              <mc:Fallback>
                <p:oleObj name="Klip" r:id="rId4" imgW="1423988" imgH="3055938" progId="MS_ClipArt_Gallery.2">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685800" y="277813"/>
            <a:ext cx="8001000" cy="865187"/>
          </a:xfrm>
        </p:spPr>
        <p:txBody>
          <a:bodyPr/>
          <a:lstStyle/>
          <a:p>
            <a:pPr eaLnBrk="1" hangingPunct="1"/>
            <a:r>
              <a:rPr lang="en-US" altLang="en-US" smtClean="0"/>
              <a:t>Hard Problems</a:t>
            </a:r>
          </a:p>
        </p:txBody>
      </p:sp>
      <p:sp>
        <p:nvSpPr>
          <p:cNvPr id="53251" name="Rectangle 3"/>
          <p:cNvSpPr>
            <a:spLocks noGrp="1" noChangeArrowheads="1"/>
          </p:cNvSpPr>
          <p:nvPr>
            <p:ph type="body" idx="1"/>
          </p:nvPr>
        </p:nvSpPr>
        <p:spPr/>
        <p:txBody>
          <a:bodyPr/>
          <a:lstStyle/>
          <a:p>
            <a:pPr eaLnBrk="1" hangingPunct="1"/>
            <a:r>
              <a:rPr lang="en-US" altLang="en-US" sz="2400" smtClean="0">
                <a:solidFill>
                  <a:srgbClr val="0000FF"/>
                </a:solidFill>
              </a:rPr>
              <a:t>Solution of </a:t>
            </a:r>
            <a:r>
              <a:rPr lang="en-US" altLang="en-US" sz="2400" i="1" smtClean="0">
                <a:solidFill>
                  <a:srgbClr val="0000FF"/>
                </a:solidFill>
              </a:rPr>
              <a:t>f(x)=x</a:t>
            </a:r>
            <a:r>
              <a:rPr lang="en-US" altLang="en-US" sz="2400" i="1" baseline="30000" smtClean="0">
                <a:solidFill>
                  <a:srgbClr val="0000FF"/>
                </a:solidFill>
              </a:rPr>
              <a:t>2 </a:t>
            </a:r>
            <a:r>
              <a:rPr lang="en-US" altLang="en-US" sz="2400" smtClean="0">
                <a:solidFill>
                  <a:srgbClr val="0000FF"/>
                </a:solidFill>
              </a:rPr>
              <a:t>is easy to find and not realistic for GA</a:t>
            </a:r>
            <a:endParaRPr lang="en-US" altLang="en-US" sz="2400" i="1" baseline="30000" smtClean="0">
              <a:solidFill>
                <a:srgbClr val="0000FF"/>
              </a:solidFill>
            </a:endParaRPr>
          </a:p>
          <a:p>
            <a:pPr eaLnBrk="1" hangingPunct="1"/>
            <a:r>
              <a:rPr lang="en-US" altLang="en-US" sz="2400" smtClean="0"/>
              <a:t>Many problems occur as real valued problems, e.g. continuous parameter optimization </a:t>
            </a:r>
            <a:r>
              <a:rPr lang="en-US" altLang="en-US" sz="2400" i="1" smtClean="0"/>
              <a:t>f : </a:t>
            </a:r>
            <a:r>
              <a:rPr lang="en-GB" altLang="en-US" sz="2400" i="1" smtClean="0">
                <a:sym typeface="Symbol" panose="05050102010706020507" pitchFamily="18" charset="2"/>
              </a:rPr>
              <a:t></a:t>
            </a:r>
            <a:r>
              <a:rPr lang="en-US" altLang="en-US" sz="2400" i="1" smtClean="0">
                <a:sym typeface="Bookshelf Symbol 5"/>
              </a:rPr>
              <a:t> </a:t>
            </a:r>
            <a:r>
              <a:rPr lang="en-US" altLang="en-US" sz="2400" i="1" baseline="30000" smtClean="0">
                <a:sym typeface="Bookshelf Symbol 5"/>
              </a:rPr>
              <a:t>n</a:t>
            </a:r>
            <a:r>
              <a:rPr lang="en-GB" altLang="en-US" sz="2400" i="1" smtClean="0">
                <a:sym typeface="Bookshelf Symbol 5"/>
              </a:rPr>
              <a:t> </a:t>
            </a:r>
            <a:r>
              <a:rPr lang="en-US" altLang="en-US" sz="2400" i="1" smtClean="0">
                <a:sym typeface="Wingdings" panose="05000000000000000000" pitchFamily="2" charset="2"/>
              </a:rPr>
              <a:t> </a:t>
            </a:r>
            <a:r>
              <a:rPr lang="en-GB" altLang="en-US" sz="2400" i="1" smtClean="0">
                <a:sym typeface="Symbol" panose="05050102010706020507" pitchFamily="18" charset="2"/>
              </a:rPr>
              <a:t></a:t>
            </a:r>
            <a:endParaRPr lang="en-US" altLang="en-US" sz="2400" i="1" smtClean="0"/>
          </a:p>
          <a:p>
            <a:pPr eaLnBrk="1" hangingPunct="1"/>
            <a:r>
              <a:rPr lang="en-US" altLang="en-US" sz="2400" smtClean="0"/>
              <a:t>Illustration: Ackley’s function (often used in EC)</a:t>
            </a:r>
          </a:p>
          <a:p>
            <a:pPr eaLnBrk="1" hangingPunct="1">
              <a:buFontTx/>
              <a:buNone/>
            </a:pPr>
            <a:endParaRPr lang="en-GB" altLang="en-US" sz="2400" smtClean="0"/>
          </a:p>
          <a:p>
            <a:pPr eaLnBrk="1" hangingPunct="1"/>
            <a:endParaRPr lang="en-US" altLang="en-US" sz="2400" smtClean="0"/>
          </a:p>
        </p:txBody>
      </p:sp>
      <p:grpSp>
        <p:nvGrpSpPr>
          <p:cNvPr id="53252" name="Group 4"/>
          <p:cNvGrpSpPr>
            <a:grpSpLocks/>
          </p:cNvGrpSpPr>
          <p:nvPr/>
        </p:nvGrpSpPr>
        <p:grpSpPr bwMode="auto">
          <a:xfrm>
            <a:off x="838200" y="3733800"/>
            <a:ext cx="3886200" cy="2209800"/>
            <a:chOff x="3504" y="1920"/>
            <a:chExt cx="2256" cy="1257"/>
          </a:xfrm>
        </p:grpSpPr>
        <p:pic>
          <p:nvPicPr>
            <p:cNvPr id="53255" name="Picture 5"/>
            <p:cNvPicPr>
              <a:picLocks noChangeAspect="1" noChangeArrowheads="1"/>
            </p:cNvPicPr>
            <p:nvPr/>
          </p:nvPicPr>
          <p:blipFill>
            <a:blip r:embed="rId3">
              <a:extLst>
                <a:ext uri="{28A0092B-C50C-407E-A947-70E740481C1C}">
                  <a14:useLocalDpi xmlns:a14="http://schemas.microsoft.com/office/drawing/2010/main" val="0"/>
                </a:ext>
              </a:extLst>
            </a:blip>
            <a:srcRect b="3236"/>
            <a:stretch>
              <a:fillRect/>
            </a:stretch>
          </p:blipFill>
          <p:spPr bwMode="auto">
            <a:xfrm>
              <a:off x="3504" y="1920"/>
              <a:ext cx="2160" cy="5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00" y="2448"/>
              <a:ext cx="2160" cy="5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3257"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48" y="3024"/>
              <a:ext cx="1824" cy="1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53253" name="Picture 8"/>
          <p:cNvPicPr>
            <a:picLocks noChangeAspect="1" noChangeArrowheads="1"/>
          </p:cNvPicPr>
          <p:nvPr/>
        </p:nvPicPr>
        <p:blipFill>
          <a:blip r:embed="rId6">
            <a:extLst>
              <a:ext uri="{28A0092B-C50C-407E-A947-70E740481C1C}">
                <a14:useLocalDpi xmlns:a14="http://schemas.microsoft.com/office/drawing/2010/main" val="0"/>
              </a:ext>
            </a:extLst>
          </a:blip>
          <a:srcRect l="6165" t="1559" b="92"/>
          <a:stretch>
            <a:fillRect/>
          </a:stretch>
        </p:blipFill>
        <p:spPr bwMode="auto">
          <a:xfrm>
            <a:off x="5257800" y="3733800"/>
            <a:ext cx="3154363" cy="284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3254"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53258" name="Klip" r:id="rId7" imgW="1423988" imgH="3055938" progId="MS_ClipArt_Gallery.2">
                  <p:embed/>
                </p:oleObj>
              </mc:Choice>
              <mc:Fallback>
                <p:oleObj name="Klip" r:id="rId7" imgW="1423988" imgH="3055938" progId="MS_ClipArt_Gallery.2">
                  <p:embed/>
                  <p:pic>
                    <p:nvPicPr>
                      <p:cNvPr id="0" name="Object 4"/>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F4A81EA6-19ED-4462-B6E9-715711762E29}" type="slidenum">
              <a:rPr lang="en-US" altLang="en-US" sz="1200" smtClean="0">
                <a:latin typeface="Garamond" panose="02020404030301010803" pitchFamily="18" charset="0"/>
              </a:rPr>
              <a:pPr>
                <a:spcBef>
                  <a:spcPct val="0"/>
                </a:spcBef>
                <a:buClrTx/>
                <a:buSzTx/>
                <a:buFontTx/>
                <a:buNone/>
              </a:pPr>
              <a:t>45</a:t>
            </a:fld>
            <a:endParaRPr lang="en-US" altLang="en-US" sz="1200" smtClean="0">
              <a:latin typeface="Garamond" panose="02020404030301010803" pitchFamily="18" charset="0"/>
            </a:endParaRPr>
          </a:p>
        </p:txBody>
      </p:sp>
      <p:sp>
        <p:nvSpPr>
          <p:cNvPr id="54275" name="Rectangle 4"/>
          <p:cNvSpPr>
            <a:spLocks noGrp="1" noChangeArrowheads="1"/>
          </p:cNvSpPr>
          <p:nvPr>
            <p:ph type="ctrTitle"/>
          </p:nvPr>
        </p:nvSpPr>
        <p:spPr/>
        <p:txBody>
          <a:bodyPr/>
          <a:lstStyle/>
          <a:p>
            <a:pPr eaLnBrk="1" hangingPunct="1"/>
            <a:r>
              <a:rPr lang="en-US" altLang="en-US" sz="4000" b="1" u="sng" smtClean="0"/>
              <a:t>G</a:t>
            </a:r>
            <a:r>
              <a:rPr lang="en-US" altLang="en-US" sz="4400" b="1" u="sng" smtClean="0"/>
              <a:t>enetic Algorithms To Solve The Traveling Salesman Problem (TSP)</a:t>
            </a:r>
          </a:p>
        </p:txBody>
      </p:sp>
      <p:graphicFrame>
        <p:nvGraphicFramePr>
          <p:cNvPr id="54276"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54277"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1"/>
          </p:nvPr>
        </p:nvSpPr>
        <p:spPr/>
        <p:txBody>
          <a:bodyPr/>
          <a:lstStyle/>
          <a:p>
            <a:pPr>
              <a:defRPr/>
            </a:pPr>
            <a:r>
              <a:rPr lang="en-US" altLang="en-US"/>
              <a:t>Traveling Salesman Problem</a:t>
            </a:r>
          </a:p>
        </p:txBody>
      </p:sp>
      <p:sp>
        <p:nvSpPr>
          <p:cNvPr id="55299"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AD502EF9-1D62-44C9-BDF5-1A09F492362F}" type="slidenum">
              <a:rPr lang="en-US" altLang="en-US" sz="1200" smtClean="0">
                <a:latin typeface="Garamond" panose="02020404030301010803" pitchFamily="18" charset="0"/>
              </a:rPr>
              <a:pPr>
                <a:spcBef>
                  <a:spcPct val="0"/>
                </a:spcBef>
                <a:buClrTx/>
                <a:buSzTx/>
                <a:buFontTx/>
                <a:buNone/>
              </a:pPr>
              <a:t>46</a:t>
            </a:fld>
            <a:endParaRPr lang="en-US" altLang="en-US" sz="1200" smtClean="0">
              <a:latin typeface="Garamond" panose="02020404030301010803" pitchFamily="18" charset="0"/>
            </a:endParaRPr>
          </a:p>
        </p:txBody>
      </p:sp>
      <p:sp>
        <p:nvSpPr>
          <p:cNvPr id="55300" name="Rectangle 2"/>
          <p:cNvSpPr>
            <a:spLocks noGrp="1" noChangeArrowheads="1"/>
          </p:cNvSpPr>
          <p:nvPr>
            <p:ph type="title"/>
          </p:nvPr>
        </p:nvSpPr>
        <p:spPr>
          <a:xfrm>
            <a:off x="457200" y="277813"/>
            <a:ext cx="8229600" cy="788987"/>
          </a:xfrm>
        </p:spPr>
        <p:txBody>
          <a:bodyPr/>
          <a:lstStyle/>
          <a:p>
            <a:pPr algn="ctr" eaLnBrk="1" hangingPunct="1"/>
            <a:r>
              <a:rPr lang="en-US" altLang="en-US" sz="4000" b="1" u="sng" smtClean="0"/>
              <a:t>The Problem</a:t>
            </a:r>
            <a:br>
              <a:rPr lang="en-US" altLang="en-US" sz="4000" b="1" u="sng" smtClean="0"/>
            </a:br>
            <a:endParaRPr lang="en-US" altLang="en-US" sz="4000" b="1" u="sng" smtClean="0"/>
          </a:p>
        </p:txBody>
      </p:sp>
      <p:sp>
        <p:nvSpPr>
          <p:cNvPr id="55301" name="Rectangle 3"/>
          <p:cNvSpPr>
            <a:spLocks noGrp="1" noChangeArrowheads="1"/>
          </p:cNvSpPr>
          <p:nvPr>
            <p:ph type="body" idx="1"/>
          </p:nvPr>
        </p:nvSpPr>
        <p:spPr>
          <a:xfrm>
            <a:off x="457200" y="1066800"/>
            <a:ext cx="8229600" cy="5064125"/>
          </a:xfrm>
        </p:spPr>
        <p:txBody>
          <a:bodyPr/>
          <a:lstStyle/>
          <a:p>
            <a:pPr eaLnBrk="1" hangingPunct="1">
              <a:buFont typeface="Wingdings" panose="05000000000000000000" pitchFamily="2" charset="2"/>
              <a:buNone/>
            </a:pPr>
            <a:r>
              <a:rPr lang="en-US" altLang="en-US" i="1" smtClean="0"/>
              <a:t>  </a:t>
            </a:r>
            <a:r>
              <a:rPr lang="en-US" altLang="en-US" smtClean="0">
                <a:solidFill>
                  <a:schemeClr val="tx2"/>
                </a:solidFill>
              </a:rPr>
              <a:t>The </a:t>
            </a:r>
            <a:r>
              <a:rPr lang="en-US" altLang="en-US" b="1" smtClean="0">
                <a:solidFill>
                  <a:schemeClr val="tx2"/>
                </a:solidFill>
              </a:rPr>
              <a:t>Traveling Salesman Problem</a:t>
            </a:r>
            <a:r>
              <a:rPr lang="en-US" altLang="en-US" smtClean="0">
                <a:solidFill>
                  <a:schemeClr val="tx2"/>
                </a:solidFill>
              </a:rPr>
              <a:t> is defined as:</a:t>
            </a:r>
            <a:r>
              <a:rPr lang="en-US" altLang="en-US" i="1" smtClean="0">
                <a:solidFill>
                  <a:schemeClr val="tx2"/>
                </a:solidFill>
              </a:rPr>
              <a:t>  </a:t>
            </a:r>
          </a:p>
          <a:p>
            <a:pPr eaLnBrk="1" hangingPunct="1">
              <a:buFont typeface="Wingdings" panose="05000000000000000000" pitchFamily="2" charset="2"/>
              <a:buNone/>
            </a:pPr>
            <a:endParaRPr lang="en-US" altLang="en-US" i="1" smtClean="0">
              <a:solidFill>
                <a:schemeClr val="tx2"/>
              </a:solidFill>
            </a:endParaRPr>
          </a:p>
          <a:p>
            <a:pPr eaLnBrk="1" hangingPunct="1">
              <a:buFont typeface="Wingdings" panose="05000000000000000000" pitchFamily="2" charset="2"/>
              <a:buNone/>
            </a:pPr>
            <a:r>
              <a:rPr lang="en-US" altLang="en-US" i="1" smtClean="0"/>
              <a:t>   </a:t>
            </a:r>
            <a:r>
              <a:rPr lang="en-US" altLang="en-US" sz="2400" i="1" smtClean="0"/>
              <a:t>‘</a:t>
            </a:r>
            <a:r>
              <a:rPr lang="en-US" altLang="en-US" sz="2400" i="1" smtClean="0">
                <a:solidFill>
                  <a:schemeClr val="tx2"/>
                </a:solidFill>
              </a:rPr>
              <a:t>We are given a set of cities and a symmetric distance matrix that indicates the cost of travel from each city to every other city. </a:t>
            </a:r>
          </a:p>
          <a:p>
            <a:pPr eaLnBrk="1" hangingPunct="1">
              <a:buFont typeface="Wingdings" panose="05000000000000000000" pitchFamily="2" charset="2"/>
              <a:buNone/>
            </a:pPr>
            <a:r>
              <a:rPr lang="en-US" altLang="en-US" sz="2400" i="1" smtClean="0">
                <a:solidFill>
                  <a:schemeClr val="tx2"/>
                </a:solidFill>
              </a:rPr>
              <a:t>    The goal is to find </a:t>
            </a:r>
            <a:r>
              <a:rPr lang="en-US" altLang="en-US" sz="2400" b="1" i="1" smtClean="0">
                <a:solidFill>
                  <a:srgbClr val="CC3300"/>
                </a:solidFill>
              </a:rPr>
              <a:t>the shortest circular tour</a:t>
            </a:r>
            <a:r>
              <a:rPr lang="en-US" altLang="en-US" sz="2400" b="1" i="1" smtClean="0">
                <a:solidFill>
                  <a:schemeClr val="tx2"/>
                </a:solidFill>
              </a:rPr>
              <a:t>, </a:t>
            </a:r>
            <a:r>
              <a:rPr lang="en-US" altLang="en-US" sz="2400" i="1" smtClean="0">
                <a:solidFill>
                  <a:schemeClr val="tx2"/>
                </a:solidFill>
              </a:rPr>
              <a:t>visiting every city exactly once, so as to </a:t>
            </a:r>
            <a:r>
              <a:rPr lang="en-US" altLang="en-US" sz="2400" b="1" i="1" smtClean="0">
                <a:solidFill>
                  <a:srgbClr val="CC3300"/>
                </a:solidFill>
              </a:rPr>
              <a:t>minimize the total travel cost</a:t>
            </a:r>
            <a:r>
              <a:rPr lang="en-US" altLang="en-US" sz="2400" i="1" smtClean="0">
                <a:solidFill>
                  <a:schemeClr val="tx2"/>
                </a:solidFill>
              </a:rPr>
              <a:t>, which includes the cost of traveling from the last city back to the first city’.</a:t>
            </a:r>
          </a:p>
        </p:txBody>
      </p:sp>
      <p:graphicFrame>
        <p:nvGraphicFramePr>
          <p:cNvPr id="55302"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55303"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A441D32E-853C-450E-AAE4-71ADB97556AD}" type="slidenum">
              <a:rPr lang="en-US" altLang="en-US" sz="1200" smtClean="0">
                <a:latin typeface="Garamond" panose="02020404030301010803" pitchFamily="18" charset="0"/>
              </a:rPr>
              <a:pPr>
                <a:spcBef>
                  <a:spcPct val="0"/>
                </a:spcBef>
                <a:buClrTx/>
                <a:buSzTx/>
                <a:buFontTx/>
                <a:buNone/>
              </a:pPr>
              <a:t>47</a:t>
            </a:fld>
            <a:endParaRPr lang="en-US" altLang="en-US" sz="1200" smtClean="0">
              <a:latin typeface="Garamond" panose="02020404030301010803" pitchFamily="18" charset="0"/>
            </a:endParaRPr>
          </a:p>
        </p:txBody>
      </p:sp>
      <p:sp>
        <p:nvSpPr>
          <p:cNvPr id="56323" name="Rectangle 6"/>
          <p:cNvSpPr>
            <a:spLocks noGrp="1" noChangeArrowheads="1"/>
          </p:cNvSpPr>
          <p:nvPr>
            <p:ph type="title"/>
          </p:nvPr>
        </p:nvSpPr>
        <p:spPr>
          <a:xfrm>
            <a:off x="457200" y="220663"/>
            <a:ext cx="8229600" cy="560387"/>
          </a:xfrm>
        </p:spPr>
        <p:txBody>
          <a:bodyPr/>
          <a:lstStyle/>
          <a:p>
            <a:pPr algn="ctr" eaLnBrk="1" hangingPunct="1"/>
            <a:r>
              <a:rPr lang="en-US" altLang="en-US" sz="4000" b="1" u="sng" smtClean="0"/>
              <a:t>Encoding</a:t>
            </a:r>
          </a:p>
        </p:txBody>
      </p:sp>
      <p:sp>
        <p:nvSpPr>
          <p:cNvPr id="56324" name="Rectangle 7"/>
          <p:cNvSpPr>
            <a:spLocks noGrp="1" noChangeArrowheads="1"/>
          </p:cNvSpPr>
          <p:nvPr>
            <p:ph type="body" idx="1"/>
          </p:nvPr>
        </p:nvSpPr>
        <p:spPr>
          <a:xfrm>
            <a:off x="457200" y="1219200"/>
            <a:ext cx="8229600" cy="5562600"/>
          </a:xfrm>
        </p:spPr>
        <p:txBody>
          <a:bodyPr/>
          <a:lstStyle/>
          <a:p>
            <a:pPr eaLnBrk="1" hangingPunct="1">
              <a:lnSpc>
                <a:spcPct val="90000"/>
              </a:lnSpc>
            </a:pPr>
            <a:r>
              <a:rPr lang="en-US" altLang="en-US" sz="2400" smtClean="0"/>
              <a:t>I represent every city with an integer . </a:t>
            </a:r>
          </a:p>
          <a:p>
            <a:pPr eaLnBrk="1" hangingPunct="1">
              <a:lnSpc>
                <a:spcPct val="90000"/>
              </a:lnSpc>
              <a:buFont typeface="Wingdings" panose="05000000000000000000" pitchFamily="2" charset="2"/>
              <a:buNone/>
            </a:pPr>
            <a:endParaRPr lang="en-US" altLang="en-US" sz="2400" smtClean="0"/>
          </a:p>
          <a:p>
            <a:pPr eaLnBrk="1" hangingPunct="1">
              <a:lnSpc>
                <a:spcPct val="90000"/>
              </a:lnSpc>
            </a:pPr>
            <a:r>
              <a:rPr lang="en-US" altLang="en-US" sz="2400" smtClean="0"/>
              <a:t>Consider 6 Indian cities –</a:t>
            </a:r>
          </a:p>
          <a:p>
            <a:pPr eaLnBrk="1" hangingPunct="1">
              <a:lnSpc>
                <a:spcPct val="90000"/>
              </a:lnSpc>
              <a:buFont typeface="Wingdings" panose="05000000000000000000" pitchFamily="2" charset="2"/>
              <a:buNone/>
            </a:pPr>
            <a:r>
              <a:rPr lang="en-US" altLang="en-US" sz="2400" smtClean="0"/>
              <a:t>    Mumbai,  Nagpur , Calcutta, Delhi , Bangalore and  Chennai and assign a number to each.</a:t>
            </a:r>
          </a:p>
          <a:p>
            <a:pPr eaLnBrk="1" hangingPunct="1">
              <a:lnSpc>
                <a:spcPct val="90000"/>
              </a:lnSpc>
            </a:pPr>
            <a:endParaRPr lang="es-ES_tradnl" altLang="en-US" sz="2400" smtClean="0"/>
          </a:p>
          <a:p>
            <a:pPr eaLnBrk="1" hangingPunct="1">
              <a:lnSpc>
                <a:spcPct val="90000"/>
              </a:lnSpc>
              <a:buFont typeface="Wingdings" panose="05000000000000000000" pitchFamily="2" charset="2"/>
              <a:buNone/>
            </a:pPr>
            <a:r>
              <a:rPr lang="es-ES_tradnl" altLang="en-US" sz="2400" smtClean="0"/>
              <a:t>			</a:t>
            </a:r>
            <a:r>
              <a:rPr lang="es-ES_tradnl" altLang="en-US" sz="2400" smtClean="0">
                <a:solidFill>
                  <a:schemeClr val="tx2"/>
                </a:solidFill>
              </a:rPr>
              <a:t>Mumbai             1</a:t>
            </a:r>
          </a:p>
          <a:p>
            <a:pPr eaLnBrk="1" hangingPunct="1">
              <a:lnSpc>
                <a:spcPct val="90000"/>
              </a:lnSpc>
              <a:buFont typeface="Wingdings" panose="05000000000000000000" pitchFamily="2" charset="2"/>
              <a:buNone/>
            </a:pPr>
            <a:r>
              <a:rPr lang="es-ES_tradnl" altLang="en-US" sz="2400" smtClean="0">
                <a:solidFill>
                  <a:schemeClr val="tx2"/>
                </a:solidFill>
              </a:rPr>
              <a:t>			Nagpur              2</a:t>
            </a:r>
          </a:p>
          <a:p>
            <a:pPr eaLnBrk="1" hangingPunct="1">
              <a:lnSpc>
                <a:spcPct val="90000"/>
              </a:lnSpc>
              <a:buFont typeface="Wingdings" panose="05000000000000000000" pitchFamily="2" charset="2"/>
              <a:buNone/>
            </a:pPr>
            <a:r>
              <a:rPr lang="es-ES_tradnl" altLang="en-US" sz="2400" smtClean="0">
                <a:solidFill>
                  <a:schemeClr val="tx2"/>
                </a:solidFill>
              </a:rPr>
              <a:t>			Calcutta             3</a:t>
            </a:r>
          </a:p>
          <a:p>
            <a:pPr eaLnBrk="1" hangingPunct="1">
              <a:lnSpc>
                <a:spcPct val="90000"/>
              </a:lnSpc>
              <a:buFont typeface="Wingdings" panose="05000000000000000000" pitchFamily="2" charset="2"/>
              <a:buNone/>
            </a:pPr>
            <a:r>
              <a:rPr lang="es-ES_tradnl" altLang="en-US" sz="2400" smtClean="0">
                <a:solidFill>
                  <a:schemeClr val="tx2"/>
                </a:solidFill>
              </a:rPr>
              <a:t>			Delhi                  4</a:t>
            </a:r>
          </a:p>
          <a:p>
            <a:pPr eaLnBrk="1" hangingPunct="1">
              <a:lnSpc>
                <a:spcPct val="90000"/>
              </a:lnSpc>
              <a:buFont typeface="Wingdings" panose="05000000000000000000" pitchFamily="2" charset="2"/>
              <a:buNone/>
            </a:pPr>
            <a:r>
              <a:rPr lang="es-ES_tradnl" altLang="en-US" sz="2400" smtClean="0">
                <a:solidFill>
                  <a:schemeClr val="tx2"/>
                </a:solidFill>
              </a:rPr>
              <a:t>			Bangalore          5</a:t>
            </a:r>
            <a:endParaRPr lang="en-US" altLang="en-US" sz="2400" smtClean="0">
              <a:solidFill>
                <a:schemeClr val="tx2"/>
              </a:solidFill>
            </a:endParaRPr>
          </a:p>
          <a:p>
            <a:pPr eaLnBrk="1" hangingPunct="1">
              <a:lnSpc>
                <a:spcPct val="90000"/>
              </a:lnSpc>
              <a:buFont typeface="Wingdings" panose="05000000000000000000" pitchFamily="2" charset="2"/>
              <a:buNone/>
            </a:pPr>
            <a:r>
              <a:rPr lang="en-US" altLang="en-US" sz="2400" smtClean="0">
                <a:solidFill>
                  <a:schemeClr val="tx2"/>
                </a:solidFill>
              </a:rPr>
              <a:t>			Chennai             6</a:t>
            </a:r>
          </a:p>
          <a:p>
            <a:pPr eaLnBrk="1" hangingPunct="1">
              <a:lnSpc>
                <a:spcPct val="90000"/>
              </a:lnSpc>
              <a:buFont typeface="Wingdings" panose="05000000000000000000" pitchFamily="2" charset="2"/>
              <a:buNone/>
            </a:pPr>
            <a:endParaRPr lang="en-US" altLang="en-US" sz="2400" smtClean="0">
              <a:solidFill>
                <a:schemeClr val="tx2"/>
              </a:solidFill>
            </a:endParaRPr>
          </a:p>
          <a:p>
            <a:pPr eaLnBrk="1" hangingPunct="1">
              <a:lnSpc>
                <a:spcPct val="90000"/>
              </a:lnSpc>
            </a:pPr>
            <a:endParaRPr lang="en-US" altLang="en-US" sz="2500" smtClean="0"/>
          </a:p>
        </p:txBody>
      </p:sp>
      <p:sp>
        <p:nvSpPr>
          <p:cNvPr id="56325" name="Line 8"/>
          <p:cNvSpPr>
            <a:spLocks noChangeShapeType="1"/>
          </p:cNvSpPr>
          <p:nvPr/>
        </p:nvSpPr>
        <p:spPr bwMode="auto">
          <a:xfrm>
            <a:off x="3838575" y="3767138"/>
            <a:ext cx="381000" cy="0"/>
          </a:xfrm>
          <a:prstGeom prst="line">
            <a:avLst/>
          </a:prstGeom>
          <a:noFill/>
          <a:ln w="952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6326" name="Line 9"/>
          <p:cNvSpPr>
            <a:spLocks noChangeShapeType="1"/>
          </p:cNvSpPr>
          <p:nvPr/>
        </p:nvSpPr>
        <p:spPr bwMode="auto">
          <a:xfrm>
            <a:off x="3833813" y="4176713"/>
            <a:ext cx="381000" cy="0"/>
          </a:xfrm>
          <a:prstGeom prst="line">
            <a:avLst/>
          </a:prstGeom>
          <a:noFill/>
          <a:ln w="952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6327" name="Line 10"/>
          <p:cNvSpPr>
            <a:spLocks noChangeShapeType="1"/>
          </p:cNvSpPr>
          <p:nvPr/>
        </p:nvSpPr>
        <p:spPr bwMode="auto">
          <a:xfrm>
            <a:off x="3843338" y="4586288"/>
            <a:ext cx="381000" cy="0"/>
          </a:xfrm>
          <a:prstGeom prst="line">
            <a:avLst/>
          </a:prstGeom>
          <a:noFill/>
          <a:ln w="952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6328" name="Line 11"/>
          <p:cNvSpPr>
            <a:spLocks noChangeShapeType="1"/>
          </p:cNvSpPr>
          <p:nvPr/>
        </p:nvSpPr>
        <p:spPr bwMode="auto">
          <a:xfrm>
            <a:off x="3852863" y="4957763"/>
            <a:ext cx="381000" cy="0"/>
          </a:xfrm>
          <a:prstGeom prst="line">
            <a:avLst/>
          </a:prstGeom>
          <a:noFill/>
          <a:ln w="952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6329" name="Line 12"/>
          <p:cNvSpPr>
            <a:spLocks noChangeShapeType="1"/>
          </p:cNvSpPr>
          <p:nvPr/>
        </p:nvSpPr>
        <p:spPr bwMode="auto">
          <a:xfrm>
            <a:off x="3848100" y="5405438"/>
            <a:ext cx="381000" cy="0"/>
          </a:xfrm>
          <a:prstGeom prst="line">
            <a:avLst/>
          </a:prstGeom>
          <a:noFill/>
          <a:ln w="952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56330" name="Line 13"/>
          <p:cNvSpPr>
            <a:spLocks noChangeShapeType="1"/>
          </p:cNvSpPr>
          <p:nvPr/>
        </p:nvSpPr>
        <p:spPr bwMode="auto">
          <a:xfrm>
            <a:off x="3857625" y="5772150"/>
            <a:ext cx="381000" cy="0"/>
          </a:xfrm>
          <a:prstGeom prst="line">
            <a:avLst/>
          </a:prstGeom>
          <a:noFill/>
          <a:ln w="9525">
            <a:solidFill>
              <a:schemeClr val="hlink"/>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56331"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56332"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B0C3768-9448-417C-8C78-4319DD17FD34}" type="slidenum">
              <a:rPr lang="en-US" altLang="en-US" sz="1200" smtClean="0">
                <a:latin typeface="Garamond" panose="02020404030301010803" pitchFamily="18" charset="0"/>
              </a:rPr>
              <a:pPr>
                <a:spcBef>
                  <a:spcPct val="0"/>
                </a:spcBef>
                <a:buClrTx/>
                <a:buSzTx/>
                <a:buFontTx/>
                <a:buNone/>
              </a:pPr>
              <a:t>48</a:t>
            </a:fld>
            <a:endParaRPr lang="en-US" altLang="en-US" sz="1200" smtClean="0">
              <a:latin typeface="Garamond" panose="02020404030301010803" pitchFamily="18" charset="0"/>
            </a:endParaRPr>
          </a:p>
        </p:txBody>
      </p:sp>
      <p:sp>
        <p:nvSpPr>
          <p:cNvPr id="57347" name="Rectangle 2"/>
          <p:cNvSpPr>
            <a:spLocks noGrp="1" noChangeArrowheads="1"/>
          </p:cNvSpPr>
          <p:nvPr>
            <p:ph type="title"/>
          </p:nvPr>
        </p:nvSpPr>
        <p:spPr/>
        <p:txBody>
          <a:bodyPr/>
          <a:lstStyle/>
          <a:p>
            <a:pPr algn="ctr" eaLnBrk="1" hangingPunct="1"/>
            <a:r>
              <a:rPr lang="en-US" altLang="en-US" sz="4000" b="1" u="sng" smtClean="0"/>
              <a:t>Encoding </a:t>
            </a:r>
            <a:r>
              <a:rPr lang="en-US" altLang="en-US" sz="4000" smtClean="0"/>
              <a:t>(contd.)</a:t>
            </a:r>
            <a:endParaRPr lang="en-US" altLang="en-US" sz="4000" b="1" u="sng" smtClean="0"/>
          </a:p>
        </p:txBody>
      </p:sp>
      <p:sp>
        <p:nvSpPr>
          <p:cNvPr id="57348" name="Rectangle 3"/>
          <p:cNvSpPr>
            <a:spLocks noGrp="1" noChangeArrowheads="1"/>
          </p:cNvSpPr>
          <p:nvPr>
            <p:ph type="body" idx="1"/>
          </p:nvPr>
        </p:nvSpPr>
        <p:spPr>
          <a:xfrm>
            <a:off x="457200" y="1295400"/>
            <a:ext cx="8229600" cy="4530725"/>
          </a:xfrm>
        </p:spPr>
        <p:txBody>
          <a:bodyPr/>
          <a:lstStyle/>
          <a:p>
            <a:pPr eaLnBrk="1" hangingPunct="1"/>
            <a:r>
              <a:rPr lang="en-US" altLang="en-US" sz="2400" smtClean="0"/>
              <a:t>Thus a path would be represented as a </a:t>
            </a:r>
            <a:r>
              <a:rPr lang="en-US" altLang="en-US" sz="2400" smtClean="0">
                <a:solidFill>
                  <a:schemeClr val="hlink"/>
                </a:solidFill>
              </a:rPr>
              <a:t>sequence</a:t>
            </a:r>
            <a:r>
              <a:rPr lang="en-US" altLang="en-US" sz="2400" smtClean="0"/>
              <a:t> of integers from 1 to 6.</a:t>
            </a:r>
          </a:p>
          <a:p>
            <a:pPr eaLnBrk="1" hangingPunct="1">
              <a:buFont typeface="Wingdings" panose="05000000000000000000" pitchFamily="2" charset="2"/>
              <a:buNone/>
            </a:pPr>
            <a:endParaRPr lang="en-US" altLang="en-US" sz="2400" smtClean="0"/>
          </a:p>
          <a:p>
            <a:pPr eaLnBrk="1" hangingPunct="1"/>
            <a:r>
              <a:rPr lang="en-US" altLang="en-US" sz="2400" smtClean="0"/>
              <a:t>The path </a:t>
            </a:r>
            <a:r>
              <a:rPr lang="en-US" altLang="en-US" sz="2400" smtClean="0">
                <a:solidFill>
                  <a:schemeClr val="hlink"/>
                </a:solidFill>
              </a:rPr>
              <a:t>[1 2 3 4 5 6 ]</a:t>
            </a:r>
            <a:r>
              <a:rPr lang="en-US" altLang="en-US" sz="2400" smtClean="0"/>
              <a:t> represents a path from Mumbai to Nagpur, Nagpur to Calcutta, Calcutta to Delhi, Delhi to Bangalore, Bangalore to Chennai, and finally from Chennai to Mumbai. </a:t>
            </a:r>
          </a:p>
          <a:p>
            <a:pPr eaLnBrk="1" hangingPunct="1"/>
            <a:endParaRPr lang="en-US" altLang="en-US" sz="2400" smtClean="0"/>
          </a:p>
          <a:p>
            <a:pPr eaLnBrk="1" hangingPunct="1"/>
            <a:r>
              <a:rPr lang="en-US" altLang="en-US" sz="2400" smtClean="0"/>
              <a:t>This is an example of </a:t>
            </a:r>
            <a:r>
              <a:rPr lang="en-US" altLang="en-US" sz="2400" b="1" smtClean="0">
                <a:solidFill>
                  <a:schemeClr val="hlink"/>
                </a:solidFill>
              </a:rPr>
              <a:t>Permutation Encoding</a:t>
            </a:r>
            <a:r>
              <a:rPr lang="en-US" altLang="en-US" sz="2400" smtClean="0"/>
              <a:t> as the position of the elements determines the fitness of the solution.</a:t>
            </a:r>
          </a:p>
        </p:txBody>
      </p:sp>
      <p:graphicFrame>
        <p:nvGraphicFramePr>
          <p:cNvPr id="57349"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57350"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A582624B-D95D-405C-BF84-B2CC6C44917B}" type="slidenum">
              <a:rPr lang="en-US" altLang="en-US" sz="1200" smtClean="0">
                <a:latin typeface="Garamond" panose="02020404030301010803" pitchFamily="18" charset="0"/>
              </a:rPr>
              <a:pPr>
                <a:spcBef>
                  <a:spcPct val="0"/>
                </a:spcBef>
                <a:buClrTx/>
                <a:buSzTx/>
                <a:buFontTx/>
                <a:buNone/>
              </a:pPr>
              <a:t>49</a:t>
            </a:fld>
            <a:endParaRPr lang="en-US" altLang="en-US" sz="1200" smtClean="0">
              <a:latin typeface="Garamond" panose="02020404030301010803" pitchFamily="18" charset="0"/>
            </a:endParaRPr>
          </a:p>
        </p:txBody>
      </p:sp>
      <p:sp>
        <p:nvSpPr>
          <p:cNvPr id="58371" name="Rectangle 2"/>
          <p:cNvSpPr>
            <a:spLocks noGrp="1" noChangeArrowheads="1"/>
          </p:cNvSpPr>
          <p:nvPr>
            <p:ph type="title"/>
          </p:nvPr>
        </p:nvSpPr>
        <p:spPr/>
        <p:txBody>
          <a:bodyPr/>
          <a:lstStyle/>
          <a:p>
            <a:pPr algn="ctr" eaLnBrk="1" hangingPunct="1"/>
            <a:r>
              <a:rPr lang="en-US" altLang="en-US" sz="4000" b="1" u="sng" smtClean="0"/>
              <a:t>Fitness Function</a:t>
            </a:r>
          </a:p>
        </p:txBody>
      </p:sp>
      <p:sp>
        <p:nvSpPr>
          <p:cNvPr id="58372" name="Rectangle 3"/>
          <p:cNvSpPr>
            <a:spLocks noGrp="1" noChangeArrowheads="1"/>
          </p:cNvSpPr>
          <p:nvPr>
            <p:ph type="body" idx="1"/>
          </p:nvPr>
        </p:nvSpPr>
        <p:spPr>
          <a:xfrm>
            <a:off x="457200" y="1524000"/>
            <a:ext cx="8229600" cy="4530725"/>
          </a:xfrm>
        </p:spPr>
        <p:txBody>
          <a:bodyPr/>
          <a:lstStyle/>
          <a:p>
            <a:pPr eaLnBrk="1" hangingPunct="1"/>
            <a:r>
              <a:rPr lang="en-US" altLang="en-US" sz="2400" smtClean="0"/>
              <a:t>The fitness function will be the </a:t>
            </a:r>
            <a:r>
              <a:rPr lang="en-US" altLang="en-US" sz="2400" smtClean="0">
                <a:solidFill>
                  <a:schemeClr val="hlink"/>
                </a:solidFill>
              </a:rPr>
              <a:t>total cost of the tour</a:t>
            </a:r>
            <a:r>
              <a:rPr lang="en-US" altLang="en-US" sz="2400" smtClean="0"/>
              <a:t> represented by each chromosome.</a:t>
            </a:r>
          </a:p>
          <a:p>
            <a:pPr eaLnBrk="1" hangingPunct="1">
              <a:buFont typeface="Wingdings" panose="05000000000000000000" pitchFamily="2" charset="2"/>
              <a:buNone/>
            </a:pPr>
            <a:endParaRPr lang="en-US" altLang="en-US" sz="2400" smtClean="0"/>
          </a:p>
          <a:p>
            <a:pPr eaLnBrk="1" hangingPunct="1"/>
            <a:r>
              <a:rPr lang="en-US" altLang="en-US" sz="2400" smtClean="0"/>
              <a:t>This can be calculated as the </a:t>
            </a:r>
            <a:r>
              <a:rPr lang="en-US" altLang="en-US" sz="2400" smtClean="0">
                <a:solidFill>
                  <a:schemeClr val="hlink"/>
                </a:solidFill>
              </a:rPr>
              <a:t>sum of the distances</a:t>
            </a:r>
            <a:r>
              <a:rPr lang="en-US" altLang="en-US" sz="2400" smtClean="0"/>
              <a:t> traversed in each travel segment. </a:t>
            </a:r>
          </a:p>
          <a:p>
            <a:pPr eaLnBrk="1" hangingPunct="1">
              <a:buFont typeface="Wingdings" panose="05000000000000000000" pitchFamily="2" charset="2"/>
              <a:buNone/>
            </a:pPr>
            <a:endParaRPr lang="en-US" altLang="en-US" sz="2400" smtClean="0"/>
          </a:p>
          <a:p>
            <a:pPr eaLnBrk="1" hangingPunct="1">
              <a:buFont typeface="Wingdings" panose="05000000000000000000" pitchFamily="2" charset="2"/>
              <a:buNone/>
            </a:pPr>
            <a:r>
              <a:rPr lang="en-US" altLang="en-US" sz="2800" b="1" smtClean="0">
                <a:solidFill>
                  <a:schemeClr val="hlink"/>
                </a:solidFill>
              </a:rPr>
              <a:t>   </a:t>
            </a:r>
            <a:r>
              <a:rPr lang="en-US" altLang="en-US" sz="2800" i="1" smtClean="0"/>
              <a:t>The </a:t>
            </a:r>
            <a:r>
              <a:rPr lang="en-US" altLang="en-US" sz="2800" i="1" smtClean="0">
                <a:solidFill>
                  <a:schemeClr val="hlink"/>
                </a:solidFill>
              </a:rPr>
              <a:t>Lesser The Sum, The Fitter The Solution</a:t>
            </a:r>
            <a:r>
              <a:rPr lang="en-US" altLang="en-US" sz="2800" i="1" smtClean="0"/>
              <a:t> Represented By That Chromosome.</a:t>
            </a:r>
          </a:p>
        </p:txBody>
      </p:sp>
      <p:graphicFrame>
        <p:nvGraphicFramePr>
          <p:cNvPr id="58373"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58374"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79316BB0-FF16-4045-A3ED-F22E8B6BD54B}" type="slidenum">
              <a:rPr lang="en-US" altLang="en-US" sz="1200" smtClean="0">
                <a:latin typeface="Garamond" panose="02020404030301010803" pitchFamily="18" charset="0"/>
              </a:rPr>
              <a:pPr>
                <a:spcBef>
                  <a:spcPct val="0"/>
                </a:spcBef>
                <a:buClrTx/>
                <a:buSzTx/>
                <a:buFontTx/>
                <a:buNone/>
              </a:pPr>
              <a:t>50</a:t>
            </a:fld>
            <a:endParaRPr lang="en-US" altLang="en-US" sz="1200" smtClean="0">
              <a:latin typeface="Garamond" panose="02020404030301010803" pitchFamily="18" charset="0"/>
            </a:endParaRPr>
          </a:p>
        </p:txBody>
      </p:sp>
      <p:sp>
        <p:nvSpPr>
          <p:cNvPr id="59395" name="Rectangle 2"/>
          <p:cNvSpPr>
            <a:spLocks noGrp="1" noChangeArrowheads="1"/>
          </p:cNvSpPr>
          <p:nvPr>
            <p:ph type="title"/>
          </p:nvPr>
        </p:nvSpPr>
        <p:spPr/>
        <p:txBody>
          <a:bodyPr/>
          <a:lstStyle/>
          <a:p>
            <a:pPr algn="ctr" eaLnBrk="1" hangingPunct="1"/>
            <a:r>
              <a:rPr lang="en-US" altLang="en-US" sz="4000" b="1" u="sng" smtClean="0"/>
              <a:t>Distance/Cost Matrix For TSP</a:t>
            </a:r>
          </a:p>
        </p:txBody>
      </p:sp>
      <p:sp>
        <p:nvSpPr>
          <p:cNvPr id="59396" name="Text Box 11"/>
          <p:cNvSpPr txBox="1">
            <a:spLocks noChangeArrowheads="1"/>
          </p:cNvSpPr>
          <p:nvPr/>
        </p:nvSpPr>
        <p:spPr bwMode="auto">
          <a:xfrm>
            <a:off x="1947863" y="5410200"/>
            <a:ext cx="5149850" cy="750888"/>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b="0"/>
              <a:t>       </a:t>
            </a:r>
            <a:r>
              <a:rPr lang="en-US" altLang="en-US" sz="1800"/>
              <a:t>Cost matrix for six city example. </a:t>
            </a:r>
          </a:p>
          <a:p>
            <a:pPr algn="ctr" eaLnBrk="1" hangingPunct="1">
              <a:spcBef>
                <a:spcPct val="0"/>
              </a:spcBef>
              <a:buClrTx/>
              <a:buSzTx/>
              <a:buFontTx/>
              <a:buNone/>
            </a:pPr>
            <a:r>
              <a:rPr lang="en-US" altLang="en-US" sz="1400" b="0" i="1"/>
              <a:t>Distances in Kilometers</a:t>
            </a:r>
          </a:p>
        </p:txBody>
      </p:sp>
      <p:graphicFrame>
        <p:nvGraphicFramePr>
          <p:cNvPr id="179294" name="Group 94"/>
          <p:cNvGraphicFramePr>
            <a:graphicFrameLocks noGrp="1"/>
          </p:cNvGraphicFramePr>
          <p:nvPr>
            <p:ph idx="1"/>
          </p:nvPr>
        </p:nvGraphicFramePr>
        <p:xfrm>
          <a:off x="457200" y="1295400"/>
          <a:ext cx="8229600" cy="3733800"/>
        </p:xfrm>
        <a:graphic>
          <a:graphicData uri="http://schemas.openxmlformats.org/drawingml/2006/table">
            <a:tbl>
              <a:tblPr/>
              <a:tblGrid>
                <a:gridCol w="1176338"/>
                <a:gridCol w="1174750"/>
                <a:gridCol w="1176337"/>
                <a:gridCol w="1174750"/>
                <a:gridCol w="1176338"/>
                <a:gridCol w="1174750"/>
                <a:gridCol w="1176337"/>
              </a:tblGrid>
              <a:tr h="688975">
                <a:tc>
                  <a:txBody>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600" b="1" i="0" u="none" strike="noStrike" cap="none" normalizeH="0" baseline="0" smtClean="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r>
              <a:tr h="5064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863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1987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1407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998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1369</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958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863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1124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1012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1049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1083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64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1987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1124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1461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1881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1676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80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4</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1407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1012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1461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2061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2095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8000">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998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1049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1881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2061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331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641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DDDDDD"/>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1369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1083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1676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2095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331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600" b="1" i="0" u="none" strike="noStrike" cap="none" normalizeH="0" baseline="0" smtClean="0">
                          <a:ln>
                            <a:noFill/>
                          </a:ln>
                          <a:solidFill>
                            <a:schemeClr val="tx1"/>
                          </a:solidFill>
                          <a:effectLst/>
                          <a:latin typeface="Arial" charset="0"/>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59463"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59464"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3B1BB2A-F003-4B24-8015-2820C7640EA4}" type="slidenum">
              <a:rPr lang="en-US" altLang="en-US" sz="1200" smtClean="0">
                <a:latin typeface="Garamond" panose="02020404030301010803" pitchFamily="18" charset="0"/>
              </a:rPr>
              <a:pPr>
                <a:spcBef>
                  <a:spcPct val="0"/>
                </a:spcBef>
                <a:buClrTx/>
                <a:buSzTx/>
                <a:buFontTx/>
                <a:buNone/>
              </a:pPr>
              <a:t>51</a:t>
            </a:fld>
            <a:endParaRPr lang="en-US" altLang="en-US" sz="1200" smtClean="0">
              <a:latin typeface="Garamond" panose="02020404030301010803" pitchFamily="18" charset="0"/>
            </a:endParaRPr>
          </a:p>
        </p:txBody>
      </p:sp>
      <p:sp>
        <p:nvSpPr>
          <p:cNvPr id="60419" name="Rectangle 2"/>
          <p:cNvSpPr>
            <a:spLocks noGrp="1" noChangeArrowheads="1"/>
          </p:cNvSpPr>
          <p:nvPr>
            <p:ph type="title"/>
          </p:nvPr>
        </p:nvSpPr>
        <p:spPr>
          <a:xfrm>
            <a:off x="457200" y="277813"/>
            <a:ext cx="8229600" cy="712787"/>
          </a:xfrm>
        </p:spPr>
        <p:txBody>
          <a:bodyPr/>
          <a:lstStyle/>
          <a:p>
            <a:pPr algn="ctr" eaLnBrk="1" hangingPunct="1"/>
            <a:r>
              <a:rPr lang="en-US" altLang="en-US" sz="3600" b="1" u="sng" smtClean="0"/>
              <a:t>Fitness Function</a:t>
            </a:r>
            <a:r>
              <a:rPr lang="en-US" altLang="en-US" sz="3800" smtClean="0"/>
              <a:t> (contd.)</a:t>
            </a:r>
          </a:p>
        </p:txBody>
      </p:sp>
      <p:sp>
        <p:nvSpPr>
          <p:cNvPr id="60420" name="Rectangle 3"/>
          <p:cNvSpPr>
            <a:spLocks noGrp="1" noChangeArrowheads="1"/>
          </p:cNvSpPr>
          <p:nvPr>
            <p:ph type="body" idx="1"/>
          </p:nvPr>
        </p:nvSpPr>
        <p:spPr>
          <a:xfrm>
            <a:off x="457200" y="1143000"/>
            <a:ext cx="8229600" cy="4987925"/>
          </a:xfrm>
        </p:spPr>
        <p:txBody>
          <a:bodyPr/>
          <a:lstStyle/>
          <a:p>
            <a:pPr eaLnBrk="1" hangingPunct="1"/>
            <a:r>
              <a:rPr lang="en-US" altLang="en-US" sz="2400" smtClean="0"/>
              <a:t>So, for a chromosome [4 1 3 2 5 6], the total cost of travel or fitness will be calculated as shown below</a:t>
            </a:r>
          </a:p>
          <a:p>
            <a:pPr eaLnBrk="1" hangingPunct="1">
              <a:buFont typeface="Wingdings" panose="05000000000000000000" pitchFamily="2" charset="2"/>
              <a:buNone/>
            </a:pPr>
            <a:endParaRPr lang="en-US" altLang="en-US" sz="2400" smtClean="0"/>
          </a:p>
          <a:p>
            <a:pPr eaLnBrk="1" hangingPunct="1"/>
            <a:r>
              <a:rPr lang="en-US" altLang="en-US" sz="2400" smtClean="0"/>
              <a:t>Fitness </a:t>
            </a:r>
            <a:r>
              <a:rPr lang="en-US" altLang="en-US" sz="2400" i="1" smtClean="0"/>
              <a:t>  = 1407 + 1987 + 1124 + 1049 + 331+ 2095</a:t>
            </a:r>
            <a:endParaRPr lang="en-US" altLang="en-US" sz="2400" b="1" i="1" u="sng" smtClean="0"/>
          </a:p>
          <a:p>
            <a:pPr eaLnBrk="1" hangingPunct="1">
              <a:buFont typeface="Wingdings" panose="05000000000000000000" pitchFamily="2" charset="2"/>
              <a:buNone/>
            </a:pPr>
            <a:r>
              <a:rPr lang="en-US" altLang="en-US" sz="2400" smtClean="0"/>
              <a:t>		      </a:t>
            </a:r>
            <a:r>
              <a:rPr lang="en-US" altLang="en-US" sz="2400" i="1" smtClean="0"/>
              <a:t>  = 7993 kms.</a:t>
            </a:r>
          </a:p>
          <a:p>
            <a:pPr eaLnBrk="1" hangingPunct="1"/>
            <a:endParaRPr lang="en-US" altLang="en-US" sz="2400" smtClean="0"/>
          </a:p>
          <a:p>
            <a:pPr eaLnBrk="1" hangingPunct="1"/>
            <a:r>
              <a:rPr lang="en-US" altLang="en-US" sz="2400" smtClean="0"/>
              <a:t>Since our objective is to </a:t>
            </a:r>
            <a:r>
              <a:rPr lang="en-US" altLang="en-US" sz="2400" smtClean="0">
                <a:solidFill>
                  <a:schemeClr val="hlink"/>
                </a:solidFill>
              </a:rPr>
              <a:t>Minimize</a:t>
            </a:r>
            <a:r>
              <a:rPr lang="en-US" altLang="en-US" sz="2400" smtClean="0"/>
              <a:t> the distance, the lesser the total distance, the fitter the solution.</a:t>
            </a:r>
          </a:p>
        </p:txBody>
      </p:sp>
      <p:graphicFrame>
        <p:nvGraphicFramePr>
          <p:cNvPr id="60421"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60422"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D1F2FB2-628C-49A1-A4F9-96DFC62F2859}" type="slidenum">
              <a:rPr lang="en-US" altLang="en-US" sz="1200" smtClean="0">
                <a:latin typeface="Garamond" panose="02020404030301010803" pitchFamily="18" charset="0"/>
              </a:rPr>
              <a:pPr>
                <a:spcBef>
                  <a:spcPct val="0"/>
                </a:spcBef>
                <a:buClrTx/>
                <a:buSzTx/>
                <a:buFontTx/>
                <a:buNone/>
              </a:pPr>
              <a:t>52</a:t>
            </a:fld>
            <a:endParaRPr lang="en-US" altLang="en-US" sz="1200" smtClean="0">
              <a:latin typeface="Garamond" panose="02020404030301010803" pitchFamily="18" charset="0"/>
            </a:endParaRPr>
          </a:p>
        </p:txBody>
      </p:sp>
      <p:sp>
        <p:nvSpPr>
          <p:cNvPr id="61443" name="Rectangle 2"/>
          <p:cNvSpPr>
            <a:spLocks noGrp="1" noChangeArrowheads="1"/>
          </p:cNvSpPr>
          <p:nvPr>
            <p:ph type="title"/>
          </p:nvPr>
        </p:nvSpPr>
        <p:spPr>
          <a:xfrm>
            <a:off x="457200" y="277813"/>
            <a:ext cx="8229600" cy="636587"/>
          </a:xfrm>
        </p:spPr>
        <p:txBody>
          <a:bodyPr/>
          <a:lstStyle/>
          <a:p>
            <a:pPr algn="ctr" eaLnBrk="1" hangingPunct="1"/>
            <a:r>
              <a:rPr lang="en-US" altLang="en-US" sz="4000" b="1" u="sng" smtClean="0"/>
              <a:t>Selection Operator</a:t>
            </a:r>
          </a:p>
        </p:txBody>
      </p:sp>
      <p:sp>
        <p:nvSpPr>
          <p:cNvPr id="61444" name="Rectangle 3"/>
          <p:cNvSpPr>
            <a:spLocks noGrp="1" noChangeArrowheads="1"/>
          </p:cNvSpPr>
          <p:nvPr>
            <p:ph type="body" idx="1"/>
          </p:nvPr>
        </p:nvSpPr>
        <p:spPr>
          <a:xfrm>
            <a:off x="457200" y="1219200"/>
            <a:ext cx="8229600" cy="4911725"/>
          </a:xfrm>
        </p:spPr>
        <p:txBody>
          <a:bodyPr/>
          <a:lstStyle/>
          <a:p>
            <a:pPr eaLnBrk="1" hangingPunct="1">
              <a:buFont typeface="Wingdings" panose="05000000000000000000" pitchFamily="2" charset="2"/>
              <a:buNone/>
            </a:pPr>
            <a:r>
              <a:rPr lang="en-US" altLang="en-US" sz="2400" smtClean="0"/>
              <a:t>   May use </a:t>
            </a:r>
            <a:r>
              <a:rPr lang="en-US" altLang="en-US" sz="2400" b="1" i="1" smtClean="0">
                <a:solidFill>
                  <a:srgbClr val="CC3300"/>
                </a:solidFill>
              </a:rPr>
              <a:t>Tournament Selection</a:t>
            </a:r>
            <a:r>
              <a:rPr lang="en-US" altLang="en-US" sz="2400" smtClean="0"/>
              <a:t>. </a:t>
            </a:r>
          </a:p>
          <a:p>
            <a:pPr eaLnBrk="1" hangingPunct="1">
              <a:buFont typeface="Wingdings" panose="05000000000000000000" pitchFamily="2" charset="2"/>
              <a:buNone/>
            </a:pPr>
            <a:endParaRPr lang="en-US" altLang="en-US" sz="2400" smtClean="0"/>
          </a:p>
          <a:p>
            <a:pPr eaLnBrk="1" hangingPunct="1">
              <a:buFont typeface="Wingdings" panose="05000000000000000000" pitchFamily="2" charset="2"/>
              <a:buNone/>
            </a:pPr>
            <a:r>
              <a:rPr lang="en-US" altLang="en-US" sz="2400" smtClean="0"/>
              <a:t>    As the name suggests </a:t>
            </a:r>
            <a:r>
              <a:rPr lang="en-US" altLang="en-US" sz="2400" i="1" smtClean="0">
                <a:solidFill>
                  <a:srgbClr val="CC3300"/>
                </a:solidFill>
              </a:rPr>
              <a:t>tournaments</a:t>
            </a:r>
            <a:r>
              <a:rPr lang="en-US" altLang="en-US" sz="2400" smtClean="0">
                <a:solidFill>
                  <a:srgbClr val="CC3300"/>
                </a:solidFill>
              </a:rPr>
              <a:t> </a:t>
            </a:r>
            <a:r>
              <a:rPr lang="en-US" altLang="en-US" sz="2400" smtClean="0"/>
              <a:t>are played between two solutions and the better solution is chosen and placed in the </a:t>
            </a:r>
            <a:r>
              <a:rPr lang="en-US" altLang="en-US" sz="2400" i="1" smtClean="0">
                <a:solidFill>
                  <a:srgbClr val="CC3300"/>
                </a:solidFill>
              </a:rPr>
              <a:t>mating pool</a:t>
            </a:r>
            <a:r>
              <a:rPr lang="en-US" altLang="en-US" sz="2400" smtClean="0">
                <a:solidFill>
                  <a:srgbClr val="CC3300"/>
                </a:solidFill>
              </a:rPr>
              <a:t>.</a:t>
            </a:r>
            <a:r>
              <a:rPr lang="en-US" altLang="en-US" sz="2400" smtClean="0"/>
              <a:t> </a:t>
            </a:r>
          </a:p>
          <a:p>
            <a:pPr eaLnBrk="1" hangingPunct="1">
              <a:buFont typeface="Wingdings" panose="05000000000000000000" pitchFamily="2" charset="2"/>
              <a:buNone/>
            </a:pPr>
            <a:r>
              <a:rPr lang="en-US" altLang="en-US" sz="2400" smtClean="0"/>
              <a:t> </a:t>
            </a:r>
          </a:p>
          <a:p>
            <a:pPr eaLnBrk="1" hangingPunct="1">
              <a:buFont typeface="Wingdings" panose="05000000000000000000" pitchFamily="2" charset="2"/>
              <a:buNone/>
            </a:pPr>
            <a:r>
              <a:rPr lang="en-US" altLang="en-US" sz="2400" smtClean="0"/>
              <a:t>    Two other solutions are picked again and another slot in the </a:t>
            </a:r>
            <a:r>
              <a:rPr lang="en-US" altLang="en-US" sz="2400" i="1" smtClean="0">
                <a:solidFill>
                  <a:srgbClr val="CC3300"/>
                </a:solidFill>
              </a:rPr>
              <a:t>mating pool</a:t>
            </a:r>
            <a:r>
              <a:rPr lang="en-US" altLang="en-US" sz="2400" smtClean="0"/>
              <a:t> is filled up with the better solution. </a:t>
            </a:r>
          </a:p>
        </p:txBody>
      </p:sp>
      <p:graphicFrame>
        <p:nvGraphicFramePr>
          <p:cNvPr id="61445"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61446"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B29DF8AC-7C29-44B9-B100-F6062501538D}" type="slidenum">
              <a:rPr lang="en-US" altLang="en-US" sz="1200" smtClean="0">
                <a:latin typeface="Garamond" panose="02020404030301010803" pitchFamily="18" charset="0"/>
              </a:rPr>
              <a:pPr>
                <a:spcBef>
                  <a:spcPct val="0"/>
                </a:spcBef>
                <a:buClrTx/>
                <a:buSzTx/>
                <a:buFontTx/>
                <a:buNone/>
              </a:pPr>
              <a:t>53</a:t>
            </a:fld>
            <a:endParaRPr lang="en-US" altLang="en-US" sz="1200" smtClean="0">
              <a:latin typeface="Garamond" panose="02020404030301010803" pitchFamily="18" charset="0"/>
            </a:endParaRPr>
          </a:p>
        </p:txBody>
      </p:sp>
      <p:sp>
        <p:nvSpPr>
          <p:cNvPr id="62467" name="Rectangle 5"/>
          <p:cNvSpPr>
            <a:spLocks noGrp="1" noChangeArrowheads="1"/>
          </p:cNvSpPr>
          <p:nvPr>
            <p:ph type="title"/>
          </p:nvPr>
        </p:nvSpPr>
        <p:spPr/>
        <p:txBody>
          <a:bodyPr/>
          <a:lstStyle/>
          <a:p>
            <a:pPr algn="ctr" eaLnBrk="1" hangingPunct="1"/>
            <a:r>
              <a:rPr lang="en-US" altLang="en-US" sz="4000" b="1" u="sng" smtClean="0"/>
              <a:t>Tournament Selection</a:t>
            </a:r>
            <a:r>
              <a:rPr lang="en-US" altLang="en-US" smtClean="0"/>
              <a:t> (contd.)</a:t>
            </a:r>
          </a:p>
        </p:txBody>
      </p:sp>
      <p:pic>
        <p:nvPicPr>
          <p:cNvPr id="62468" name="Picture 4"/>
          <p:cNvPicPr>
            <a:picLocks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868488" y="1295400"/>
            <a:ext cx="5407025" cy="4530725"/>
          </a:xfrm>
          <a:noFill/>
        </p:spPr>
      </p:pic>
      <p:graphicFrame>
        <p:nvGraphicFramePr>
          <p:cNvPr id="62469"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62470" name="Klip" r:id="rId4" imgW="1423988" imgH="3055938" progId="MS_ClipArt_Gallery.2">
                  <p:embed/>
                </p:oleObj>
              </mc:Choice>
              <mc:Fallback>
                <p:oleObj name="Klip" r:id="rId4" imgW="1423988" imgH="3055938" progId="MS_ClipArt_Gallery.2">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Number Placeholder 7"/>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3E0A8360-1248-45B5-85DF-9E4C8F0F1476}" type="slidenum">
              <a:rPr lang="en-US" altLang="en-US" sz="1200" smtClean="0">
                <a:latin typeface="Garamond" panose="02020404030301010803" pitchFamily="18" charset="0"/>
              </a:rPr>
              <a:pPr>
                <a:spcBef>
                  <a:spcPct val="0"/>
                </a:spcBef>
                <a:buClrTx/>
                <a:buSzTx/>
                <a:buFontTx/>
                <a:buNone/>
              </a:pPr>
              <a:t>54</a:t>
            </a:fld>
            <a:endParaRPr lang="en-US" altLang="en-US" sz="1200" smtClean="0">
              <a:latin typeface="Garamond" panose="02020404030301010803" pitchFamily="18" charset="0"/>
            </a:endParaRPr>
          </a:p>
        </p:txBody>
      </p:sp>
      <p:sp>
        <p:nvSpPr>
          <p:cNvPr id="63491" name="Rectangle 2"/>
          <p:cNvSpPr>
            <a:spLocks noGrp="1" noChangeArrowheads="1"/>
          </p:cNvSpPr>
          <p:nvPr>
            <p:ph type="title"/>
          </p:nvPr>
        </p:nvSpPr>
        <p:spPr>
          <a:xfrm>
            <a:off x="457200" y="152400"/>
            <a:ext cx="8077200" cy="1246188"/>
          </a:xfrm>
        </p:spPr>
        <p:txBody>
          <a:bodyPr/>
          <a:lstStyle/>
          <a:p>
            <a:pPr algn="ctr" eaLnBrk="1" hangingPunct="1"/>
            <a:r>
              <a:rPr lang="en-US" altLang="en-US" sz="4000" b="1" u="sng" smtClean="0"/>
              <a:t>Why we cannot use single-point crossover:</a:t>
            </a:r>
            <a:r>
              <a:rPr lang="en-US" altLang="en-US" sz="5300" smtClean="0"/>
              <a:t/>
            </a:r>
            <a:br>
              <a:rPr lang="en-US" altLang="en-US" sz="5300" smtClean="0"/>
            </a:br>
            <a:endParaRPr lang="en-US" altLang="en-US" sz="3800" smtClean="0"/>
          </a:p>
        </p:txBody>
      </p:sp>
      <p:sp>
        <p:nvSpPr>
          <p:cNvPr id="63492" name="Rectangle 3"/>
          <p:cNvSpPr>
            <a:spLocks noGrp="1" noChangeArrowheads="1"/>
          </p:cNvSpPr>
          <p:nvPr>
            <p:ph type="body" sz="half" idx="1"/>
          </p:nvPr>
        </p:nvSpPr>
        <p:spPr>
          <a:xfrm>
            <a:off x="457200" y="1600200"/>
            <a:ext cx="8077200" cy="1524000"/>
          </a:xfrm>
        </p:spPr>
        <p:txBody>
          <a:bodyPr/>
          <a:lstStyle/>
          <a:p>
            <a:pPr eaLnBrk="1" hangingPunct="1"/>
            <a:r>
              <a:rPr lang="en-US" altLang="en-US" sz="2400" smtClean="0"/>
              <a:t>Single point crossover method randomly selects a crossover point in the string and swaps the substrings</a:t>
            </a:r>
            <a:r>
              <a:rPr lang="en-US" altLang="en-US" sz="2400" i="1" smtClean="0"/>
              <a:t>. </a:t>
            </a:r>
          </a:p>
          <a:p>
            <a:pPr eaLnBrk="1" hangingPunct="1"/>
            <a:r>
              <a:rPr lang="en-US" altLang="en-US" sz="2400" smtClean="0"/>
              <a:t>This may produce some </a:t>
            </a:r>
            <a:r>
              <a:rPr lang="en-US" altLang="en-US" sz="2400" smtClean="0">
                <a:solidFill>
                  <a:srgbClr val="CC3300"/>
                </a:solidFill>
              </a:rPr>
              <a:t>invalid offsprings</a:t>
            </a:r>
            <a:r>
              <a:rPr lang="en-US" altLang="en-US" sz="2400" smtClean="0"/>
              <a:t> as shown below.</a:t>
            </a:r>
          </a:p>
          <a:p>
            <a:pPr eaLnBrk="1" hangingPunct="1">
              <a:buFont typeface="Wingdings" panose="05000000000000000000" pitchFamily="2" charset="2"/>
              <a:buNone/>
            </a:pPr>
            <a:r>
              <a:rPr lang="en-US" altLang="en-US" sz="2000" smtClean="0"/>
              <a:t>  </a:t>
            </a:r>
            <a:endParaRPr lang="en-US" altLang="en-US" sz="2000" i="1" smtClean="0"/>
          </a:p>
          <a:p>
            <a:pPr eaLnBrk="1" hangingPunct="1">
              <a:buFont typeface="Wingdings" panose="05000000000000000000" pitchFamily="2" charset="2"/>
              <a:buNone/>
            </a:pPr>
            <a:endParaRPr lang="en-US" altLang="en-US" sz="2000" i="1" smtClean="0"/>
          </a:p>
        </p:txBody>
      </p:sp>
      <p:graphicFrame>
        <p:nvGraphicFramePr>
          <p:cNvPr id="186613" name="Group 245"/>
          <p:cNvGraphicFramePr>
            <a:graphicFrameLocks noGrp="1"/>
          </p:cNvGraphicFramePr>
          <p:nvPr>
            <p:ph sz="quarter" idx="2"/>
          </p:nvPr>
        </p:nvGraphicFramePr>
        <p:xfrm>
          <a:off x="1852613" y="4044950"/>
          <a:ext cx="1828800" cy="396875"/>
        </p:xfrm>
        <a:graphic>
          <a:graphicData uri="http://schemas.openxmlformats.org/drawingml/2006/table">
            <a:tbl>
              <a:tblPr/>
              <a:tblGrid>
                <a:gridCol w="296862"/>
                <a:gridCol w="296863"/>
                <a:gridCol w="344487"/>
                <a:gridCol w="296863"/>
                <a:gridCol w="296862"/>
                <a:gridCol w="296863"/>
              </a:tblGrid>
              <a:tr h="396875">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chemeClr val="tx1"/>
                          </a:solidFill>
                          <a:effectLst/>
                          <a:latin typeface="Arial" charset="0"/>
                        </a:rPr>
                        <a:t>4</a:t>
                      </a:r>
                    </a:p>
                  </a:txBody>
                  <a:tcPr marT="45793" marB="4579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chemeClr val="tx1"/>
                          </a:solidFill>
                          <a:effectLst/>
                          <a:latin typeface="Arial" charset="0"/>
                        </a:rPr>
                        <a:t>1</a:t>
                      </a: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chemeClr val="tx1"/>
                          </a:solidFill>
                          <a:effectLst/>
                          <a:latin typeface="Arial" charset="0"/>
                        </a:rPr>
                        <a:t>3</a:t>
                      </a: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chemeClr val="tx1"/>
                          </a:solidFill>
                          <a:effectLst/>
                          <a:latin typeface="Arial" charset="0"/>
                        </a:rPr>
                        <a:t>2</a:t>
                      </a: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chemeClr val="tx1"/>
                          </a:solidFill>
                          <a:effectLst/>
                          <a:latin typeface="Arial" charset="0"/>
                        </a:rPr>
                        <a:t>5</a:t>
                      </a: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chemeClr val="tx1"/>
                          </a:solidFill>
                          <a:effectLst/>
                          <a:latin typeface="Arial" charset="0"/>
                        </a:rPr>
                        <a:t>6</a:t>
                      </a:r>
                    </a:p>
                  </a:txBody>
                  <a:tcPr marT="45793" marB="4579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3509" name="Text Box 5"/>
          <p:cNvSpPr txBox="1">
            <a:spLocks noChangeArrowheads="1"/>
          </p:cNvSpPr>
          <p:nvPr/>
        </p:nvSpPr>
        <p:spPr bwMode="auto">
          <a:xfrm>
            <a:off x="1806575" y="4057650"/>
            <a:ext cx="1722438" cy="34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600"/>
              <a:t> </a:t>
            </a:r>
            <a:endParaRPr lang="en-US" altLang="en-US" sz="4000"/>
          </a:p>
        </p:txBody>
      </p:sp>
      <p:sp>
        <p:nvSpPr>
          <p:cNvPr id="63510" name="AutoShape 7"/>
          <p:cNvSpPr>
            <a:spLocks noChangeArrowheads="1"/>
          </p:cNvSpPr>
          <p:nvPr/>
        </p:nvSpPr>
        <p:spPr bwMode="auto">
          <a:xfrm>
            <a:off x="3719513" y="4486275"/>
            <a:ext cx="800100" cy="342900"/>
          </a:xfrm>
          <a:prstGeom prst="rightArrow">
            <a:avLst>
              <a:gd name="adj1" fmla="val 50000"/>
              <a:gd name="adj2" fmla="val 85556"/>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graphicFrame>
        <p:nvGraphicFramePr>
          <p:cNvPr id="186619" name="Group 251"/>
          <p:cNvGraphicFramePr>
            <a:graphicFrameLocks noGrp="1"/>
          </p:cNvGraphicFramePr>
          <p:nvPr/>
        </p:nvGraphicFramePr>
        <p:xfrm>
          <a:off x="1852613" y="4957763"/>
          <a:ext cx="1828800" cy="396875"/>
        </p:xfrm>
        <a:graphic>
          <a:graphicData uri="http://schemas.openxmlformats.org/drawingml/2006/table">
            <a:tbl>
              <a:tblPr/>
              <a:tblGrid>
                <a:gridCol w="296862"/>
                <a:gridCol w="296863"/>
                <a:gridCol w="344487"/>
                <a:gridCol w="296863"/>
                <a:gridCol w="296862"/>
                <a:gridCol w="296863"/>
              </a:tblGrid>
              <a:tr h="396875">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chemeClr val="tx1"/>
                          </a:solidFill>
                          <a:effectLst/>
                          <a:latin typeface="Arial" charset="0"/>
                        </a:rPr>
                        <a:t>4</a:t>
                      </a:r>
                    </a:p>
                  </a:txBody>
                  <a:tcPr marT="45793" marB="4579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chemeClr val="tx1"/>
                          </a:solidFill>
                          <a:effectLst/>
                          <a:latin typeface="Arial" charset="0"/>
                        </a:rPr>
                        <a:t>3</a:t>
                      </a: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chemeClr val="tx1"/>
                          </a:solidFill>
                          <a:effectLst/>
                          <a:latin typeface="Arial" charset="0"/>
                        </a:rPr>
                        <a:t>2</a:t>
                      </a: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chemeClr val="tx1"/>
                          </a:solidFill>
                          <a:effectLst/>
                          <a:latin typeface="Arial" charset="0"/>
                        </a:rPr>
                        <a:t>1</a:t>
                      </a: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chemeClr val="tx1"/>
                          </a:solidFill>
                          <a:effectLst/>
                          <a:latin typeface="Arial" charset="0"/>
                        </a:rPr>
                        <a:t>5</a:t>
                      </a: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chemeClr val="tx1"/>
                          </a:solidFill>
                          <a:effectLst/>
                          <a:latin typeface="Arial" charset="0"/>
                        </a:rPr>
                        <a:t>6</a:t>
                      </a:r>
                    </a:p>
                  </a:txBody>
                  <a:tcPr marT="45793" marB="4579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86582" name="Group 214"/>
          <p:cNvGraphicFramePr>
            <a:graphicFrameLocks noGrp="1"/>
          </p:cNvGraphicFramePr>
          <p:nvPr/>
        </p:nvGraphicFramePr>
        <p:xfrm>
          <a:off x="4748213" y="4029075"/>
          <a:ext cx="1676400" cy="396875"/>
        </p:xfrm>
        <a:graphic>
          <a:graphicData uri="http://schemas.openxmlformats.org/drawingml/2006/table">
            <a:tbl>
              <a:tblPr/>
              <a:tblGrid>
                <a:gridCol w="279400"/>
                <a:gridCol w="279400"/>
                <a:gridCol w="279400"/>
                <a:gridCol w="279400"/>
                <a:gridCol w="279400"/>
                <a:gridCol w="279400"/>
              </a:tblGrid>
              <a:tr h="396875">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chemeClr val="tx1"/>
                          </a:solidFill>
                          <a:effectLst/>
                          <a:latin typeface="Arial" charset="0"/>
                        </a:rPr>
                        <a:t>4</a:t>
                      </a:r>
                    </a:p>
                  </a:txBody>
                  <a:tcPr marT="45793" marB="4579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chemeClr val="tx1"/>
                          </a:solidFill>
                          <a:effectLst/>
                          <a:latin typeface="Arial" charset="0"/>
                        </a:rPr>
                        <a:t>1</a:t>
                      </a: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dirty="0" smtClean="0">
                          <a:ln>
                            <a:noFill/>
                          </a:ln>
                          <a:solidFill>
                            <a:schemeClr val="tx1"/>
                          </a:solidFill>
                          <a:effectLst/>
                          <a:latin typeface="Arial" charset="0"/>
                        </a:rPr>
                        <a:t>3</a:t>
                      </a: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chemeClr val="tx1"/>
                          </a:solidFill>
                          <a:effectLst/>
                          <a:latin typeface="Arial" charset="0"/>
                        </a:rPr>
                        <a:t>1</a:t>
                      </a: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chemeClr val="tx1"/>
                          </a:solidFill>
                          <a:effectLst/>
                          <a:latin typeface="Arial" charset="0"/>
                        </a:rPr>
                        <a:t>5</a:t>
                      </a: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dirty="0" smtClean="0">
                          <a:ln>
                            <a:noFill/>
                          </a:ln>
                          <a:solidFill>
                            <a:schemeClr val="tx1"/>
                          </a:solidFill>
                          <a:effectLst/>
                          <a:latin typeface="Arial" charset="0"/>
                        </a:rPr>
                        <a:t>6</a:t>
                      </a:r>
                    </a:p>
                  </a:txBody>
                  <a:tcPr marT="45793" marB="4579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86539" name="Group 171"/>
          <p:cNvGraphicFramePr>
            <a:graphicFrameLocks noGrp="1"/>
          </p:cNvGraphicFramePr>
          <p:nvPr/>
        </p:nvGraphicFramePr>
        <p:xfrm>
          <a:off x="4748213" y="4957763"/>
          <a:ext cx="1676400" cy="396875"/>
        </p:xfrm>
        <a:graphic>
          <a:graphicData uri="http://schemas.openxmlformats.org/drawingml/2006/table">
            <a:tbl>
              <a:tblPr/>
              <a:tblGrid>
                <a:gridCol w="279400"/>
                <a:gridCol w="279400"/>
                <a:gridCol w="279400"/>
                <a:gridCol w="279400"/>
                <a:gridCol w="279400"/>
                <a:gridCol w="279400"/>
              </a:tblGrid>
              <a:tr h="396875">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chemeClr val="tx1"/>
                          </a:solidFill>
                          <a:effectLst/>
                          <a:latin typeface="Arial" charset="0"/>
                        </a:rPr>
                        <a:t>4</a:t>
                      </a:r>
                    </a:p>
                  </a:txBody>
                  <a:tcPr marT="45793" marB="45793"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chemeClr val="tx1"/>
                          </a:solidFill>
                          <a:effectLst/>
                          <a:latin typeface="Arial" charset="0"/>
                        </a:rPr>
                        <a:t>3</a:t>
                      </a: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chemeClr val="tx1"/>
                          </a:solidFill>
                          <a:effectLst/>
                          <a:latin typeface="Arial" charset="0"/>
                        </a:rPr>
                        <a:t>2</a:t>
                      </a: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chemeClr val="tx1"/>
                          </a:solidFill>
                          <a:effectLst/>
                          <a:latin typeface="Arial" charset="0"/>
                        </a:rPr>
                        <a:t>2</a:t>
                      </a: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chemeClr val="tx1"/>
                          </a:solidFill>
                          <a:effectLst/>
                          <a:latin typeface="Arial" charset="0"/>
                        </a:rPr>
                        <a:t>5</a:t>
                      </a:r>
                    </a:p>
                  </a:txBody>
                  <a:tcPr marT="45793" marB="4579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accent1"/>
                        </a:buClr>
                        <a:buSzPct val="65000"/>
                        <a:buFont typeface="Wingdings" pitchFamily="2" charset="2"/>
                        <a:buNone/>
                        <a:tabLst/>
                      </a:pPr>
                      <a:r>
                        <a:rPr kumimoji="0" lang="en-US" sz="2000" b="0" i="0" u="none" strike="noStrike" cap="none" normalizeH="0" baseline="0" smtClean="0">
                          <a:ln>
                            <a:noFill/>
                          </a:ln>
                          <a:solidFill>
                            <a:schemeClr val="tx1"/>
                          </a:solidFill>
                          <a:effectLst/>
                          <a:latin typeface="Arial" charset="0"/>
                        </a:rPr>
                        <a:t>6</a:t>
                      </a:r>
                    </a:p>
                  </a:txBody>
                  <a:tcPr marT="45793" marB="4579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3559" name="Line 189"/>
          <p:cNvSpPr>
            <a:spLocks noChangeShapeType="1"/>
          </p:cNvSpPr>
          <p:nvPr/>
        </p:nvSpPr>
        <p:spPr bwMode="auto">
          <a:xfrm>
            <a:off x="5186363" y="3657600"/>
            <a:ext cx="0" cy="228600"/>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3560" name="Line 208"/>
          <p:cNvSpPr>
            <a:spLocks noChangeShapeType="1"/>
          </p:cNvSpPr>
          <p:nvPr/>
        </p:nvSpPr>
        <p:spPr bwMode="auto">
          <a:xfrm>
            <a:off x="5738813" y="3667125"/>
            <a:ext cx="0" cy="228600"/>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3561" name="Line 209"/>
          <p:cNvSpPr>
            <a:spLocks noChangeShapeType="1"/>
          </p:cNvSpPr>
          <p:nvPr/>
        </p:nvSpPr>
        <p:spPr bwMode="auto">
          <a:xfrm>
            <a:off x="5715000" y="4652963"/>
            <a:ext cx="0" cy="228600"/>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3562" name="Line 210"/>
          <p:cNvSpPr>
            <a:spLocks noChangeShapeType="1"/>
          </p:cNvSpPr>
          <p:nvPr/>
        </p:nvSpPr>
        <p:spPr bwMode="auto">
          <a:xfrm>
            <a:off x="5434013" y="4652963"/>
            <a:ext cx="0" cy="228600"/>
          </a:xfrm>
          <a:prstGeom prst="line">
            <a:avLst/>
          </a:prstGeom>
          <a:noFill/>
          <a:ln w="2857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3563" name="Line 249"/>
          <p:cNvSpPr>
            <a:spLocks noChangeShapeType="1"/>
          </p:cNvSpPr>
          <p:nvPr/>
        </p:nvSpPr>
        <p:spPr bwMode="auto">
          <a:xfrm>
            <a:off x="2776538" y="3890963"/>
            <a:ext cx="0" cy="6858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64" name="Line 250"/>
          <p:cNvSpPr>
            <a:spLocks noChangeShapeType="1"/>
          </p:cNvSpPr>
          <p:nvPr/>
        </p:nvSpPr>
        <p:spPr bwMode="auto">
          <a:xfrm>
            <a:off x="2776538" y="4819650"/>
            <a:ext cx="0" cy="6858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65" name="Line 252"/>
          <p:cNvSpPr>
            <a:spLocks noChangeShapeType="1"/>
          </p:cNvSpPr>
          <p:nvPr/>
        </p:nvSpPr>
        <p:spPr bwMode="auto">
          <a:xfrm>
            <a:off x="5586413" y="3857625"/>
            <a:ext cx="0" cy="6858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3566" name="Line 253"/>
          <p:cNvSpPr>
            <a:spLocks noChangeShapeType="1"/>
          </p:cNvSpPr>
          <p:nvPr/>
        </p:nvSpPr>
        <p:spPr bwMode="auto">
          <a:xfrm>
            <a:off x="5586413" y="4805363"/>
            <a:ext cx="0" cy="68580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aphicFrame>
        <p:nvGraphicFramePr>
          <p:cNvPr id="63567"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63568"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17DA7316-D433-465A-A882-98D382477351}" type="slidenum">
              <a:rPr lang="en-US" altLang="en-US" sz="1200" smtClean="0">
                <a:latin typeface="Garamond" panose="02020404030301010803" pitchFamily="18" charset="0"/>
              </a:rPr>
              <a:pPr>
                <a:spcBef>
                  <a:spcPct val="0"/>
                </a:spcBef>
                <a:buClrTx/>
                <a:buSzTx/>
                <a:buFontTx/>
                <a:buNone/>
              </a:pPr>
              <a:t>55</a:t>
            </a:fld>
            <a:endParaRPr lang="en-US" altLang="en-US" sz="1200" smtClean="0">
              <a:latin typeface="Garamond" panose="02020404030301010803" pitchFamily="18" charset="0"/>
            </a:endParaRPr>
          </a:p>
        </p:txBody>
      </p:sp>
      <p:sp>
        <p:nvSpPr>
          <p:cNvPr id="64515" name="Rectangle 2"/>
          <p:cNvSpPr>
            <a:spLocks noGrp="1" noChangeArrowheads="1"/>
          </p:cNvSpPr>
          <p:nvPr>
            <p:ph type="title"/>
          </p:nvPr>
        </p:nvSpPr>
        <p:spPr>
          <a:xfrm>
            <a:off x="381000" y="152400"/>
            <a:ext cx="8153400" cy="788988"/>
          </a:xfrm>
        </p:spPr>
        <p:txBody>
          <a:bodyPr/>
          <a:lstStyle/>
          <a:p>
            <a:pPr algn="ctr" eaLnBrk="1" hangingPunct="1"/>
            <a:r>
              <a:rPr lang="en-US" altLang="en-US" sz="4000" b="1" u="sng" smtClean="0"/>
              <a:t>Crossover Operator</a:t>
            </a:r>
            <a:r>
              <a:rPr lang="en-US" altLang="en-US" sz="3800" smtClean="0"/>
              <a:t/>
            </a:r>
            <a:br>
              <a:rPr lang="en-US" altLang="en-US" sz="3800" smtClean="0"/>
            </a:br>
            <a:endParaRPr lang="en-US" altLang="en-US" sz="3800" smtClean="0"/>
          </a:p>
        </p:txBody>
      </p:sp>
      <p:sp>
        <p:nvSpPr>
          <p:cNvPr id="64516" name="Rectangle 3"/>
          <p:cNvSpPr>
            <a:spLocks noGrp="1" noChangeArrowheads="1"/>
          </p:cNvSpPr>
          <p:nvPr>
            <p:ph type="body" idx="1"/>
          </p:nvPr>
        </p:nvSpPr>
        <p:spPr>
          <a:xfrm>
            <a:off x="457200" y="1295400"/>
            <a:ext cx="8229600" cy="4572000"/>
          </a:xfrm>
        </p:spPr>
        <p:txBody>
          <a:bodyPr/>
          <a:lstStyle/>
          <a:p>
            <a:pPr eaLnBrk="1" hangingPunct="1">
              <a:lnSpc>
                <a:spcPct val="90000"/>
              </a:lnSpc>
            </a:pPr>
            <a:r>
              <a:rPr lang="en-US" altLang="en-US" sz="2400" smtClean="0"/>
              <a:t>Used the </a:t>
            </a:r>
            <a:r>
              <a:rPr lang="en-US" altLang="en-US" sz="2400" i="1" smtClean="0">
                <a:solidFill>
                  <a:srgbClr val="CC3300"/>
                </a:solidFill>
              </a:rPr>
              <a:t>Enhanced Edge Recombination</a:t>
            </a:r>
            <a:r>
              <a:rPr lang="en-US" altLang="en-US" sz="2400" smtClean="0">
                <a:solidFill>
                  <a:schemeClr val="accent1"/>
                </a:solidFill>
              </a:rPr>
              <a:t> </a:t>
            </a:r>
            <a:r>
              <a:rPr lang="en-US" altLang="en-US" sz="2400" smtClean="0"/>
              <a:t>operator (T.Starkweather, et al,  </a:t>
            </a:r>
            <a:r>
              <a:rPr lang="en-US" altLang="en-US" sz="2400" i="1" smtClean="0"/>
              <a:t>'A Comparison of Genetic Sequencing</a:t>
            </a:r>
            <a:r>
              <a:rPr lang="en-US" altLang="en-US" sz="2400" smtClean="0"/>
              <a:t> O</a:t>
            </a:r>
            <a:r>
              <a:rPr lang="en-US" altLang="en-US" sz="2400" i="1" smtClean="0"/>
              <a:t>perators,</a:t>
            </a:r>
            <a:r>
              <a:rPr lang="en-US" altLang="en-US" sz="2400" smtClean="0"/>
              <a:t> International Conference of GAs, 1991).</a:t>
            </a:r>
          </a:p>
          <a:p>
            <a:pPr eaLnBrk="1" hangingPunct="1">
              <a:lnSpc>
                <a:spcPct val="90000"/>
              </a:lnSpc>
              <a:buFont typeface="Wingdings" panose="05000000000000000000" pitchFamily="2" charset="2"/>
              <a:buNone/>
            </a:pPr>
            <a:endParaRPr lang="en-US" altLang="en-US" sz="2400" smtClean="0"/>
          </a:p>
          <a:p>
            <a:pPr eaLnBrk="1" hangingPunct="1">
              <a:lnSpc>
                <a:spcPct val="90000"/>
              </a:lnSpc>
            </a:pPr>
            <a:r>
              <a:rPr lang="en-US" altLang="en-US" sz="2400" smtClean="0"/>
              <a:t>This operator is different from other genetic sequencing operators in that it emphasizes </a:t>
            </a:r>
            <a:r>
              <a:rPr lang="en-US" altLang="en-US" sz="2400" i="1" smtClean="0">
                <a:solidFill>
                  <a:srgbClr val="CC3300"/>
                </a:solidFill>
              </a:rPr>
              <a:t>adjacency information</a:t>
            </a:r>
            <a:r>
              <a:rPr lang="en-US" altLang="en-US" sz="2400" smtClean="0"/>
              <a:t> instead of the order or position of items in the sequence. </a:t>
            </a:r>
          </a:p>
          <a:p>
            <a:pPr eaLnBrk="1" hangingPunct="1">
              <a:lnSpc>
                <a:spcPct val="90000"/>
              </a:lnSpc>
            </a:pPr>
            <a:endParaRPr lang="en-US" altLang="en-US" sz="2400" smtClean="0"/>
          </a:p>
          <a:p>
            <a:pPr eaLnBrk="1" hangingPunct="1">
              <a:lnSpc>
                <a:spcPct val="90000"/>
              </a:lnSpc>
            </a:pPr>
            <a:r>
              <a:rPr lang="en-US" altLang="en-US" sz="2400" smtClean="0"/>
              <a:t>The algorithm for the Edge-Recombination Operator involves constructing an Edge Table first.</a:t>
            </a:r>
          </a:p>
          <a:p>
            <a:pPr eaLnBrk="1" hangingPunct="1">
              <a:lnSpc>
                <a:spcPct val="90000"/>
              </a:lnSpc>
            </a:pPr>
            <a:endParaRPr lang="en-US" altLang="en-US" sz="2400" smtClean="0"/>
          </a:p>
          <a:p>
            <a:pPr eaLnBrk="1" hangingPunct="1">
              <a:lnSpc>
                <a:spcPct val="90000"/>
              </a:lnSpc>
            </a:pPr>
            <a:endParaRPr lang="en-US" altLang="en-US" sz="3300" smtClean="0"/>
          </a:p>
        </p:txBody>
      </p:sp>
      <p:graphicFrame>
        <p:nvGraphicFramePr>
          <p:cNvPr id="64517"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64518"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A1DD3C56-8D93-4642-BDCD-33C9D208C8D9}" type="slidenum">
              <a:rPr lang="en-US" altLang="en-US" sz="1200" smtClean="0">
                <a:latin typeface="Garamond" panose="02020404030301010803" pitchFamily="18" charset="0"/>
              </a:rPr>
              <a:pPr>
                <a:spcBef>
                  <a:spcPct val="0"/>
                </a:spcBef>
                <a:buClrTx/>
                <a:buSzTx/>
                <a:buFontTx/>
                <a:buNone/>
              </a:pPr>
              <a:t>56</a:t>
            </a:fld>
            <a:endParaRPr lang="en-US" altLang="en-US" sz="1200" smtClean="0">
              <a:latin typeface="Garamond" panose="02020404030301010803" pitchFamily="18" charset="0"/>
            </a:endParaRPr>
          </a:p>
        </p:txBody>
      </p:sp>
      <p:sp>
        <p:nvSpPr>
          <p:cNvPr id="65539" name="Rectangle 2"/>
          <p:cNvSpPr>
            <a:spLocks noGrp="1" noChangeArrowheads="1"/>
          </p:cNvSpPr>
          <p:nvPr>
            <p:ph type="title"/>
          </p:nvPr>
        </p:nvSpPr>
        <p:spPr>
          <a:xfrm>
            <a:off x="457200" y="430213"/>
            <a:ext cx="8229600" cy="865187"/>
          </a:xfrm>
        </p:spPr>
        <p:txBody>
          <a:bodyPr/>
          <a:lstStyle/>
          <a:p>
            <a:pPr algn="ctr" eaLnBrk="1" hangingPunct="1"/>
            <a:r>
              <a:rPr lang="en-US" altLang="en-US" sz="4000" b="1" u="sng" smtClean="0"/>
              <a:t>Edge Table</a:t>
            </a:r>
          </a:p>
        </p:txBody>
      </p:sp>
      <p:sp>
        <p:nvSpPr>
          <p:cNvPr id="65540" name="Rectangle 3"/>
          <p:cNvSpPr>
            <a:spLocks noGrp="1" noChangeArrowheads="1"/>
          </p:cNvSpPr>
          <p:nvPr>
            <p:ph type="body" idx="1"/>
          </p:nvPr>
        </p:nvSpPr>
        <p:spPr>
          <a:xfrm>
            <a:off x="304800" y="1676400"/>
            <a:ext cx="8534400" cy="4800600"/>
          </a:xfrm>
        </p:spPr>
        <p:txBody>
          <a:bodyPr/>
          <a:lstStyle/>
          <a:p>
            <a:pPr algn="just" eaLnBrk="1" hangingPunct="1">
              <a:buFont typeface="Wingdings" panose="05000000000000000000" pitchFamily="2" charset="2"/>
              <a:buNone/>
            </a:pPr>
            <a:r>
              <a:rPr lang="en-US" altLang="en-US" sz="2400" smtClean="0"/>
              <a:t>   The </a:t>
            </a:r>
            <a:r>
              <a:rPr lang="en-US" altLang="en-US" sz="2400" i="1" smtClean="0">
                <a:solidFill>
                  <a:srgbClr val="CC3300"/>
                </a:solidFill>
              </a:rPr>
              <a:t>Edge Table</a:t>
            </a:r>
            <a:r>
              <a:rPr lang="en-US" altLang="en-US" sz="2400" smtClean="0"/>
              <a:t> is an </a:t>
            </a:r>
            <a:r>
              <a:rPr lang="en-US" altLang="en-US" sz="2400" i="1" smtClean="0"/>
              <a:t>adjacency table</a:t>
            </a:r>
            <a:r>
              <a:rPr lang="en-US" altLang="en-US" sz="2400" smtClean="0"/>
              <a:t> that lists links </a:t>
            </a:r>
            <a:r>
              <a:rPr lang="en-US" altLang="en-US" sz="2400" i="1" smtClean="0">
                <a:solidFill>
                  <a:srgbClr val="CC3300"/>
                </a:solidFill>
              </a:rPr>
              <a:t>into</a:t>
            </a:r>
            <a:r>
              <a:rPr lang="en-US" altLang="en-US" sz="2400" smtClean="0">
                <a:solidFill>
                  <a:srgbClr val="CC3300"/>
                </a:solidFill>
              </a:rPr>
              <a:t> </a:t>
            </a:r>
            <a:r>
              <a:rPr lang="en-US" altLang="en-US" sz="2400" smtClean="0"/>
              <a:t>and </a:t>
            </a:r>
            <a:r>
              <a:rPr lang="en-US" altLang="en-US" sz="2400" i="1" smtClean="0">
                <a:solidFill>
                  <a:srgbClr val="CC3300"/>
                </a:solidFill>
              </a:rPr>
              <a:t>out of</a:t>
            </a:r>
            <a:r>
              <a:rPr lang="en-US" altLang="en-US" sz="2400" smtClean="0"/>
              <a:t> a city found in the two parent sequences.</a:t>
            </a:r>
          </a:p>
          <a:p>
            <a:pPr algn="just" eaLnBrk="1" hangingPunct="1">
              <a:buFont typeface="Wingdings" panose="05000000000000000000" pitchFamily="2" charset="2"/>
              <a:buNone/>
            </a:pPr>
            <a:endParaRPr lang="en-US" altLang="en-US" sz="2400" smtClean="0"/>
          </a:p>
          <a:p>
            <a:pPr algn="just" eaLnBrk="1" hangingPunct="1">
              <a:buFont typeface="Wingdings" panose="05000000000000000000" pitchFamily="2" charset="2"/>
              <a:buNone/>
            </a:pPr>
            <a:r>
              <a:rPr lang="en-US" altLang="en-US" sz="2400" smtClean="0"/>
              <a:t>    If an item is already in the edge table and we are trying to insert it again, that element of a sequence must be a </a:t>
            </a:r>
            <a:r>
              <a:rPr lang="en-US" altLang="en-US" sz="2400" i="1" smtClean="0">
                <a:solidFill>
                  <a:srgbClr val="CC3300"/>
                </a:solidFill>
              </a:rPr>
              <a:t>common edge</a:t>
            </a:r>
            <a:r>
              <a:rPr lang="en-US" altLang="en-US" sz="2400" i="1" smtClean="0"/>
              <a:t> </a:t>
            </a:r>
            <a:r>
              <a:rPr lang="en-US" altLang="en-US" sz="2400" smtClean="0"/>
              <a:t>and is represented by inverting it's sign. </a:t>
            </a:r>
          </a:p>
        </p:txBody>
      </p:sp>
      <p:graphicFrame>
        <p:nvGraphicFramePr>
          <p:cNvPr id="65541"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65542"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67C1884-EA94-46FE-B5AC-A79895915521}" type="slidenum">
              <a:rPr lang="en-US" altLang="en-US" sz="1200" smtClean="0">
                <a:latin typeface="Garamond" panose="02020404030301010803" pitchFamily="18" charset="0"/>
              </a:rPr>
              <a:pPr>
                <a:spcBef>
                  <a:spcPct val="0"/>
                </a:spcBef>
                <a:buClrTx/>
                <a:buSzTx/>
                <a:buFontTx/>
                <a:buNone/>
              </a:pPr>
              <a:t>57</a:t>
            </a:fld>
            <a:endParaRPr lang="en-US" altLang="en-US" sz="1200" smtClean="0">
              <a:latin typeface="Garamond" panose="02020404030301010803" pitchFamily="18" charset="0"/>
            </a:endParaRPr>
          </a:p>
        </p:txBody>
      </p:sp>
      <p:sp>
        <p:nvSpPr>
          <p:cNvPr id="66563" name="Rectangle 193"/>
          <p:cNvSpPr>
            <a:spLocks noGrp="1" noChangeArrowheads="1"/>
          </p:cNvSpPr>
          <p:nvPr>
            <p:ph type="title"/>
          </p:nvPr>
        </p:nvSpPr>
        <p:spPr>
          <a:xfrm>
            <a:off x="457200" y="277813"/>
            <a:ext cx="8229600" cy="865187"/>
          </a:xfrm>
        </p:spPr>
        <p:txBody>
          <a:bodyPr/>
          <a:lstStyle/>
          <a:p>
            <a:pPr algn="ctr" eaLnBrk="1" hangingPunct="1"/>
            <a:r>
              <a:rPr lang="en-US" altLang="en-US" sz="4000" b="1" u="sng" smtClean="0"/>
              <a:t>Finding The Edge Table</a:t>
            </a:r>
          </a:p>
        </p:txBody>
      </p:sp>
      <p:sp>
        <p:nvSpPr>
          <p:cNvPr id="66564" name="Rectangle 9"/>
          <p:cNvSpPr>
            <a:spLocks noChangeArrowheads="1"/>
          </p:cNvSpPr>
          <p:nvPr/>
        </p:nvSpPr>
        <p:spPr bwMode="auto">
          <a:xfrm>
            <a:off x="0" y="30194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graphicFrame>
        <p:nvGraphicFramePr>
          <p:cNvPr id="66565" name="Object 8"/>
          <p:cNvGraphicFramePr>
            <a:graphicFrameLocks noChangeAspect="1"/>
          </p:cNvGraphicFramePr>
          <p:nvPr/>
        </p:nvGraphicFramePr>
        <p:xfrm>
          <a:off x="2619375" y="1371600"/>
          <a:ext cx="3324225" cy="1143000"/>
        </p:xfrm>
        <a:graphic>
          <a:graphicData uri="http://schemas.openxmlformats.org/presentationml/2006/ole">
            <mc:AlternateContent xmlns:mc="http://schemas.openxmlformats.org/markup-compatibility/2006">
              <mc:Choice xmlns:v="urn:schemas-microsoft-com:vml" Requires="v">
                <p:oleObj spid="_x0000_s66606" name="Picture" r:id="rId4" imgW="2409825" imgH="819150" progId="Word.Picture.8">
                  <p:embed/>
                </p:oleObj>
              </mc:Choice>
              <mc:Fallback>
                <p:oleObj name="Picture" r:id="rId4" imgW="2409825" imgH="819150" progId="Word.Picture.8">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19375" y="1371600"/>
                        <a:ext cx="3324225"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6566" name="Rectangle 67"/>
          <p:cNvSpPr>
            <a:spLocks noChangeArrowheads="1"/>
          </p:cNvSpPr>
          <p:nvPr/>
        </p:nvSpPr>
        <p:spPr bwMode="auto">
          <a:xfrm>
            <a:off x="3749675" y="5235575"/>
            <a:ext cx="164465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600">
                <a:ea typeface="Times New Roman" panose="02020603050405020304" pitchFamily="18" charset="0"/>
                <a:cs typeface="Arial" panose="020B0604020202020204" pitchFamily="34" charset="0"/>
              </a:rPr>
              <a:t>-4</a:t>
            </a:r>
            <a:endParaRPr lang="en-US" altLang="en-US" sz="1600" b="0">
              <a:ea typeface="Times New Roman" panose="02020603050405020304" pitchFamily="18" charset="0"/>
              <a:cs typeface="Arial" panose="020B0604020202020204" pitchFamily="34" charset="0"/>
            </a:endParaRPr>
          </a:p>
        </p:txBody>
      </p:sp>
      <p:sp>
        <p:nvSpPr>
          <p:cNvPr id="66567" name="Rectangle 66"/>
          <p:cNvSpPr>
            <a:spLocks noChangeArrowheads="1"/>
          </p:cNvSpPr>
          <p:nvPr/>
        </p:nvSpPr>
        <p:spPr bwMode="auto">
          <a:xfrm>
            <a:off x="2103438" y="5235575"/>
            <a:ext cx="1646237"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600">
                <a:ea typeface="Times New Roman" panose="02020603050405020304" pitchFamily="18" charset="0"/>
                <a:cs typeface="Arial" panose="020B0604020202020204" pitchFamily="34" charset="0"/>
              </a:rPr>
              <a:t>-5</a:t>
            </a:r>
            <a:endParaRPr lang="en-US" altLang="en-US" sz="1600" b="0">
              <a:ea typeface="Times New Roman" panose="02020603050405020304" pitchFamily="18" charset="0"/>
              <a:cs typeface="Arial" panose="020B0604020202020204" pitchFamily="34" charset="0"/>
            </a:endParaRPr>
          </a:p>
        </p:txBody>
      </p:sp>
      <p:sp>
        <p:nvSpPr>
          <p:cNvPr id="66568" name="Rectangle 65"/>
          <p:cNvSpPr>
            <a:spLocks noChangeArrowheads="1"/>
          </p:cNvSpPr>
          <p:nvPr/>
        </p:nvSpPr>
        <p:spPr bwMode="auto">
          <a:xfrm>
            <a:off x="457200" y="5235575"/>
            <a:ext cx="1646238" cy="438150"/>
          </a:xfrm>
          <a:prstGeom prst="rect">
            <a:avLst/>
          </a:prstGeom>
          <a:solidFill>
            <a:srgbClr val="DDDDDD"/>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600">
                <a:ea typeface="Times New Roman" panose="02020603050405020304" pitchFamily="18" charset="0"/>
                <a:cs typeface="Arial" panose="020B0604020202020204" pitchFamily="34" charset="0"/>
              </a:rPr>
              <a:t>6</a:t>
            </a:r>
            <a:endParaRPr lang="en-US" altLang="en-US" sz="1600" b="0">
              <a:ea typeface="Times New Roman" panose="02020603050405020304" pitchFamily="18" charset="0"/>
              <a:cs typeface="Arial" panose="020B0604020202020204" pitchFamily="34" charset="0"/>
            </a:endParaRPr>
          </a:p>
        </p:txBody>
      </p:sp>
      <p:sp>
        <p:nvSpPr>
          <p:cNvPr id="66569" name="Rectangle 63"/>
          <p:cNvSpPr>
            <a:spLocks noChangeArrowheads="1"/>
          </p:cNvSpPr>
          <p:nvPr/>
        </p:nvSpPr>
        <p:spPr bwMode="auto">
          <a:xfrm>
            <a:off x="5394325" y="4797425"/>
            <a:ext cx="1646238"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600">
                <a:ea typeface="Times New Roman" panose="02020603050405020304" pitchFamily="18" charset="0"/>
                <a:cs typeface="Arial" panose="020B0604020202020204" pitchFamily="34" charset="0"/>
              </a:rPr>
              <a:t>-6</a:t>
            </a:r>
            <a:endParaRPr lang="en-US" altLang="en-US" sz="1600" b="0">
              <a:ea typeface="Times New Roman" panose="02020603050405020304" pitchFamily="18" charset="0"/>
              <a:cs typeface="Arial" panose="020B0604020202020204" pitchFamily="34" charset="0"/>
            </a:endParaRPr>
          </a:p>
        </p:txBody>
      </p:sp>
      <p:sp>
        <p:nvSpPr>
          <p:cNvPr id="66570" name="Rectangle 62"/>
          <p:cNvSpPr>
            <a:spLocks noChangeArrowheads="1"/>
          </p:cNvSpPr>
          <p:nvPr/>
        </p:nvSpPr>
        <p:spPr bwMode="auto">
          <a:xfrm>
            <a:off x="3749675" y="4797425"/>
            <a:ext cx="164465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600">
                <a:ea typeface="Times New Roman" panose="02020603050405020304" pitchFamily="18" charset="0"/>
                <a:cs typeface="Arial" panose="020B0604020202020204" pitchFamily="34" charset="0"/>
              </a:rPr>
              <a:t>2</a:t>
            </a:r>
            <a:endParaRPr lang="en-US" altLang="en-US" sz="1600" b="0">
              <a:ea typeface="Times New Roman" panose="02020603050405020304" pitchFamily="18" charset="0"/>
              <a:cs typeface="Arial" panose="020B0604020202020204" pitchFamily="34" charset="0"/>
            </a:endParaRPr>
          </a:p>
        </p:txBody>
      </p:sp>
      <p:sp>
        <p:nvSpPr>
          <p:cNvPr id="66571" name="Rectangle 61"/>
          <p:cNvSpPr>
            <a:spLocks noChangeArrowheads="1"/>
          </p:cNvSpPr>
          <p:nvPr/>
        </p:nvSpPr>
        <p:spPr bwMode="auto">
          <a:xfrm>
            <a:off x="2103438" y="4797425"/>
            <a:ext cx="1646237"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600">
                <a:ea typeface="Times New Roman" panose="02020603050405020304" pitchFamily="18" charset="0"/>
                <a:cs typeface="Arial" panose="020B0604020202020204" pitchFamily="34" charset="0"/>
              </a:rPr>
              <a:t>1</a:t>
            </a:r>
            <a:endParaRPr lang="en-US" altLang="en-US" sz="1600" b="0">
              <a:ea typeface="Times New Roman" panose="02020603050405020304" pitchFamily="18" charset="0"/>
              <a:cs typeface="Arial" panose="020B0604020202020204" pitchFamily="34" charset="0"/>
            </a:endParaRPr>
          </a:p>
        </p:txBody>
      </p:sp>
      <p:sp>
        <p:nvSpPr>
          <p:cNvPr id="66572" name="Rectangle 60"/>
          <p:cNvSpPr>
            <a:spLocks noChangeArrowheads="1"/>
          </p:cNvSpPr>
          <p:nvPr/>
        </p:nvSpPr>
        <p:spPr bwMode="auto">
          <a:xfrm>
            <a:off x="457200" y="4797425"/>
            <a:ext cx="1646238" cy="438150"/>
          </a:xfrm>
          <a:prstGeom prst="rect">
            <a:avLst/>
          </a:prstGeom>
          <a:solidFill>
            <a:srgbClr val="DDDDDD"/>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600">
                <a:ea typeface="Times New Roman" panose="02020603050405020304" pitchFamily="18" charset="0"/>
                <a:cs typeface="Arial" panose="020B0604020202020204" pitchFamily="34" charset="0"/>
              </a:rPr>
              <a:t>5</a:t>
            </a:r>
            <a:endParaRPr lang="en-US" altLang="en-US" sz="1600" b="0">
              <a:ea typeface="Times New Roman" panose="02020603050405020304" pitchFamily="18" charset="0"/>
              <a:cs typeface="Arial" panose="020B0604020202020204" pitchFamily="34" charset="0"/>
            </a:endParaRPr>
          </a:p>
        </p:txBody>
      </p:sp>
      <p:sp>
        <p:nvSpPr>
          <p:cNvPr id="66573" name="Rectangle 58"/>
          <p:cNvSpPr>
            <a:spLocks noChangeArrowheads="1"/>
          </p:cNvSpPr>
          <p:nvPr/>
        </p:nvSpPr>
        <p:spPr bwMode="auto">
          <a:xfrm>
            <a:off x="5394325" y="4359275"/>
            <a:ext cx="1646238"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600">
                <a:ea typeface="Times New Roman" panose="02020603050405020304" pitchFamily="18" charset="0"/>
                <a:cs typeface="Arial" panose="020B0604020202020204" pitchFamily="34" charset="0"/>
              </a:rPr>
              <a:t>3</a:t>
            </a:r>
            <a:endParaRPr lang="en-US" altLang="en-US" sz="1600" b="0">
              <a:ea typeface="Times New Roman" panose="02020603050405020304" pitchFamily="18" charset="0"/>
              <a:cs typeface="Arial" panose="020B0604020202020204" pitchFamily="34" charset="0"/>
            </a:endParaRPr>
          </a:p>
        </p:txBody>
      </p:sp>
      <p:sp>
        <p:nvSpPr>
          <p:cNvPr id="66574" name="Rectangle 57"/>
          <p:cNvSpPr>
            <a:spLocks noChangeArrowheads="1"/>
          </p:cNvSpPr>
          <p:nvPr/>
        </p:nvSpPr>
        <p:spPr bwMode="auto">
          <a:xfrm>
            <a:off x="3749675" y="4359275"/>
            <a:ext cx="164465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600">
                <a:ea typeface="Times New Roman" panose="02020603050405020304" pitchFamily="18" charset="0"/>
                <a:cs typeface="Arial" panose="020B0604020202020204" pitchFamily="34" charset="0"/>
              </a:rPr>
              <a:t>1</a:t>
            </a:r>
            <a:endParaRPr lang="en-US" altLang="en-US" sz="1600" b="0">
              <a:ea typeface="Times New Roman" panose="02020603050405020304" pitchFamily="18" charset="0"/>
              <a:cs typeface="Arial" panose="020B0604020202020204" pitchFamily="34" charset="0"/>
            </a:endParaRPr>
          </a:p>
        </p:txBody>
      </p:sp>
      <p:sp>
        <p:nvSpPr>
          <p:cNvPr id="66575" name="Rectangle 56"/>
          <p:cNvSpPr>
            <a:spLocks noChangeArrowheads="1"/>
          </p:cNvSpPr>
          <p:nvPr/>
        </p:nvSpPr>
        <p:spPr bwMode="auto">
          <a:xfrm>
            <a:off x="2103438" y="4359275"/>
            <a:ext cx="1646237"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600">
                <a:ea typeface="Times New Roman" panose="02020603050405020304" pitchFamily="18" charset="0"/>
                <a:cs typeface="Arial" panose="020B0604020202020204" pitchFamily="34" charset="0"/>
              </a:rPr>
              <a:t>-6</a:t>
            </a:r>
            <a:endParaRPr lang="en-US" altLang="en-US" sz="1600" b="0">
              <a:ea typeface="Times New Roman" panose="02020603050405020304" pitchFamily="18" charset="0"/>
              <a:cs typeface="Arial" panose="020B0604020202020204" pitchFamily="34" charset="0"/>
            </a:endParaRPr>
          </a:p>
        </p:txBody>
      </p:sp>
      <p:sp>
        <p:nvSpPr>
          <p:cNvPr id="66576" name="Rectangle 55"/>
          <p:cNvSpPr>
            <a:spLocks noChangeArrowheads="1"/>
          </p:cNvSpPr>
          <p:nvPr/>
        </p:nvSpPr>
        <p:spPr bwMode="auto">
          <a:xfrm>
            <a:off x="457200" y="4359275"/>
            <a:ext cx="1646238" cy="438150"/>
          </a:xfrm>
          <a:prstGeom prst="rect">
            <a:avLst/>
          </a:prstGeom>
          <a:solidFill>
            <a:srgbClr val="DDDDDD"/>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600">
                <a:ea typeface="Times New Roman" panose="02020603050405020304" pitchFamily="18" charset="0"/>
                <a:cs typeface="Arial" panose="020B0604020202020204" pitchFamily="34" charset="0"/>
              </a:rPr>
              <a:t>4</a:t>
            </a:r>
            <a:endParaRPr lang="en-US" altLang="en-US" sz="1600" b="0">
              <a:ea typeface="Times New Roman" panose="02020603050405020304" pitchFamily="18" charset="0"/>
              <a:cs typeface="Arial" panose="020B0604020202020204" pitchFamily="34" charset="0"/>
            </a:endParaRPr>
          </a:p>
        </p:txBody>
      </p:sp>
      <p:sp>
        <p:nvSpPr>
          <p:cNvPr id="66577" name="Rectangle 54"/>
          <p:cNvSpPr>
            <a:spLocks noChangeArrowheads="1"/>
          </p:cNvSpPr>
          <p:nvPr/>
        </p:nvSpPr>
        <p:spPr bwMode="auto">
          <a:xfrm>
            <a:off x="7040563" y="3921125"/>
            <a:ext cx="1646237"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600" b="0">
                <a:latin typeface="Times New Roman" panose="02020603050405020304" pitchFamily="18" charset="0"/>
                <a:cs typeface="Times New Roman" panose="02020603050405020304" pitchFamily="18" charset="0"/>
              </a:rPr>
              <a:t> </a:t>
            </a:r>
            <a:endParaRPr lang="en-US" altLang="en-US" sz="1600" b="0"/>
          </a:p>
        </p:txBody>
      </p:sp>
      <p:sp>
        <p:nvSpPr>
          <p:cNvPr id="66578" name="Rectangle 53"/>
          <p:cNvSpPr>
            <a:spLocks noChangeArrowheads="1"/>
          </p:cNvSpPr>
          <p:nvPr/>
        </p:nvSpPr>
        <p:spPr bwMode="auto">
          <a:xfrm>
            <a:off x="5394325" y="3921125"/>
            <a:ext cx="1646238"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600">
                <a:ea typeface="Times New Roman" panose="02020603050405020304" pitchFamily="18" charset="0"/>
                <a:cs typeface="Arial" panose="020B0604020202020204" pitchFamily="34" charset="0"/>
              </a:rPr>
              <a:t>4</a:t>
            </a:r>
            <a:endParaRPr lang="en-US" altLang="en-US" sz="1600" b="0">
              <a:ea typeface="Times New Roman" panose="02020603050405020304" pitchFamily="18" charset="0"/>
              <a:cs typeface="Arial" panose="020B0604020202020204" pitchFamily="34" charset="0"/>
            </a:endParaRPr>
          </a:p>
        </p:txBody>
      </p:sp>
      <p:sp>
        <p:nvSpPr>
          <p:cNvPr id="66579" name="Rectangle 52"/>
          <p:cNvSpPr>
            <a:spLocks noChangeArrowheads="1"/>
          </p:cNvSpPr>
          <p:nvPr/>
        </p:nvSpPr>
        <p:spPr bwMode="auto">
          <a:xfrm>
            <a:off x="3749675" y="3921125"/>
            <a:ext cx="164465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600">
                <a:ea typeface="Times New Roman" panose="02020603050405020304" pitchFamily="18" charset="0"/>
                <a:cs typeface="Arial" panose="020B0604020202020204" pitchFamily="34" charset="0"/>
              </a:rPr>
              <a:t>-2</a:t>
            </a:r>
            <a:endParaRPr lang="en-US" altLang="en-US" sz="1600" b="0">
              <a:ea typeface="Times New Roman" panose="02020603050405020304" pitchFamily="18" charset="0"/>
              <a:cs typeface="Arial" panose="020B0604020202020204" pitchFamily="34" charset="0"/>
            </a:endParaRPr>
          </a:p>
        </p:txBody>
      </p:sp>
      <p:sp>
        <p:nvSpPr>
          <p:cNvPr id="66580" name="Rectangle 51"/>
          <p:cNvSpPr>
            <a:spLocks noChangeArrowheads="1"/>
          </p:cNvSpPr>
          <p:nvPr/>
        </p:nvSpPr>
        <p:spPr bwMode="auto">
          <a:xfrm>
            <a:off x="2103438" y="3921125"/>
            <a:ext cx="1646237"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600">
                <a:ea typeface="Times New Roman" panose="02020603050405020304" pitchFamily="18" charset="0"/>
                <a:cs typeface="Arial" panose="020B0604020202020204" pitchFamily="34" charset="0"/>
              </a:rPr>
              <a:t>1</a:t>
            </a:r>
            <a:endParaRPr lang="en-US" altLang="en-US" sz="1600" b="0">
              <a:ea typeface="Times New Roman" panose="02020603050405020304" pitchFamily="18" charset="0"/>
              <a:cs typeface="Arial" panose="020B0604020202020204" pitchFamily="34" charset="0"/>
            </a:endParaRPr>
          </a:p>
        </p:txBody>
      </p:sp>
      <p:sp>
        <p:nvSpPr>
          <p:cNvPr id="66581" name="Rectangle 50"/>
          <p:cNvSpPr>
            <a:spLocks noChangeArrowheads="1"/>
          </p:cNvSpPr>
          <p:nvPr/>
        </p:nvSpPr>
        <p:spPr bwMode="auto">
          <a:xfrm>
            <a:off x="457200" y="3921125"/>
            <a:ext cx="1646238" cy="438150"/>
          </a:xfrm>
          <a:prstGeom prst="rect">
            <a:avLst/>
          </a:prstGeom>
          <a:solidFill>
            <a:srgbClr val="DDDDDD"/>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600">
                <a:ea typeface="Times New Roman" panose="02020603050405020304" pitchFamily="18" charset="0"/>
                <a:cs typeface="Arial" panose="020B0604020202020204" pitchFamily="34" charset="0"/>
              </a:rPr>
              <a:t>3</a:t>
            </a:r>
            <a:endParaRPr lang="en-US" altLang="en-US" sz="1600" b="0">
              <a:ea typeface="Times New Roman" panose="02020603050405020304" pitchFamily="18" charset="0"/>
              <a:cs typeface="Arial" panose="020B0604020202020204" pitchFamily="34" charset="0"/>
            </a:endParaRPr>
          </a:p>
        </p:txBody>
      </p:sp>
      <p:sp>
        <p:nvSpPr>
          <p:cNvPr id="66582" name="Rectangle 49"/>
          <p:cNvSpPr>
            <a:spLocks noChangeArrowheads="1"/>
          </p:cNvSpPr>
          <p:nvPr/>
        </p:nvSpPr>
        <p:spPr bwMode="auto">
          <a:xfrm>
            <a:off x="7040563" y="3482975"/>
            <a:ext cx="1646237"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600" b="0">
                <a:latin typeface="Times New Roman" panose="02020603050405020304" pitchFamily="18" charset="0"/>
                <a:cs typeface="Times New Roman" panose="02020603050405020304" pitchFamily="18" charset="0"/>
              </a:rPr>
              <a:t> </a:t>
            </a:r>
            <a:endParaRPr lang="en-US" altLang="en-US" sz="1600" b="0"/>
          </a:p>
        </p:txBody>
      </p:sp>
      <p:sp>
        <p:nvSpPr>
          <p:cNvPr id="66583" name="Rectangle 48"/>
          <p:cNvSpPr>
            <a:spLocks noChangeArrowheads="1"/>
          </p:cNvSpPr>
          <p:nvPr/>
        </p:nvSpPr>
        <p:spPr bwMode="auto">
          <a:xfrm>
            <a:off x="5394325" y="3482975"/>
            <a:ext cx="1646238"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600">
                <a:ea typeface="Times New Roman" panose="02020603050405020304" pitchFamily="18" charset="0"/>
                <a:cs typeface="Arial" panose="020B0604020202020204" pitchFamily="34" charset="0"/>
              </a:rPr>
              <a:t>1</a:t>
            </a:r>
            <a:endParaRPr lang="en-US" altLang="en-US" sz="1600" b="0">
              <a:ea typeface="Times New Roman" panose="02020603050405020304" pitchFamily="18" charset="0"/>
              <a:cs typeface="Arial" panose="020B0604020202020204" pitchFamily="34" charset="0"/>
            </a:endParaRPr>
          </a:p>
        </p:txBody>
      </p:sp>
      <p:sp>
        <p:nvSpPr>
          <p:cNvPr id="66584" name="Rectangle 47"/>
          <p:cNvSpPr>
            <a:spLocks noChangeArrowheads="1"/>
          </p:cNvSpPr>
          <p:nvPr/>
        </p:nvSpPr>
        <p:spPr bwMode="auto">
          <a:xfrm>
            <a:off x="3749675" y="3482975"/>
            <a:ext cx="1644650"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600">
                <a:ea typeface="Times New Roman" panose="02020603050405020304" pitchFamily="18" charset="0"/>
                <a:cs typeface="Arial" panose="020B0604020202020204" pitchFamily="34" charset="0"/>
              </a:rPr>
              <a:t>5</a:t>
            </a:r>
            <a:endParaRPr lang="en-US" altLang="en-US" sz="1600" b="0">
              <a:ea typeface="Times New Roman" panose="02020603050405020304" pitchFamily="18" charset="0"/>
              <a:cs typeface="Arial" panose="020B0604020202020204" pitchFamily="34" charset="0"/>
            </a:endParaRPr>
          </a:p>
        </p:txBody>
      </p:sp>
      <p:sp>
        <p:nvSpPr>
          <p:cNvPr id="66585" name="Rectangle 46"/>
          <p:cNvSpPr>
            <a:spLocks noChangeArrowheads="1"/>
          </p:cNvSpPr>
          <p:nvPr/>
        </p:nvSpPr>
        <p:spPr bwMode="auto">
          <a:xfrm>
            <a:off x="2103438" y="3482975"/>
            <a:ext cx="1646237" cy="43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600">
                <a:ea typeface="Times New Roman" panose="02020603050405020304" pitchFamily="18" charset="0"/>
                <a:cs typeface="Arial" panose="020B0604020202020204" pitchFamily="34" charset="0"/>
              </a:rPr>
              <a:t>-3</a:t>
            </a:r>
            <a:endParaRPr lang="en-US" altLang="en-US" sz="1600" b="0">
              <a:ea typeface="Times New Roman" panose="02020603050405020304" pitchFamily="18" charset="0"/>
              <a:cs typeface="Arial" panose="020B0604020202020204" pitchFamily="34" charset="0"/>
            </a:endParaRPr>
          </a:p>
        </p:txBody>
      </p:sp>
      <p:sp>
        <p:nvSpPr>
          <p:cNvPr id="66586" name="Rectangle 45"/>
          <p:cNvSpPr>
            <a:spLocks noChangeArrowheads="1"/>
          </p:cNvSpPr>
          <p:nvPr/>
        </p:nvSpPr>
        <p:spPr bwMode="auto">
          <a:xfrm>
            <a:off x="457200" y="3482975"/>
            <a:ext cx="1646238" cy="438150"/>
          </a:xfrm>
          <a:prstGeom prst="rect">
            <a:avLst/>
          </a:prstGeom>
          <a:solidFill>
            <a:srgbClr val="DDDDDD"/>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600">
                <a:ea typeface="Times New Roman" panose="02020603050405020304" pitchFamily="18" charset="0"/>
                <a:cs typeface="Arial" panose="020B0604020202020204" pitchFamily="34" charset="0"/>
              </a:rPr>
              <a:t>2</a:t>
            </a:r>
            <a:endParaRPr lang="en-US" altLang="en-US" sz="1600" b="0">
              <a:ea typeface="Times New Roman" panose="02020603050405020304" pitchFamily="18" charset="0"/>
              <a:cs typeface="Arial" panose="020B0604020202020204" pitchFamily="34" charset="0"/>
            </a:endParaRPr>
          </a:p>
        </p:txBody>
      </p:sp>
      <p:sp>
        <p:nvSpPr>
          <p:cNvPr id="66587" name="Rectangle 44"/>
          <p:cNvSpPr>
            <a:spLocks noChangeArrowheads="1"/>
          </p:cNvSpPr>
          <p:nvPr/>
        </p:nvSpPr>
        <p:spPr bwMode="auto">
          <a:xfrm>
            <a:off x="7040563" y="3048000"/>
            <a:ext cx="1646237"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600">
                <a:ea typeface="Times New Roman" panose="02020603050405020304" pitchFamily="18" charset="0"/>
                <a:cs typeface="Arial" panose="020B0604020202020204" pitchFamily="34" charset="0"/>
              </a:rPr>
              <a:t>5</a:t>
            </a:r>
            <a:endParaRPr lang="en-US" altLang="en-US" sz="1600" b="0">
              <a:ea typeface="Times New Roman" panose="02020603050405020304" pitchFamily="18" charset="0"/>
              <a:cs typeface="Arial" panose="020B0604020202020204" pitchFamily="34" charset="0"/>
            </a:endParaRPr>
          </a:p>
        </p:txBody>
      </p:sp>
      <p:sp>
        <p:nvSpPr>
          <p:cNvPr id="66588" name="Rectangle 43"/>
          <p:cNvSpPr>
            <a:spLocks noChangeArrowheads="1"/>
          </p:cNvSpPr>
          <p:nvPr/>
        </p:nvSpPr>
        <p:spPr bwMode="auto">
          <a:xfrm>
            <a:off x="5394325" y="3048000"/>
            <a:ext cx="1646238"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600">
                <a:ea typeface="Times New Roman" panose="02020603050405020304" pitchFamily="18" charset="0"/>
                <a:cs typeface="Arial" panose="020B0604020202020204" pitchFamily="34" charset="0"/>
              </a:rPr>
              <a:t>2</a:t>
            </a:r>
            <a:endParaRPr lang="en-US" altLang="en-US" sz="1600" b="0">
              <a:ea typeface="Times New Roman" panose="02020603050405020304" pitchFamily="18" charset="0"/>
              <a:cs typeface="Arial" panose="020B0604020202020204" pitchFamily="34" charset="0"/>
            </a:endParaRPr>
          </a:p>
        </p:txBody>
      </p:sp>
      <p:sp>
        <p:nvSpPr>
          <p:cNvPr id="66589" name="Rectangle 42"/>
          <p:cNvSpPr>
            <a:spLocks noChangeArrowheads="1"/>
          </p:cNvSpPr>
          <p:nvPr/>
        </p:nvSpPr>
        <p:spPr bwMode="auto">
          <a:xfrm>
            <a:off x="3749675" y="3048000"/>
            <a:ext cx="1644650"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600">
                <a:ea typeface="Times New Roman" panose="02020603050405020304" pitchFamily="18" charset="0"/>
                <a:cs typeface="Arial" panose="020B0604020202020204" pitchFamily="34" charset="0"/>
              </a:rPr>
              <a:t>3</a:t>
            </a:r>
            <a:endParaRPr lang="en-US" altLang="en-US" sz="1600" b="0">
              <a:ea typeface="Times New Roman" panose="02020603050405020304" pitchFamily="18" charset="0"/>
              <a:cs typeface="Arial" panose="020B0604020202020204" pitchFamily="34" charset="0"/>
            </a:endParaRPr>
          </a:p>
        </p:txBody>
      </p:sp>
      <p:sp>
        <p:nvSpPr>
          <p:cNvPr id="66590" name="Rectangle 41"/>
          <p:cNvSpPr>
            <a:spLocks noChangeArrowheads="1"/>
          </p:cNvSpPr>
          <p:nvPr/>
        </p:nvSpPr>
        <p:spPr bwMode="auto">
          <a:xfrm>
            <a:off x="2103438" y="3048000"/>
            <a:ext cx="1646237" cy="43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600">
                <a:ea typeface="Times New Roman" panose="02020603050405020304" pitchFamily="18" charset="0"/>
                <a:cs typeface="Arial" panose="020B0604020202020204" pitchFamily="34" charset="0"/>
              </a:rPr>
              <a:t>4</a:t>
            </a:r>
            <a:endParaRPr lang="en-US" altLang="en-US" sz="1600" b="0">
              <a:ea typeface="Times New Roman" panose="02020603050405020304" pitchFamily="18" charset="0"/>
              <a:cs typeface="Arial" panose="020B0604020202020204" pitchFamily="34" charset="0"/>
            </a:endParaRPr>
          </a:p>
        </p:txBody>
      </p:sp>
      <p:sp>
        <p:nvSpPr>
          <p:cNvPr id="66591" name="Rectangle 40"/>
          <p:cNvSpPr>
            <a:spLocks noChangeArrowheads="1"/>
          </p:cNvSpPr>
          <p:nvPr/>
        </p:nvSpPr>
        <p:spPr bwMode="auto">
          <a:xfrm>
            <a:off x="457200" y="3048000"/>
            <a:ext cx="1646238" cy="434975"/>
          </a:xfrm>
          <a:prstGeom prst="rect">
            <a:avLst/>
          </a:prstGeom>
          <a:solidFill>
            <a:srgbClr val="DDDDDD"/>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marL="342900" indent="-342900">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600" b="0">
                <a:latin typeface="Times New Roman" panose="02020603050405020304" pitchFamily="18" charset="0"/>
                <a:cs typeface="Times New Roman" panose="02020603050405020304" pitchFamily="18" charset="0"/>
              </a:rPr>
              <a:t> </a:t>
            </a:r>
            <a:r>
              <a:rPr lang="en-US" altLang="en-US" sz="1600">
                <a:ea typeface="Times New Roman" panose="02020603050405020304" pitchFamily="18" charset="0"/>
                <a:cs typeface="Arial" panose="020B0604020202020204" pitchFamily="34" charset="0"/>
              </a:rPr>
              <a:t>1</a:t>
            </a:r>
            <a:endParaRPr lang="en-US" altLang="en-US" sz="1600" b="0"/>
          </a:p>
        </p:txBody>
      </p:sp>
      <p:sp>
        <p:nvSpPr>
          <p:cNvPr id="66592" name="Line 70"/>
          <p:cNvSpPr>
            <a:spLocks noChangeShapeType="1"/>
          </p:cNvSpPr>
          <p:nvPr/>
        </p:nvSpPr>
        <p:spPr bwMode="auto">
          <a:xfrm>
            <a:off x="457200" y="3048000"/>
            <a:ext cx="8229600"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93" name="Line 71"/>
          <p:cNvSpPr>
            <a:spLocks noChangeShapeType="1"/>
          </p:cNvSpPr>
          <p:nvPr/>
        </p:nvSpPr>
        <p:spPr bwMode="auto">
          <a:xfrm>
            <a:off x="457200" y="5673725"/>
            <a:ext cx="4937125"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94" name="Line 72"/>
          <p:cNvSpPr>
            <a:spLocks noChangeShapeType="1"/>
          </p:cNvSpPr>
          <p:nvPr/>
        </p:nvSpPr>
        <p:spPr bwMode="auto">
          <a:xfrm>
            <a:off x="457200" y="3048000"/>
            <a:ext cx="0" cy="2625725"/>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95" name="Line 73"/>
          <p:cNvSpPr>
            <a:spLocks noChangeShapeType="1"/>
          </p:cNvSpPr>
          <p:nvPr/>
        </p:nvSpPr>
        <p:spPr bwMode="auto">
          <a:xfrm>
            <a:off x="8686800" y="3048000"/>
            <a:ext cx="0" cy="434975"/>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96" name="Line 76"/>
          <p:cNvSpPr>
            <a:spLocks noChangeShapeType="1"/>
          </p:cNvSpPr>
          <p:nvPr/>
        </p:nvSpPr>
        <p:spPr bwMode="auto">
          <a:xfrm>
            <a:off x="457200" y="3482975"/>
            <a:ext cx="8229600"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97" name="Line 78"/>
          <p:cNvSpPr>
            <a:spLocks noChangeShapeType="1"/>
          </p:cNvSpPr>
          <p:nvPr/>
        </p:nvSpPr>
        <p:spPr bwMode="auto">
          <a:xfrm>
            <a:off x="2103438" y="3048000"/>
            <a:ext cx="0" cy="2625725"/>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98" name="Line 81"/>
          <p:cNvSpPr>
            <a:spLocks noChangeShapeType="1"/>
          </p:cNvSpPr>
          <p:nvPr/>
        </p:nvSpPr>
        <p:spPr bwMode="auto">
          <a:xfrm>
            <a:off x="3749675" y="3048000"/>
            <a:ext cx="0" cy="2625725"/>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599" name="Line 84"/>
          <p:cNvSpPr>
            <a:spLocks noChangeShapeType="1"/>
          </p:cNvSpPr>
          <p:nvPr/>
        </p:nvSpPr>
        <p:spPr bwMode="auto">
          <a:xfrm>
            <a:off x="5394325" y="3048000"/>
            <a:ext cx="0" cy="2625725"/>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600" name="Line 87"/>
          <p:cNvSpPr>
            <a:spLocks noChangeShapeType="1"/>
          </p:cNvSpPr>
          <p:nvPr/>
        </p:nvSpPr>
        <p:spPr bwMode="auto">
          <a:xfrm>
            <a:off x="7040563" y="3048000"/>
            <a:ext cx="0" cy="2187575"/>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601" name="Line 91"/>
          <p:cNvSpPr>
            <a:spLocks noChangeShapeType="1"/>
          </p:cNvSpPr>
          <p:nvPr/>
        </p:nvSpPr>
        <p:spPr bwMode="auto">
          <a:xfrm>
            <a:off x="457200" y="3921125"/>
            <a:ext cx="6583363"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602" name="Line 114"/>
          <p:cNvSpPr>
            <a:spLocks noChangeShapeType="1"/>
          </p:cNvSpPr>
          <p:nvPr/>
        </p:nvSpPr>
        <p:spPr bwMode="auto">
          <a:xfrm>
            <a:off x="457200" y="4359275"/>
            <a:ext cx="6583363"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603" name="Line 135"/>
          <p:cNvSpPr>
            <a:spLocks noChangeShapeType="1"/>
          </p:cNvSpPr>
          <p:nvPr/>
        </p:nvSpPr>
        <p:spPr bwMode="auto">
          <a:xfrm>
            <a:off x="457200" y="4797425"/>
            <a:ext cx="6583363"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6604" name="Line 156"/>
          <p:cNvSpPr>
            <a:spLocks noChangeShapeType="1"/>
          </p:cNvSpPr>
          <p:nvPr/>
        </p:nvSpPr>
        <p:spPr bwMode="auto">
          <a:xfrm>
            <a:off x="457200" y="5235575"/>
            <a:ext cx="6583363"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aphicFrame>
        <p:nvGraphicFramePr>
          <p:cNvPr id="66605"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66607" name="Klip" r:id="rId6" imgW="1423988" imgH="3055938" progId="MS_ClipArt_Gallery.2">
                  <p:embed/>
                </p:oleObj>
              </mc:Choice>
              <mc:Fallback>
                <p:oleObj name="Klip" r:id="rId6" imgW="1423988" imgH="3055938" progId="MS_ClipArt_Gallery.2">
                  <p:embed/>
                  <p:pic>
                    <p:nvPicPr>
                      <p:cNvPr id="0" name="Object 4"/>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EAB62EC5-D94F-4E88-859F-7DE5C0B66620}" type="slidenum">
              <a:rPr lang="en-US" altLang="en-US" sz="1200" smtClean="0">
                <a:latin typeface="Garamond" panose="02020404030301010803" pitchFamily="18" charset="0"/>
              </a:rPr>
              <a:pPr>
                <a:spcBef>
                  <a:spcPct val="0"/>
                </a:spcBef>
                <a:buClrTx/>
                <a:buSzTx/>
                <a:buFontTx/>
                <a:buNone/>
              </a:pPr>
              <a:t>58</a:t>
            </a:fld>
            <a:endParaRPr lang="en-US" altLang="en-US" sz="1200" smtClean="0">
              <a:latin typeface="Garamond" panose="02020404030301010803" pitchFamily="18" charset="0"/>
            </a:endParaRPr>
          </a:p>
        </p:txBody>
      </p:sp>
      <p:sp>
        <p:nvSpPr>
          <p:cNvPr id="68611" name="Rectangle 5"/>
          <p:cNvSpPr>
            <a:spLocks noGrp="1" noChangeArrowheads="1"/>
          </p:cNvSpPr>
          <p:nvPr>
            <p:ph type="title"/>
          </p:nvPr>
        </p:nvSpPr>
        <p:spPr>
          <a:xfrm>
            <a:off x="457200" y="152400"/>
            <a:ext cx="8153400" cy="788988"/>
          </a:xfrm>
        </p:spPr>
        <p:txBody>
          <a:bodyPr/>
          <a:lstStyle/>
          <a:p>
            <a:pPr algn="ctr" eaLnBrk="1" hangingPunct="1"/>
            <a:r>
              <a:rPr lang="en-US" altLang="en-US" sz="3200" b="1" u="sng" smtClean="0"/>
              <a:t>Enhanced Edge Recombination Algorithm</a:t>
            </a:r>
          </a:p>
        </p:txBody>
      </p:sp>
      <p:sp>
        <p:nvSpPr>
          <p:cNvPr id="68612" name="Rectangle 7"/>
          <p:cNvSpPr>
            <a:spLocks noGrp="1" noChangeArrowheads="1"/>
          </p:cNvSpPr>
          <p:nvPr>
            <p:ph type="body" idx="1"/>
          </p:nvPr>
        </p:nvSpPr>
        <p:spPr>
          <a:xfrm>
            <a:off x="457200" y="685800"/>
            <a:ext cx="8229600" cy="5257800"/>
          </a:xfrm>
        </p:spPr>
        <p:txBody>
          <a:bodyPr/>
          <a:lstStyle/>
          <a:p>
            <a:pPr marL="571500" indent="-571500" eaLnBrk="1" hangingPunct="1">
              <a:lnSpc>
                <a:spcPct val="90000"/>
              </a:lnSpc>
              <a:buFont typeface="Wingdings" panose="05000000000000000000" pitchFamily="2" charset="2"/>
              <a:buAutoNum type="arabicPeriod"/>
            </a:pPr>
            <a:r>
              <a:rPr lang="en-US" altLang="en-US" sz="2000" smtClean="0"/>
              <a:t>Choose the initial city from one of the two parent tours. (It can be chosen randomly as according to criteria outlined in </a:t>
            </a:r>
            <a:r>
              <a:rPr lang="en-US" altLang="en-US" sz="2000" i="1" smtClean="0"/>
              <a:t>step 4</a:t>
            </a:r>
            <a:r>
              <a:rPr lang="en-US" altLang="en-US" sz="2000" smtClean="0"/>
              <a:t>). This is the </a:t>
            </a:r>
            <a:r>
              <a:rPr lang="en-US" altLang="en-US" sz="2000" i="1" smtClean="0"/>
              <a:t>current city.</a:t>
            </a:r>
          </a:p>
          <a:p>
            <a:pPr marL="571500" indent="-571500" eaLnBrk="1" hangingPunct="1">
              <a:lnSpc>
                <a:spcPct val="90000"/>
              </a:lnSpc>
              <a:buFont typeface="Wingdings" panose="05000000000000000000" pitchFamily="2" charset="2"/>
              <a:buAutoNum type="arabicPeriod"/>
            </a:pPr>
            <a:endParaRPr lang="en-US" altLang="en-US" sz="2000" smtClean="0"/>
          </a:p>
          <a:p>
            <a:pPr marL="571500" indent="-571500" eaLnBrk="1" hangingPunct="1">
              <a:lnSpc>
                <a:spcPct val="90000"/>
              </a:lnSpc>
              <a:buFont typeface="Wingdings" panose="05000000000000000000" pitchFamily="2" charset="2"/>
              <a:buAutoNum type="arabicPeriod"/>
            </a:pPr>
            <a:r>
              <a:rPr lang="en-US" altLang="en-US" sz="2000" smtClean="0"/>
              <a:t>Remove all occurrences of the </a:t>
            </a:r>
            <a:r>
              <a:rPr lang="en-US" altLang="en-US" sz="2000" i="1" smtClean="0"/>
              <a:t>current city</a:t>
            </a:r>
            <a:r>
              <a:rPr lang="en-US" altLang="en-US" sz="2000" smtClean="0"/>
              <a:t> from the left hand side of the edge table.( These can be found by referring to the edge-list for the </a:t>
            </a:r>
            <a:r>
              <a:rPr lang="en-US" altLang="en-US" sz="2000" i="1" smtClean="0"/>
              <a:t>current city</a:t>
            </a:r>
            <a:r>
              <a:rPr lang="en-US" altLang="en-US" sz="2000" smtClean="0"/>
              <a:t>).</a:t>
            </a:r>
          </a:p>
          <a:p>
            <a:pPr marL="571500" indent="-571500" eaLnBrk="1" hangingPunct="1">
              <a:lnSpc>
                <a:spcPct val="90000"/>
              </a:lnSpc>
              <a:buFont typeface="Wingdings" panose="05000000000000000000" pitchFamily="2" charset="2"/>
              <a:buAutoNum type="arabicPeriod"/>
            </a:pPr>
            <a:endParaRPr lang="en-US" altLang="en-US" sz="2000" smtClean="0"/>
          </a:p>
          <a:p>
            <a:pPr marL="571500" indent="-571500" eaLnBrk="1" hangingPunct="1">
              <a:lnSpc>
                <a:spcPct val="90000"/>
              </a:lnSpc>
              <a:buFont typeface="Wingdings" panose="05000000000000000000" pitchFamily="2" charset="2"/>
              <a:buAutoNum type="arabicPeriod"/>
            </a:pPr>
            <a:r>
              <a:rPr lang="en-US" altLang="en-US" sz="2000" smtClean="0"/>
              <a:t>If the </a:t>
            </a:r>
            <a:r>
              <a:rPr lang="en-US" altLang="en-US" sz="2000" i="1" smtClean="0"/>
              <a:t>current city</a:t>
            </a:r>
            <a:r>
              <a:rPr lang="en-US" altLang="en-US" sz="2000" smtClean="0"/>
              <a:t> has entries in it's edge-list, go to s</a:t>
            </a:r>
            <a:r>
              <a:rPr lang="en-US" altLang="en-US" sz="2000" i="1" smtClean="0"/>
              <a:t>tep 4 </a:t>
            </a:r>
            <a:r>
              <a:rPr lang="en-US" altLang="en-US" sz="2000" smtClean="0"/>
              <a:t>otherwise go to </a:t>
            </a:r>
            <a:r>
              <a:rPr lang="en-US" altLang="en-US" sz="2000" i="1" smtClean="0"/>
              <a:t>step 5</a:t>
            </a:r>
            <a:r>
              <a:rPr lang="en-US" altLang="en-US" sz="2000" smtClean="0"/>
              <a:t>.</a:t>
            </a:r>
          </a:p>
          <a:p>
            <a:pPr marL="571500" indent="-571500" eaLnBrk="1" hangingPunct="1">
              <a:lnSpc>
                <a:spcPct val="90000"/>
              </a:lnSpc>
              <a:buFont typeface="Wingdings" panose="05000000000000000000" pitchFamily="2" charset="2"/>
              <a:buAutoNum type="arabicPeriod"/>
            </a:pPr>
            <a:endParaRPr lang="en-US" altLang="en-US" sz="2000" smtClean="0"/>
          </a:p>
          <a:p>
            <a:pPr marL="571500" indent="-571500" eaLnBrk="1" hangingPunct="1">
              <a:lnSpc>
                <a:spcPct val="90000"/>
              </a:lnSpc>
              <a:buFont typeface="Wingdings" panose="05000000000000000000" pitchFamily="2" charset="2"/>
              <a:buAutoNum type="arabicPeriod"/>
            </a:pPr>
            <a:r>
              <a:rPr lang="en-US" altLang="en-US" sz="2000" smtClean="0"/>
              <a:t>Determine which of the cities in the edge-list of the </a:t>
            </a:r>
            <a:r>
              <a:rPr lang="en-US" altLang="en-US" sz="2000" i="1" smtClean="0"/>
              <a:t>current city</a:t>
            </a:r>
            <a:r>
              <a:rPr lang="en-US" altLang="en-US" sz="2000" smtClean="0"/>
              <a:t> has the fewest entries in it's own edge-list. The city with fewest entries becomes the </a:t>
            </a:r>
            <a:r>
              <a:rPr lang="en-US" altLang="en-US" sz="2000" i="1" smtClean="0"/>
              <a:t>current city</a:t>
            </a:r>
            <a:r>
              <a:rPr lang="en-US" altLang="en-US" sz="2000" smtClean="0"/>
              <a:t>. In case a negative integer is present, it is given preference. Ties are broken randomly. Go to </a:t>
            </a:r>
            <a:r>
              <a:rPr lang="en-US" altLang="en-US" sz="2000" i="1" smtClean="0"/>
              <a:t>step 2.</a:t>
            </a:r>
          </a:p>
          <a:p>
            <a:pPr marL="571500" indent="-571500" eaLnBrk="1" hangingPunct="1">
              <a:lnSpc>
                <a:spcPct val="90000"/>
              </a:lnSpc>
              <a:buFont typeface="Wingdings" panose="05000000000000000000" pitchFamily="2" charset="2"/>
              <a:buAutoNum type="arabicPeriod"/>
            </a:pPr>
            <a:endParaRPr lang="en-US" altLang="en-US" sz="2000" smtClean="0"/>
          </a:p>
          <a:p>
            <a:pPr marL="571500" indent="-571500" eaLnBrk="1" hangingPunct="1">
              <a:lnSpc>
                <a:spcPct val="90000"/>
              </a:lnSpc>
              <a:buFont typeface="Wingdings" panose="05000000000000000000" pitchFamily="2" charset="2"/>
              <a:buAutoNum type="arabicPeriod"/>
            </a:pPr>
            <a:r>
              <a:rPr lang="en-US" altLang="en-US" sz="2000" smtClean="0"/>
              <a:t>If there are no remaining</a:t>
            </a:r>
            <a:r>
              <a:rPr lang="en-US" altLang="en-US" sz="2000" i="1" smtClean="0"/>
              <a:t> unvisited </a:t>
            </a:r>
            <a:r>
              <a:rPr lang="en-US" altLang="en-US" sz="2000" smtClean="0"/>
              <a:t>cities</a:t>
            </a:r>
            <a:r>
              <a:rPr lang="en-US" altLang="en-US" sz="2000" i="1" smtClean="0"/>
              <a:t>, </a:t>
            </a:r>
            <a:r>
              <a:rPr lang="en-US" altLang="en-US" sz="2000" smtClean="0"/>
              <a:t>then</a:t>
            </a:r>
            <a:r>
              <a:rPr lang="en-US" altLang="en-US" sz="2000" i="1" smtClean="0"/>
              <a:t> stop. </a:t>
            </a:r>
            <a:r>
              <a:rPr lang="en-US" altLang="en-US" sz="2000" smtClean="0"/>
              <a:t>Otherwise, randomly</a:t>
            </a:r>
            <a:r>
              <a:rPr lang="en-US" altLang="en-US" sz="2000" i="1" smtClean="0"/>
              <a:t> </a:t>
            </a:r>
            <a:r>
              <a:rPr lang="en-US" altLang="en-US" sz="2000" smtClean="0"/>
              <a:t>choose an</a:t>
            </a:r>
            <a:r>
              <a:rPr lang="en-US" altLang="en-US" sz="2000" i="1" smtClean="0"/>
              <a:t> unvisited </a:t>
            </a:r>
            <a:r>
              <a:rPr lang="en-US" altLang="en-US" sz="2000" smtClean="0"/>
              <a:t>city and go to</a:t>
            </a:r>
            <a:r>
              <a:rPr lang="en-US" altLang="en-US" sz="2000" i="1" smtClean="0"/>
              <a:t> step 2.</a:t>
            </a:r>
          </a:p>
        </p:txBody>
      </p:sp>
      <p:graphicFrame>
        <p:nvGraphicFramePr>
          <p:cNvPr id="68613"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68614"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032B9564-8B28-4BF4-849A-3C16EDA0B999}" type="slidenum">
              <a:rPr lang="en-US" altLang="en-US" sz="1200" smtClean="0">
                <a:latin typeface="Garamond" panose="02020404030301010803" pitchFamily="18" charset="0"/>
              </a:rPr>
              <a:pPr>
                <a:spcBef>
                  <a:spcPct val="0"/>
                </a:spcBef>
                <a:buClrTx/>
                <a:buSzTx/>
                <a:buFontTx/>
                <a:buNone/>
              </a:pPr>
              <a:t>59</a:t>
            </a:fld>
            <a:endParaRPr lang="en-US" altLang="en-US" sz="1200" smtClean="0">
              <a:latin typeface="Garamond" panose="02020404030301010803" pitchFamily="18" charset="0"/>
            </a:endParaRPr>
          </a:p>
        </p:txBody>
      </p:sp>
      <p:sp>
        <p:nvSpPr>
          <p:cNvPr id="69635" name="Rectangle 931"/>
          <p:cNvSpPr>
            <a:spLocks noChangeArrowheads="1"/>
          </p:cNvSpPr>
          <p:nvPr/>
        </p:nvSpPr>
        <p:spPr bwMode="auto">
          <a:xfrm>
            <a:off x="1238250" y="-3190875"/>
            <a:ext cx="184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b="0"/>
          </a:p>
        </p:txBody>
      </p:sp>
      <p:sp>
        <p:nvSpPr>
          <p:cNvPr id="69636" name="Rectangle 1286"/>
          <p:cNvSpPr>
            <a:spLocks noChangeArrowheads="1"/>
          </p:cNvSpPr>
          <p:nvPr/>
        </p:nvSpPr>
        <p:spPr bwMode="auto">
          <a:xfrm>
            <a:off x="1238250" y="22383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69637" name="Rectangle 1289"/>
          <p:cNvSpPr>
            <a:spLocks noChangeArrowheads="1"/>
          </p:cNvSpPr>
          <p:nvPr/>
        </p:nvSpPr>
        <p:spPr bwMode="auto">
          <a:xfrm>
            <a:off x="5718175" y="223838"/>
            <a:ext cx="184150" cy="9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200">
              <a:cs typeface="Times New Roman" panose="02020603050405020304" pitchFamily="18" charset="0"/>
            </a:endParaRPr>
          </a:p>
          <a:p>
            <a:pPr>
              <a:spcBef>
                <a:spcPct val="0"/>
              </a:spcBef>
              <a:buClrTx/>
              <a:buSzTx/>
              <a:buFontTx/>
              <a:buNone/>
            </a:pPr>
            <a:r>
              <a:rPr lang="en-US" altLang="en-US" sz="1200" b="0">
                <a:cs typeface="Times New Roman" panose="02020603050405020304" pitchFamily="18" charset="0"/>
              </a:rPr>
              <a:t/>
            </a:r>
            <a:br>
              <a:rPr lang="en-US" altLang="en-US" sz="1200" b="0">
                <a:cs typeface="Times New Roman" panose="02020603050405020304" pitchFamily="18" charset="0"/>
              </a:rPr>
            </a:br>
            <a:endParaRPr lang="en-US" altLang="en-US" sz="1100" b="0"/>
          </a:p>
          <a:p>
            <a:pPr>
              <a:spcBef>
                <a:spcPct val="0"/>
              </a:spcBef>
              <a:buClrTx/>
              <a:buSzTx/>
              <a:buFontTx/>
              <a:buNone/>
            </a:pPr>
            <a:endParaRPr lang="en-US" altLang="en-US" sz="1800" b="0"/>
          </a:p>
        </p:txBody>
      </p:sp>
      <p:sp>
        <p:nvSpPr>
          <p:cNvPr id="69638" name="Rectangle 1423"/>
          <p:cNvSpPr>
            <a:spLocks noChangeArrowheads="1"/>
          </p:cNvSpPr>
          <p:nvPr/>
        </p:nvSpPr>
        <p:spPr bwMode="auto">
          <a:xfrm>
            <a:off x="1238250" y="-3008313"/>
            <a:ext cx="352425" cy="0"/>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wrap="none" anchor="b">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69639" name="Rectangle 1564"/>
          <p:cNvSpPr>
            <a:spLocks noChangeArrowheads="1"/>
          </p:cNvSpPr>
          <p:nvPr/>
        </p:nvSpPr>
        <p:spPr bwMode="auto">
          <a:xfrm>
            <a:off x="5718175" y="4929188"/>
            <a:ext cx="184150" cy="900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200">
              <a:cs typeface="Times New Roman" panose="02020603050405020304" pitchFamily="18" charset="0"/>
            </a:endParaRPr>
          </a:p>
          <a:p>
            <a:pPr>
              <a:spcBef>
                <a:spcPct val="0"/>
              </a:spcBef>
              <a:buClrTx/>
              <a:buSzTx/>
              <a:buFontTx/>
              <a:buNone/>
            </a:pPr>
            <a:r>
              <a:rPr lang="en-US" altLang="en-US" sz="1200" b="0">
                <a:cs typeface="Times New Roman" panose="02020603050405020304" pitchFamily="18" charset="0"/>
              </a:rPr>
              <a:t/>
            </a:r>
            <a:br>
              <a:rPr lang="en-US" altLang="en-US" sz="1200" b="0">
                <a:cs typeface="Times New Roman" panose="02020603050405020304" pitchFamily="18" charset="0"/>
              </a:rPr>
            </a:br>
            <a:endParaRPr lang="en-US" altLang="en-US" sz="1100" b="0"/>
          </a:p>
          <a:p>
            <a:pPr>
              <a:spcBef>
                <a:spcPct val="0"/>
              </a:spcBef>
              <a:buClrTx/>
              <a:buSzTx/>
              <a:buFontTx/>
              <a:buNone/>
            </a:pPr>
            <a:endParaRPr lang="en-US" altLang="en-US" sz="1800" b="0"/>
          </a:p>
        </p:txBody>
      </p:sp>
      <p:sp>
        <p:nvSpPr>
          <p:cNvPr id="69640" name="Rectangle 1750"/>
          <p:cNvSpPr>
            <a:spLocks noChangeArrowheads="1"/>
          </p:cNvSpPr>
          <p:nvPr/>
        </p:nvSpPr>
        <p:spPr bwMode="auto">
          <a:xfrm>
            <a:off x="5718175" y="8966200"/>
            <a:ext cx="184150"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200">
              <a:cs typeface="Times New Roman" panose="02020603050405020304" pitchFamily="18" charset="0"/>
            </a:endParaRPr>
          </a:p>
          <a:p>
            <a:pPr>
              <a:spcBef>
                <a:spcPct val="0"/>
              </a:spcBef>
              <a:buClrTx/>
              <a:buSzTx/>
              <a:buFontTx/>
              <a:buNone/>
            </a:pPr>
            <a:r>
              <a:rPr lang="en-US" altLang="en-US" sz="1200" b="0">
                <a:cs typeface="Times New Roman" panose="02020603050405020304" pitchFamily="18" charset="0"/>
              </a:rPr>
              <a:t/>
            </a:r>
            <a:br>
              <a:rPr lang="en-US" altLang="en-US" sz="1200" b="0">
                <a:cs typeface="Times New Roman" panose="02020603050405020304" pitchFamily="18" charset="0"/>
              </a:rPr>
            </a:br>
            <a:endParaRPr lang="en-US" altLang="en-US" sz="1100" b="0"/>
          </a:p>
          <a:p>
            <a:pPr>
              <a:spcBef>
                <a:spcPct val="0"/>
              </a:spcBef>
              <a:buClrTx/>
              <a:buSzTx/>
              <a:buFontTx/>
              <a:buNone/>
            </a:pPr>
            <a:endParaRPr lang="en-US" altLang="en-US" sz="1800" b="0"/>
          </a:p>
        </p:txBody>
      </p:sp>
      <p:sp>
        <p:nvSpPr>
          <p:cNvPr id="69641" name="Rectangle 1755"/>
          <p:cNvSpPr>
            <a:spLocks noGrp="1" noChangeArrowheads="1"/>
          </p:cNvSpPr>
          <p:nvPr>
            <p:ph type="title"/>
          </p:nvPr>
        </p:nvSpPr>
        <p:spPr/>
        <p:txBody>
          <a:bodyPr/>
          <a:lstStyle/>
          <a:p>
            <a:pPr algn="ctr" eaLnBrk="1" hangingPunct="1"/>
            <a:r>
              <a:rPr lang="en-US" altLang="en-US" sz="3600" b="1" u="sng" smtClean="0"/>
              <a:t>Example Of Enhanced Edge Recombination Operator</a:t>
            </a:r>
          </a:p>
        </p:txBody>
      </p:sp>
      <p:grpSp>
        <p:nvGrpSpPr>
          <p:cNvPr id="69642" name="Group 1760"/>
          <p:cNvGrpSpPr>
            <a:grpSpLocks/>
          </p:cNvGrpSpPr>
          <p:nvPr/>
        </p:nvGrpSpPr>
        <p:grpSpPr bwMode="auto">
          <a:xfrm>
            <a:off x="990600" y="1752600"/>
            <a:ext cx="6677025" cy="3679825"/>
            <a:chOff x="624" y="1104"/>
            <a:chExt cx="4206" cy="2318"/>
          </a:xfrm>
        </p:grpSpPr>
        <p:sp>
          <p:nvSpPr>
            <p:cNvPr id="69644" name="Rectangle 966"/>
            <p:cNvSpPr>
              <a:spLocks noChangeArrowheads="1"/>
            </p:cNvSpPr>
            <p:nvPr/>
          </p:nvSpPr>
          <p:spPr bwMode="auto">
            <a:xfrm>
              <a:off x="2046" y="1488"/>
              <a:ext cx="454"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5</a:t>
              </a:r>
              <a:endParaRPr lang="en-US" altLang="en-US" sz="1800" b="0">
                <a:ea typeface="Times New Roman" panose="02020603050405020304" pitchFamily="18" charset="0"/>
                <a:cs typeface="Arial" panose="020B0604020202020204" pitchFamily="34" charset="0"/>
              </a:endParaRPr>
            </a:p>
          </p:txBody>
        </p:sp>
        <p:sp>
          <p:nvSpPr>
            <p:cNvPr id="69645" name="Rectangle 965"/>
            <p:cNvSpPr>
              <a:spLocks noChangeArrowheads="1"/>
            </p:cNvSpPr>
            <p:nvPr/>
          </p:nvSpPr>
          <p:spPr bwMode="auto">
            <a:xfrm>
              <a:off x="1683" y="1488"/>
              <a:ext cx="363"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2</a:t>
              </a:r>
              <a:endParaRPr lang="en-US" altLang="en-US" sz="1800" b="0">
                <a:ea typeface="Times New Roman" panose="02020603050405020304" pitchFamily="18" charset="0"/>
                <a:cs typeface="Arial" panose="020B0604020202020204" pitchFamily="34" charset="0"/>
              </a:endParaRPr>
            </a:p>
          </p:txBody>
        </p:sp>
        <p:sp>
          <p:nvSpPr>
            <p:cNvPr id="69646" name="Rectangle 964"/>
            <p:cNvSpPr>
              <a:spLocks noChangeArrowheads="1"/>
            </p:cNvSpPr>
            <p:nvPr/>
          </p:nvSpPr>
          <p:spPr bwMode="auto">
            <a:xfrm>
              <a:off x="1320" y="1488"/>
              <a:ext cx="363"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3</a:t>
              </a:r>
              <a:endParaRPr lang="en-US" altLang="en-US" sz="1800" b="0">
                <a:ea typeface="Times New Roman" panose="02020603050405020304" pitchFamily="18" charset="0"/>
                <a:cs typeface="Arial" panose="020B0604020202020204" pitchFamily="34" charset="0"/>
              </a:endParaRPr>
            </a:p>
          </p:txBody>
        </p:sp>
        <p:sp>
          <p:nvSpPr>
            <p:cNvPr id="69647" name="Rectangle 963"/>
            <p:cNvSpPr>
              <a:spLocks noChangeArrowheads="1"/>
            </p:cNvSpPr>
            <p:nvPr/>
          </p:nvSpPr>
          <p:spPr bwMode="auto">
            <a:xfrm>
              <a:off x="957" y="1488"/>
              <a:ext cx="363"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4</a:t>
              </a:r>
              <a:endParaRPr lang="en-US" altLang="en-US" sz="1800" b="0">
                <a:ea typeface="Times New Roman" panose="02020603050405020304" pitchFamily="18" charset="0"/>
                <a:cs typeface="Arial" panose="020B0604020202020204" pitchFamily="34" charset="0"/>
              </a:endParaRPr>
            </a:p>
          </p:txBody>
        </p:sp>
        <p:sp>
          <p:nvSpPr>
            <p:cNvPr id="69648" name="Rectangle 962"/>
            <p:cNvSpPr>
              <a:spLocks noChangeArrowheads="1"/>
            </p:cNvSpPr>
            <p:nvPr/>
          </p:nvSpPr>
          <p:spPr bwMode="auto">
            <a:xfrm>
              <a:off x="677" y="1488"/>
              <a:ext cx="280" cy="198"/>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1</a:t>
              </a:r>
              <a:endParaRPr lang="en-US" altLang="en-US" sz="1800" b="0">
                <a:ea typeface="Times New Roman" panose="02020603050405020304" pitchFamily="18" charset="0"/>
                <a:cs typeface="Arial" panose="020B0604020202020204" pitchFamily="34" charset="0"/>
              </a:endParaRPr>
            </a:p>
          </p:txBody>
        </p:sp>
        <p:sp>
          <p:nvSpPr>
            <p:cNvPr id="69649" name="Line 992"/>
            <p:cNvSpPr>
              <a:spLocks noChangeShapeType="1"/>
            </p:cNvSpPr>
            <p:nvPr/>
          </p:nvSpPr>
          <p:spPr bwMode="auto">
            <a:xfrm>
              <a:off x="677" y="1488"/>
              <a:ext cx="1823"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50" name="Line 994"/>
            <p:cNvSpPr>
              <a:spLocks noChangeShapeType="1"/>
            </p:cNvSpPr>
            <p:nvPr/>
          </p:nvSpPr>
          <p:spPr bwMode="auto">
            <a:xfrm>
              <a:off x="677" y="1488"/>
              <a:ext cx="0" cy="1316"/>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51" name="Line 995"/>
            <p:cNvSpPr>
              <a:spLocks noChangeShapeType="1"/>
            </p:cNvSpPr>
            <p:nvPr/>
          </p:nvSpPr>
          <p:spPr bwMode="auto">
            <a:xfrm>
              <a:off x="2500" y="1488"/>
              <a:ext cx="0" cy="198"/>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52" name="Line 1000"/>
            <p:cNvSpPr>
              <a:spLocks noChangeShapeType="1"/>
            </p:cNvSpPr>
            <p:nvPr/>
          </p:nvSpPr>
          <p:spPr bwMode="auto">
            <a:xfrm>
              <a:off x="957" y="1488"/>
              <a:ext cx="0" cy="1316"/>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53" name="Line 1003"/>
            <p:cNvSpPr>
              <a:spLocks noChangeShapeType="1"/>
            </p:cNvSpPr>
            <p:nvPr/>
          </p:nvSpPr>
          <p:spPr bwMode="auto">
            <a:xfrm>
              <a:off x="1320" y="1488"/>
              <a:ext cx="0" cy="1316"/>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54" name="Line 1006"/>
            <p:cNvSpPr>
              <a:spLocks noChangeShapeType="1"/>
            </p:cNvSpPr>
            <p:nvPr/>
          </p:nvSpPr>
          <p:spPr bwMode="auto">
            <a:xfrm>
              <a:off x="1683" y="1488"/>
              <a:ext cx="0" cy="1316"/>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55" name="Line 1009"/>
            <p:cNvSpPr>
              <a:spLocks noChangeShapeType="1"/>
            </p:cNvSpPr>
            <p:nvPr/>
          </p:nvSpPr>
          <p:spPr bwMode="auto">
            <a:xfrm>
              <a:off x="2046" y="1488"/>
              <a:ext cx="0" cy="1092"/>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69656" name="Group 924"/>
            <p:cNvGrpSpPr>
              <a:grpSpLocks/>
            </p:cNvGrpSpPr>
            <p:nvPr/>
          </p:nvGrpSpPr>
          <p:grpSpPr bwMode="auto">
            <a:xfrm>
              <a:off x="685" y="3134"/>
              <a:ext cx="1096" cy="186"/>
              <a:chOff x="4500" y="6480"/>
              <a:chExt cx="2175" cy="360"/>
            </a:xfrm>
          </p:grpSpPr>
          <p:sp>
            <p:nvSpPr>
              <p:cNvPr id="69734" name="Rectangle 930"/>
              <p:cNvSpPr>
                <a:spLocks noChangeArrowheads="1"/>
              </p:cNvSpPr>
              <p:nvPr/>
            </p:nvSpPr>
            <p:spPr bwMode="auto">
              <a:xfrm>
                <a:off x="450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69735" name="Rectangle 929"/>
              <p:cNvSpPr>
                <a:spLocks noChangeArrowheads="1"/>
              </p:cNvSpPr>
              <p:nvPr/>
            </p:nvSpPr>
            <p:spPr bwMode="auto">
              <a:xfrm>
                <a:off x="486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69736" name="Rectangle 928"/>
              <p:cNvSpPr>
                <a:spLocks noChangeArrowheads="1"/>
              </p:cNvSpPr>
              <p:nvPr/>
            </p:nvSpPr>
            <p:spPr bwMode="auto">
              <a:xfrm>
                <a:off x="522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69737" name="Rectangle 927"/>
              <p:cNvSpPr>
                <a:spLocks noChangeArrowheads="1"/>
              </p:cNvSpPr>
              <p:nvPr/>
            </p:nvSpPr>
            <p:spPr bwMode="auto">
              <a:xfrm>
                <a:off x="558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69738" name="Rectangle 926"/>
              <p:cNvSpPr>
                <a:spLocks noChangeArrowheads="1"/>
              </p:cNvSpPr>
              <p:nvPr/>
            </p:nvSpPr>
            <p:spPr bwMode="auto">
              <a:xfrm>
                <a:off x="594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69739" name="Rectangle 925"/>
              <p:cNvSpPr>
                <a:spLocks noChangeArrowheads="1"/>
              </p:cNvSpPr>
              <p:nvPr/>
            </p:nvSpPr>
            <p:spPr bwMode="auto">
              <a:xfrm>
                <a:off x="630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grpSp>
        <p:sp>
          <p:nvSpPr>
            <p:cNvPr id="69657" name="Line 923"/>
            <p:cNvSpPr>
              <a:spLocks noChangeShapeType="1"/>
            </p:cNvSpPr>
            <p:nvPr/>
          </p:nvSpPr>
          <p:spPr bwMode="auto">
            <a:xfrm>
              <a:off x="775" y="2931"/>
              <a:ext cx="0" cy="18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9658" name="Text Box 922"/>
            <p:cNvSpPr txBox="1">
              <a:spLocks noChangeArrowheads="1"/>
            </p:cNvSpPr>
            <p:nvPr/>
          </p:nvSpPr>
          <p:spPr bwMode="auto">
            <a:xfrm>
              <a:off x="624" y="3070"/>
              <a:ext cx="1173"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600">
                  <a:cs typeface="Times New Roman" panose="02020603050405020304" pitchFamily="18" charset="0"/>
                </a:rPr>
                <a:t> 4</a:t>
              </a:r>
              <a:endParaRPr lang="en-US" altLang="en-US" sz="1800" b="0"/>
            </a:p>
          </p:txBody>
        </p:sp>
        <p:grpSp>
          <p:nvGrpSpPr>
            <p:cNvPr id="69659" name="Group 914"/>
            <p:cNvGrpSpPr>
              <a:grpSpLocks/>
            </p:cNvGrpSpPr>
            <p:nvPr/>
          </p:nvGrpSpPr>
          <p:grpSpPr bwMode="auto">
            <a:xfrm>
              <a:off x="3294" y="3125"/>
              <a:ext cx="1097" cy="186"/>
              <a:chOff x="4500" y="6480"/>
              <a:chExt cx="2175" cy="360"/>
            </a:xfrm>
          </p:grpSpPr>
          <p:sp>
            <p:nvSpPr>
              <p:cNvPr id="69728" name="Rectangle 920"/>
              <p:cNvSpPr>
                <a:spLocks noChangeArrowheads="1"/>
              </p:cNvSpPr>
              <p:nvPr/>
            </p:nvSpPr>
            <p:spPr bwMode="auto">
              <a:xfrm>
                <a:off x="450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69729" name="Rectangle 919"/>
              <p:cNvSpPr>
                <a:spLocks noChangeArrowheads="1"/>
              </p:cNvSpPr>
              <p:nvPr/>
            </p:nvSpPr>
            <p:spPr bwMode="auto">
              <a:xfrm>
                <a:off x="486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69730" name="Rectangle 918"/>
              <p:cNvSpPr>
                <a:spLocks noChangeArrowheads="1"/>
              </p:cNvSpPr>
              <p:nvPr/>
            </p:nvSpPr>
            <p:spPr bwMode="auto">
              <a:xfrm>
                <a:off x="522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69731" name="Rectangle 917"/>
              <p:cNvSpPr>
                <a:spLocks noChangeArrowheads="1"/>
              </p:cNvSpPr>
              <p:nvPr/>
            </p:nvSpPr>
            <p:spPr bwMode="auto">
              <a:xfrm>
                <a:off x="558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69732" name="Rectangle 916"/>
              <p:cNvSpPr>
                <a:spLocks noChangeArrowheads="1"/>
              </p:cNvSpPr>
              <p:nvPr/>
            </p:nvSpPr>
            <p:spPr bwMode="auto">
              <a:xfrm>
                <a:off x="594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69733" name="Rectangle 915"/>
              <p:cNvSpPr>
                <a:spLocks noChangeArrowheads="1"/>
              </p:cNvSpPr>
              <p:nvPr/>
            </p:nvSpPr>
            <p:spPr bwMode="auto">
              <a:xfrm>
                <a:off x="630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grpSp>
        <p:sp>
          <p:nvSpPr>
            <p:cNvPr id="69660" name="Line 913"/>
            <p:cNvSpPr>
              <a:spLocks noChangeShapeType="1"/>
            </p:cNvSpPr>
            <p:nvPr/>
          </p:nvSpPr>
          <p:spPr bwMode="auto">
            <a:xfrm>
              <a:off x="3552" y="2915"/>
              <a:ext cx="0" cy="18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69661" name="Text Box 912"/>
            <p:cNvSpPr txBox="1">
              <a:spLocks noChangeArrowheads="1"/>
            </p:cNvSpPr>
            <p:nvPr/>
          </p:nvSpPr>
          <p:spPr bwMode="auto">
            <a:xfrm>
              <a:off x="3257" y="3070"/>
              <a:ext cx="1172"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600">
                  <a:cs typeface="Times New Roman" panose="02020603050405020304" pitchFamily="18" charset="0"/>
                </a:rPr>
                <a:t> 4  6</a:t>
              </a:r>
              <a:endParaRPr lang="en-US" altLang="en-US" sz="1800" b="0"/>
            </a:p>
          </p:txBody>
        </p:sp>
        <p:sp>
          <p:nvSpPr>
            <p:cNvPr id="69662" name="Rectangle 989"/>
            <p:cNvSpPr>
              <a:spLocks noChangeArrowheads="1"/>
            </p:cNvSpPr>
            <p:nvPr/>
          </p:nvSpPr>
          <p:spPr bwMode="auto">
            <a:xfrm>
              <a:off x="1320" y="2580"/>
              <a:ext cx="363"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-4</a:t>
              </a:r>
              <a:endParaRPr lang="en-US" altLang="en-US" sz="1800" b="0">
                <a:ea typeface="Times New Roman" panose="02020603050405020304" pitchFamily="18" charset="0"/>
                <a:cs typeface="Arial" panose="020B0604020202020204" pitchFamily="34" charset="0"/>
              </a:endParaRPr>
            </a:p>
          </p:txBody>
        </p:sp>
        <p:sp>
          <p:nvSpPr>
            <p:cNvPr id="69663" name="Rectangle 988"/>
            <p:cNvSpPr>
              <a:spLocks noChangeArrowheads="1"/>
            </p:cNvSpPr>
            <p:nvPr/>
          </p:nvSpPr>
          <p:spPr bwMode="auto">
            <a:xfrm>
              <a:off x="957" y="2580"/>
              <a:ext cx="363"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-5</a:t>
              </a:r>
              <a:endParaRPr lang="en-US" altLang="en-US" sz="1800" b="0">
                <a:ea typeface="Times New Roman" panose="02020603050405020304" pitchFamily="18" charset="0"/>
                <a:cs typeface="Arial" panose="020B0604020202020204" pitchFamily="34" charset="0"/>
              </a:endParaRPr>
            </a:p>
          </p:txBody>
        </p:sp>
        <p:sp>
          <p:nvSpPr>
            <p:cNvPr id="69664" name="Rectangle 987"/>
            <p:cNvSpPr>
              <a:spLocks noChangeArrowheads="1"/>
            </p:cNvSpPr>
            <p:nvPr/>
          </p:nvSpPr>
          <p:spPr bwMode="auto">
            <a:xfrm>
              <a:off x="677" y="2580"/>
              <a:ext cx="280" cy="224"/>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6</a:t>
              </a:r>
              <a:endParaRPr lang="en-US" altLang="en-US" sz="1800" b="0">
                <a:ea typeface="Times New Roman" panose="02020603050405020304" pitchFamily="18" charset="0"/>
                <a:cs typeface="Arial" panose="020B0604020202020204" pitchFamily="34" charset="0"/>
              </a:endParaRPr>
            </a:p>
          </p:txBody>
        </p:sp>
        <p:sp>
          <p:nvSpPr>
            <p:cNvPr id="69665" name="Rectangle 985"/>
            <p:cNvSpPr>
              <a:spLocks noChangeArrowheads="1"/>
            </p:cNvSpPr>
            <p:nvPr/>
          </p:nvSpPr>
          <p:spPr bwMode="auto">
            <a:xfrm>
              <a:off x="1683" y="2357"/>
              <a:ext cx="363"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-6</a:t>
              </a:r>
              <a:endParaRPr lang="en-US" altLang="en-US" sz="1800" b="0">
                <a:ea typeface="Times New Roman" panose="02020603050405020304" pitchFamily="18" charset="0"/>
                <a:cs typeface="Arial" panose="020B0604020202020204" pitchFamily="34" charset="0"/>
              </a:endParaRPr>
            </a:p>
          </p:txBody>
        </p:sp>
        <p:sp>
          <p:nvSpPr>
            <p:cNvPr id="69666" name="Rectangle 984"/>
            <p:cNvSpPr>
              <a:spLocks noChangeArrowheads="1"/>
            </p:cNvSpPr>
            <p:nvPr/>
          </p:nvSpPr>
          <p:spPr bwMode="auto">
            <a:xfrm>
              <a:off x="1320" y="2357"/>
              <a:ext cx="363"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2</a:t>
              </a:r>
              <a:endParaRPr lang="en-US" altLang="en-US" sz="1800" b="0">
                <a:ea typeface="Times New Roman" panose="02020603050405020304" pitchFamily="18" charset="0"/>
                <a:cs typeface="Arial" panose="020B0604020202020204" pitchFamily="34" charset="0"/>
              </a:endParaRPr>
            </a:p>
          </p:txBody>
        </p:sp>
        <p:sp>
          <p:nvSpPr>
            <p:cNvPr id="69667" name="Rectangle 983"/>
            <p:cNvSpPr>
              <a:spLocks noChangeArrowheads="1"/>
            </p:cNvSpPr>
            <p:nvPr/>
          </p:nvSpPr>
          <p:spPr bwMode="auto">
            <a:xfrm>
              <a:off x="957" y="2357"/>
              <a:ext cx="363"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1</a:t>
              </a:r>
              <a:endParaRPr lang="en-US" altLang="en-US" sz="1800" b="0">
                <a:ea typeface="Times New Roman" panose="02020603050405020304" pitchFamily="18" charset="0"/>
                <a:cs typeface="Arial" panose="020B0604020202020204" pitchFamily="34" charset="0"/>
              </a:endParaRPr>
            </a:p>
          </p:txBody>
        </p:sp>
        <p:sp>
          <p:nvSpPr>
            <p:cNvPr id="69668" name="Rectangle 982"/>
            <p:cNvSpPr>
              <a:spLocks noChangeArrowheads="1"/>
            </p:cNvSpPr>
            <p:nvPr/>
          </p:nvSpPr>
          <p:spPr bwMode="auto">
            <a:xfrm>
              <a:off x="677" y="2357"/>
              <a:ext cx="280" cy="223"/>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5</a:t>
              </a:r>
              <a:endParaRPr lang="en-US" altLang="en-US" sz="1800" b="0">
                <a:ea typeface="Times New Roman" panose="02020603050405020304" pitchFamily="18" charset="0"/>
                <a:cs typeface="Arial" panose="020B0604020202020204" pitchFamily="34" charset="0"/>
              </a:endParaRPr>
            </a:p>
          </p:txBody>
        </p:sp>
        <p:sp>
          <p:nvSpPr>
            <p:cNvPr id="69669" name="Rectangle 980"/>
            <p:cNvSpPr>
              <a:spLocks noChangeArrowheads="1"/>
            </p:cNvSpPr>
            <p:nvPr/>
          </p:nvSpPr>
          <p:spPr bwMode="auto">
            <a:xfrm>
              <a:off x="1683" y="2133"/>
              <a:ext cx="363"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3</a:t>
              </a:r>
              <a:endParaRPr lang="en-US" altLang="en-US" sz="1800" b="0">
                <a:ea typeface="Times New Roman" panose="02020603050405020304" pitchFamily="18" charset="0"/>
                <a:cs typeface="Arial" panose="020B0604020202020204" pitchFamily="34" charset="0"/>
              </a:endParaRPr>
            </a:p>
          </p:txBody>
        </p:sp>
        <p:sp>
          <p:nvSpPr>
            <p:cNvPr id="69670" name="Rectangle 979"/>
            <p:cNvSpPr>
              <a:spLocks noChangeArrowheads="1"/>
            </p:cNvSpPr>
            <p:nvPr/>
          </p:nvSpPr>
          <p:spPr bwMode="auto">
            <a:xfrm>
              <a:off x="1320" y="2133"/>
              <a:ext cx="363"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1</a:t>
              </a:r>
              <a:endParaRPr lang="en-US" altLang="en-US" sz="1800" b="0">
                <a:ea typeface="Times New Roman" panose="02020603050405020304" pitchFamily="18" charset="0"/>
                <a:cs typeface="Arial" panose="020B0604020202020204" pitchFamily="34" charset="0"/>
              </a:endParaRPr>
            </a:p>
          </p:txBody>
        </p:sp>
        <p:sp>
          <p:nvSpPr>
            <p:cNvPr id="69671" name="Rectangle 978"/>
            <p:cNvSpPr>
              <a:spLocks noChangeArrowheads="1"/>
            </p:cNvSpPr>
            <p:nvPr/>
          </p:nvSpPr>
          <p:spPr bwMode="auto">
            <a:xfrm>
              <a:off x="957" y="2133"/>
              <a:ext cx="363"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-6</a:t>
              </a:r>
              <a:endParaRPr lang="en-US" altLang="en-US" sz="1800" b="0">
                <a:ea typeface="Times New Roman" panose="02020603050405020304" pitchFamily="18" charset="0"/>
                <a:cs typeface="Arial" panose="020B0604020202020204" pitchFamily="34" charset="0"/>
              </a:endParaRPr>
            </a:p>
          </p:txBody>
        </p:sp>
        <p:sp>
          <p:nvSpPr>
            <p:cNvPr id="69672" name="Rectangle 977"/>
            <p:cNvSpPr>
              <a:spLocks noChangeArrowheads="1"/>
            </p:cNvSpPr>
            <p:nvPr/>
          </p:nvSpPr>
          <p:spPr bwMode="auto">
            <a:xfrm>
              <a:off x="677" y="2133"/>
              <a:ext cx="280" cy="224"/>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4</a:t>
              </a:r>
              <a:endParaRPr lang="en-US" altLang="en-US" sz="1800" b="0">
                <a:ea typeface="Times New Roman" panose="02020603050405020304" pitchFamily="18" charset="0"/>
                <a:cs typeface="Arial" panose="020B0604020202020204" pitchFamily="34" charset="0"/>
              </a:endParaRPr>
            </a:p>
          </p:txBody>
        </p:sp>
        <p:sp>
          <p:nvSpPr>
            <p:cNvPr id="69673" name="Rectangle 976"/>
            <p:cNvSpPr>
              <a:spLocks noChangeArrowheads="1"/>
            </p:cNvSpPr>
            <p:nvPr/>
          </p:nvSpPr>
          <p:spPr bwMode="auto">
            <a:xfrm>
              <a:off x="2046" y="1909"/>
              <a:ext cx="454"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200" b="0">
                  <a:latin typeface="Times New Roman" panose="02020603050405020304" pitchFamily="18" charset="0"/>
                  <a:cs typeface="Times New Roman" panose="02020603050405020304" pitchFamily="18" charset="0"/>
                </a:rPr>
                <a:t> </a:t>
              </a:r>
              <a:endParaRPr lang="en-US" altLang="en-US" sz="1800" b="0"/>
            </a:p>
          </p:txBody>
        </p:sp>
        <p:sp>
          <p:nvSpPr>
            <p:cNvPr id="69674" name="Rectangle 975"/>
            <p:cNvSpPr>
              <a:spLocks noChangeArrowheads="1"/>
            </p:cNvSpPr>
            <p:nvPr/>
          </p:nvSpPr>
          <p:spPr bwMode="auto">
            <a:xfrm>
              <a:off x="1683" y="1909"/>
              <a:ext cx="363"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4</a:t>
              </a:r>
              <a:endParaRPr lang="en-US" altLang="en-US" sz="1800" b="0">
                <a:ea typeface="Times New Roman" panose="02020603050405020304" pitchFamily="18" charset="0"/>
                <a:cs typeface="Arial" panose="020B0604020202020204" pitchFamily="34" charset="0"/>
              </a:endParaRPr>
            </a:p>
          </p:txBody>
        </p:sp>
        <p:sp>
          <p:nvSpPr>
            <p:cNvPr id="69675" name="Rectangle 974"/>
            <p:cNvSpPr>
              <a:spLocks noChangeArrowheads="1"/>
            </p:cNvSpPr>
            <p:nvPr/>
          </p:nvSpPr>
          <p:spPr bwMode="auto">
            <a:xfrm>
              <a:off x="1320" y="1909"/>
              <a:ext cx="363"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-2</a:t>
              </a:r>
              <a:endParaRPr lang="en-US" altLang="en-US" sz="1800" b="0">
                <a:ea typeface="Times New Roman" panose="02020603050405020304" pitchFamily="18" charset="0"/>
                <a:cs typeface="Arial" panose="020B0604020202020204" pitchFamily="34" charset="0"/>
              </a:endParaRPr>
            </a:p>
          </p:txBody>
        </p:sp>
        <p:sp>
          <p:nvSpPr>
            <p:cNvPr id="69676" name="Rectangle 973"/>
            <p:cNvSpPr>
              <a:spLocks noChangeArrowheads="1"/>
            </p:cNvSpPr>
            <p:nvPr/>
          </p:nvSpPr>
          <p:spPr bwMode="auto">
            <a:xfrm>
              <a:off x="957" y="1909"/>
              <a:ext cx="363"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1</a:t>
              </a:r>
              <a:endParaRPr lang="en-US" altLang="en-US" sz="1800" b="0">
                <a:ea typeface="Times New Roman" panose="02020603050405020304" pitchFamily="18" charset="0"/>
                <a:cs typeface="Arial" panose="020B0604020202020204" pitchFamily="34" charset="0"/>
              </a:endParaRPr>
            </a:p>
          </p:txBody>
        </p:sp>
        <p:sp>
          <p:nvSpPr>
            <p:cNvPr id="69677" name="Rectangle 972"/>
            <p:cNvSpPr>
              <a:spLocks noChangeArrowheads="1"/>
            </p:cNvSpPr>
            <p:nvPr/>
          </p:nvSpPr>
          <p:spPr bwMode="auto">
            <a:xfrm>
              <a:off x="677" y="1909"/>
              <a:ext cx="280" cy="224"/>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3</a:t>
              </a:r>
              <a:endParaRPr lang="en-US" altLang="en-US" sz="1800" b="0">
                <a:ea typeface="Times New Roman" panose="02020603050405020304" pitchFamily="18" charset="0"/>
                <a:cs typeface="Arial" panose="020B0604020202020204" pitchFamily="34" charset="0"/>
              </a:endParaRPr>
            </a:p>
          </p:txBody>
        </p:sp>
        <p:sp>
          <p:nvSpPr>
            <p:cNvPr id="69678" name="Rectangle 970"/>
            <p:cNvSpPr>
              <a:spLocks noChangeArrowheads="1"/>
            </p:cNvSpPr>
            <p:nvPr/>
          </p:nvSpPr>
          <p:spPr bwMode="auto">
            <a:xfrm>
              <a:off x="1683" y="1686"/>
              <a:ext cx="363"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1</a:t>
              </a:r>
              <a:endParaRPr lang="en-US" altLang="en-US" sz="1800" b="0">
                <a:ea typeface="Times New Roman" panose="02020603050405020304" pitchFamily="18" charset="0"/>
                <a:cs typeface="Arial" panose="020B0604020202020204" pitchFamily="34" charset="0"/>
              </a:endParaRPr>
            </a:p>
          </p:txBody>
        </p:sp>
        <p:sp>
          <p:nvSpPr>
            <p:cNvPr id="69679" name="Rectangle 969"/>
            <p:cNvSpPr>
              <a:spLocks noChangeArrowheads="1"/>
            </p:cNvSpPr>
            <p:nvPr/>
          </p:nvSpPr>
          <p:spPr bwMode="auto">
            <a:xfrm>
              <a:off x="1320" y="1686"/>
              <a:ext cx="363"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5</a:t>
              </a:r>
              <a:endParaRPr lang="en-US" altLang="en-US" sz="1800" b="0">
                <a:ea typeface="Times New Roman" panose="02020603050405020304" pitchFamily="18" charset="0"/>
                <a:cs typeface="Arial" panose="020B0604020202020204" pitchFamily="34" charset="0"/>
              </a:endParaRPr>
            </a:p>
          </p:txBody>
        </p:sp>
        <p:sp>
          <p:nvSpPr>
            <p:cNvPr id="69680" name="Rectangle 968"/>
            <p:cNvSpPr>
              <a:spLocks noChangeArrowheads="1"/>
            </p:cNvSpPr>
            <p:nvPr/>
          </p:nvSpPr>
          <p:spPr bwMode="auto">
            <a:xfrm>
              <a:off x="957" y="1686"/>
              <a:ext cx="363"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-3</a:t>
              </a:r>
              <a:endParaRPr lang="en-US" altLang="en-US" sz="1800" b="0">
                <a:ea typeface="Times New Roman" panose="02020603050405020304" pitchFamily="18" charset="0"/>
                <a:cs typeface="Arial" panose="020B0604020202020204" pitchFamily="34" charset="0"/>
              </a:endParaRPr>
            </a:p>
          </p:txBody>
        </p:sp>
        <p:sp>
          <p:nvSpPr>
            <p:cNvPr id="69681" name="Rectangle 967"/>
            <p:cNvSpPr>
              <a:spLocks noChangeArrowheads="1"/>
            </p:cNvSpPr>
            <p:nvPr/>
          </p:nvSpPr>
          <p:spPr bwMode="auto">
            <a:xfrm>
              <a:off x="677" y="1686"/>
              <a:ext cx="280" cy="223"/>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2</a:t>
              </a:r>
              <a:endParaRPr lang="en-US" altLang="en-US" sz="1800" b="0">
                <a:ea typeface="Times New Roman" panose="02020603050405020304" pitchFamily="18" charset="0"/>
                <a:cs typeface="Arial" panose="020B0604020202020204" pitchFamily="34" charset="0"/>
              </a:endParaRPr>
            </a:p>
          </p:txBody>
        </p:sp>
        <p:sp>
          <p:nvSpPr>
            <p:cNvPr id="69682" name="Line 993"/>
            <p:cNvSpPr>
              <a:spLocks noChangeShapeType="1"/>
            </p:cNvSpPr>
            <p:nvPr/>
          </p:nvSpPr>
          <p:spPr bwMode="auto">
            <a:xfrm>
              <a:off x="677" y="2804"/>
              <a:ext cx="1006"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83" name="Line 998"/>
            <p:cNvSpPr>
              <a:spLocks noChangeShapeType="1"/>
            </p:cNvSpPr>
            <p:nvPr/>
          </p:nvSpPr>
          <p:spPr bwMode="auto">
            <a:xfrm>
              <a:off x="677" y="1686"/>
              <a:ext cx="1823"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84" name="Line 1013"/>
            <p:cNvSpPr>
              <a:spLocks noChangeShapeType="1"/>
            </p:cNvSpPr>
            <p:nvPr/>
          </p:nvSpPr>
          <p:spPr bwMode="auto">
            <a:xfrm>
              <a:off x="677" y="1909"/>
              <a:ext cx="1369"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85" name="Line 1036"/>
            <p:cNvSpPr>
              <a:spLocks noChangeShapeType="1"/>
            </p:cNvSpPr>
            <p:nvPr/>
          </p:nvSpPr>
          <p:spPr bwMode="auto">
            <a:xfrm>
              <a:off x="677" y="2133"/>
              <a:ext cx="1369"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86" name="Line 1057"/>
            <p:cNvSpPr>
              <a:spLocks noChangeShapeType="1"/>
            </p:cNvSpPr>
            <p:nvPr/>
          </p:nvSpPr>
          <p:spPr bwMode="auto">
            <a:xfrm>
              <a:off x="677" y="2357"/>
              <a:ext cx="1369"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87" name="Line 1078"/>
            <p:cNvSpPr>
              <a:spLocks noChangeShapeType="1"/>
            </p:cNvSpPr>
            <p:nvPr/>
          </p:nvSpPr>
          <p:spPr bwMode="auto">
            <a:xfrm>
              <a:off x="677" y="2580"/>
              <a:ext cx="1369"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688" name="Rectangle 1168"/>
            <p:cNvSpPr>
              <a:spLocks noChangeArrowheads="1"/>
            </p:cNvSpPr>
            <p:nvPr/>
          </p:nvSpPr>
          <p:spPr bwMode="auto">
            <a:xfrm>
              <a:off x="3592" y="2627"/>
              <a:ext cx="363"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-5</a:t>
              </a:r>
              <a:endParaRPr lang="en-US" altLang="en-US" sz="1800" b="0">
                <a:ea typeface="Times New Roman" panose="02020603050405020304" pitchFamily="18" charset="0"/>
                <a:cs typeface="Arial" panose="020B0604020202020204" pitchFamily="34" charset="0"/>
              </a:endParaRPr>
            </a:p>
          </p:txBody>
        </p:sp>
        <p:sp>
          <p:nvSpPr>
            <p:cNvPr id="69689" name="Rectangle 1167"/>
            <p:cNvSpPr>
              <a:spLocks noChangeArrowheads="1"/>
            </p:cNvSpPr>
            <p:nvPr/>
          </p:nvSpPr>
          <p:spPr bwMode="auto">
            <a:xfrm>
              <a:off x="3312" y="2627"/>
              <a:ext cx="280" cy="224"/>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6</a:t>
              </a:r>
              <a:endParaRPr lang="en-US" altLang="en-US" sz="1800" b="0">
                <a:ea typeface="Times New Roman" panose="02020603050405020304" pitchFamily="18" charset="0"/>
                <a:cs typeface="Arial" panose="020B0604020202020204" pitchFamily="34" charset="0"/>
              </a:endParaRPr>
            </a:p>
          </p:txBody>
        </p:sp>
        <p:sp>
          <p:nvSpPr>
            <p:cNvPr id="69690" name="Rectangle 1166"/>
            <p:cNvSpPr>
              <a:spLocks noChangeArrowheads="1"/>
            </p:cNvSpPr>
            <p:nvPr/>
          </p:nvSpPr>
          <p:spPr bwMode="auto">
            <a:xfrm>
              <a:off x="4685" y="2403"/>
              <a:ext cx="145"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200" b="0">
                  <a:latin typeface="Times New Roman" panose="02020603050405020304" pitchFamily="18" charset="0"/>
                  <a:cs typeface="Times New Roman" panose="02020603050405020304" pitchFamily="18" charset="0"/>
                </a:rPr>
                <a:t> </a:t>
              </a:r>
              <a:endParaRPr lang="en-US" altLang="en-US" sz="1800" b="0"/>
            </a:p>
          </p:txBody>
        </p:sp>
        <p:sp>
          <p:nvSpPr>
            <p:cNvPr id="69691" name="Rectangle 1165"/>
            <p:cNvSpPr>
              <a:spLocks noChangeArrowheads="1"/>
            </p:cNvSpPr>
            <p:nvPr/>
          </p:nvSpPr>
          <p:spPr bwMode="auto">
            <a:xfrm>
              <a:off x="4318" y="2403"/>
              <a:ext cx="367"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-6</a:t>
              </a:r>
              <a:endParaRPr lang="en-US" altLang="en-US" sz="1800" b="0">
                <a:ea typeface="Times New Roman" panose="02020603050405020304" pitchFamily="18" charset="0"/>
                <a:cs typeface="Arial" panose="020B0604020202020204" pitchFamily="34" charset="0"/>
              </a:endParaRPr>
            </a:p>
          </p:txBody>
        </p:sp>
        <p:sp>
          <p:nvSpPr>
            <p:cNvPr id="69692" name="Rectangle 1164"/>
            <p:cNvSpPr>
              <a:spLocks noChangeArrowheads="1"/>
            </p:cNvSpPr>
            <p:nvPr/>
          </p:nvSpPr>
          <p:spPr bwMode="auto">
            <a:xfrm>
              <a:off x="3955" y="2403"/>
              <a:ext cx="363"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2</a:t>
              </a:r>
              <a:endParaRPr lang="en-US" altLang="en-US" sz="1800" b="0">
                <a:ea typeface="Times New Roman" panose="02020603050405020304" pitchFamily="18" charset="0"/>
                <a:cs typeface="Arial" panose="020B0604020202020204" pitchFamily="34" charset="0"/>
              </a:endParaRPr>
            </a:p>
          </p:txBody>
        </p:sp>
        <p:sp>
          <p:nvSpPr>
            <p:cNvPr id="69693" name="Rectangle 1163"/>
            <p:cNvSpPr>
              <a:spLocks noChangeArrowheads="1"/>
            </p:cNvSpPr>
            <p:nvPr/>
          </p:nvSpPr>
          <p:spPr bwMode="auto">
            <a:xfrm>
              <a:off x="3592" y="2403"/>
              <a:ext cx="363"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1</a:t>
              </a:r>
              <a:endParaRPr lang="en-US" altLang="en-US" sz="1800" b="0">
                <a:ea typeface="Times New Roman" panose="02020603050405020304" pitchFamily="18" charset="0"/>
                <a:cs typeface="Arial" panose="020B0604020202020204" pitchFamily="34" charset="0"/>
              </a:endParaRPr>
            </a:p>
          </p:txBody>
        </p:sp>
        <p:sp>
          <p:nvSpPr>
            <p:cNvPr id="69694" name="Rectangle 1162"/>
            <p:cNvSpPr>
              <a:spLocks noChangeArrowheads="1"/>
            </p:cNvSpPr>
            <p:nvPr/>
          </p:nvSpPr>
          <p:spPr bwMode="auto">
            <a:xfrm>
              <a:off x="3312" y="2403"/>
              <a:ext cx="280" cy="224"/>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5</a:t>
              </a:r>
              <a:endParaRPr lang="en-US" altLang="en-US" sz="1800" b="0">
                <a:ea typeface="Times New Roman" panose="02020603050405020304" pitchFamily="18" charset="0"/>
                <a:cs typeface="Arial" panose="020B0604020202020204" pitchFamily="34" charset="0"/>
              </a:endParaRPr>
            </a:p>
          </p:txBody>
        </p:sp>
        <p:sp>
          <p:nvSpPr>
            <p:cNvPr id="69695" name="Rectangle 1160"/>
            <p:cNvSpPr>
              <a:spLocks noChangeArrowheads="1"/>
            </p:cNvSpPr>
            <p:nvPr/>
          </p:nvSpPr>
          <p:spPr bwMode="auto">
            <a:xfrm>
              <a:off x="4318" y="2180"/>
              <a:ext cx="367"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3</a:t>
              </a:r>
              <a:endParaRPr lang="en-US" altLang="en-US" sz="1800" b="0">
                <a:ea typeface="Times New Roman" panose="02020603050405020304" pitchFamily="18" charset="0"/>
                <a:cs typeface="Arial" panose="020B0604020202020204" pitchFamily="34" charset="0"/>
              </a:endParaRPr>
            </a:p>
          </p:txBody>
        </p:sp>
        <p:sp>
          <p:nvSpPr>
            <p:cNvPr id="69696" name="Rectangle 1159"/>
            <p:cNvSpPr>
              <a:spLocks noChangeArrowheads="1"/>
            </p:cNvSpPr>
            <p:nvPr/>
          </p:nvSpPr>
          <p:spPr bwMode="auto">
            <a:xfrm>
              <a:off x="3955" y="2180"/>
              <a:ext cx="363"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1</a:t>
              </a:r>
              <a:endParaRPr lang="en-US" altLang="en-US" sz="1800" b="0">
                <a:ea typeface="Times New Roman" panose="02020603050405020304" pitchFamily="18" charset="0"/>
                <a:cs typeface="Arial" panose="020B0604020202020204" pitchFamily="34" charset="0"/>
              </a:endParaRPr>
            </a:p>
          </p:txBody>
        </p:sp>
        <p:sp>
          <p:nvSpPr>
            <p:cNvPr id="69697" name="Rectangle 1158"/>
            <p:cNvSpPr>
              <a:spLocks noChangeArrowheads="1"/>
            </p:cNvSpPr>
            <p:nvPr/>
          </p:nvSpPr>
          <p:spPr bwMode="auto">
            <a:xfrm>
              <a:off x="3592" y="2180"/>
              <a:ext cx="363" cy="2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-6</a:t>
              </a:r>
              <a:endParaRPr lang="en-US" altLang="en-US" sz="1800" b="0">
                <a:ea typeface="Times New Roman" panose="02020603050405020304" pitchFamily="18" charset="0"/>
                <a:cs typeface="Arial" panose="020B0604020202020204" pitchFamily="34" charset="0"/>
              </a:endParaRPr>
            </a:p>
          </p:txBody>
        </p:sp>
        <p:sp>
          <p:nvSpPr>
            <p:cNvPr id="69698" name="Rectangle 1157"/>
            <p:cNvSpPr>
              <a:spLocks noChangeArrowheads="1"/>
            </p:cNvSpPr>
            <p:nvPr/>
          </p:nvSpPr>
          <p:spPr bwMode="auto">
            <a:xfrm>
              <a:off x="3312" y="2180"/>
              <a:ext cx="280" cy="223"/>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4</a:t>
              </a:r>
              <a:endParaRPr lang="en-US" altLang="en-US" sz="1800" b="0">
                <a:ea typeface="Times New Roman" panose="02020603050405020304" pitchFamily="18" charset="0"/>
                <a:cs typeface="Arial" panose="020B0604020202020204" pitchFamily="34" charset="0"/>
              </a:endParaRPr>
            </a:p>
          </p:txBody>
        </p:sp>
        <p:sp>
          <p:nvSpPr>
            <p:cNvPr id="69699" name="Rectangle 1154"/>
            <p:cNvSpPr>
              <a:spLocks noChangeArrowheads="1"/>
            </p:cNvSpPr>
            <p:nvPr/>
          </p:nvSpPr>
          <p:spPr bwMode="auto">
            <a:xfrm>
              <a:off x="3955" y="1956"/>
              <a:ext cx="363"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-2</a:t>
              </a:r>
              <a:endParaRPr lang="en-US" altLang="en-US" sz="1800" b="0">
                <a:ea typeface="Times New Roman" panose="02020603050405020304" pitchFamily="18" charset="0"/>
                <a:cs typeface="Arial" panose="020B0604020202020204" pitchFamily="34" charset="0"/>
              </a:endParaRPr>
            </a:p>
          </p:txBody>
        </p:sp>
        <p:sp>
          <p:nvSpPr>
            <p:cNvPr id="69700" name="Rectangle 1153"/>
            <p:cNvSpPr>
              <a:spLocks noChangeArrowheads="1"/>
            </p:cNvSpPr>
            <p:nvPr/>
          </p:nvSpPr>
          <p:spPr bwMode="auto">
            <a:xfrm>
              <a:off x="3592" y="1956"/>
              <a:ext cx="363"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1</a:t>
              </a:r>
              <a:endParaRPr lang="en-US" altLang="en-US" sz="1800" b="0">
                <a:ea typeface="Times New Roman" panose="02020603050405020304" pitchFamily="18" charset="0"/>
                <a:cs typeface="Arial" panose="020B0604020202020204" pitchFamily="34" charset="0"/>
              </a:endParaRPr>
            </a:p>
          </p:txBody>
        </p:sp>
        <p:sp>
          <p:nvSpPr>
            <p:cNvPr id="69701" name="Rectangle 1152"/>
            <p:cNvSpPr>
              <a:spLocks noChangeArrowheads="1"/>
            </p:cNvSpPr>
            <p:nvPr/>
          </p:nvSpPr>
          <p:spPr bwMode="auto">
            <a:xfrm>
              <a:off x="3312" y="1956"/>
              <a:ext cx="280" cy="224"/>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3</a:t>
              </a:r>
              <a:endParaRPr lang="en-US" altLang="en-US" sz="1800" b="0">
                <a:ea typeface="Times New Roman" panose="02020603050405020304" pitchFamily="18" charset="0"/>
                <a:cs typeface="Arial" panose="020B0604020202020204" pitchFamily="34" charset="0"/>
              </a:endParaRPr>
            </a:p>
          </p:txBody>
        </p:sp>
        <p:sp>
          <p:nvSpPr>
            <p:cNvPr id="69702" name="Rectangle 1150"/>
            <p:cNvSpPr>
              <a:spLocks noChangeArrowheads="1"/>
            </p:cNvSpPr>
            <p:nvPr/>
          </p:nvSpPr>
          <p:spPr bwMode="auto">
            <a:xfrm>
              <a:off x="4318" y="1732"/>
              <a:ext cx="367"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1</a:t>
              </a:r>
              <a:endParaRPr lang="en-US" altLang="en-US" sz="1800" b="0">
                <a:ea typeface="Times New Roman" panose="02020603050405020304" pitchFamily="18" charset="0"/>
                <a:cs typeface="Arial" panose="020B0604020202020204" pitchFamily="34" charset="0"/>
              </a:endParaRPr>
            </a:p>
          </p:txBody>
        </p:sp>
        <p:sp>
          <p:nvSpPr>
            <p:cNvPr id="69703" name="Rectangle 1149"/>
            <p:cNvSpPr>
              <a:spLocks noChangeArrowheads="1"/>
            </p:cNvSpPr>
            <p:nvPr/>
          </p:nvSpPr>
          <p:spPr bwMode="auto">
            <a:xfrm>
              <a:off x="3955" y="1732"/>
              <a:ext cx="363"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5</a:t>
              </a:r>
              <a:endParaRPr lang="en-US" altLang="en-US" sz="1800" b="0">
                <a:ea typeface="Times New Roman" panose="02020603050405020304" pitchFamily="18" charset="0"/>
                <a:cs typeface="Arial" panose="020B0604020202020204" pitchFamily="34" charset="0"/>
              </a:endParaRPr>
            </a:p>
          </p:txBody>
        </p:sp>
        <p:sp>
          <p:nvSpPr>
            <p:cNvPr id="69704" name="Rectangle 1148"/>
            <p:cNvSpPr>
              <a:spLocks noChangeArrowheads="1"/>
            </p:cNvSpPr>
            <p:nvPr/>
          </p:nvSpPr>
          <p:spPr bwMode="auto">
            <a:xfrm>
              <a:off x="3592" y="1732"/>
              <a:ext cx="363" cy="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-3</a:t>
              </a:r>
              <a:endParaRPr lang="en-US" altLang="en-US" sz="1800" b="0">
                <a:ea typeface="Times New Roman" panose="02020603050405020304" pitchFamily="18" charset="0"/>
                <a:cs typeface="Arial" panose="020B0604020202020204" pitchFamily="34" charset="0"/>
              </a:endParaRPr>
            </a:p>
          </p:txBody>
        </p:sp>
        <p:sp>
          <p:nvSpPr>
            <p:cNvPr id="69705" name="Rectangle 1147"/>
            <p:cNvSpPr>
              <a:spLocks noChangeArrowheads="1"/>
            </p:cNvSpPr>
            <p:nvPr/>
          </p:nvSpPr>
          <p:spPr bwMode="auto">
            <a:xfrm>
              <a:off x="3312" y="1732"/>
              <a:ext cx="280" cy="224"/>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2</a:t>
              </a:r>
              <a:endParaRPr lang="en-US" altLang="en-US" sz="1800" b="0">
                <a:ea typeface="Times New Roman" panose="02020603050405020304" pitchFamily="18" charset="0"/>
                <a:cs typeface="Arial" panose="020B0604020202020204" pitchFamily="34" charset="0"/>
              </a:endParaRPr>
            </a:p>
          </p:txBody>
        </p:sp>
        <p:sp>
          <p:nvSpPr>
            <p:cNvPr id="69706" name="Rectangle 1145"/>
            <p:cNvSpPr>
              <a:spLocks noChangeArrowheads="1"/>
            </p:cNvSpPr>
            <p:nvPr/>
          </p:nvSpPr>
          <p:spPr bwMode="auto">
            <a:xfrm>
              <a:off x="4318" y="1535"/>
              <a:ext cx="512"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5</a:t>
              </a:r>
              <a:endParaRPr lang="en-US" altLang="en-US" sz="1800" b="0">
                <a:ea typeface="Times New Roman" panose="02020603050405020304" pitchFamily="18" charset="0"/>
                <a:cs typeface="Arial" panose="020B0604020202020204" pitchFamily="34" charset="0"/>
              </a:endParaRPr>
            </a:p>
          </p:txBody>
        </p:sp>
        <p:sp>
          <p:nvSpPr>
            <p:cNvPr id="69707" name="Rectangle 1144"/>
            <p:cNvSpPr>
              <a:spLocks noChangeArrowheads="1"/>
            </p:cNvSpPr>
            <p:nvPr/>
          </p:nvSpPr>
          <p:spPr bwMode="auto">
            <a:xfrm>
              <a:off x="3955" y="1535"/>
              <a:ext cx="363"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2</a:t>
              </a:r>
              <a:endParaRPr lang="en-US" altLang="en-US" sz="1800" b="0">
                <a:ea typeface="Times New Roman" panose="02020603050405020304" pitchFamily="18" charset="0"/>
                <a:cs typeface="Arial" panose="020B0604020202020204" pitchFamily="34" charset="0"/>
              </a:endParaRPr>
            </a:p>
          </p:txBody>
        </p:sp>
        <p:sp>
          <p:nvSpPr>
            <p:cNvPr id="69708" name="Rectangle 1143"/>
            <p:cNvSpPr>
              <a:spLocks noChangeArrowheads="1"/>
            </p:cNvSpPr>
            <p:nvPr/>
          </p:nvSpPr>
          <p:spPr bwMode="auto">
            <a:xfrm>
              <a:off x="3592" y="1535"/>
              <a:ext cx="363"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3</a:t>
              </a:r>
              <a:endParaRPr lang="en-US" altLang="en-US" sz="1800" b="0">
                <a:ea typeface="Times New Roman" panose="02020603050405020304" pitchFamily="18" charset="0"/>
                <a:cs typeface="Arial" panose="020B0604020202020204" pitchFamily="34" charset="0"/>
              </a:endParaRPr>
            </a:p>
          </p:txBody>
        </p:sp>
        <p:sp>
          <p:nvSpPr>
            <p:cNvPr id="69709" name="Rectangle 1142"/>
            <p:cNvSpPr>
              <a:spLocks noChangeArrowheads="1"/>
            </p:cNvSpPr>
            <p:nvPr/>
          </p:nvSpPr>
          <p:spPr bwMode="auto">
            <a:xfrm>
              <a:off x="3312" y="1535"/>
              <a:ext cx="280" cy="197"/>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1</a:t>
              </a:r>
              <a:endParaRPr lang="en-US" altLang="en-US" sz="1800" b="0">
                <a:ea typeface="Times New Roman" panose="02020603050405020304" pitchFamily="18" charset="0"/>
                <a:cs typeface="Arial" panose="020B0604020202020204" pitchFamily="34" charset="0"/>
              </a:endParaRPr>
            </a:p>
          </p:txBody>
        </p:sp>
        <p:sp>
          <p:nvSpPr>
            <p:cNvPr id="69710" name="Line 1172"/>
            <p:cNvSpPr>
              <a:spLocks noChangeShapeType="1"/>
            </p:cNvSpPr>
            <p:nvPr/>
          </p:nvSpPr>
          <p:spPr bwMode="auto">
            <a:xfrm>
              <a:off x="3312" y="1535"/>
              <a:ext cx="1518"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11" name="Line 1173"/>
            <p:cNvSpPr>
              <a:spLocks noChangeShapeType="1"/>
            </p:cNvSpPr>
            <p:nvPr/>
          </p:nvSpPr>
          <p:spPr bwMode="auto">
            <a:xfrm>
              <a:off x="3312" y="2851"/>
              <a:ext cx="643"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12" name="Line 1174"/>
            <p:cNvSpPr>
              <a:spLocks noChangeShapeType="1"/>
            </p:cNvSpPr>
            <p:nvPr/>
          </p:nvSpPr>
          <p:spPr bwMode="auto">
            <a:xfrm>
              <a:off x="3312" y="1535"/>
              <a:ext cx="0" cy="1316"/>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13" name="Line 1175"/>
            <p:cNvSpPr>
              <a:spLocks noChangeShapeType="1"/>
            </p:cNvSpPr>
            <p:nvPr/>
          </p:nvSpPr>
          <p:spPr bwMode="auto">
            <a:xfrm>
              <a:off x="4830" y="1535"/>
              <a:ext cx="0" cy="197"/>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14" name="Line 1178"/>
            <p:cNvSpPr>
              <a:spLocks noChangeShapeType="1"/>
            </p:cNvSpPr>
            <p:nvPr/>
          </p:nvSpPr>
          <p:spPr bwMode="auto">
            <a:xfrm>
              <a:off x="3312" y="1732"/>
              <a:ext cx="1518"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15" name="Line 1180"/>
            <p:cNvSpPr>
              <a:spLocks noChangeShapeType="1"/>
            </p:cNvSpPr>
            <p:nvPr/>
          </p:nvSpPr>
          <p:spPr bwMode="auto">
            <a:xfrm>
              <a:off x="3592" y="1535"/>
              <a:ext cx="0" cy="1316"/>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16" name="Line 1183"/>
            <p:cNvSpPr>
              <a:spLocks noChangeShapeType="1"/>
            </p:cNvSpPr>
            <p:nvPr/>
          </p:nvSpPr>
          <p:spPr bwMode="auto">
            <a:xfrm>
              <a:off x="3955" y="1535"/>
              <a:ext cx="0" cy="1316"/>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17" name="Line 1186"/>
            <p:cNvSpPr>
              <a:spLocks noChangeShapeType="1"/>
            </p:cNvSpPr>
            <p:nvPr/>
          </p:nvSpPr>
          <p:spPr bwMode="auto">
            <a:xfrm>
              <a:off x="4318" y="1535"/>
              <a:ext cx="0" cy="1092"/>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18" name="Line 1192"/>
            <p:cNvSpPr>
              <a:spLocks noChangeShapeType="1"/>
            </p:cNvSpPr>
            <p:nvPr/>
          </p:nvSpPr>
          <p:spPr bwMode="auto">
            <a:xfrm>
              <a:off x="3312" y="1956"/>
              <a:ext cx="1373"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19" name="Line 1209"/>
            <p:cNvSpPr>
              <a:spLocks noChangeShapeType="1"/>
            </p:cNvSpPr>
            <p:nvPr/>
          </p:nvSpPr>
          <p:spPr bwMode="auto">
            <a:xfrm>
              <a:off x="4685" y="1732"/>
              <a:ext cx="0" cy="224"/>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20" name="Line 1214"/>
            <p:cNvSpPr>
              <a:spLocks noChangeShapeType="1"/>
            </p:cNvSpPr>
            <p:nvPr/>
          </p:nvSpPr>
          <p:spPr bwMode="auto">
            <a:xfrm>
              <a:off x="3312" y="2180"/>
              <a:ext cx="1373"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21" name="Line 1233"/>
            <p:cNvSpPr>
              <a:spLocks noChangeShapeType="1"/>
            </p:cNvSpPr>
            <p:nvPr/>
          </p:nvSpPr>
          <p:spPr bwMode="auto">
            <a:xfrm>
              <a:off x="3312" y="2403"/>
              <a:ext cx="1373"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22" name="Line 1248"/>
            <p:cNvSpPr>
              <a:spLocks noChangeShapeType="1"/>
            </p:cNvSpPr>
            <p:nvPr/>
          </p:nvSpPr>
          <p:spPr bwMode="auto">
            <a:xfrm>
              <a:off x="4685" y="2180"/>
              <a:ext cx="0" cy="447"/>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23" name="Line 1252"/>
            <p:cNvSpPr>
              <a:spLocks noChangeShapeType="1"/>
            </p:cNvSpPr>
            <p:nvPr/>
          </p:nvSpPr>
          <p:spPr bwMode="auto">
            <a:xfrm>
              <a:off x="3312" y="2627"/>
              <a:ext cx="1373"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24" name="Rectangle 1401"/>
            <p:cNvSpPr>
              <a:spLocks noChangeArrowheads="1"/>
            </p:cNvSpPr>
            <p:nvPr/>
          </p:nvSpPr>
          <p:spPr bwMode="auto">
            <a:xfrm>
              <a:off x="677" y="3191"/>
              <a:ext cx="1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b="0"/>
            </a:p>
          </p:txBody>
        </p:sp>
        <p:sp>
          <p:nvSpPr>
            <p:cNvPr id="69725" name="Line 1757"/>
            <p:cNvSpPr>
              <a:spLocks noChangeShapeType="1"/>
            </p:cNvSpPr>
            <p:nvPr/>
          </p:nvSpPr>
          <p:spPr bwMode="auto">
            <a:xfrm>
              <a:off x="681" y="1680"/>
              <a:ext cx="0" cy="1104"/>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9726" name="Text Box 1758"/>
            <p:cNvSpPr txBox="1">
              <a:spLocks noChangeArrowheads="1"/>
            </p:cNvSpPr>
            <p:nvPr/>
          </p:nvSpPr>
          <p:spPr bwMode="auto">
            <a:xfrm>
              <a:off x="624" y="1104"/>
              <a:ext cx="10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1800"/>
                <a:t>Step 1</a:t>
              </a:r>
            </a:p>
          </p:txBody>
        </p:sp>
        <p:sp>
          <p:nvSpPr>
            <p:cNvPr id="69727" name="Text Box 1759"/>
            <p:cNvSpPr txBox="1">
              <a:spLocks noChangeArrowheads="1"/>
            </p:cNvSpPr>
            <p:nvPr/>
          </p:nvSpPr>
          <p:spPr bwMode="auto">
            <a:xfrm>
              <a:off x="3360" y="1107"/>
              <a:ext cx="105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1800"/>
                <a:t>Step 2</a:t>
              </a:r>
            </a:p>
          </p:txBody>
        </p:sp>
      </p:grpSp>
      <p:graphicFrame>
        <p:nvGraphicFramePr>
          <p:cNvPr id="69643"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69740"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FA3E5BF5-65E1-4793-ADDA-AA31D189F3A5}" type="slidenum">
              <a:rPr lang="en-US" altLang="en-US" sz="1200" smtClean="0">
                <a:latin typeface="Garamond" panose="02020404030301010803" pitchFamily="18" charset="0"/>
              </a:rPr>
              <a:pPr>
                <a:spcBef>
                  <a:spcPct val="0"/>
                </a:spcBef>
                <a:buClrTx/>
                <a:buSzTx/>
                <a:buFontTx/>
                <a:buNone/>
              </a:pPr>
              <a:t>60</a:t>
            </a:fld>
            <a:endParaRPr lang="en-US" altLang="en-US" sz="1200" smtClean="0">
              <a:latin typeface="Garamond" panose="02020404030301010803" pitchFamily="18" charset="0"/>
            </a:endParaRPr>
          </a:p>
        </p:txBody>
      </p:sp>
      <p:sp>
        <p:nvSpPr>
          <p:cNvPr id="70659" name="Rectangle 2"/>
          <p:cNvSpPr>
            <a:spLocks noGrp="1" noChangeArrowheads="1"/>
          </p:cNvSpPr>
          <p:nvPr>
            <p:ph type="title"/>
          </p:nvPr>
        </p:nvSpPr>
        <p:spPr/>
        <p:txBody>
          <a:bodyPr/>
          <a:lstStyle/>
          <a:p>
            <a:pPr algn="ctr" eaLnBrk="1" hangingPunct="1"/>
            <a:r>
              <a:rPr lang="en-US" altLang="en-US" sz="3600" b="1" u="sng" smtClean="0"/>
              <a:t>Example Of Enhanced Edge Recombination Operator</a:t>
            </a:r>
            <a:r>
              <a:rPr lang="en-US" altLang="en-US" sz="3800" smtClean="0"/>
              <a:t> (contd.)</a:t>
            </a:r>
          </a:p>
        </p:txBody>
      </p:sp>
      <p:grpSp>
        <p:nvGrpSpPr>
          <p:cNvPr id="70660" name="Group 5"/>
          <p:cNvGrpSpPr>
            <a:grpSpLocks/>
          </p:cNvGrpSpPr>
          <p:nvPr/>
        </p:nvGrpSpPr>
        <p:grpSpPr bwMode="auto">
          <a:xfrm>
            <a:off x="1252538" y="5151438"/>
            <a:ext cx="1679575" cy="298450"/>
            <a:chOff x="4500" y="6480"/>
            <a:chExt cx="2175" cy="360"/>
          </a:xfrm>
        </p:grpSpPr>
        <p:sp>
          <p:nvSpPr>
            <p:cNvPr id="70739" name="Rectangle 6"/>
            <p:cNvSpPr>
              <a:spLocks noChangeArrowheads="1"/>
            </p:cNvSpPr>
            <p:nvPr/>
          </p:nvSpPr>
          <p:spPr bwMode="auto">
            <a:xfrm>
              <a:off x="450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70740" name="Rectangle 7"/>
            <p:cNvSpPr>
              <a:spLocks noChangeArrowheads="1"/>
            </p:cNvSpPr>
            <p:nvPr/>
          </p:nvSpPr>
          <p:spPr bwMode="auto">
            <a:xfrm>
              <a:off x="486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70741" name="Rectangle 8"/>
            <p:cNvSpPr>
              <a:spLocks noChangeArrowheads="1"/>
            </p:cNvSpPr>
            <p:nvPr/>
          </p:nvSpPr>
          <p:spPr bwMode="auto">
            <a:xfrm>
              <a:off x="522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70742" name="Rectangle 9"/>
            <p:cNvSpPr>
              <a:spLocks noChangeArrowheads="1"/>
            </p:cNvSpPr>
            <p:nvPr/>
          </p:nvSpPr>
          <p:spPr bwMode="auto">
            <a:xfrm>
              <a:off x="558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70743" name="Rectangle 10"/>
            <p:cNvSpPr>
              <a:spLocks noChangeArrowheads="1"/>
            </p:cNvSpPr>
            <p:nvPr/>
          </p:nvSpPr>
          <p:spPr bwMode="auto">
            <a:xfrm>
              <a:off x="594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70744" name="Rectangle 11"/>
            <p:cNvSpPr>
              <a:spLocks noChangeArrowheads="1"/>
            </p:cNvSpPr>
            <p:nvPr/>
          </p:nvSpPr>
          <p:spPr bwMode="auto">
            <a:xfrm>
              <a:off x="630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grpSp>
      <p:sp>
        <p:nvSpPr>
          <p:cNvPr id="70661" name="Line 12"/>
          <p:cNvSpPr>
            <a:spLocks noChangeShapeType="1"/>
          </p:cNvSpPr>
          <p:nvPr/>
        </p:nvSpPr>
        <p:spPr bwMode="auto">
          <a:xfrm>
            <a:off x="1947863" y="4826000"/>
            <a:ext cx="0" cy="30003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0662" name="Text Box 13"/>
          <p:cNvSpPr txBox="1">
            <a:spLocks noChangeArrowheads="1"/>
          </p:cNvSpPr>
          <p:nvPr/>
        </p:nvSpPr>
        <p:spPr bwMode="auto">
          <a:xfrm>
            <a:off x="1195388" y="5064125"/>
            <a:ext cx="1793875" cy="449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600">
                <a:cs typeface="Times New Roman" panose="02020603050405020304" pitchFamily="18" charset="0"/>
              </a:rPr>
              <a:t> 4   6    5</a:t>
            </a:r>
            <a:endParaRPr lang="en-US" altLang="en-US" sz="1800" b="0"/>
          </a:p>
        </p:txBody>
      </p:sp>
      <p:sp>
        <p:nvSpPr>
          <p:cNvPr id="70663" name="Rectangle 15"/>
          <p:cNvSpPr>
            <a:spLocks noChangeArrowheads="1"/>
          </p:cNvSpPr>
          <p:nvPr/>
        </p:nvSpPr>
        <p:spPr bwMode="auto">
          <a:xfrm>
            <a:off x="5349875" y="5148263"/>
            <a:ext cx="288925" cy="300037"/>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70664" name="Rectangle 16"/>
          <p:cNvSpPr>
            <a:spLocks noChangeArrowheads="1"/>
          </p:cNvSpPr>
          <p:nvPr/>
        </p:nvSpPr>
        <p:spPr bwMode="auto">
          <a:xfrm>
            <a:off x="5627688" y="5148263"/>
            <a:ext cx="290512" cy="300037"/>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70665" name="Rectangle 17"/>
          <p:cNvSpPr>
            <a:spLocks noChangeArrowheads="1"/>
          </p:cNvSpPr>
          <p:nvPr/>
        </p:nvSpPr>
        <p:spPr bwMode="auto">
          <a:xfrm>
            <a:off x="5905500" y="5148263"/>
            <a:ext cx="290513" cy="300037"/>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70666" name="Rectangle 18"/>
          <p:cNvSpPr>
            <a:spLocks noChangeArrowheads="1"/>
          </p:cNvSpPr>
          <p:nvPr/>
        </p:nvSpPr>
        <p:spPr bwMode="auto">
          <a:xfrm>
            <a:off x="6183313" y="5148263"/>
            <a:ext cx="290512" cy="300037"/>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70667" name="Rectangle 19"/>
          <p:cNvSpPr>
            <a:spLocks noChangeArrowheads="1"/>
          </p:cNvSpPr>
          <p:nvPr/>
        </p:nvSpPr>
        <p:spPr bwMode="auto">
          <a:xfrm>
            <a:off x="6461125" y="5148263"/>
            <a:ext cx="290513" cy="300037"/>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70668" name="Rectangle 20"/>
          <p:cNvSpPr>
            <a:spLocks noChangeArrowheads="1"/>
          </p:cNvSpPr>
          <p:nvPr/>
        </p:nvSpPr>
        <p:spPr bwMode="auto">
          <a:xfrm>
            <a:off x="6740525" y="5148263"/>
            <a:ext cx="288925" cy="300037"/>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70669" name="Line 21"/>
          <p:cNvSpPr>
            <a:spLocks noChangeShapeType="1"/>
          </p:cNvSpPr>
          <p:nvPr/>
        </p:nvSpPr>
        <p:spPr bwMode="auto">
          <a:xfrm>
            <a:off x="6323013" y="4824413"/>
            <a:ext cx="0" cy="30003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0670" name="Text Box 22"/>
          <p:cNvSpPr txBox="1">
            <a:spLocks noChangeArrowheads="1"/>
          </p:cNvSpPr>
          <p:nvPr/>
        </p:nvSpPr>
        <p:spPr bwMode="auto">
          <a:xfrm>
            <a:off x="5292725" y="5113338"/>
            <a:ext cx="1793875" cy="44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600">
                <a:cs typeface="Times New Roman" panose="02020603050405020304" pitchFamily="18" charset="0"/>
              </a:rPr>
              <a:t> 4    6  5   1</a:t>
            </a:r>
            <a:endParaRPr lang="en-US" altLang="en-US" sz="1800" b="0"/>
          </a:p>
        </p:txBody>
      </p:sp>
      <p:sp>
        <p:nvSpPr>
          <p:cNvPr id="70671" name="Rectangle 23"/>
          <p:cNvSpPr>
            <a:spLocks noChangeArrowheads="1"/>
          </p:cNvSpPr>
          <p:nvPr/>
        </p:nvSpPr>
        <p:spPr bwMode="auto">
          <a:xfrm>
            <a:off x="5808663" y="4303713"/>
            <a:ext cx="1125537"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200" b="0">
                <a:latin typeface="Times New Roman" panose="02020603050405020304" pitchFamily="18" charset="0"/>
                <a:cs typeface="Times New Roman" panose="02020603050405020304" pitchFamily="18" charset="0"/>
              </a:rPr>
              <a:t> </a:t>
            </a:r>
            <a:endParaRPr lang="en-US" altLang="en-US" sz="1800" b="0"/>
          </a:p>
        </p:txBody>
      </p:sp>
      <p:sp>
        <p:nvSpPr>
          <p:cNvPr id="70672" name="Rectangle 24"/>
          <p:cNvSpPr>
            <a:spLocks noChangeArrowheads="1"/>
          </p:cNvSpPr>
          <p:nvPr/>
        </p:nvSpPr>
        <p:spPr bwMode="auto">
          <a:xfrm>
            <a:off x="5373688" y="4303713"/>
            <a:ext cx="434975" cy="420687"/>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6</a:t>
            </a:r>
            <a:endParaRPr lang="en-US" altLang="en-US" sz="1800" b="0">
              <a:ea typeface="Times New Roman" panose="02020603050405020304" pitchFamily="18" charset="0"/>
              <a:cs typeface="Arial" panose="020B0604020202020204" pitchFamily="34" charset="0"/>
            </a:endParaRPr>
          </a:p>
        </p:txBody>
      </p:sp>
      <p:sp>
        <p:nvSpPr>
          <p:cNvPr id="70673" name="Rectangle 25"/>
          <p:cNvSpPr>
            <a:spLocks noChangeArrowheads="1"/>
          </p:cNvSpPr>
          <p:nvPr/>
        </p:nvSpPr>
        <p:spPr bwMode="auto">
          <a:xfrm>
            <a:off x="6370638" y="3929063"/>
            <a:ext cx="563562"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2</a:t>
            </a:r>
            <a:endParaRPr lang="en-US" altLang="en-US" sz="1800" b="0">
              <a:ea typeface="Times New Roman" panose="02020603050405020304" pitchFamily="18" charset="0"/>
              <a:cs typeface="Arial" panose="020B0604020202020204" pitchFamily="34" charset="0"/>
            </a:endParaRPr>
          </a:p>
        </p:txBody>
      </p:sp>
      <p:sp>
        <p:nvSpPr>
          <p:cNvPr id="70674" name="Rectangle 26"/>
          <p:cNvSpPr>
            <a:spLocks noChangeArrowheads="1"/>
          </p:cNvSpPr>
          <p:nvPr/>
        </p:nvSpPr>
        <p:spPr bwMode="auto">
          <a:xfrm>
            <a:off x="5808663" y="3929063"/>
            <a:ext cx="561975" cy="374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1</a:t>
            </a:r>
            <a:endParaRPr lang="en-US" altLang="en-US" sz="1800" b="0">
              <a:ea typeface="Times New Roman" panose="02020603050405020304" pitchFamily="18" charset="0"/>
              <a:cs typeface="Arial" panose="020B0604020202020204" pitchFamily="34" charset="0"/>
            </a:endParaRPr>
          </a:p>
        </p:txBody>
      </p:sp>
      <p:sp>
        <p:nvSpPr>
          <p:cNvPr id="70675" name="Rectangle 27"/>
          <p:cNvSpPr>
            <a:spLocks noChangeArrowheads="1"/>
          </p:cNvSpPr>
          <p:nvPr/>
        </p:nvSpPr>
        <p:spPr bwMode="auto">
          <a:xfrm>
            <a:off x="5373688" y="3929063"/>
            <a:ext cx="434975" cy="374650"/>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5</a:t>
            </a:r>
            <a:endParaRPr lang="en-US" altLang="en-US" sz="1800" b="0">
              <a:ea typeface="Times New Roman" panose="02020603050405020304" pitchFamily="18" charset="0"/>
              <a:cs typeface="Arial" panose="020B0604020202020204" pitchFamily="34" charset="0"/>
            </a:endParaRPr>
          </a:p>
        </p:txBody>
      </p:sp>
      <p:sp>
        <p:nvSpPr>
          <p:cNvPr id="70676" name="Rectangle 28"/>
          <p:cNvSpPr>
            <a:spLocks noChangeArrowheads="1"/>
          </p:cNvSpPr>
          <p:nvPr/>
        </p:nvSpPr>
        <p:spPr bwMode="auto">
          <a:xfrm>
            <a:off x="6370638" y="3557588"/>
            <a:ext cx="563562"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3</a:t>
            </a:r>
            <a:endParaRPr lang="en-US" altLang="en-US" sz="1800" b="0">
              <a:ea typeface="Times New Roman" panose="02020603050405020304" pitchFamily="18" charset="0"/>
              <a:cs typeface="Arial" panose="020B0604020202020204" pitchFamily="34" charset="0"/>
            </a:endParaRPr>
          </a:p>
        </p:txBody>
      </p:sp>
      <p:sp>
        <p:nvSpPr>
          <p:cNvPr id="70677" name="Rectangle 29"/>
          <p:cNvSpPr>
            <a:spLocks noChangeArrowheads="1"/>
          </p:cNvSpPr>
          <p:nvPr/>
        </p:nvSpPr>
        <p:spPr bwMode="auto">
          <a:xfrm>
            <a:off x="5808663" y="3557588"/>
            <a:ext cx="561975" cy="37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1</a:t>
            </a:r>
            <a:endParaRPr lang="en-US" altLang="en-US" sz="1800" b="0">
              <a:ea typeface="Times New Roman" panose="02020603050405020304" pitchFamily="18" charset="0"/>
              <a:cs typeface="Arial" panose="020B0604020202020204" pitchFamily="34" charset="0"/>
            </a:endParaRPr>
          </a:p>
        </p:txBody>
      </p:sp>
      <p:sp>
        <p:nvSpPr>
          <p:cNvPr id="70678" name="Rectangle 30"/>
          <p:cNvSpPr>
            <a:spLocks noChangeArrowheads="1"/>
          </p:cNvSpPr>
          <p:nvPr/>
        </p:nvSpPr>
        <p:spPr bwMode="auto">
          <a:xfrm>
            <a:off x="5373688" y="3557588"/>
            <a:ext cx="434975" cy="371475"/>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4</a:t>
            </a:r>
            <a:endParaRPr lang="en-US" altLang="en-US" sz="1800" b="0">
              <a:ea typeface="Times New Roman" panose="02020603050405020304" pitchFamily="18" charset="0"/>
              <a:cs typeface="Arial" panose="020B0604020202020204" pitchFamily="34" charset="0"/>
            </a:endParaRPr>
          </a:p>
        </p:txBody>
      </p:sp>
      <p:sp>
        <p:nvSpPr>
          <p:cNvPr id="70679" name="Rectangle 31"/>
          <p:cNvSpPr>
            <a:spLocks noChangeArrowheads="1"/>
          </p:cNvSpPr>
          <p:nvPr/>
        </p:nvSpPr>
        <p:spPr bwMode="auto">
          <a:xfrm>
            <a:off x="6370638" y="3184525"/>
            <a:ext cx="563562"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-2</a:t>
            </a:r>
            <a:endParaRPr lang="en-US" altLang="en-US" sz="1800" b="0">
              <a:ea typeface="Times New Roman" panose="02020603050405020304" pitchFamily="18" charset="0"/>
              <a:cs typeface="Arial" panose="020B0604020202020204" pitchFamily="34" charset="0"/>
            </a:endParaRPr>
          </a:p>
        </p:txBody>
      </p:sp>
      <p:sp>
        <p:nvSpPr>
          <p:cNvPr id="70680" name="Rectangle 32"/>
          <p:cNvSpPr>
            <a:spLocks noChangeArrowheads="1"/>
          </p:cNvSpPr>
          <p:nvPr/>
        </p:nvSpPr>
        <p:spPr bwMode="auto">
          <a:xfrm>
            <a:off x="5808663" y="3184525"/>
            <a:ext cx="561975"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1</a:t>
            </a:r>
            <a:endParaRPr lang="en-US" altLang="en-US" sz="1800" b="0">
              <a:ea typeface="Times New Roman" panose="02020603050405020304" pitchFamily="18" charset="0"/>
              <a:cs typeface="Arial" panose="020B0604020202020204" pitchFamily="34" charset="0"/>
            </a:endParaRPr>
          </a:p>
        </p:txBody>
      </p:sp>
      <p:sp>
        <p:nvSpPr>
          <p:cNvPr id="70681" name="Rectangle 33"/>
          <p:cNvSpPr>
            <a:spLocks noChangeArrowheads="1"/>
          </p:cNvSpPr>
          <p:nvPr/>
        </p:nvSpPr>
        <p:spPr bwMode="auto">
          <a:xfrm>
            <a:off x="5373688" y="3184525"/>
            <a:ext cx="434975" cy="373063"/>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3</a:t>
            </a:r>
            <a:endParaRPr lang="en-US" altLang="en-US" sz="1800" b="0">
              <a:ea typeface="Times New Roman" panose="02020603050405020304" pitchFamily="18" charset="0"/>
              <a:cs typeface="Arial" panose="020B0604020202020204" pitchFamily="34" charset="0"/>
            </a:endParaRPr>
          </a:p>
        </p:txBody>
      </p:sp>
      <p:sp>
        <p:nvSpPr>
          <p:cNvPr id="70682" name="Rectangle 34"/>
          <p:cNvSpPr>
            <a:spLocks noChangeArrowheads="1"/>
          </p:cNvSpPr>
          <p:nvPr/>
        </p:nvSpPr>
        <p:spPr bwMode="auto">
          <a:xfrm>
            <a:off x="6370638" y="2811463"/>
            <a:ext cx="563562"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1</a:t>
            </a:r>
            <a:endParaRPr lang="en-US" altLang="en-US" sz="1800" b="0">
              <a:ea typeface="Times New Roman" panose="02020603050405020304" pitchFamily="18" charset="0"/>
              <a:cs typeface="Arial" panose="020B0604020202020204" pitchFamily="34" charset="0"/>
            </a:endParaRPr>
          </a:p>
        </p:txBody>
      </p:sp>
      <p:sp>
        <p:nvSpPr>
          <p:cNvPr id="70683" name="Rectangle 35"/>
          <p:cNvSpPr>
            <a:spLocks noChangeArrowheads="1"/>
          </p:cNvSpPr>
          <p:nvPr/>
        </p:nvSpPr>
        <p:spPr bwMode="auto">
          <a:xfrm>
            <a:off x="5808663" y="2811463"/>
            <a:ext cx="561975" cy="373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-3</a:t>
            </a:r>
            <a:endParaRPr lang="en-US" altLang="en-US" sz="1800" b="0">
              <a:ea typeface="Times New Roman" panose="02020603050405020304" pitchFamily="18" charset="0"/>
              <a:cs typeface="Arial" panose="020B0604020202020204" pitchFamily="34" charset="0"/>
            </a:endParaRPr>
          </a:p>
        </p:txBody>
      </p:sp>
      <p:sp>
        <p:nvSpPr>
          <p:cNvPr id="70684" name="Rectangle 36"/>
          <p:cNvSpPr>
            <a:spLocks noChangeArrowheads="1"/>
          </p:cNvSpPr>
          <p:nvPr/>
        </p:nvSpPr>
        <p:spPr bwMode="auto">
          <a:xfrm>
            <a:off x="5373688" y="2811463"/>
            <a:ext cx="434975" cy="373062"/>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2</a:t>
            </a:r>
            <a:endParaRPr lang="en-US" altLang="en-US" sz="1800" b="0">
              <a:ea typeface="Times New Roman" panose="02020603050405020304" pitchFamily="18" charset="0"/>
              <a:cs typeface="Arial" panose="020B0604020202020204" pitchFamily="34" charset="0"/>
            </a:endParaRPr>
          </a:p>
        </p:txBody>
      </p:sp>
      <p:sp>
        <p:nvSpPr>
          <p:cNvPr id="70685" name="Rectangle 37"/>
          <p:cNvSpPr>
            <a:spLocks noChangeArrowheads="1"/>
          </p:cNvSpPr>
          <p:nvPr/>
        </p:nvSpPr>
        <p:spPr bwMode="auto">
          <a:xfrm>
            <a:off x="6370638" y="2438400"/>
            <a:ext cx="563562"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2</a:t>
            </a:r>
            <a:endParaRPr lang="en-US" altLang="en-US" sz="1800" b="0">
              <a:ea typeface="Times New Roman" panose="02020603050405020304" pitchFamily="18" charset="0"/>
              <a:cs typeface="Arial" panose="020B0604020202020204" pitchFamily="34" charset="0"/>
            </a:endParaRPr>
          </a:p>
        </p:txBody>
      </p:sp>
      <p:sp>
        <p:nvSpPr>
          <p:cNvPr id="70686" name="Rectangle 38"/>
          <p:cNvSpPr>
            <a:spLocks noChangeArrowheads="1"/>
          </p:cNvSpPr>
          <p:nvPr/>
        </p:nvSpPr>
        <p:spPr bwMode="auto">
          <a:xfrm>
            <a:off x="5808663" y="2438400"/>
            <a:ext cx="561975" cy="37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3</a:t>
            </a:r>
            <a:endParaRPr lang="en-US" altLang="en-US" sz="1800" b="0">
              <a:ea typeface="Times New Roman" panose="02020603050405020304" pitchFamily="18" charset="0"/>
              <a:cs typeface="Arial" panose="020B0604020202020204" pitchFamily="34" charset="0"/>
            </a:endParaRPr>
          </a:p>
        </p:txBody>
      </p:sp>
      <p:sp>
        <p:nvSpPr>
          <p:cNvPr id="70687" name="Rectangle 39"/>
          <p:cNvSpPr>
            <a:spLocks noChangeArrowheads="1"/>
          </p:cNvSpPr>
          <p:nvPr/>
        </p:nvSpPr>
        <p:spPr bwMode="auto">
          <a:xfrm>
            <a:off x="5373688" y="2438400"/>
            <a:ext cx="434975" cy="373063"/>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1</a:t>
            </a:r>
            <a:endParaRPr lang="en-US" altLang="en-US" sz="1800" b="0">
              <a:ea typeface="Times New Roman" panose="02020603050405020304" pitchFamily="18" charset="0"/>
              <a:cs typeface="Arial" panose="020B0604020202020204" pitchFamily="34" charset="0"/>
            </a:endParaRPr>
          </a:p>
        </p:txBody>
      </p:sp>
      <p:sp>
        <p:nvSpPr>
          <p:cNvPr id="70688" name="Line 40"/>
          <p:cNvSpPr>
            <a:spLocks noChangeShapeType="1"/>
          </p:cNvSpPr>
          <p:nvPr/>
        </p:nvSpPr>
        <p:spPr bwMode="auto">
          <a:xfrm>
            <a:off x="5373688" y="2438400"/>
            <a:ext cx="1560512"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89" name="Line 41"/>
          <p:cNvSpPr>
            <a:spLocks noChangeShapeType="1"/>
          </p:cNvSpPr>
          <p:nvPr/>
        </p:nvSpPr>
        <p:spPr bwMode="auto">
          <a:xfrm>
            <a:off x="5373688" y="4724400"/>
            <a:ext cx="434975"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90" name="Line 42"/>
          <p:cNvSpPr>
            <a:spLocks noChangeShapeType="1"/>
          </p:cNvSpPr>
          <p:nvPr/>
        </p:nvSpPr>
        <p:spPr bwMode="auto">
          <a:xfrm>
            <a:off x="5373688" y="2438400"/>
            <a:ext cx="0" cy="228600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91" name="Line 43"/>
          <p:cNvSpPr>
            <a:spLocks noChangeShapeType="1"/>
          </p:cNvSpPr>
          <p:nvPr/>
        </p:nvSpPr>
        <p:spPr bwMode="auto">
          <a:xfrm>
            <a:off x="6934200" y="2438400"/>
            <a:ext cx="0" cy="1865313"/>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92" name="Line 44"/>
          <p:cNvSpPr>
            <a:spLocks noChangeShapeType="1"/>
          </p:cNvSpPr>
          <p:nvPr/>
        </p:nvSpPr>
        <p:spPr bwMode="auto">
          <a:xfrm>
            <a:off x="5373688" y="2811463"/>
            <a:ext cx="1560512"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93" name="Line 45"/>
          <p:cNvSpPr>
            <a:spLocks noChangeShapeType="1"/>
          </p:cNvSpPr>
          <p:nvPr/>
        </p:nvSpPr>
        <p:spPr bwMode="auto">
          <a:xfrm>
            <a:off x="5808663" y="2438400"/>
            <a:ext cx="0" cy="228600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94" name="Line 46"/>
          <p:cNvSpPr>
            <a:spLocks noChangeShapeType="1"/>
          </p:cNvSpPr>
          <p:nvPr/>
        </p:nvSpPr>
        <p:spPr bwMode="auto">
          <a:xfrm>
            <a:off x="6370638" y="2438400"/>
            <a:ext cx="0" cy="1865313"/>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95" name="Line 47"/>
          <p:cNvSpPr>
            <a:spLocks noChangeShapeType="1"/>
          </p:cNvSpPr>
          <p:nvPr/>
        </p:nvSpPr>
        <p:spPr bwMode="auto">
          <a:xfrm>
            <a:off x="5373688" y="3184525"/>
            <a:ext cx="1560512"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96" name="Line 48"/>
          <p:cNvSpPr>
            <a:spLocks noChangeShapeType="1"/>
          </p:cNvSpPr>
          <p:nvPr/>
        </p:nvSpPr>
        <p:spPr bwMode="auto">
          <a:xfrm>
            <a:off x="5373688" y="3557588"/>
            <a:ext cx="1560512"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97" name="Line 49"/>
          <p:cNvSpPr>
            <a:spLocks noChangeShapeType="1"/>
          </p:cNvSpPr>
          <p:nvPr/>
        </p:nvSpPr>
        <p:spPr bwMode="auto">
          <a:xfrm>
            <a:off x="5373688" y="3929063"/>
            <a:ext cx="1560512"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98" name="Line 50"/>
          <p:cNvSpPr>
            <a:spLocks noChangeShapeType="1"/>
          </p:cNvSpPr>
          <p:nvPr/>
        </p:nvSpPr>
        <p:spPr bwMode="auto">
          <a:xfrm>
            <a:off x="5373688" y="4303713"/>
            <a:ext cx="1560512"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699" name="Rectangle 53"/>
          <p:cNvSpPr>
            <a:spLocks noChangeArrowheads="1"/>
          </p:cNvSpPr>
          <p:nvPr/>
        </p:nvSpPr>
        <p:spPr bwMode="auto">
          <a:xfrm>
            <a:off x="2208213" y="4194175"/>
            <a:ext cx="1338262"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200" b="0">
                <a:latin typeface="Times New Roman" panose="02020603050405020304" pitchFamily="18" charset="0"/>
                <a:cs typeface="Times New Roman" panose="02020603050405020304" pitchFamily="18" charset="0"/>
              </a:rPr>
              <a:t> </a:t>
            </a:r>
            <a:endParaRPr lang="en-US" altLang="en-US" sz="1800" b="0"/>
          </a:p>
        </p:txBody>
      </p:sp>
      <p:sp>
        <p:nvSpPr>
          <p:cNvPr id="70700" name="Rectangle 54"/>
          <p:cNvSpPr>
            <a:spLocks noChangeArrowheads="1"/>
          </p:cNvSpPr>
          <p:nvPr/>
        </p:nvSpPr>
        <p:spPr bwMode="auto">
          <a:xfrm>
            <a:off x="1652588" y="4194175"/>
            <a:ext cx="555625"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-5</a:t>
            </a:r>
            <a:endParaRPr lang="en-US" altLang="en-US" sz="1800" b="0">
              <a:ea typeface="Times New Roman" panose="02020603050405020304" pitchFamily="18" charset="0"/>
              <a:cs typeface="Arial" panose="020B0604020202020204" pitchFamily="34" charset="0"/>
            </a:endParaRPr>
          </a:p>
        </p:txBody>
      </p:sp>
      <p:sp>
        <p:nvSpPr>
          <p:cNvPr id="70701" name="Rectangle 55"/>
          <p:cNvSpPr>
            <a:spLocks noChangeArrowheads="1"/>
          </p:cNvSpPr>
          <p:nvPr/>
        </p:nvSpPr>
        <p:spPr bwMode="auto">
          <a:xfrm>
            <a:off x="1223963" y="4194175"/>
            <a:ext cx="428625" cy="557213"/>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200">
                <a:latin typeface="Times New Roman" panose="02020603050405020304" pitchFamily="18" charset="0"/>
                <a:cs typeface="Times New Roman" panose="02020603050405020304" pitchFamily="18" charset="0"/>
              </a:rPr>
              <a:t/>
            </a:r>
            <a:br>
              <a:rPr lang="en-US" altLang="en-US" sz="1200">
                <a:latin typeface="Times New Roman" panose="02020603050405020304" pitchFamily="18" charset="0"/>
                <a:cs typeface="Times New Roman" panose="02020603050405020304" pitchFamily="18" charset="0"/>
              </a:rPr>
            </a:br>
            <a:r>
              <a:rPr lang="en-US" altLang="en-US" sz="1000">
                <a:ea typeface="Times New Roman" panose="02020603050405020304" pitchFamily="18" charset="0"/>
                <a:cs typeface="Arial" panose="020B0604020202020204" pitchFamily="34" charset="0"/>
              </a:rPr>
              <a:t>6</a:t>
            </a:r>
            <a:endParaRPr lang="en-US" altLang="en-US" sz="1800" b="0"/>
          </a:p>
        </p:txBody>
      </p:sp>
      <p:sp>
        <p:nvSpPr>
          <p:cNvPr id="70702" name="Rectangle 56"/>
          <p:cNvSpPr>
            <a:spLocks noChangeArrowheads="1"/>
          </p:cNvSpPr>
          <p:nvPr/>
        </p:nvSpPr>
        <p:spPr bwMode="auto">
          <a:xfrm>
            <a:off x="2763838" y="3835400"/>
            <a:ext cx="78263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200" b="0">
                <a:latin typeface="Times New Roman" panose="02020603050405020304" pitchFamily="18" charset="0"/>
                <a:cs typeface="Times New Roman" panose="02020603050405020304" pitchFamily="18" charset="0"/>
              </a:rPr>
              <a:t> </a:t>
            </a:r>
            <a:endParaRPr lang="en-US" altLang="en-US" sz="1800" b="0"/>
          </a:p>
        </p:txBody>
      </p:sp>
      <p:sp>
        <p:nvSpPr>
          <p:cNvPr id="70703" name="Rectangle 57"/>
          <p:cNvSpPr>
            <a:spLocks noChangeArrowheads="1"/>
          </p:cNvSpPr>
          <p:nvPr/>
        </p:nvSpPr>
        <p:spPr bwMode="auto">
          <a:xfrm>
            <a:off x="2208213" y="3835400"/>
            <a:ext cx="55562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2</a:t>
            </a:r>
            <a:endParaRPr lang="en-US" altLang="en-US" sz="1800" b="0">
              <a:ea typeface="Times New Roman" panose="02020603050405020304" pitchFamily="18" charset="0"/>
              <a:cs typeface="Arial" panose="020B0604020202020204" pitchFamily="34" charset="0"/>
            </a:endParaRPr>
          </a:p>
        </p:txBody>
      </p:sp>
      <p:sp>
        <p:nvSpPr>
          <p:cNvPr id="70704" name="Rectangle 58"/>
          <p:cNvSpPr>
            <a:spLocks noChangeArrowheads="1"/>
          </p:cNvSpPr>
          <p:nvPr/>
        </p:nvSpPr>
        <p:spPr bwMode="auto">
          <a:xfrm>
            <a:off x="1652588" y="3835400"/>
            <a:ext cx="55562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1</a:t>
            </a:r>
            <a:endParaRPr lang="en-US" altLang="en-US" sz="1800" b="0">
              <a:ea typeface="Times New Roman" panose="02020603050405020304" pitchFamily="18" charset="0"/>
              <a:cs typeface="Arial" panose="020B0604020202020204" pitchFamily="34" charset="0"/>
            </a:endParaRPr>
          </a:p>
        </p:txBody>
      </p:sp>
      <p:sp>
        <p:nvSpPr>
          <p:cNvPr id="70705" name="Rectangle 59"/>
          <p:cNvSpPr>
            <a:spLocks noChangeArrowheads="1"/>
          </p:cNvSpPr>
          <p:nvPr/>
        </p:nvSpPr>
        <p:spPr bwMode="auto">
          <a:xfrm>
            <a:off x="1223963" y="3835400"/>
            <a:ext cx="428625" cy="358775"/>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5</a:t>
            </a:r>
            <a:endParaRPr lang="en-US" altLang="en-US" sz="1800" b="0">
              <a:ea typeface="Times New Roman" panose="02020603050405020304" pitchFamily="18" charset="0"/>
              <a:cs typeface="Arial" panose="020B0604020202020204" pitchFamily="34" charset="0"/>
            </a:endParaRPr>
          </a:p>
        </p:txBody>
      </p:sp>
      <p:sp>
        <p:nvSpPr>
          <p:cNvPr id="70706" name="Rectangle 60"/>
          <p:cNvSpPr>
            <a:spLocks noChangeArrowheads="1"/>
          </p:cNvSpPr>
          <p:nvPr/>
        </p:nvSpPr>
        <p:spPr bwMode="auto">
          <a:xfrm>
            <a:off x="2763838" y="3475038"/>
            <a:ext cx="782637"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200" b="0">
                <a:latin typeface="Times New Roman" panose="02020603050405020304" pitchFamily="18" charset="0"/>
                <a:cs typeface="Times New Roman" panose="02020603050405020304" pitchFamily="18" charset="0"/>
              </a:rPr>
              <a:t> </a:t>
            </a:r>
            <a:endParaRPr lang="en-US" altLang="en-US" sz="1800" b="0"/>
          </a:p>
        </p:txBody>
      </p:sp>
      <p:sp>
        <p:nvSpPr>
          <p:cNvPr id="70707" name="Rectangle 61"/>
          <p:cNvSpPr>
            <a:spLocks noChangeArrowheads="1"/>
          </p:cNvSpPr>
          <p:nvPr/>
        </p:nvSpPr>
        <p:spPr bwMode="auto">
          <a:xfrm>
            <a:off x="2208213" y="3475038"/>
            <a:ext cx="55562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3</a:t>
            </a:r>
            <a:endParaRPr lang="en-US" altLang="en-US" sz="1800" b="0">
              <a:ea typeface="Times New Roman" panose="02020603050405020304" pitchFamily="18" charset="0"/>
              <a:cs typeface="Arial" panose="020B0604020202020204" pitchFamily="34" charset="0"/>
            </a:endParaRPr>
          </a:p>
        </p:txBody>
      </p:sp>
      <p:sp>
        <p:nvSpPr>
          <p:cNvPr id="70708" name="Rectangle 62"/>
          <p:cNvSpPr>
            <a:spLocks noChangeArrowheads="1"/>
          </p:cNvSpPr>
          <p:nvPr/>
        </p:nvSpPr>
        <p:spPr bwMode="auto">
          <a:xfrm>
            <a:off x="1652588" y="3475038"/>
            <a:ext cx="555625" cy="360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1</a:t>
            </a:r>
            <a:endParaRPr lang="en-US" altLang="en-US" sz="1800" b="0">
              <a:ea typeface="Times New Roman" panose="02020603050405020304" pitchFamily="18" charset="0"/>
              <a:cs typeface="Arial" panose="020B0604020202020204" pitchFamily="34" charset="0"/>
            </a:endParaRPr>
          </a:p>
        </p:txBody>
      </p:sp>
      <p:sp>
        <p:nvSpPr>
          <p:cNvPr id="70709" name="Rectangle 63"/>
          <p:cNvSpPr>
            <a:spLocks noChangeArrowheads="1"/>
          </p:cNvSpPr>
          <p:nvPr/>
        </p:nvSpPr>
        <p:spPr bwMode="auto">
          <a:xfrm>
            <a:off x="1223963" y="3475038"/>
            <a:ext cx="428625" cy="360362"/>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4</a:t>
            </a:r>
            <a:endParaRPr lang="en-US" altLang="en-US" sz="1800" b="0">
              <a:ea typeface="Times New Roman" panose="02020603050405020304" pitchFamily="18" charset="0"/>
              <a:cs typeface="Arial" panose="020B0604020202020204" pitchFamily="34" charset="0"/>
            </a:endParaRPr>
          </a:p>
        </p:txBody>
      </p:sp>
      <p:sp>
        <p:nvSpPr>
          <p:cNvPr id="70710" name="Rectangle 64"/>
          <p:cNvSpPr>
            <a:spLocks noChangeArrowheads="1"/>
          </p:cNvSpPr>
          <p:nvPr/>
        </p:nvSpPr>
        <p:spPr bwMode="auto">
          <a:xfrm>
            <a:off x="2763838" y="3116263"/>
            <a:ext cx="782637"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200" b="0">
                <a:latin typeface="Times New Roman" panose="02020603050405020304" pitchFamily="18" charset="0"/>
                <a:cs typeface="Times New Roman" panose="02020603050405020304" pitchFamily="18" charset="0"/>
              </a:rPr>
              <a:t> </a:t>
            </a:r>
            <a:endParaRPr lang="en-US" altLang="en-US" sz="1800" b="0"/>
          </a:p>
        </p:txBody>
      </p:sp>
      <p:sp>
        <p:nvSpPr>
          <p:cNvPr id="70711" name="Rectangle 65"/>
          <p:cNvSpPr>
            <a:spLocks noChangeArrowheads="1"/>
          </p:cNvSpPr>
          <p:nvPr/>
        </p:nvSpPr>
        <p:spPr bwMode="auto">
          <a:xfrm>
            <a:off x="2208213" y="3116263"/>
            <a:ext cx="55562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-2</a:t>
            </a:r>
            <a:endParaRPr lang="en-US" altLang="en-US" sz="1800" b="0">
              <a:ea typeface="Times New Roman" panose="02020603050405020304" pitchFamily="18" charset="0"/>
              <a:cs typeface="Arial" panose="020B0604020202020204" pitchFamily="34" charset="0"/>
            </a:endParaRPr>
          </a:p>
        </p:txBody>
      </p:sp>
      <p:sp>
        <p:nvSpPr>
          <p:cNvPr id="70712" name="Rectangle 66"/>
          <p:cNvSpPr>
            <a:spLocks noChangeArrowheads="1"/>
          </p:cNvSpPr>
          <p:nvPr/>
        </p:nvSpPr>
        <p:spPr bwMode="auto">
          <a:xfrm>
            <a:off x="1652588" y="3116263"/>
            <a:ext cx="555625"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1</a:t>
            </a:r>
            <a:endParaRPr lang="en-US" altLang="en-US" sz="1800" b="0">
              <a:ea typeface="Times New Roman" panose="02020603050405020304" pitchFamily="18" charset="0"/>
              <a:cs typeface="Arial" panose="020B0604020202020204" pitchFamily="34" charset="0"/>
            </a:endParaRPr>
          </a:p>
        </p:txBody>
      </p:sp>
      <p:sp>
        <p:nvSpPr>
          <p:cNvPr id="70713" name="Rectangle 67"/>
          <p:cNvSpPr>
            <a:spLocks noChangeArrowheads="1"/>
          </p:cNvSpPr>
          <p:nvPr/>
        </p:nvSpPr>
        <p:spPr bwMode="auto">
          <a:xfrm>
            <a:off x="1223963" y="3116263"/>
            <a:ext cx="428625" cy="358775"/>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3</a:t>
            </a:r>
            <a:endParaRPr lang="en-US" altLang="en-US" sz="1800" b="0">
              <a:ea typeface="Times New Roman" panose="02020603050405020304" pitchFamily="18" charset="0"/>
              <a:cs typeface="Arial" panose="020B0604020202020204" pitchFamily="34" charset="0"/>
            </a:endParaRPr>
          </a:p>
        </p:txBody>
      </p:sp>
      <p:sp>
        <p:nvSpPr>
          <p:cNvPr id="70714" name="Rectangle 68"/>
          <p:cNvSpPr>
            <a:spLocks noChangeArrowheads="1"/>
          </p:cNvSpPr>
          <p:nvPr/>
        </p:nvSpPr>
        <p:spPr bwMode="auto">
          <a:xfrm>
            <a:off x="3325813" y="2755900"/>
            <a:ext cx="220662"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200" b="0">
                <a:latin typeface="Times New Roman" panose="02020603050405020304" pitchFamily="18" charset="0"/>
                <a:cs typeface="Times New Roman" panose="02020603050405020304" pitchFamily="18" charset="0"/>
              </a:rPr>
              <a:t> </a:t>
            </a:r>
            <a:endParaRPr lang="en-US" altLang="en-US" sz="1800" b="0"/>
          </a:p>
        </p:txBody>
      </p:sp>
      <p:sp>
        <p:nvSpPr>
          <p:cNvPr id="70715" name="Rectangle 69"/>
          <p:cNvSpPr>
            <a:spLocks noChangeArrowheads="1"/>
          </p:cNvSpPr>
          <p:nvPr/>
        </p:nvSpPr>
        <p:spPr bwMode="auto">
          <a:xfrm>
            <a:off x="2763838" y="2755900"/>
            <a:ext cx="56197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1</a:t>
            </a:r>
            <a:endParaRPr lang="en-US" altLang="en-US" sz="1800" b="0">
              <a:ea typeface="Times New Roman" panose="02020603050405020304" pitchFamily="18" charset="0"/>
              <a:cs typeface="Arial" panose="020B0604020202020204" pitchFamily="34" charset="0"/>
            </a:endParaRPr>
          </a:p>
        </p:txBody>
      </p:sp>
      <p:sp>
        <p:nvSpPr>
          <p:cNvPr id="70716" name="Rectangle 70"/>
          <p:cNvSpPr>
            <a:spLocks noChangeArrowheads="1"/>
          </p:cNvSpPr>
          <p:nvPr/>
        </p:nvSpPr>
        <p:spPr bwMode="auto">
          <a:xfrm>
            <a:off x="2208213" y="2755900"/>
            <a:ext cx="5556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5</a:t>
            </a:r>
            <a:endParaRPr lang="en-US" altLang="en-US" sz="1800" b="0">
              <a:ea typeface="Times New Roman" panose="02020603050405020304" pitchFamily="18" charset="0"/>
              <a:cs typeface="Arial" panose="020B0604020202020204" pitchFamily="34" charset="0"/>
            </a:endParaRPr>
          </a:p>
        </p:txBody>
      </p:sp>
      <p:sp>
        <p:nvSpPr>
          <p:cNvPr id="70717" name="Rectangle 71"/>
          <p:cNvSpPr>
            <a:spLocks noChangeArrowheads="1"/>
          </p:cNvSpPr>
          <p:nvPr/>
        </p:nvSpPr>
        <p:spPr bwMode="auto">
          <a:xfrm>
            <a:off x="1652588" y="2755900"/>
            <a:ext cx="555625"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-3</a:t>
            </a:r>
            <a:endParaRPr lang="en-US" altLang="en-US" sz="1800" b="0">
              <a:ea typeface="Times New Roman" panose="02020603050405020304" pitchFamily="18" charset="0"/>
              <a:cs typeface="Arial" panose="020B0604020202020204" pitchFamily="34" charset="0"/>
            </a:endParaRPr>
          </a:p>
        </p:txBody>
      </p:sp>
      <p:sp>
        <p:nvSpPr>
          <p:cNvPr id="70718" name="Rectangle 72"/>
          <p:cNvSpPr>
            <a:spLocks noChangeArrowheads="1"/>
          </p:cNvSpPr>
          <p:nvPr/>
        </p:nvSpPr>
        <p:spPr bwMode="auto">
          <a:xfrm>
            <a:off x="1223963" y="2755900"/>
            <a:ext cx="428625" cy="360363"/>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2</a:t>
            </a:r>
            <a:endParaRPr lang="en-US" altLang="en-US" sz="1800" b="0">
              <a:ea typeface="Times New Roman" panose="02020603050405020304" pitchFamily="18" charset="0"/>
              <a:cs typeface="Arial" panose="020B0604020202020204" pitchFamily="34" charset="0"/>
            </a:endParaRPr>
          </a:p>
        </p:txBody>
      </p:sp>
      <p:sp>
        <p:nvSpPr>
          <p:cNvPr id="70719" name="Rectangle 73"/>
          <p:cNvSpPr>
            <a:spLocks noChangeArrowheads="1"/>
          </p:cNvSpPr>
          <p:nvPr/>
        </p:nvSpPr>
        <p:spPr bwMode="auto">
          <a:xfrm>
            <a:off x="2763838" y="2438400"/>
            <a:ext cx="78263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5</a:t>
            </a:r>
            <a:endParaRPr lang="en-US" altLang="en-US" sz="1800" b="0">
              <a:ea typeface="Times New Roman" panose="02020603050405020304" pitchFamily="18" charset="0"/>
              <a:cs typeface="Arial" panose="020B0604020202020204" pitchFamily="34" charset="0"/>
            </a:endParaRPr>
          </a:p>
        </p:txBody>
      </p:sp>
      <p:sp>
        <p:nvSpPr>
          <p:cNvPr id="70720" name="Rectangle 74"/>
          <p:cNvSpPr>
            <a:spLocks noChangeArrowheads="1"/>
          </p:cNvSpPr>
          <p:nvPr/>
        </p:nvSpPr>
        <p:spPr bwMode="auto">
          <a:xfrm>
            <a:off x="2208213" y="2438400"/>
            <a:ext cx="555625"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2</a:t>
            </a:r>
            <a:endParaRPr lang="en-US" altLang="en-US" sz="1800" b="0">
              <a:ea typeface="Times New Roman" panose="02020603050405020304" pitchFamily="18" charset="0"/>
              <a:cs typeface="Arial" panose="020B0604020202020204" pitchFamily="34" charset="0"/>
            </a:endParaRPr>
          </a:p>
        </p:txBody>
      </p:sp>
      <p:sp>
        <p:nvSpPr>
          <p:cNvPr id="70721" name="Rectangle 75"/>
          <p:cNvSpPr>
            <a:spLocks noChangeArrowheads="1"/>
          </p:cNvSpPr>
          <p:nvPr/>
        </p:nvSpPr>
        <p:spPr bwMode="auto">
          <a:xfrm>
            <a:off x="1652588" y="2438400"/>
            <a:ext cx="555625"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3</a:t>
            </a:r>
            <a:endParaRPr lang="en-US" altLang="en-US" sz="1800" b="0">
              <a:ea typeface="Times New Roman" panose="02020603050405020304" pitchFamily="18" charset="0"/>
              <a:cs typeface="Arial" panose="020B0604020202020204" pitchFamily="34" charset="0"/>
            </a:endParaRPr>
          </a:p>
        </p:txBody>
      </p:sp>
      <p:sp>
        <p:nvSpPr>
          <p:cNvPr id="70722" name="Rectangle 76"/>
          <p:cNvSpPr>
            <a:spLocks noChangeArrowheads="1"/>
          </p:cNvSpPr>
          <p:nvPr/>
        </p:nvSpPr>
        <p:spPr bwMode="auto">
          <a:xfrm>
            <a:off x="1223963" y="2438400"/>
            <a:ext cx="428625" cy="317500"/>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1</a:t>
            </a:r>
            <a:endParaRPr lang="en-US" altLang="en-US" sz="1800" b="0">
              <a:ea typeface="Times New Roman" panose="02020603050405020304" pitchFamily="18" charset="0"/>
              <a:cs typeface="Arial" panose="020B0604020202020204" pitchFamily="34" charset="0"/>
            </a:endParaRPr>
          </a:p>
        </p:txBody>
      </p:sp>
      <p:sp>
        <p:nvSpPr>
          <p:cNvPr id="70723" name="Line 77"/>
          <p:cNvSpPr>
            <a:spLocks noChangeShapeType="1"/>
          </p:cNvSpPr>
          <p:nvPr/>
        </p:nvSpPr>
        <p:spPr bwMode="auto">
          <a:xfrm>
            <a:off x="1223963" y="2438400"/>
            <a:ext cx="2322512"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24" name="Line 78"/>
          <p:cNvSpPr>
            <a:spLocks noChangeShapeType="1"/>
          </p:cNvSpPr>
          <p:nvPr/>
        </p:nvSpPr>
        <p:spPr bwMode="auto">
          <a:xfrm>
            <a:off x="1223963" y="4751388"/>
            <a:ext cx="984250"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25" name="Line 79"/>
          <p:cNvSpPr>
            <a:spLocks noChangeShapeType="1"/>
          </p:cNvSpPr>
          <p:nvPr/>
        </p:nvSpPr>
        <p:spPr bwMode="auto">
          <a:xfrm>
            <a:off x="1223963" y="2438400"/>
            <a:ext cx="0" cy="2312988"/>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26" name="Line 80"/>
          <p:cNvSpPr>
            <a:spLocks noChangeShapeType="1"/>
          </p:cNvSpPr>
          <p:nvPr/>
        </p:nvSpPr>
        <p:spPr bwMode="auto">
          <a:xfrm>
            <a:off x="3546475" y="2438400"/>
            <a:ext cx="0" cy="31750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27" name="Line 81"/>
          <p:cNvSpPr>
            <a:spLocks noChangeShapeType="1"/>
          </p:cNvSpPr>
          <p:nvPr/>
        </p:nvSpPr>
        <p:spPr bwMode="auto">
          <a:xfrm>
            <a:off x="1223963" y="2755900"/>
            <a:ext cx="2322512"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28" name="Line 82"/>
          <p:cNvSpPr>
            <a:spLocks noChangeShapeType="1"/>
          </p:cNvSpPr>
          <p:nvPr/>
        </p:nvSpPr>
        <p:spPr bwMode="auto">
          <a:xfrm>
            <a:off x="1652588" y="2438400"/>
            <a:ext cx="0" cy="2312988"/>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29" name="Line 83"/>
          <p:cNvSpPr>
            <a:spLocks noChangeShapeType="1"/>
          </p:cNvSpPr>
          <p:nvPr/>
        </p:nvSpPr>
        <p:spPr bwMode="auto">
          <a:xfrm>
            <a:off x="2208213" y="2438400"/>
            <a:ext cx="0" cy="2312988"/>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30" name="Line 84"/>
          <p:cNvSpPr>
            <a:spLocks noChangeShapeType="1"/>
          </p:cNvSpPr>
          <p:nvPr/>
        </p:nvSpPr>
        <p:spPr bwMode="auto">
          <a:xfrm>
            <a:off x="2763838" y="2438400"/>
            <a:ext cx="0" cy="1755775"/>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31" name="Line 86"/>
          <p:cNvSpPr>
            <a:spLocks noChangeShapeType="1"/>
          </p:cNvSpPr>
          <p:nvPr/>
        </p:nvSpPr>
        <p:spPr bwMode="auto">
          <a:xfrm>
            <a:off x="1223963" y="3116263"/>
            <a:ext cx="2101850"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32" name="Line 87"/>
          <p:cNvSpPr>
            <a:spLocks noChangeShapeType="1"/>
          </p:cNvSpPr>
          <p:nvPr/>
        </p:nvSpPr>
        <p:spPr bwMode="auto">
          <a:xfrm>
            <a:off x="3325813" y="2755900"/>
            <a:ext cx="0" cy="360363"/>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33" name="Line 89"/>
          <p:cNvSpPr>
            <a:spLocks noChangeShapeType="1"/>
          </p:cNvSpPr>
          <p:nvPr/>
        </p:nvSpPr>
        <p:spPr bwMode="auto">
          <a:xfrm>
            <a:off x="1223963" y="3475038"/>
            <a:ext cx="1539875"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34" name="Line 91"/>
          <p:cNvSpPr>
            <a:spLocks noChangeShapeType="1"/>
          </p:cNvSpPr>
          <p:nvPr/>
        </p:nvSpPr>
        <p:spPr bwMode="auto">
          <a:xfrm>
            <a:off x="1223963" y="3835400"/>
            <a:ext cx="1539875"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35" name="Line 93"/>
          <p:cNvSpPr>
            <a:spLocks noChangeShapeType="1"/>
          </p:cNvSpPr>
          <p:nvPr/>
        </p:nvSpPr>
        <p:spPr bwMode="auto">
          <a:xfrm>
            <a:off x="1223963" y="4194175"/>
            <a:ext cx="1539875"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0736" name="Rectangle 96"/>
          <p:cNvSpPr>
            <a:spLocks noChangeArrowheads="1"/>
          </p:cNvSpPr>
          <p:nvPr/>
        </p:nvSpPr>
        <p:spPr bwMode="auto">
          <a:xfrm>
            <a:off x="1247775" y="4767263"/>
            <a:ext cx="1098550" cy="547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200" b="0">
                <a:cs typeface="Times New Roman" panose="02020603050405020304" pitchFamily="18" charset="0"/>
              </a:rPr>
              <a:t>	</a:t>
            </a:r>
            <a:endParaRPr lang="en-US" altLang="en-US" sz="1100" b="0"/>
          </a:p>
          <a:p>
            <a:pPr>
              <a:spcBef>
                <a:spcPct val="0"/>
              </a:spcBef>
              <a:buClrTx/>
              <a:buSzTx/>
              <a:buFontTx/>
              <a:buNone/>
            </a:pPr>
            <a:endParaRPr lang="en-US" altLang="en-US" sz="1800" b="0"/>
          </a:p>
        </p:txBody>
      </p:sp>
      <p:sp>
        <p:nvSpPr>
          <p:cNvPr id="70737" name="Text Box 97"/>
          <p:cNvSpPr txBox="1">
            <a:spLocks noChangeArrowheads="1"/>
          </p:cNvSpPr>
          <p:nvPr/>
        </p:nvSpPr>
        <p:spPr bwMode="auto">
          <a:xfrm>
            <a:off x="990600" y="1752600"/>
            <a:ext cx="1676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1800"/>
              <a:t>Step 3</a:t>
            </a:r>
          </a:p>
        </p:txBody>
      </p:sp>
      <p:sp>
        <p:nvSpPr>
          <p:cNvPr id="70738" name="Text Box 98"/>
          <p:cNvSpPr txBox="1">
            <a:spLocks noChangeArrowheads="1"/>
          </p:cNvSpPr>
          <p:nvPr/>
        </p:nvSpPr>
        <p:spPr bwMode="auto">
          <a:xfrm>
            <a:off x="5029200" y="1747838"/>
            <a:ext cx="1676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1800"/>
              <a:t>Step 4</a:t>
            </a: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D3A33BCB-907B-4B23-9674-C1E884D52541}" type="slidenum">
              <a:rPr lang="en-US" altLang="en-US" sz="1200" smtClean="0">
                <a:latin typeface="Garamond" panose="02020404030301010803" pitchFamily="18" charset="0"/>
              </a:rPr>
              <a:pPr>
                <a:spcBef>
                  <a:spcPct val="0"/>
                </a:spcBef>
                <a:buClrTx/>
                <a:buSzTx/>
                <a:buFontTx/>
                <a:buNone/>
              </a:pPr>
              <a:t>61</a:t>
            </a:fld>
            <a:endParaRPr lang="en-US" altLang="en-US" sz="1200" smtClean="0">
              <a:latin typeface="Garamond" panose="02020404030301010803" pitchFamily="18" charset="0"/>
            </a:endParaRPr>
          </a:p>
        </p:txBody>
      </p:sp>
      <p:sp>
        <p:nvSpPr>
          <p:cNvPr id="71683" name="Rectangle 2"/>
          <p:cNvSpPr>
            <a:spLocks noGrp="1" noChangeArrowheads="1"/>
          </p:cNvSpPr>
          <p:nvPr>
            <p:ph type="title"/>
          </p:nvPr>
        </p:nvSpPr>
        <p:spPr/>
        <p:txBody>
          <a:bodyPr/>
          <a:lstStyle/>
          <a:p>
            <a:pPr algn="ctr" eaLnBrk="1" hangingPunct="1"/>
            <a:r>
              <a:rPr lang="en-US" altLang="en-US" sz="3600" b="1" u="sng" smtClean="0"/>
              <a:t>Example Of Enhanced Edge Recombination Operator</a:t>
            </a:r>
            <a:r>
              <a:rPr lang="en-US" altLang="en-US" sz="3800" smtClean="0"/>
              <a:t> (contd.)</a:t>
            </a:r>
          </a:p>
        </p:txBody>
      </p:sp>
      <p:sp>
        <p:nvSpPr>
          <p:cNvPr id="71684" name="Rectangle 24"/>
          <p:cNvSpPr>
            <a:spLocks noChangeArrowheads="1"/>
          </p:cNvSpPr>
          <p:nvPr/>
        </p:nvSpPr>
        <p:spPr bwMode="auto">
          <a:xfrm>
            <a:off x="685800" y="14112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b="0"/>
          </a:p>
        </p:txBody>
      </p:sp>
      <p:sp>
        <p:nvSpPr>
          <p:cNvPr id="71685" name="Rectangle 207"/>
          <p:cNvSpPr>
            <a:spLocks noChangeArrowheads="1"/>
          </p:cNvSpPr>
          <p:nvPr/>
        </p:nvSpPr>
        <p:spPr bwMode="auto">
          <a:xfrm>
            <a:off x="685800" y="4548188"/>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800" b="0"/>
          </a:p>
        </p:txBody>
      </p:sp>
      <p:grpSp>
        <p:nvGrpSpPr>
          <p:cNvPr id="71686" name="Group 215"/>
          <p:cNvGrpSpPr>
            <a:grpSpLocks/>
          </p:cNvGrpSpPr>
          <p:nvPr/>
        </p:nvGrpSpPr>
        <p:grpSpPr bwMode="auto">
          <a:xfrm>
            <a:off x="1295400" y="2309813"/>
            <a:ext cx="6403975" cy="3633787"/>
            <a:chOff x="816" y="1248"/>
            <a:chExt cx="4034" cy="2289"/>
          </a:xfrm>
        </p:grpSpPr>
        <p:grpSp>
          <p:nvGrpSpPr>
            <p:cNvPr id="71691" name="Group 17"/>
            <p:cNvGrpSpPr>
              <a:grpSpLocks/>
            </p:cNvGrpSpPr>
            <p:nvPr/>
          </p:nvGrpSpPr>
          <p:grpSpPr bwMode="auto">
            <a:xfrm>
              <a:off x="853" y="3230"/>
              <a:ext cx="1349" cy="229"/>
              <a:chOff x="4500" y="6480"/>
              <a:chExt cx="2175" cy="360"/>
            </a:xfrm>
          </p:grpSpPr>
          <p:sp>
            <p:nvSpPr>
              <p:cNvPr id="71751" name="Rectangle 23"/>
              <p:cNvSpPr>
                <a:spLocks noChangeArrowheads="1"/>
              </p:cNvSpPr>
              <p:nvPr/>
            </p:nvSpPr>
            <p:spPr bwMode="auto">
              <a:xfrm>
                <a:off x="450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71752" name="Rectangle 22"/>
              <p:cNvSpPr>
                <a:spLocks noChangeArrowheads="1"/>
              </p:cNvSpPr>
              <p:nvPr/>
            </p:nvSpPr>
            <p:spPr bwMode="auto">
              <a:xfrm>
                <a:off x="486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71753" name="Rectangle 21"/>
              <p:cNvSpPr>
                <a:spLocks noChangeArrowheads="1"/>
              </p:cNvSpPr>
              <p:nvPr/>
            </p:nvSpPr>
            <p:spPr bwMode="auto">
              <a:xfrm>
                <a:off x="522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71754" name="Rectangle 20"/>
              <p:cNvSpPr>
                <a:spLocks noChangeArrowheads="1"/>
              </p:cNvSpPr>
              <p:nvPr/>
            </p:nvSpPr>
            <p:spPr bwMode="auto">
              <a:xfrm>
                <a:off x="558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71755" name="Rectangle 19"/>
              <p:cNvSpPr>
                <a:spLocks noChangeArrowheads="1"/>
              </p:cNvSpPr>
              <p:nvPr/>
            </p:nvSpPr>
            <p:spPr bwMode="auto">
              <a:xfrm>
                <a:off x="594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71756" name="Rectangle 18"/>
              <p:cNvSpPr>
                <a:spLocks noChangeArrowheads="1"/>
              </p:cNvSpPr>
              <p:nvPr/>
            </p:nvSpPr>
            <p:spPr bwMode="auto">
              <a:xfrm>
                <a:off x="630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grpSp>
        <p:sp>
          <p:nvSpPr>
            <p:cNvPr id="71692" name="Line 16"/>
            <p:cNvSpPr>
              <a:spLocks noChangeShapeType="1"/>
            </p:cNvSpPr>
            <p:nvPr/>
          </p:nvSpPr>
          <p:spPr bwMode="auto">
            <a:xfrm>
              <a:off x="1858" y="2983"/>
              <a:ext cx="0" cy="228"/>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1693" name="Text Box 15"/>
            <p:cNvSpPr txBox="1">
              <a:spLocks noChangeArrowheads="1"/>
            </p:cNvSpPr>
            <p:nvPr/>
          </p:nvSpPr>
          <p:spPr bwMode="auto">
            <a:xfrm>
              <a:off x="816" y="3194"/>
              <a:ext cx="1442" cy="3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600">
                  <a:cs typeface="Times New Roman" panose="02020603050405020304" pitchFamily="18" charset="0"/>
                </a:rPr>
                <a:t>4     6     5    1   3</a:t>
              </a:r>
              <a:endParaRPr lang="en-US" altLang="en-US" sz="1800" b="0"/>
            </a:p>
          </p:txBody>
        </p:sp>
        <p:sp>
          <p:nvSpPr>
            <p:cNvPr id="71694" name="Rectangle 58"/>
            <p:cNvSpPr>
              <a:spLocks noChangeArrowheads="1"/>
            </p:cNvSpPr>
            <p:nvPr/>
          </p:nvSpPr>
          <p:spPr bwMode="auto">
            <a:xfrm>
              <a:off x="913" y="2557"/>
              <a:ext cx="328" cy="275"/>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6</a:t>
              </a:r>
              <a:endParaRPr lang="en-US" altLang="en-US" sz="1800" b="0">
                <a:ea typeface="Times New Roman" panose="02020603050405020304" pitchFamily="18" charset="0"/>
                <a:cs typeface="Arial" panose="020B0604020202020204" pitchFamily="34" charset="0"/>
              </a:endParaRPr>
            </a:p>
          </p:txBody>
        </p:sp>
        <p:sp>
          <p:nvSpPr>
            <p:cNvPr id="71695" name="Rectangle 57"/>
            <p:cNvSpPr>
              <a:spLocks noChangeArrowheads="1"/>
            </p:cNvSpPr>
            <p:nvPr/>
          </p:nvSpPr>
          <p:spPr bwMode="auto">
            <a:xfrm>
              <a:off x="1665" y="2315"/>
              <a:ext cx="425"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1800" b="0">
                <a:ea typeface="Times New Roman" panose="02020603050405020304" pitchFamily="18" charset="0"/>
                <a:cs typeface="Arial" panose="020B0604020202020204" pitchFamily="34" charset="0"/>
              </a:endParaRPr>
            </a:p>
          </p:txBody>
        </p:sp>
        <p:sp>
          <p:nvSpPr>
            <p:cNvPr id="71696" name="Rectangle 56"/>
            <p:cNvSpPr>
              <a:spLocks noChangeArrowheads="1"/>
            </p:cNvSpPr>
            <p:nvPr/>
          </p:nvSpPr>
          <p:spPr bwMode="auto">
            <a:xfrm>
              <a:off x="1241" y="2315"/>
              <a:ext cx="424"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2</a:t>
              </a:r>
              <a:endParaRPr lang="en-US" altLang="en-US" sz="1800" b="0">
                <a:ea typeface="Times New Roman" panose="02020603050405020304" pitchFamily="18" charset="0"/>
                <a:cs typeface="Arial" panose="020B0604020202020204" pitchFamily="34" charset="0"/>
              </a:endParaRPr>
            </a:p>
          </p:txBody>
        </p:sp>
        <p:sp>
          <p:nvSpPr>
            <p:cNvPr id="71697" name="Rectangle 55"/>
            <p:cNvSpPr>
              <a:spLocks noChangeArrowheads="1"/>
            </p:cNvSpPr>
            <p:nvPr/>
          </p:nvSpPr>
          <p:spPr bwMode="auto">
            <a:xfrm>
              <a:off x="913" y="2315"/>
              <a:ext cx="328" cy="242"/>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5</a:t>
              </a:r>
              <a:endParaRPr lang="en-US" altLang="en-US" sz="1800" b="0">
                <a:ea typeface="Times New Roman" panose="02020603050405020304" pitchFamily="18" charset="0"/>
                <a:cs typeface="Arial" panose="020B0604020202020204" pitchFamily="34" charset="0"/>
              </a:endParaRPr>
            </a:p>
          </p:txBody>
        </p:sp>
        <p:sp>
          <p:nvSpPr>
            <p:cNvPr id="71698" name="Rectangle 53"/>
            <p:cNvSpPr>
              <a:spLocks noChangeArrowheads="1"/>
            </p:cNvSpPr>
            <p:nvPr/>
          </p:nvSpPr>
          <p:spPr bwMode="auto">
            <a:xfrm>
              <a:off x="1241" y="2040"/>
              <a:ext cx="424"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3</a:t>
              </a:r>
              <a:endParaRPr lang="en-US" altLang="en-US" sz="1800" b="0">
                <a:ea typeface="Times New Roman" panose="02020603050405020304" pitchFamily="18" charset="0"/>
                <a:cs typeface="Arial" panose="020B0604020202020204" pitchFamily="34" charset="0"/>
              </a:endParaRPr>
            </a:p>
          </p:txBody>
        </p:sp>
        <p:sp>
          <p:nvSpPr>
            <p:cNvPr id="71699" name="Rectangle 52"/>
            <p:cNvSpPr>
              <a:spLocks noChangeArrowheads="1"/>
            </p:cNvSpPr>
            <p:nvPr/>
          </p:nvSpPr>
          <p:spPr bwMode="auto">
            <a:xfrm>
              <a:off x="913" y="2040"/>
              <a:ext cx="328" cy="275"/>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4</a:t>
              </a:r>
              <a:endParaRPr lang="en-US" altLang="en-US" sz="1800" b="0">
                <a:ea typeface="Times New Roman" panose="02020603050405020304" pitchFamily="18" charset="0"/>
                <a:cs typeface="Arial" panose="020B0604020202020204" pitchFamily="34" charset="0"/>
              </a:endParaRPr>
            </a:p>
          </p:txBody>
        </p:sp>
        <p:sp>
          <p:nvSpPr>
            <p:cNvPr id="71700" name="Rectangle 51"/>
            <p:cNvSpPr>
              <a:spLocks noChangeArrowheads="1"/>
            </p:cNvSpPr>
            <p:nvPr/>
          </p:nvSpPr>
          <p:spPr bwMode="auto">
            <a:xfrm>
              <a:off x="1665" y="1765"/>
              <a:ext cx="425"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200" b="0">
                  <a:latin typeface="Times New Roman" panose="02020603050405020304" pitchFamily="18" charset="0"/>
                  <a:cs typeface="Times New Roman" panose="02020603050405020304" pitchFamily="18" charset="0"/>
                </a:rPr>
                <a:t> </a:t>
              </a:r>
              <a:endParaRPr lang="en-US" altLang="en-US" sz="1800" b="0"/>
            </a:p>
          </p:txBody>
        </p:sp>
        <p:sp>
          <p:nvSpPr>
            <p:cNvPr id="71701" name="Rectangle 50"/>
            <p:cNvSpPr>
              <a:spLocks noChangeArrowheads="1"/>
            </p:cNvSpPr>
            <p:nvPr/>
          </p:nvSpPr>
          <p:spPr bwMode="auto">
            <a:xfrm>
              <a:off x="1241" y="1765"/>
              <a:ext cx="424"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-2</a:t>
              </a:r>
              <a:endParaRPr lang="en-US" altLang="en-US" sz="1800" b="0">
                <a:ea typeface="Times New Roman" panose="02020603050405020304" pitchFamily="18" charset="0"/>
                <a:cs typeface="Arial" panose="020B0604020202020204" pitchFamily="34" charset="0"/>
              </a:endParaRPr>
            </a:p>
          </p:txBody>
        </p:sp>
        <p:sp>
          <p:nvSpPr>
            <p:cNvPr id="71702" name="Rectangle 49"/>
            <p:cNvSpPr>
              <a:spLocks noChangeArrowheads="1"/>
            </p:cNvSpPr>
            <p:nvPr/>
          </p:nvSpPr>
          <p:spPr bwMode="auto">
            <a:xfrm>
              <a:off x="913" y="1765"/>
              <a:ext cx="328" cy="275"/>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3</a:t>
              </a:r>
              <a:endParaRPr lang="en-US" altLang="en-US" sz="1800" b="0">
                <a:ea typeface="Times New Roman" panose="02020603050405020304" pitchFamily="18" charset="0"/>
                <a:cs typeface="Arial" panose="020B0604020202020204" pitchFamily="34" charset="0"/>
              </a:endParaRPr>
            </a:p>
          </p:txBody>
        </p:sp>
        <p:sp>
          <p:nvSpPr>
            <p:cNvPr id="71703" name="Rectangle 47"/>
            <p:cNvSpPr>
              <a:spLocks noChangeArrowheads="1"/>
            </p:cNvSpPr>
            <p:nvPr/>
          </p:nvSpPr>
          <p:spPr bwMode="auto">
            <a:xfrm>
              <a:off x="1241" y="1491"/>
              <a:ext cx="424"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-3</a:t>
              </a:r>
              <a:endParaRPr lang="en-US" altLang="en-US" sz="1800" b="0">
                <a:ea typeface="Times New Roman" panose="02020603050405020304" pitchFamily="18" charset="0"/>
                <a:cs typeface="Arial" panose="020B0604020202020204" pitchFamily="34" charset="0"/>
              </a:endParaRPr>
            </a:p>
          </p:txBody>
        </p:sp>
        <p:sp>
          <p:nvSpPr>
            <p:cNvPr id="71704" name="Rectangle 46"/>
            <p:cNvSpPr>
              <a:spLocks noChangeArrowheads="1"/>
            </p:cNvSpPr>
            <p:nvPr/>
          </p:nvSpPr>
          <p:spPr bwMode="auto">
            <a:xfrm>
              <a:off x="913" y="1491"/>
              <a:ext cx="328" cy="274"/>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2</a:t>
              </a:r>
              <a:endParaRPr lang="en-US" altLang="en-US" sz="1800" b="0">
                <a:ea typeface="Times New Roman" panose="02020603050405020304" pitchFamily="18" charset="0"/>
                <a:cs typeface="Arial" panose="020B0604020202020204" pitchFamily="34" charset="0"/>
              </a:endParaRPr>
            </a:p>
          </p:txBody>
        </p:sp>
        <p:sp>
          <p:nvSpPr>
            <p:cNvPr id="71705" name="Rectangle 45"/>
            <p:cNvSpPr>
              <a:spLocks noChangeArrowheads="1"/>
            </p:cNvSpPr>
            <p:nvPr/>
          </p:nvSpPr>
          <p:spPr bwMode="auto">
            <a:xfrm>
              <a:off x="1665" y="1248"/>
              <a:ext cx="425"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2</a:t>
              </a:r>
              <a:endParaRPr lang="en-US" altLang="en-US" sz="1800" b="0">
                <a:ea typeface="Times New Roman" panose="02020603050405020304" pitchFamily="18" charset="0"/>
                <a:cs typeface="Arial" panose="020B0604020202020204" pitchFamily="34" charset="0"/>
              </a:endParaRPr>
            </a:p>
          </p:txBody>
        </p:sp>
        <p:sp>
          <p:nvSpPr>
            <p:cNvPr id="71706" name="Rectangle 44"/>
            <p:cNvSpPr>
              <a:spLocks noChangeArrowheads="1"/>
            </p:cNvSpPr>
            <p:nvPr/>
          </p:nvSpPr>
          <p:spPr bwMode="auto">
            <a:xfrm>
              <a:off x="1241" y="1248"/>
              <a:ext cx="424"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3</a:t>
              </a:r>
              <a:endParaRPr lang="en-US" altLang="en-US" sz="1800" b="0">
                <a:ea typeface="Times New Roman" panose="02020603050405020304" pitchFamily="18" charset="0"/>
                <a:cs typeface="Arial" panose="020B0604020202020204" pitchFamily="34" charset="0"/>
              </a:endParaRPr>
            </a:p>
          </p:txBody>
        </p:sp>
        <p:sp>
          <p:nvSpPr>
            <p:cNvPr id="71707" name="Rectangle 43"/>
            <p:cNvSpPr>
              <a:spLocks noChangeArrowheads="1"/>
            </p:cNvSpPr>
            <p:nvPr/>
          </p:nvSpPr>
          <p:spPr bwMode="auto">
            <a:xfrm>
              <a:off x="913" y="1248"/>
              <a:ext cx="328" cy="243"/>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1</a:t>
              </a:r>
              <a:endParaRPr lang="en-US" altLang="en-US" sz="1800" b="0">
                <a:ea typeface="Times New Roman" panose="02020603050405020304" pitchFamily="18" charset="0"/>
                <a:cs typeface="Arial" panose="020B0604020202020204" pitchFamily="34" charset="0"/>
              </a:endParaRPr>
            </a:p>
          </p:txBody>
        </p:sp>
        <p:sp>
          <p:nvSpPr>
            <p:cNvPr id="71708" name="Line 61"/>
            <p:cNvSpPr>
              <a:spLocks noChangeShapeType="1"/>
            </p:cNvSpPr>
            <p:nvPr/>
          </p:nvSpPr>
          <p:spPr bwMode="auto">
            <a:xfrm>
              <a:off x="913" y="1248"/>
              <a:ext cx="1177"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09" name="Line 62"/>
            <p:cNvSpPr>
              <a:spLocks noChangeShapeType="1"/>
            </p:cNvSpPr>
            <p:nvPr/>
          </p:nvSpPr>
          <p:spPr bwMode="auto">
            <a:xfrm>
              <a:off x="913" y="2832"/>
              <a:ext cx="328"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10" name="Line 63"/>
            <p:cNvSpPr>
              <a:spLocks noChangeShapeType="1"/>
            </p:cNvSpPr>
            <p:nvPr/>
          </p:nvSpPr>
          <p:spPr bwMode="auto">
            <a:xfrm>
              <a:off x="913" y="1248"/>
              <a:ext cx="0" cy="1584"/>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11" name="Line 64"/>
            <p:cNvSpPr>
              <a:spLocks noChangeShapeType="1"/>
            </p:cNvSpPr>
            <p:nvPr/>
          </p:nvSpPr>
          <p:spPr bwMode="auto">
            <a:xfrm>
              <a:off x="2090" y="1248"/>
              <a:ext cx="0" cy="243"/>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12" name="Line 67"/>
            <p:cNvSpPr>
              <a:spLocks noChangeShapeType="1"/>
            </p:cNvSpPr>
            <p:nvPr/>
          </p:nvSpPr>
          <p:spPr bwMode="auto">
            <a:xfrm>
              <a:off x="913" y="1491"/>
              <a:ext cx="1177"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13" name="Line 69"/>
            <p:cNvSpPr>
              <a:spLocks noChangeShapeType="1"/>
            </p:cNvSpPr>
            <p:nvPr/>
          </p:nvSpPr>
          <p:spPr bwMode="auto">
            <a:xfrm>
              <a:off x="1241" y="1248"/>
              <a:ext cx="0" cy="1584"/>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14" name="Line 72"/>
            <p:cNvSpPr>
              <a:spLocks noChangeShapeType="1"/>
            </p:cNvSpPr>
            <p:nvPr/>
          </p:nvSpPr>
          <p:spPr bwMode="auto">
            <a:xfrm>
              <a:off x="1665" y="1248"/>
              <a:ext cx="0" cy="1309"/>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15" name="Line 76"/>
            <p:cNvSpPr>
              <a:spLocks noChangeShapeType="1"/>
            </p:cNvSpPr>
            <p:nvPr/>
          </p:nvSpPr>
          <p:spPr bwMode="auto">
            <a:xfrm>
              <a:off x="913" y="1765"/>
              <a:ext cx="752"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16" name="Line 89"/>
            <p:cNvSpPr>
              <a:spLocks noChangeShapeType="1"/>
            </p:cNvSpPr>
            <p:nvPr/>
          </p:nvSpPr>
          <p:spPr bwMode="auto">
            <a:xfrm>
              <a:off x="913" y="2040"/>
              <a:ext cx="752"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17" name="Line 100"/>
            <p:cNvSpPr>
              <a:spLocks noChangeShapeType="1"/>
            </p:cNvSpPr>
            <p:nvPr/>
          </p:nvSpPr>
          <p:spPr bwMode="auto">
            <a:xfrm flipV="1">
              <a:off x="913" y="2314"/>
              <a:ext cx="752" cy="1"/>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18" name="Line 111"/>
            <p:cNvSpPr>
              <a:spLocks noChangeShapeType="1"/>
            </p:cNvSpPr>
            <p:nvPr/>
          </p:nvSpPr>
          <p:spPr bwMode="auto">
            <a:xfrm>
              <a:off x="913" y="2557"/>
              <a:ext cx="752"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nvGrpSpPr>
            <p:cNvPr id="71719" name="Group 7"/>
            <p:cNvGrpSpPr>
              <a:grpSpLocks/>
            </p:cNvGrpSpPr>
            <p:nvPr/>
          </p:nvGrpSpPr>
          <p:grpSpPr bwMode="auto">
            <a:xfrm>
              <a:off x="3408" y="3154"/>
              <a:ext cx="1349" cy="227"/>
              <a:chOff x="4500" y="6480"/>
              <a:chExt cx="2175" cy="360"/>
            </a:xfrm>
          </p:grpSpPr>
          <p:sp>
            <p:nvSpPr>
              <p:cNvPr id="71745" name="Rectangle 13"/>
              <p:cNvSpPr>
                <a:spLocks noChangeArrowheads="1"/>
              </p:cNvSpPr>
              <p:nvPr/>
            </p:nvSpPr>
            <p:spPr bwMode="auto">
              <a:xfrm>
                <a:off x="450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71746" name="Rectangle 12"/>
              <p:cNvSpPr>
                <a:spLocks noChangeArrowheads="1"/>
              </p:cNvSpPr>
              <p:nvPr/>
            </p:nvSpPr>
            <p:spPr bwMode="auto">
              <a:xfrm>
                <a:off x="486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71747" name="Rectangle 11"/>
              <p:cNvSpPr>
                <a:spLocks noChangeArrowheads="1"/>
              </p:cNvSpPr>
              <p:nvPr/>
            </p:nvSpPr>
            <p:spPr bwMode="auto">
              <a:xfrm>
                <a:off x="522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71748" name="Rectangle 10"/>
              <p:cNvSpPr>
                <a:spLocks noChangeArrowheads="1"/>
              </p:cNvSpPr>
              <p:nvPr/>
            </p:nvSpPr>
            <p:spPr bwMode="auto">
              <a:xfrm>
                <a:off x="558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71749" name="Rectangle 9"/>
              <p:cNvSpPr>
                <a:spLocks noChangeArrowheads="1"/>
              </p:cNvSpPr>
              <p:nvPr/>
            </p:nvSpPr>
            <p:spPr bwMode="auto">
              <a:xfrm>
                <a:off x="594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71750" name="Rectangle 8"/>
              <p:cNvSpPr>
                <a:spLocks noChangeArrowheads="1"/>
              </p:cNvSpPr>
              <p:nvPr/>
            </p:nvSpPr>
            <p:spPr bwMode="auto">
              <a:xfrm>
                <a:off x="630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grpSp>
        <p:sp>
          <p:nvSpPr>
            <p:cNvPr id="71720" name="Line 6"/>
            <p:cNvSpPr>
              <a:spLocks noChangeShapeType="1"/>
            </p:cNvSpPr>
            <p:nvPr/>
          </p:nvSpPr>
          <p:spPr bwMode="auto">
            <a:xfrm>
              <a:off x="4636" y="2916"/>
              <a:ext cx="0" cy="229"/>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1721" name="Text Box 5"/>
            <p:cNvSpPr txBox="1">
              <a:spLocks noChangeArrowheads="1"/>
            </p:cNvSpPr>
            <p:nvPr/>
          </p:nvSpPr>
          <p:spPr bwMode="auto">
            <a:xfrm>
              <a:off x="3408" y="3118"/>
              <a:ext cx="1442"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600">
                  <a:cs typeface="Times New Roman" panose="02020603050405020304" pitchFamily="18" charset="0"/>
                </a:rPr>
                <a:t>4    6    5     1    3    2</a:t>
              </a:r>
              <a:endParaRPr lang="en-US" altLang="en-US" sz="1800" b="0"/>
            </a:p>
          </p:txBody>
        </p:sp>
        <p:sp>
          <p:nvSpPr>
            <p:cNvPr id="71722" name="Rectangle 156"/>
            <p:cNvSpPr>
              <a:spLocks noChangeArrowheads="1"/>
            </p:cNvSpPr>
            <p:nvPr/>
          </p:nvSpPr>
          <p:spPr bwMode="auto">
            <a:xfrm>
              <a:off x="3833" y="2529"/>
              <a:ext cx="424"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200" b="0">
                  <a:latin typeface="Times New Roman" panose="02020603050405020304" pitchFamily="18" charset="0"/>
                  <a:cs typeface="Times New Roman" panose="02020603050405020304" pitchFamily="18" charset="0"/>
                </a:rPr>
                <a:t> </a:t>
              </a:r>
              <a:endParaRPr lang="en-US" altLang="en-US" sz="1800" b="0"/>
            </a:p>
          </p:txBody>
        </p:sp>
        <p:sp>
          <p:nvSpPr>
            <p:cNvPr id="71723" name="Rectangle 155"/>
            <p:cNvSpPr>
              <a:spLocks noChangeArrowheads="1"/>
            </p:cNvSpPr>
            <p:nvPr/>
          </p:nvSpPr>
          <p:spPr bwMode="auto">
            <a:xfrm>
              <a:off x="3505" y="2529"/>
              <a:ext cx="328" cy="274"/>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6</a:t>
              </a:r>
              <a:endParaRPr lang="en-US" altLang="en-US" sz="1800" b="0">
                <a:ea typeface="Times New Roman" panose="02020603050405020304" pitchFamily="18" charset="0"/>
                <a:cs typeface="Arial" panose="020B0604020202020204" pitchFamily="34" charset="0"/>
              </a:endParaRPr>
            </a:p>
          </p:txBody>
        </p:sp>
        <p:sp>
          <p:nvSpPr>
            <p:cNvPr id="71724" name="Rectangle 154"/>
            <p:cNvSpPr>
              <a:spLocks noChangeArrowheads="1"/>
            </p:cNvSpPr>
            <p:nvPr/>
          </p:nvSpPr>
          <p:spPr bwMode="auto">
            <a:xfrm>
              <a:off x="3833" y="2286"/>
              <a:ext cx="424"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2</a:t>
              </a:r>
              <a:endParaRPr lang="en-US" altLang="en-US" sz="1800" b="0">
                <a:ea typeface="Times New Roman" panose="02020603050405020304" pitchFamily="18" charset="0"/>
                <a:cs typeface="Arial" panose="020B0604020202020204" pitchFamily="34" charset="0"/>
              </a:endParaRPr>
            </a:p>
          </p:txBody>
        </p:sp>
        <p:sp>
          <p:nvSpPr>
            <p:cNvPr id="71725" name="Rectangle 153"/>
            <p:cNvSpPr>
              <a:spLocks noChangeArrowheads="1"/>
            </p:cNvSpPr>
            <p:nvPr/>
          </p:nvSpPr>
          <p:spPr bwMode="auto">
            <a:xfrm>
              <a:off x="3505" y="2286"/>
              <a:ext cx="328" cy="243"/>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5</a:t>
              </a:r>
              <a:endParaRPr lang="en-US" altLang="en-US" sz="1800" b="0">
                <a:ea typeface="Times New Roman" panose="02020603050405020304" pitchFamily="18" charset="0"/>
                <a:cs typeface="Arial" panose="020B0604020202020204" pitchFamily="34" charset="0"/>
              </a:endParaRPr>
            </a:p>
          </p:txBody>
        </p:sp>
        <p:sp>
          <p:nvSpPr>
            <p:cNvPr id="71726" name="Rectangle 151"/>
            <p:cNvSpPr>
              <a:spLocks noChangeArrowheads="1"/>
            </p:cNvSpPr>
            <p:nvPr/>
          </p:nvSpPr>
          <p:spPr bwMode="auto">
            <a:xfrm>
              <a:off x="3505" y="2011"/>
              <a:ext cx="328" cy="275"/>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4</a:t>
              </a:r>
              <a:endParaRPr lang="en-US" altLang="en-US" sz="1800" b="0">
                <a:ea typeface="Times New Roman" panose="02020603050405020304" pitchFamily="18" charset="0"/>
                <a:cs typeface="Arial" panose="020B0604020202020204" pitchFamily="34" charset="0"/>
              </a:endParaRPr>
            </a:p>
          </p:txBody>
        </p:sp>
        <p:sp>
          <p:nvSpPr>
            <p:cNvPr id="71727" name="Rectangle 150"/>
            <p:cNvSpPr>
              <a:spLocks noChangeArrowheads="1"/>
            </p:cNvSpPr>
            <p:nvPr/>
          </p:nvSpPr>
          <p:spPr bwMode="auto">
            <a:xfrm>
              <a:off x="3833" y="1769"/>
              <a:ext cx="424"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-2</a:t>
              </a:r>
              <a:endParaRPr lang="en-US" altLang="en-US" sz="1800" b="0">
                <a:ea typeface="Times New Roman" panose="02020603050405020304" pitchFamily="18" charset="0"/>
                <a:cs typeface="Arial" panose="020B0604020202020204" pitchFamily="34" charset="0"/>
              </a:endParaRPr>
            </a:p>
          </p:txBody>
        </p:sp>
        <p:sp>
          <p:nvSpPr>
            <p:cNvPr id="71728" name="Rectangle 149"/>
            <p:cNvSpPr>
              <a:spLocks noChangeArrowheads="1"/>
            </p:cNvSpPr>
            <p:nvPr/>
          </p:nvSpPr>
          <p:spPr bwMode="auto">
            <a:xfrm>
              <a:off x="3505" y="1769"/>
              <a:ext cx="328" cy="242"/>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3</a:t>
              </a:r>
              <a:endParaRPr lang="en-US" altLang="en-US" sz="1800" b="0">
                <a:ea typeface="Times New Roman" panose="02020603050405020304" pitchFamily="18" charset="0"/>
                <a:cs typeface="Arial" panose="020B0604020202020204" pitchFamily="34" charset="0"/>
              </a:endParaRPr>
            </a:p>
          </p:txBody>
        </p:sp>
        <p:sp>
          <p:nvSpPr>
            <p:cNvPr id="71729" name="Rectangle 148"/>
            <p:cNvSpPr>
              <a:spLocks noChangeArrowheads="1"/>
            </p:cNvSpPr>
            <p:nvPr/>
          </p:nvSpPr>
          <p:spPr bwMode="auto">
            <a:xfrm>
              <a:off x="3833" y="1494"/>
              <a:ext cx="424" cy="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200" b="0">
                  <a:latin typeface="Times New Roman" panose="02020603050405020304" pitchFamily="18" charset="0"/>
                  <a:cs typeface="Times New Roman" panose="02020603050405020304" pitchFamily="18" charset="0"/>
                </a:rPr>
                <a:t> </a:t>
              </a:r>
              <a:endParaRPr lang="en-US" altLang="en-US" sz="1800" b="0"/>
            </a:p>
          </p:txBody>
        </p:sp>
        <p:sp>
          <p:nvSpPr>
            <p:cNvPr id="71730" name="Rectangle 147"/>
            <p:cNvSpPr>
              <a:spLocks noChangeArrowheads="1"/>
            </p:cNvSpPr>
            <p:nvPr/>
          </p:nvSpPr>
          <p:spPr bwMode="auto">
            <a:xfrm>
              <a:off x="3505" y="1494"/>
              <a:ext cx="328" cy="275"/>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2</a:t>
              </a:r>
              <a:endParaRPr lang="en-US" altLang="en-US" sz="1800" b="0">
                <a:ea typeface="Times New Roman" panose="02020603050405020304" pitchFamily="18" charset="0"/>
                <a:cs typeface="Arial" panose="020B0604020202020204" pitchFamily="34" charset="0"/>
              </a:endParaRPr>
            </a:p>
          </p:txBody>
        </p:sp>
        <p:sp>
          <p:nvSpPr>
            <p:cNvPr id="71731" name="Rectangle 146"/>
            <p:cNvSpPr>
              <a:spLocks noChangeArrowheads="1"/>
            </p:cNvSpPr>
            <p:nvPr/>
          </p:nvSpPr>
          <p:spPr bwMode="auto">
            <a:xfrm>
              <a:off x="3833" y="1251"/>
              <a:ext cx="424" cy="2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2</a:t>
              </a:r>
              <a:endParaRPr lang="en-US" altLang="en-US" sz="1800" b="0">
                <a:ea typeface="Times New Roman" panose="02020603050405020304" pitchFamily="18" charset="0"/>
                <a:cs typeface="Arial" panose="020B0604020202020204" pitchFamily="34" charset="0"/>
              </a:endParaRPr>
            </a:p>
          </p:txBody>
        </p:sp>
        <p:sp>
          <p:nvSpPr>
            <p:cNvPr id="71732" name="Rectangle 145"/>
            <p:cNvSpPr>
              <a:spLocks noChangeArrowheads="1"/>
            </p:cNvSpPr>
            <p:nvPr/>
          </p:nvSpPr>
          <p:spPr bwMode="auto">
            <a:xfrm>
              <a:off x="3505" y="1251"/>
              <a:ext cx="328" cy="243"/>
            </a:xfrm>
            <a:prstGeom prst="rect">
              <a:avLst/>
            </a:prstGeom>
            <a:solidFill>
              <a:srgbClr val="00FF00"/>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anchor="b"/>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000">
                  <a:ea typeface="Times New Roman" panose="02020603050405020304" pitchFamily="18" charset="0"/>
                  <a:cs typeface="Arial" panose="020B0604020202020204" pitchFamily="34" charset="0"/>
                </a:rPr>
                <a:t>1</a:t>
              </a:r>
              <a:endParaRPr lang="en-US" altLang="en-US" sz="1800" b="0">
                <a:ea typeface="Times New Roman" panose="02020603050405020304" pitchFamily="18" charset="0"/>
                <a:cs typeface="Arial" panose="020B0604020202020204" pitchFamily="34" charset="0"/>
              </a:endParaRPr>
            </a:p>
          </p:txBody>
        </p:sp>
        <p:sp>
          <p:nvSpPr>
            <p:cNvPr id="71733" name="Line 157"/>
            <p:cNvSpPr>
              <a:spLocks noChangeShapeType="1"/>
            </p:cNvSpPr>
            <p:nvPr/>
          </p:nvSpPr>
          <p:spPr bwMode="auto">
            <a:xfrm>
              <a:off x="3505" y="1251"/>
              <a:ext cx="752"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34" name="Line 158"/>
            <p:cNvSpPr>
              <a:spLocks noChangeShapeType="1"/>
            </p:cNvSpPr>
            <p:nvPr/>
          </p:nvSpPr>
          <p:spPr bwMode="auto">
            <a:xfrm>
              <a:off x="3505" y="2803"/>
              <a:ext cx="328"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35" name="Line 159"/>
            <p:cNvSpPr>
              <a:spLocks noChangeShapeType="1"/>
            </p:cNvSpPr>
            <p:nvPr/>
          </p:nvSpPr>
          <p:spPr bwMode="auto">
            <a:xfrm>
              <a:off x="3505" y="1251"/>
              <a:ext cx="0" cy="1552"/>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36" name="Line 160"/>
            <p:cNvSpPr>
              <a:spLocks noChangeShapeType="1"/>
            </p:cNvSpPr>
            <p:nvPr/>
          </p:nvSpPr>
          <p:spPr bwMode="auto">
            <a:xfrm>
              <a:off x="4257" y="1251"/>
              <a:ext cx="0" cy="243"/>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37" name="Line 163"/>
            <p:cNvSpPr>
              <a:spLocks noChangeShapeType="1"/>
            </p:cNvSpPr>
            <p:nvPr/>
          </p:nvSpPr>
          <p:spPr bwMode="auto">
            <a:xfrm>
              <a:off x="3505" y="1494"/>
              <a:ext cx="752"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38" name="Line 165"/>
            <p:cNvSpPr>
              <a:spLocks noChangeShapeType="1"/>
            </p:cNvSpPr>
            <p:nvPr/>
          </p:nvSpPr>
          <p:spPr bwMode="auto">
            <a:xfrm>
              <a:off x="3833" y="1251"/>
              <a:ext cx="0" cy="1552"/>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39" name="Line 169"/>
            <p:cNvSpPr>
              <a:spLocks noChangeShapeType="1"/>
            </p:cNvSpPr>
            <p:nvPr/>
          </p:nvSpPr>
          <p:spPr bwMode="auto">
            <a:xfrm>
              <a:off x="3505" y="1769"/>
              <a:ext cx="752"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40" name="Line 175"/>
            <p:cNvSpPr>
              <a:spLocks noChangeShapeType="1"/>
            </p:cNvSpPr>
            <p:nvPr/>
          </p:nvSpPr>
          <p:spPr bwMode="auto">
            <a:xfrm>
              <a:off x="4257" y="1769"/>
              <a:ext cx="0" cy="242"/>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41" name="Line 177"/>
            <p:cNvSpPr>
              <a:spLocks noChangeShapeType="1"/>
            </p:cNvSpPr>
            <p:nvPr/>
          </p:nvSpPr>
          <p:spPr bwMode="auto">
            <a:xfrm>
              <a:off x="3505" y="2011"/>
              <a:ext cx="752"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42" name="Line 185"/>
            <p:cNvSpPr>
              <a:spLocks noChangeShapeType="1"/>
            </p:cNvSpPr>
            <p:nvPr/>
          </p:nvSpPr>
          <p:spPr bwMode="auto">
            <a:xfrm>
              <a:off x="3505" y="2286"/>
              <a:ext cx="752"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43" name="Line 191"/>
            <p:cNvSpPr>
              <a:spLocks noChangeShapeType="1"/>
            </p:cNvSpPr>
            <p:nvPr/>
          </p:nvSpPr>
          <p:spPr bwMode="auto">
            <a:xfrm>
              <a:off x="4257" y="2286"/>
              <a:ext cx="0" cy="243"/>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44" name="Line 193"/>
            <p:cNvSpPr>
              <a:spLocks noChangeShapeType="1"/>
            </p:cNvSpPr>
            <p:nvPr/>
          </p:nvSpPr>
          <p:spPr bwMode="auto">
            <a:xfrm>
              <a:off x="3505" y="2529"/>
              <a:ext cx="752" cy="0"/>
            </a:xfrm>
            <a:prstGeom prst="line">
              <a:avLst/>
            </a:prstGeom>
            <a:noFill/>
            <a:ln w="12700" cap="rnd">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71687" name="Rectangle 210"/>
          <p:cNvSpPr>
            <a:spLocks noChangeArrowheads="1"/>
          </p:cNvSpPr>
          <p:nvPr/>
        </p:nvSpPr>
        <p:spPr bwMode="auto">
          <a:xfrm>
            <a:off x="5427663" y="5113338"/>
            <a:ext cx="184150" cy="901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endParaRPr lang="en-US" altLang="en-US" sz="1200">
              <a:cs typeface="Times New Roman" panose="02020603050405020304" pitchFamily="18" charset="0"/>
            </a:endParaRPr>
          </a:p>
          <a:p>
            <a:pPr>
              <a:spcBef>
                <a:spcPct val="0"/>
              </a:spcBef>
              <a:buClrTx/>
              <a:buSzTx/>
              <a:buFontTx/>
              <a:buNone/>
            </a:pPr>
            <a:r>
              <a:rPr lang="en-US" altLang="en-US" sz="1200" b="0">
                <a:cs typeface="Times New Roman" panose="02020603050405020304" pitchFamily="18" charset="0"/>
              </a:rPr>
              <a:t/>
            </a:r>
            <a:br>
              <a:rPr lang="en-US" altLang="en-US" sz="1200" b="0">
                <a:cs typeface="Times New Roman" panose="02020603050405020304" pitchFamily="18" charset="0"/>
              </a:rPr>
            </a:br>
            <a:endParaRPr lang="en-US" altLang="en-US" sz="1100" b="0"/>
          </a:p>
          <a:p>
            <a:pPr>
              <a:spcBef>
                <a:spcPct val="0"/>
              </a:spcBef>
              <a:buClrTx/>
              <a:buSzTx/>
              <a:buFontTx/>
              <a:buNone/>
            </a:pPr>
            <a:endParaRPr lang="en-US" altLang="en-US" sz="1800" b="0"/>
          </a:p>
        </p:txBody>
      </p:sp>
      <p:sp>
        <p:nvSpPr>
          <p:cNvPr id="71688" name="Text Box 302"/>
          <p:cNvSpPr txBox="1">
            <a:spLocks noChangeArrowheads="1"/>
          </p:cNvSpPr>
          <p:nvPr/>
        </p:nvSpPr>
        <p:spPr bwMode="auto">
          <a:xfrm>
            <a:off x="990600" y="1752600"/>
            <a:ext cx="1676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1800"/>
              <a:t>Step 5</a:t>
            </a:r>
          </a:p>
        </p:txBody>
      </p:sp>
      <p:sp>
        <p:nvSpPr>
          <p:cNvPr id="71689" name="Text Box 303"/>
          <p:cNvSpPr txBox="1">
            <a:spLocks noChangeArrowheads="1"/>
          </p:cNvSpPr>
          <p:nvPr/>
        </p:nvSpPr>
        <p:spPr bwMode="auto">
          <a:xfrm>
            <a:off x="5105400" y="1747838"/>
            <a:ext cx="16764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1800"/>
              <a:t>Step 6</a:t>
            </a:r>
          </a:p>
        </p:txBody>
      </p:sp>
      <p:graphicFrame>
        <p:nvGraphicFramePr>
          <p:cNvPr id="71690"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71757"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A252E34-6DBE-4F4A-83E9-2337BA1519D7}" type="slidenum">
              <a:rPr lang="en-US" altLang="en-US" sz="1200" smtClean="0">
                <a:latin typeface="Garamond" panose="02020404030301010803" pitchFamily="18" charset="0"/>
              </a:rPr>
              <a:pPr>
                <a:spcBef>
                  <a:spcPct val="0"/>
                </a:spcBef>
                <a:buClrTx/>
                <a:buSzTx/>
                <a:buFontTx/>
                <a:buNone/>
              </a:pPr>
              <a:t>62</a:t>
            </a:fld>
            <a:endParaRPr lang="en-US" altLang="en-US" sz="1200" smtClean="0">
              <a:latin typeface="Garamond" panose="02020404030301010803" pitchFamily="18" charset="0"/>
            </a:endParaRPr>
          </a:p>
        </p:txBody>
      </p:sp>
      <p:sp>
        <p:nvSpPr>
          <p:cNvPr id="72707" name="Rectangle 2"/>
          <p:cNvSpPr>
            <a:spLocks noGrp="1" noChangeArrowheads="1"/>
          </p:cNvSpPr>
          <p:nvPr>
            <p:ph type="title"/>
          </p:nvPr>
        </p:nvSpPr>
        <p:spPr>
          <a:xfrm>
            <a:off x="457200" y="277813"/>
            <a:ext cx="8229600" cy="712787"/>
          </a:xfrm>
        </p:spPr>
        <p:txBody>
          <a:bodyPr/>
          <a:lstStyle/>
          <a:p>
            <a:pPr algn="ctr" eaLnBrk="1" hangingPunct="1"/>
            <a:r>
              <a:rPr lang="en-US" altLang="en-US" sz="4000" b="1" u="sng" smtClean="0"/>
              <a:t>Mutation Operator</a:t>
            </a:r>
            <a:br>
              <a:rPr lang="en-US" altLang="en-US" sz="4000" b="1" u="sng" smtClean="0"/>
            </a:br>
            <a:endParaRPr lang="en-US" altLang="en-US" sz="4000" b="1" u="sng" smtClean="0"/>
          </a:p>
        </p:txBody>
      </p:sp>
      <p:sp>
        <p:nvSpPr>
          <p:cNvPr id="72708" name="Rectangle 3"/>
          <p:cNvSpPr>
            <a:spLocks noGrp="1" noChangeArrowheads="1"/>
          </p:cNvSpPr>
          <p:nvPr>
            <p:ph type="body" idx="1"/>
          </p:nvPr>
        </p:nvSpPr>
        <p:spPr>
          <a:xfrm>
            <a:off x="457200" y="1143000"/>
            <a:ext cx="8229600" cy="4953000"/>
          </a:xfrm>
        </p:spPr>
        <p:txBody>
          <a:bodyPr/>
          <a:lstStyle/>
          <a:p>
            <a:pPr eaLnBrk="1" hangingPunct="1"/>
            <a:r>
              <a:rPr lang="en-US" altLang="en-US" sz="2400" smtClean="0"/>
              <a:t>The mutation operator induces a change in the solution, so as to maintain diversity in the population and prevent </a:t>
            </a:r>
            <a:r>
              <a:rPr lang="en-US" altLang="en-US" sz="2400" i="1" smtClean="0">
                <a:solidFill>
                  <a:srgbClr val="CC3300"/>
                </a:solidFill>
              </a:rPr>
              <a:t>Premature Convergence</a:t>
            </a:r>
            <a:r>
              <a:rPr lang="en-US" altLang="en-US" sz="2400" smtClean="0"/>
              <a:t>. </a:t>
            </a:r>
          </a:p>
          <a:p>
            <a:pPr eaLnBrk="1" hangingPunct="1"/>
            <a:r>
              <a:rPr lang="en-US" altLang="en-US" sz="2400" smtClean="0"/>
              <a:t>In our project, we mutate the string by randomly selecting any two cities and interchanging their positions in the solution, thus giving rise to a new tour. </a:t>
            </a:r>
          </a:p>
          <a:p>
            <a:pPr eaLnBrk="1" hangingPunct="1">
              <a:buFont typeface="Wingdings" panose="05000000000000000000" pitchFamily="2" charset="2"/>
              <a:buNone/>
            </a:pPr>
            <a:endParaRPr lang="en-US" altLang="en-US" sz="2400" smtClean="0"/>
          </a:p>
        </p:txBody>
      </p:sp>
      <p:grpSp>
        <p:nvGrpSpPr>
          <p:cNvPr id="72709" name="Group 6"/>
          <p:cNvGrpSpPr>
            <a:grpSpLocks/>
          </p:cNvGrpSpPr>
          <p:nvPr/>
        </p:nvGrpSpPr>
        <p:grpSpPr bwMode="auto">
          <a:xfrm>
            <a:off x="3132138" y="3886200"/>
            <a:ext cx="2422525" cy="333375"/>
            <a:chOff x="4500" y="6480"/>
            <a:chExt cx="2175" cy="360"/>
          </a:xfrm>
        </p:grpSpPr>
        <p:sp>
          <p:nvSpPr>
            <p:cNvPr id="72725" name="Rectangle 7"/>
            <p:cNvSpPr>
              <a:spLocks noChangeArrowheads="1"/>
            </p:cNvSpPr>
            <p:nvPr/>
          </p:nvSpPr>
          <p:spPr bwMode="auto">
            <a:xfrm>
              <a:off x="450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a:t>4</a:t>
              </a:r>
            </a:p>
          </p:txBody>
        </p:sp>
        <p:sp>
          <p:nvSpPr>
            <p:cNvPr id="72726" name="Rectangle 8"/>
            <p:cNvSpPr>
              <a:spLocks noChangeArrowheads="1"/>
            </p:cNvSpPr>
            <p:nvPr/>
          </p:nvSpPr>
          <p:spPr bwMode="auto">
            <a:xfrm>
              <a:off x="486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a:t>1</a:t>
              </a:r>
            </a:p>
          </p:txBody>
        </p:sp>
        <p:sp>
          <p:nvSpPr>
            <p:cNvPr id="72727" name="Rectangle 9"/>
            <p:cNvSpPr>
              <a:spLocks noChangeArrowheads="1"/>
            </p:cNvSpPr>
            <p:nvPr/>
          </p:nvSpPr>
          <p:spPr bwMode="auto">
            <a:xfrm>
              <a:off x="522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a:t>3</a:t>
              </a:r>
            </a:p>
          </p:txBody>
        </p:sp>
        <p:sp>
          <p:nvSpPr>
            <p:cNvPr id="72728" name="Rectangle 10"/>
            <p:cNvSpPr>
              <a:spLocks noChangeArrowheads="1"/>
            </p:cNvSpPr>
            <p:nvPr/>
          </p:nvSpPr>
          <p:spPr bwMode="auto">
            <a:xfrm>
              <a:off x="558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a:t>2</a:t>
              </a:r>
            </a:p>
          </p:txBody>
        </p:sp>
        <p:sp>
          <p:nvSpPr>
            <p:cNvPr id="72729" name="Rectangle 11"/>
            <p:cNvSpPr>
              <a:spLocks noChangeArrowheads="1"/>
            </p:cNvSpPr>
            <p:nvPr/>
          </p:nvSpPr>
          <p:spPr bwMode="auto">
            <a:xfrm>
              <a:off x="594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a:t>5</a:t>
              </a:r>
            </a:p>
          </p:txBody>
        </p:sp>
        <p:sp>
          <p:nvSpPr>
            <p:cNvPr id="72730" name="Rectangle 12"/>
            <p:cNvSpPr>
              <a:spLocks noChangeArrowheads="1"/>
            </p:cNvSpPr>
            <p:nvPr/>
          </p:nvSpPr>
          <p:spPr bwMode="auto">
            <a:xfrm>
              <a:off x="630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a:t>6</a:t>
              </a:r>
            </a:p>
          </p:txBody>
        </p:sp>
      </p:grpSp>
      <p:sp>
        <p:nvSpPr>
          <p:cNvPr id="72710" name="Text Box 13"/>
          <p:cNvSpPr txBox="1">
            <a:spLocks noChangeArrowheads="1"/>
          </p:cNvSpPr>
          <p:nvPr/>
        </p:nvSpPr>
        <p:spPr bwMode="auto">
          <a:xfrm>
            <a:off x="3048000" y="3924300"/>
            <a:ext cx="259080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600"/>
              <a:t> </a:t>
            </a:r>
            <a:endParaRPr lang="en-US" altLang="en-US" sz="4000"/>
          </a:p>
        </p:txBody>
      </p:sp>
      <p:grpSp>
        <p:nvGrpSpPr>
          <p:cNvPr id="72711" name="Group 14"/>
          <p:cNvGrpSpPr>
            <a:grpSpLocks/>
          </p:cNvGrpSpPr>
          <p:nvPr/>
        </p:nvGrpSpPr>
        <p:grpSpPr bwMode="auto">
          <a:xfrm>
            <a:off x="3124200" y="5562600"/>
            <a:ext cx="2422525" cy="333375"/>
            <a:chOff x="4500" y="6480"/>
            <a:chExt cx="2175" cy="360"/>
          </a:xfrm>
        </p:grpSpPr>
        <p:sp>
          <p:nvSpPr>
            <p:cNvPr id="72719" name="Rectangle 15"/>
            <p:cNvSpPr>
              <a:spLocks noChangeArrowheads="1"/>
            </p:cNvSpPr>
            <p:nvPr/>
          </p:nvSpPr>
          <p:spPr bwMode="auto">
            <a:xfrm>
              <a:off x="450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a:t>4</a:t>
              </a:r>
            </a:p>
          </p:txBody>
        </p:sp>
        <p:sp>
          <p:nvSpPr>
            <p:cNvPr id="72720" name="Rectangle 16"/>
            <p:cNvSpPr>
              <a:spLocks noChangeArrowheads="1"/>
            </p:cNvSpPr>
            <p:nvPr/>
          </p:nvSpPr>
          <p:spPr bwMode="auto">
            <a:xfrm>
              <a:off x="486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a:t>5</a:t>
              </a:r>
            </a:p>
          </p:txBody>
        </p:sp>
        <p:sp>
          <p:nvSpPr>
            <p:cNvPr id="72721" name="Rectangle 17"/>
            <p:cNvSpPr>
              <a:spLocks noChangeArrowheads="1"/>
            </p:cNvSpPr>
            <p:nvPr/>
          </p:nvSpPr>
          <p:spPr bwMode="auto">
            <a:xfrm>
              <a:off x="522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a:t>3</a:t>
              </a:r>
            </a:p>
          </p:txBody>
        </p:sp>
        <p:sp>
          <p:nvSpPr>
            <p:cNvPr id="72722" name="Rectangle 18"/>
            <p:cNvSpPr>
              <a:spLocks noChangeArrowheads="1"/>
            </p:cNvSpPr>
            <p:nvPr/>
          </p:nvSpPr>
          <p:spPr bwMode="auto">
            <a:xfrm>
              <a:off x="558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a:t>2</a:t>
              </a:r>
            </a:p>
          </p:txBody>
        </p:sp>
        <p:sp>
          <p:nvSpPr>
            <p:cNvPr id="72723" name="Rectangle 19"/>
            <p:cNvSpPr>
              <a:spLocks noChangeArrowheads="1"/>
            </p:cNvSpPr>
            <p:nvPr/>
          </p:nvSpPr>
          <p:spPr bwMode="auto">
            <a:xfrm>
              <a:off x="594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a:t>1</a:t>
              </a:r>
            </a:p>
          </p:txBody>
        </p:sp>
        <p:sp>
          <p:nvSpPr>
            <p:cNvPr id="72724" name="Rectangle 20"/>
            <p:cNvSpPr>
              <a:spLocks noChangeArrowheads="1"/>
            </p:cNvSpPr>
            <p:nvPr/>
          </p:nvSpPr>
          <p:spPr bwMode="auto">
            <a:xfrm>
              <a:off x="6300" y="6480"/>
              <a:ext cx="375" cy="360"/>
            </a:xfrm>
            <a:prstGeom prst="rect">
              <a:avLst/>
            </a:prstGeom>
            <a:solidFill>
              <a:srgbClr val="CCFFCC"/>
            </a:solidFill>
            <a:ln w="12700">
              <a:solidFill>
                <a:srgbClr val="000000"/>
              </a:solidFill>
              <a:miter lim="800000"/>
              <a:headEnd/>
              <a:tailEnd/>
            </a:ln>
          </p:spPr>
          <p:txBody>
            <a:bodyPr wrap="none" anchor="ct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1800"/>
                <a:t>6</a:t>
              </a:r>
            </a:p>
          </p:txBody>
        </p:sp>
      </p:grpSp>
      <p:sp>
        <p:nvSpPr>
          <p:cNvPr id="72712" name="Text Box 21"/>
          <p:cNvSpPr txBox="1">
            <a:spLocks noChangeArrowheads="1"/>
          </p:cNvSpPr>
          <p:nvPr/>
        </p:nvSpPr>
        <p:spPr bwMode="auto">
          <a:xfrm>
            <a:off x="3048000" y="5521325"/>
            <a:ext cx="2590800" cy="49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en-US" sz="1600"/>
              <a:t> </a:t>
            </a:r>
            <a:endParaRPr lang="en-US" altLang="en-US" sz="4000"/>
          </a:p>
        </p:txBody>
      </p:sp>
      <p:sp>
        <p:nvSpPr>
          <p:cNvPr id="72713" name="AutoShape 22"/>
          <p:cNvSpPr>
            <a:spLocks noChangeArrowheads="1"/>
          </p:cNvSpPr>
          <p:nvPr/>
        </p:nvSpPr>
        <p:spPr bwMode="auto">
          <a:xfrm>
            <a:off x="4010025" y="4456113"/>
            <a:ext cx="642938" cy="931862"/>
          </a:xfrm>
          <a:prstGeom prst="downArrow">
            <a:avLst>
              <a:gd name="adj1" fmla="val 50000"/>
              <a:gd name="adj2" fmla="val 36235"/>
            </a:avLst>
          </a:prstGeom>
          <a:solidFill>
            <a:srgbClr val="FFFFFF"/>
          </a:solidFill>
          <a:ln w="9525">
            <a:solidFill>
              <a:srgbClr val="000000"/>
            </a:solidFill>
            <a:miter lim="800000"/>
            <a:headEnd/>
            <a:tailEnd/>
          </a:ln>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endParaRPr lang="en-US" altLang="en-US" sz="4000"/>
          </a:p>
        </p:txBody>
      </p:sp>
      <p:sp>
        <p:nvSpPr>
          <p:cNvPr id="72714" name="Line 23"/>
          <p:cNvSpPr>
            <a:spLocks noChangeShapeType="1"/>
          </p:cNvSpPr>
          <p:nvPr/>
        </p:nvSpPr>
        <p:spPr bwMode="auto">
          <a:xfrm>
            <a:off x="3689350" y="3581400"/>
            <a:ext cx="0" cy="2667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715" name="Line 24"/>
          <p:cNvSpPr>
            <a:spLocks noChangeShapeType="1"/>
          </p:cNvSpPr>
          <p:nvPr/>
        </p:nvSpPr>
        <p:spPr bwMode="auto">
          <a:xfrm>
            <a:off x="4973638" y="3581400"/>
            <a:ext cx="0" cy="2667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716" name="Line 25"/>
          <p:cNvSpPr>
            <a:spLocks noChangeShapeType="1"/>
          </p:cNvSpPr>
          <p:nvPr/>
        </p:nvSpPr>
        <p:spPr bwMode="auto">
          <a:xfrm>
            <a:off x="3689350" y="5254625"/>
            <a:ext cx="0" cy="2667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72717" name="Line 26"/>
          <p:cNvSpPr>
            <a:spLocks noChangeShapeType="1"/>
          </p:cNvSpPr>
          <p:nvPr/>
        </p:nvSpPr>
        <p:spPr bwMode="auto">
          <a:xfrm>
            <a:off x="4973638" y="5254625"/>
            <a:ext cx="0" cy="26670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graphicFrame>
        <p:nvGraphicFramePr>
          <p:cNvPr id="72718"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72731"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FC33F023-5102-4CBF-B0AF-DE1B1FD53F09}" type="slidenum">
              <a:rPr lang="en-US" altLang="en-US" sz="1200" smtClean="0">
                <a:latin typeface="Garamond" panose="02020404030301010803" pitchFamily="18" charset="0"/>
              </a:rPr>
              <a:pPr>
                <a:spcBef>
                  <a:spcPct val="0"/>
                </a:spcBef>
                <a:buClrTx/>
                <a:buSzTx/>
                <a:buFontTx/>
                <a:buNone/>
              </a:pPr>
              <a:t>63</a:t>
            </a:fld>
            <a:endParaRPr lang="en-US" altLang="en-US" sz="1200" smtClean="0">
              <a:latin typeface="Garamond" panose="02020404030301010803" pitchFamily="18" charset="0"/>
            </a:endParaRPr>
          </a:p>
        </p:txBody>
      </p:sp>
      <p:pic>
        <p:nvPicPr>
          <p:cNvPr id="73731" name="Picture 4" descr="i1"/>
          <p:cNvPicPr>
            <a:picLocks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528763" y="381000"/>
            <a:ext cx="6472237" cy="5521325"/>
          </a:xfrm>
          <a:noFill/>
        </p:spPr>
      </p:pic>
      <p:sp>
        <p:nvSpPr>
          <p:cNvPr id="73732" name="Text Box 7"/>
          <p:cNvSpPr txBox="1">
            <a:spLocks noChangeArrowheads="1"/>
          </p:cNvSpPr>
          <p:nvPr/>
        </p:nvSpPr>
        <p:spPr bwMode="auto">
          <a:xfrm>
            <a:off x="1905000" y="6172200"/>
            <a:ext cx="5257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r>
              <a:rPr lang="en-US" altLang="en-US" sz="2800" u="sng"/>
              <a:t>Input To Program</a:t>
            </a:r>
          </a:p>
        </p:txBody>
      </p:sp>
      <p:graphicFrame>
        <p:nvGraphicFramePr>
          <p:cNvPr id="73733"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73734" name="Klip" r:id="rId4" imgW="1423988" imgH="3055938" progId="MS_ClipArt_Gallery.2">
                  <p:embed/>
                </p:oleObj>
              </mc:Choice>
              <mc:Fallback>
                <p:oleObj name="Klip" r:id="rId4" imgW="1423988" imgH="3055938" progId="MS_ClipArt_Gallery.2">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Number Placeholder 4"/>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F30F5CA-F5CF-4513-BBD4-50F3BC2C46AA}" type="slidenum">
              <a:rPr lang="en-US" altLang="en-US" sz="1200" smtClean="0">
                <a:latin typeface="Garamond" panose="02020404030301010803" pitchFamily="18" charset="0"/>
              </a:rPr>
              <a:pPr>
                <a:spcBef>
                  <a:spcPct val="0"/>
                </a:spcBef>
                <a:buClrTx/>
                <a:buSzTx/>
                <a:buFontTx/>
                <a:buNone/>
              </a:pPr>
              <a:t>64</a:t>
            </a:fld>
            <a:endParaRPr lang="en-US" altLang="en-US" sz="1200" smtClean="0">
              <a:latin typeface="Garamond" panose="02020404030301010803" pitchFamily="18" charset="0"/>
            </a:endParaRPr>
          </a:p>
        </p:txBody>
      </p:sp>
      <p:pic>
        <p:nvPicPr>
          <p:cNvPr id="74755" name="Picture 4" descr="o4"/>
          <p:cNvPicPr>
            <a:picLocks noChangeAspect="1" noChangeArrowheads="1"/>
          </p:cNvPicPr>
          <p:nvPr>
            <p:ph/>
          </p:nvPr>
        </p:nvPicPr>
        <p:blipFill>
          <a:blip r:embed="rId3">
            <a:extLst>
              <a:ext uri="{28A0092B-C50C-407E-A947-70E740481C1C}">
                <a14:useLocalDpi xmlns:a14="http://schemas.microsoft.com/office/drawing/2010/main" val="0"/>
              </a:ext>
            </a:extLst>
          </a:blip>
          <a:srcRect/>
          <a:stretch>
            <a:fillRect/>
          </a:stretch>
        </p:blipFill>
        <p:spPr>
          <a:xfrm>
            <a:off x="1447800" y="560388"/>
            <a:ext cx="6248400" cy="5286375"/>
          </a:xfrm>
          <a:noFill/>
        </p:spPr>
      </p:pic>
      <p:sp>
        <p:nvSpPr>
          <p:cNvPr id="74756" name="Text Box 8"/>
          <p:cNvSpPr txBox="1">
            <a:spLocks noChangeArrowheads="1"/>
          </p:cNvSpPr>
          <p:nvPr/>
        </p:nvSpPr>
        <p:spPr bwMode="auto">
          <a:xfrm>
            <a:off x="2209800" y="6324600"/>
            <a:ext cx="49530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endParaRPr lang="en-US" altLang="en-US" sz="4000"/>
          </a:p>
        </p:txBody>
      </p:sp>
      <p:sp>
        <p:nvSpPr>
          <p:cNvPr id="74757" name="Text Box 9"/>
          <p:cNvSpPr txBox="1">
            <a:spLocks noChangeArrowheads="1"/>
          </p:cNvSpPr>
          <p:nvPr/>
        </p:nvSpPr>
        <p:spPr bwMode="auto">
          <a:xfrm>
            <a:off x="2057400" y="5943600"/>
            <a:ext cx="4724400"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50000"/>
              </a:spcBef>
              <a:buClrTx/>
              <a:buSzTx/>
              <a:buFontTx/>
              <a:buNone/>
            </a:pPr>
            <a:endParaRPr lang="en-US" altLang="en-US" sz="4000"/>
          </a:p>
        </p:txBody>
      </p:sp>
      <p:sp>
        <p:nvSpPr>
          <p:cNvPr id="74758" name="Text Box 10"/>
          <p:cNvSpPr txBox="1">
            <a:spLocks noChangeArrowheads="1"/>
          </p:cNvSpPr>
          <p:nvPr/>
        </p:nvSpPr>
        <p:spPr bwMode="auto">
          <a:xfrm>
            <a:off x="685800" y="6167438"/>
            <a:ext cx="8001000"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2000"/>
              <a:t>Initial Output For 20 cities : Distance=34985 km </a:t>
            </a:r>
          </a:p>
          <a:p>
            <a:pPr algn="ctr" eaLnBrk="1" hangingPunct="1">
              <a:spcBef>
                <a:spcPct val="0"/>
              </a:spcBef>
              <a:buClrTx/>
              <a:buSzTx/>
              <a:buFontTx/>
              <a:buNone/>
            </a:pPr>
            <a:r>
              <a:rPr lang="en-US" altLang="en-US" sz="2000"/>
              <a:t>Initial Population</a:t>
            </a:r>
          </a:p>
          <a:p>
            <a:pPr algn="ctr" eaLnBrk="1" hangingPunct="1">
              <a:spcBef>
                <a:spcPct val="50000"/>
              </a:spcBef>
              <a:buClrTx/>
              <a:buSzTx/>
              <a:buFontTx/>
              <a:buNone/>
            </a:pPr>
            <a:endParaRPr lang="en-US" altLang="en-US" sz="2000"/>
          </a:p>
        </p:txBody>
      </p:sp>
      <p:graphicFrame>
        <p:nvGraphicFramePr>
          <p:cNvPr id="74759"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74760" name="Klip" r:id="rId4" imgW="1423988" imgH="3055938" progId="MS_ClipArt_Gallery.2">
                  <p:embed/>
                </p:oleObj>
              </mc:Choice>
              <mc:Fallback>
                <p:oleObj name="Klip" r:id="rId4" imgW="1423988" imgH="3055938" progId="MS_ClipArt_Gallery.2">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3AF2BF28-B6BB-4D55-B7AB-B68A5D07F4F1}" type="slidenum">
              <a:rPr lang="en-US" altLang="en-US" sz="1200" smtClean="0">
                <a:latin typeface="Garamond" panose="02020404030301010803" pitchFamily="18" charset="0"/>
              </a:rPr>
              <a:pPr>
                <a:spcBef>
                  <a:spcPct val="0"/>
                </a:spcBef>
                <a:buClrTx/>
                <a:buSzTx/>
                <a:buFontTx/>
                <a:buNone/>
              </a:pPr>
              <a:t>65</a:t>
            </a:fld>
            <a:endParaRPr lang="en-US" altLang="en-US" sz="1200" smtClean="0">
              <a:latin typeface="Garamond" panose="02020404030301010803" pitchFamily="18" charset="0"/>
            </a:endParaRPr>
          </a:p>
        </p:txBody>
      </p:sp>
      <p:pic>
        <p:nvPicPr>
          <p:cNvPr id="75779" name="Picture 4" descr="o3"/>
          <p:cNvPicPr>
            <a:picLocks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600200" y="381000"/>
            <a:ext cx="6378575" cy="5715000"/>
          </a:xfrm>
          <a:noFill/>
        </p:spPr>
      </p:pic>
      <p:sp>
        <p:nvSpPr>
          <p:cNvPr id="75780" name="Text Box 7"/>
          <p:cNvSpPr txBox="1">
            <a:spLocks noChangeArrowheads="1"/>
          </p:cNvSpPr>
          <p:nvPr/>
        </p:nvSpPr>
        <p:spPr bwMode="auto">
          <a:xfrm>
            <a:off x="685800" y="6167438"/>
            <a:ext cx="8001000" cy="1158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en-US" sz="2000"/>
              <a:t>Final Output For 20 cities : Distance=13170 km</a:t>
            </a:r>
          </a:p>
          <a:p>
            <a:pPr algn="ctr" eaLnBrk="1" hangingPunct="1">
              <a:spcBef>
                <a:spcPct val="0"/>
              </a:spcBef>
              <a:buClrTx/>
              <a:buSzTx/>
              <a:buFontTx/>
              <a:buNone/>
            </a:pPr>
            <a:r>
              <a:rPr lang="en-US" altLang="en-US" sz="2000"/>
              <a:t>Generation 4786</a:t>
            </a:r>
          </a:p>
          <a:p>
            <a:pPr algn="ctr" eaLnBrk="1" hangingPunct="1">
              <a:spcBef>
                <a:spcPct val="50000"/>
              </a:spcBef>
              <a:buClrTx/>
              <a:buSzTx/>
              <a:buFontTx/>
              <a:buNone/>
            </a:pPr>
            <a:endParaRPr lang="en-US" altLang="en-US" sz="2000"/>
          </a:p>
        </p:txBody>
      </p:sp>
      <p:graphicFrame>
        <p:nvGraphicFramePr>
          <p:cNvPr id="75781"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75782" name="Klip" r:id="rId4" imgW="1423988" imgH="3055938" progId="MS_ClipArt_Gallery.2">
                  <p:embed/>
                </p:oleObj>
              </mc:Choice>
              <mc:Fallback>
                <p:oleObj name="Klip" r:id="rId4" imgW="1423988" imgH="3055938" progId="MS_ClipArt_Gallery.2">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a:xfrm>
            <a:off x="1828800" y="609600"/>
            <a:ext cx="6324600" cy="1143000"/>
          </a:xfrm>
        </p:spPr>
        <p:txBody>
          <a:bodyPr/>
          <a:lstStyle/>
          <a:p>
            <a:r>
              <a:rPr lang="en-GB" altLang="en-US" sz="3600" b="1" i="1" smtClean="0">
                <a:solidFill>
                  <a:srgbClr val="FF0000"/>
                </a:solidFill>
                <a:latin typeface="Arial" panose="020B0604020202020204" pitchFamily="34" charset="0"/>
              </a:rPr>
              <a:t> </a:t>
            </a:r>
            <a:r>
              <a:rPr lang="en-GB" altLang="en-US" sz="3600" b="1" u="sng" smtClean="0"/>
              <a:t>Other Typical applications: </a:t>
            </a:r>
            <a:endParaRPr lang="cs-CZ" altLang="en-US" sz="4800" b="1" smtClean="0"/>
          </a:p>
        </p:txBody>
      </p:sp>
      <p:sp>
        <p:nvSpPr>
          <p:cNvPr id="76803" name="Rectangle 3"/>
          <p:cNvSpPr>
            <a:spLocks noChangeArrowheads="1"/>
          </p:cNvSpPr>
          <p:nvPr>
            <p:ph type="body" sz="half" idx="1"/>
          </p:nvPr>
        </p:nvSpPr>
        <p:spPr/>
        <p:txBody>
          <a:bodyPr/>
          <a:lstStyle/>
          <a:p>
            <a:pPr>
              <a:lnSpc>
                <a:spcPct val="110000"/>
              </a:lnSpc>
              <a:buFontTx/>
              <a:buNone/>
            </a:pPr>
            <a:r>
              <a:rPr lang="en-GB" altLang="en-US" sz="2400" b="1" smtClean="0">
                <a:solidFill>
                  <a:schemeClr val="accent2"/>
                </a:solidFill>
              </a:rPr>
              <a:t>When to use it? </a:t>
            </a:r>
          </a:p>
          <a:p>
            <a:pPr>
              <a:lnSpc>
                <a:spcPct val="110000"/>
              </a:lnSpc>
              <a:buFontTx/>
              <a:buNone/>
            </a:pPr>
            <a:endParaRPr lang="en-GB" altLang="en-US" sz="2400" smtClean="0">
              <a:solidFill>
                <a:schemeClr val="accent2"/>
              </a:solidFill>
            </a:endParaRPr>
          </a:p>
          <a:p>
            <a:pPr>
              <a:lnSpc>
                <a:spcPct val="130000"/>
              </a:lnSpc>
            </a:pPr>
            <a:r>
              <a:rPr lang="en-GB" altLang="en-US" sz="2400" smtClean="0">
                <a:solidFill>
                  <a:schemeClr val="accent2"/>
                </a:solidFill>
              </a:rPr>
              <a:t>machine learning </a:t>
            </a:r>
          </a:p>
          <a:p>
            <a:pPr>
              <a:lnSpc>
                <a:spcPct val="130000"/>
              </a:lnSpc>
            </a:pPr>
            <a:r>
              <a:rPr lang="en-GB" altLang="en-US" sz="2400" smtClean="0">
                <a:solidFill>
                  <a:schemeClr val="accent2"/>
                </a:solidFill>
              </a:rPr>
              <a:t>timetabling, scheduling</a:t>
            </a:r>
          </a:p>
          <a:p>
            <a:pPr>
              <a:lnSpc>
                <a:spcPct val="130000"/>
              </a:lnSpc>
            </a:pPr>
            <a:r>
              <a:rPr lang="en-GB" altLang="en-US" sz="2400" smtClean="0">
                <a:solidFill>
                  <a:schemeClr val="accent2"/>
                </a:solidFill>
              </a:rPr>
              <a:t>data mining</a:t>
            </a:r>
          </a:p>
          <a:p>
            <a:pPr>
              <a:lnSpc>
                <a:spcPct val="130000"/>
              </a:lnSpc>
              <a:spcBef>
                <a:spcPts val="500"/>
              </a:spcBef>
              <a:spcAft>
                <a:spcPts val="500"/>
              </a:spcAft>
            </a:pPr>
            <a:r>
              <a:rPr lang="en-GB" altLang="en-US" sz="2400" smtClean="0">
                <a:solidFill>
                  <a:schemeClr val="accent2"/>
                </a:solidFill>
              </a:rPr>
              <a:t>robot trajectory</a:t>
            </a:r>
          </a:p>
          <a:p>
            <a:pPr>
              <a:lnSpc>
                <a:spcPct val="130000"/>
              </a:lnSpc>
              <a:spcBef>
                <a:spcPts val="500"/>
              </a:spcBef>
              <a:spcAft>
                <a:spcPts val="500"/>
              </a:spcAft>
            </a:pPr>
            <a:r>
              <a:rPr lang="en-GB" altLang="en-US" sz="2400" smtClean="0">
                <a:solidFill>
                  <a:schemeClr val="accent2"/>
                </a:solidFill>
              </a:rPr>
              <a:t>etc. </a:t>
            </a:r>
            <a:endParaRPr lang="en-GB" altLang="en-US" sz="2400" b="1" smtClean="0">
              <a:solidFill>
                <a:schemeClr val="accent2"/>
              </a:solidFill>
            </a:endParaRPr>
          </a:p>
        </p:txBody>
      </p:sp>
      <p:sp>
        <p:nvSpPr>
          <p:cNvPr id="76804" name="Rectangle 5"/>
          <p:cNvSpPr>
            <a:spLocks noGrp="1" noChangeArrowheads="1"/>
          </p:cNvSpPr>
          <p:nvPr>
            <p:ph type="body" sz="half" idx="2"/>
          </p:nvPr>
        </p:nvSpPr>
        <p:spPr>
          <a:xfrm>
            <a:off x="4648200" y="1600200"/>
            <a:ext cx="4114800" cy="4114800"/>
          </a:xfrm>
        </p:spPr>
        <p:txBody>
          <a:bodyPr/>
          <a:lstStyle/>
          <a:p>
            <a:endParaRPr lang="en-GB" altLang="en-US" sz="2400" smtClean="0">
              <a:solidFill>
                <a:schemeClr val="accent2"/>
              </a:solidFill>
            </a:endParaRPr>
          </a:p>
          <a:p>
            <a:endParaRPr lang="en-GB" altLang="en-US" sz="2400" smtClean="0">
              <a:solidFill>
                <a:schemeClr val="accent2"/>
              </a:solidFill>
            </a:endParaRPr>
          </a:p>
          <a:p>
            <a:pPr>
              <a:lnSpc>
                <a:spcPct val="130000"/>
              </a:lnSpc>
            </a:pPr>
            <a:r>
              <a:rPr lang="en-GB" altLang="en-US" sz="2400" smtClean="0">
                <a:solidFill>
                  <a:schemeClr val="accent2"/>
                </a:solidFill>
              </a:rPr>
              <a:t>optimisation problems </a:t>
            </a:r>
          </a:p>
          <a:p>
            <a:pPr>
              <a:lnSpc>
                <a:spcPct val="130000"/>
              </a:lnSpc>
            </a:pPr>
            <a:r>
              <a:rPr lang="en-GB" altLang="en-US" sz="2400" smtClean="0">
                <a:solidFill>
                  <a:schemeClr val="accent2"/>
                </a:solidFill>
              </a:rPr>
              <a:t>designing neural networks</a:t>
            </a:r>
          </a:p>
          <a:p>
            <a:pPr>
              <a:lnSpc>
                <a:spcPct val="130000"/>
              </a:lnSpc>
            </a:pPr>
            <a:r>
              <a:rPr lang="en-GB" altLang="en-US" sz="2400" smtClean="0">
                <a:solidFill>
                  <a:schemeClr val="accent2"/>
                </a:solidFill>
              </a:rPr>
              <a:t>strategy planning</a:t>
            </a:r>
          </a:p>
          <a:p>
            <a:pPr>
              <a:lnSpc>
                <a:spcPct val="130000"/>
              </a:lnSpc>
            </a:pPr>
            <a:r>
              <a:rPr lang="en-GB" altLang="en-US" sz="2400" smtClean="0">
                <a:solidFill>
                  <a:schemeClr val="accent2"/>
                </a:solidFill>
              </a:rPr>
              <a:t>evolving programs</a:t>
            </a:r>
            <a:endParaRPr lang="cs-CZ" altLang="en-US" sz="2400" smtClean="0">
              <a:solidFill>
                <a:schemeClr val="accent2"/>
              </a:solidFill>
            </a:endParaRPr>
          </a:p>
        </p:txBody>
      </p:sp>
      <p:graphicFrame>
        <p:nvGraphicFramePr>
          <p:cNvPr id="76805"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76806"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zoom/>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title"/>
          </p:nvPr>
        </p:nvSpPr>
        <p:spPr>
          <a:xfrm>
            <a:off x="1828800" y="609600"/>
            <a:ext cx="7010400" cy="1143000"/>
          </a:xfrm>
        </p:spPr>
        <p:txBody>
          <a:bodyPr/>
          <a:lstStyle/>
          <a:p>
            <a:r>
              <a:rPr lang="en-US" altLang="en-US" sz="3600" b="1" i="1" smtClean="0">
                <a:solidFill>
                  <a:srgbClr val="FF0000"/>
                </a:solidFill>
                <a:latin typeface="Arial" panose="020B0604020202020204" pitchFamily="34" charset="0"/>
              </a:rPr>
              <a:t>Extremes of multimodal functions</a:t>
            </a:r>
            <a:endParaRPr lang="cs-CZ" altLang="en-US" sz="3600" b="1" i="1" smtClean="0">
              <a:solidFill>
                <a:srgbClr val="FF0000"/>
              </a:solidFill>
              <a:latin typeface="Arial" panose="020B0604020202020204" pitchFamily="34" charset="0"/>
            </a:endParaRPr>
          </a:p>
        </p:txBody>
      </p:sp>
      <p:pic>
        <p:nvPicPr>
          <p:cNvPr id="77827" name="Picture 4" descr="funkce"/>
          <p:cNvPicPr>
            <a:picLocks noChangeAspect="1" noChangeArrowheads="1"/>
          </p:cNvPicPr>
          <p:nvPr/>
        </p:nvPicPr>
        <p:blipFill>
          <a:blip r:embed="rId3">
            <a:extLst>
              <a:ext uri="{28A0092B-C50C-407E-A947-70E740481C1C}">
                <a14:useLocalDpi xmlns:a14="http://schemas.microsoft.com/office/drawing/2010/main" val="0"/>
              </a:ext>
            </a:extLst>
          </a:blip>
          <a:srcRect l="5249" t="8749" r="5249"/>
          <a:stretch>
            <a:fillRect/>
          </a:stretch>
        </p:blipFill>
        <p:spPr bwMode="auto">
          <a:xfrm>
            <a:off x="228600" y="1905000"/>
            <a:ext cx="8562975" cy="465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7828"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77829" name="Klip" r:id="rId4" imgW="1423988" imgH="3055938" progId="MS_ClipArt_Gallery.2">
                  <p:embed/>
                </p:oleObj>
              </mc:Choice>
              <mc:Fallback>
                <p:oleObj name="Klip" r:id="rId4" imgW="1423988" imgH="3055938" progId="MS_ClipArt_Gallery.2">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zoom/>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850" name="Picture 2" descr="pict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19200" y="1716088"/>
            <a:ext cx="6856413" cy="5141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7" name="Line 3"/>
          <p:cNvSpPr>
            <a:spLocks noChangeShapeType="1"/>
          </p:cNvSpPr>
          <p:nvPr/>
        </p:nvSpPr>
        <p:spPr bwMode="auto">
          <a:xfrm flipH="1" flipV="1">
            <a:off x="4800600" y="3429000"/>
            <a:ext cx="457200" cy="762000"/>
          </a:xfrm>
          <a:prstGeom prst="line">
            <a:avLst/>
          </a:prstGeom>
          <a:noFill/>
          <a:ln w="31750">
            <a:solidFill>
              <a:srgbClr val="FF0000"/>
            </a:solidFill>
            <a:prstDash val="sysDot"/>
            <a:round/>
            <a:headEnd/>
            <a:tailEnd type="triangle" w="lg" len="med"/>
          </a:ln>
          <a:extLst>
            <a:ext uri="{909E8E84-426E-40DD-AFC4-6F175D3DCCD1}">
              <a14:hiddenFill xmlns:a14="http://schemas.microsoft.com/office/drawing/2010/main">
                <a:noFill/>
              </a14:hiddenFill>
            </a:ext>
          </a:extLst>
        </p:spPr>
        <p:txBody>
          <a:bodyPr/>
          <a:lstStyle/>
          <a:p>
            <a:endParaRPr lang="en-US"/>
          </a:p>
        </p:txBody>
      </p:sp>
      <p:pic>
        <p:nvPicPr>
          <p:cNvPr id="72708" name="Picture 4" descr="pict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1716088"/>
            <a:ext cx="6856413" cy="5141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3" name="Rectangle 5"/>
          <p:cNvSpPr>
            <a:spLocks noGrp="1" noChangeArrowheads="1"/>
          </p:cNvSpPr>
          <p:nvPr>
            <p:ph type="title"/>
          </p:nvPr>
        </p:nvSpPr>
        <p:spPr>
          <a:xfrm>
            <a:off x="1828800" y="609600"/>
            <a:ext cx="7010400" cy="1143000"/>
          </a:xfrm>
        </p:spPr>
        <p:txBody>
          <a:bodyPr/>
          <a:lstStyle/>
          <a:p>
            <a:r>
              <a:rPr lang="en-US" altLang="en-US" sz="3600" b="1" i="1" smtClean="0">
                <a:solidFill>
                  <a:srgbClr val="FF0000"/>
                </a:solidFill>
                <a:latin typeface="Arial" panose="020B0604020202020204" pitchFamily="34" charset="0"/>
              </a:rPr>
              <a:t>Extremes of multimodal functions</a:t>
            </a:r>
            <a:endParaRPr lang="cs-CZ" altLang="en-US" sz="3600" b="1" i="1" smtClean="0">
              <a:solidFill>
                <a:srgbClr val="FF0000"/>
              </a:solidFill>
              <a:latin typeface="Arial" panose="020B0604020202020204" pitchFamily="34" charset="0"/>
            </a:endParaRPr>
          </a:p>
        </p:txBody>
      </p:sp>
      <p:graphicFrame>
        <p:nvGraphicFramePr>
          <p:cNvPr id="78854"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78855" name="Klip" r:id="rId5" imgW="1423988" imgH="3055938" progId="MS_ClipArt_Gallery.2">
                  <p:embed/>
                </p:oleObj>
              </mc:Choice>
              <mc:Fallback>
                <p:oleObj name="Klip" r:id="rId5" imgW="1423988" imgH="3055938" progId="MS_ClipArt_Gallery.2">
                  <p:embed/>
                  <p:pic>
                    <p:nvPicPr>
                      <p:cNvPr id="0" name="Object 4"/>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2707"/>
                                        </p:tgtEl>
                                        <p:attrNameLst>
                                          <p:attrName>style.visibility</p:attrName>
                                        </p:attrNameLst>
                                      </p:cBhvr>
                                      <p:to>
                                        <p:strVal val="visible"/>
                                      </p:to>
                                    </p:set>
                                    <p:anim calcmode="lin" valueType="num">
                                      <p:cBhvr additive="base">
                                        <p:cTn id="7" dur="500" fill="hold"/>
                                        <p:tgtEl>
                                          <p:spTgt spid="72707"/>
                                        </p:tgtEl>
                                        <p:attrNameLst>
                                          <p:attrName>ppt_x</p:attrName>
                                        </p:attrNameLst>
                                      </p:cBhvr>
                                      <p:tavLst>
                                        <p:tav tm="0">
                                          <p:val>
                                            <p:strVal val="#ppt_x"/>
                                          </p:val>
                                        </p:tav>
                                        <p:tav tm="100000">
                                          <p:val>
                                            <p:strVal val="#ppt_x"/>
                                          </p:val>
                                        </p:tav>
                                      </p:tavLst>
                                    </p:anim>
                                    <p:anim calcmode="lin" valueType="num">
                                      <p:cBhvr additive="base">
                                        <p:cTn id="8" dur="500" fill="hold"/>
                                        <p:tgtEl>
                                          <p:spTgt spid="72707"/>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9" presetClass="entr" presetSubtype="0" fill="hold" nodeType="clickEffect">
                                  <p:stCondLst>
                                    <p:cond delay="0"/>
                                  </p:stCondLst>
                                  <p:childTnLst>
                                    <p:set>
                                      <p:cBhvr>
                                        <p:cTn id="12" dur="1" fill="hold">
                                          <p:stCondLst>
                                            <p:cond delay="0"/>
                                          </p:stCondLst>
                                        </p:cTn>
                                        <p:tgtEl>
                                          <p:spTgt spid="72708"/>
                                        </p:tgtEl>
                                        <p:attrNameLst>
                                          <p:attrName>style.visibility</p:attrName>
                                        </p:attrNameLst>
                                      </p:cBhvr>
                                      <p:to>
                                        <p:strVal val="visible"/>
                                      </p:to>
                                    </p:set>
                                    <p:animEffect transition="in" filter="dissolve">
                                      <p:cBhvr>
                                        <p:cTn id="13" dur="500"/>
                                        <p:tgtEl>
                                          <p:spTgt spid="727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p:nvPr>
        </p:nvSpPr>
        <p:spPr>
          <a:xfrm>
            <a:off x="1828800" y="609600"/>
            <a:ext cx="7010400" cy="1143000"/>
          </a:xfrm>
        </p:spPr>
        <p:txBody>
          <a:bodyPr/>
          <a:lstStyle/>
          <a:p>
            <a:r>
              <a:rPr lang="en-US" altLang="en-US" sz="3600" b="1" smtClean="0">
                <a:solidFill>
                  <a:srgbClr val="FF0000"/>
                </a:solidFill>
                <a:latin typeface="Arial" panose="020B0604020202020204" pitchFamily="34" charset="0"/>
              </a:rPr>
              <a:t>Timetabling</a:t>
            </a:r>
            <a:r>
              <a:rPr lang="cs-CZ" altLang="en-US" smtClean="0"/>
              <a:t> </a:t>
            </a:r>
          </a:p>
        </p:txBody>
      </p:sp>
      <p:sp>
        <p:nvSpPr>
          <p:cNvPr id="79875" name="Rectangle 3"/>
          <p:cNvSpPr>
            <a:spLocks noGrp="1" noChangeArrowheads="1"/>
          </p:cNvSpPr>
          <p:nvPr>
            <p:ph type="body" idx="1"/>
          </p:nvPr>
        </p:nvSpPr>
        <p:spPr>
          <a:xfrm>
            <a:off x="533400" y="2057400"/>
            <a:ext cx="8305800" cy="4343400"/>
          </a:xfrm>
        </p:spPr>
        <p:txBody>
          <a:bodyPr/>
          <a:lstStyle/>
          <a:p>
            <a:pPr>
              <a:lnSpc>
                <a:spcPct val="120000"/>
              </a:lnSpc>
              <a:spcBef>
                <a:spcPct val="0"/>
              </a:spcBef>
            </a:pPr>
            <a:r>
              <a:rPr lang="en-GB" altLang="en-US" sz="2400" smtClean="0">
                <a:solidFill>
                  <a:schemeClr val="accent2"/>
                </a:solidFill>
              </a:rPr>
              <a:t>Each chromosome represents </a:t>
            </a:r>
          </a:p>
          <a:p>
            <a:pPr>
              <a:lnSpc>
                <a:spcPct val="120000"/>
              </a:lnSpc>
              <a:spcBef>
                <a:spcPct val="0"/>
              </a:spcBef>
              <a:buFontTx/>
              <a:buNone/>
            </a:pPr>
            <a:r>
              <a:rPr lang="en-GB" altLang="en-US" sz="2400" smtClean="0">
                <a:solidFill>
                  <a:schemeClr val="accent2"/>
                </a:solidFill>
              </a:rPr>
              <a:t>	a timetable </a:t>
            </a:r>
          </a:p>
          <a:p>
            <a:pPr>
              <a:lnSpc>
                <a:spcPct val="120000"/>
              </a:lnSpc>
              <a:spcBef>
                <a:spcPct val="0"/>
              </a:spcBef>
            </a:pPr>
            <a:r>
              <a:rPr lang="en-GB" altLang="en-US" sz="2400" smtClean="0">
                <a:solidFill>
                  <a:schemeClr val="accent2"/>
                </a:solidFill>
              </a:rPr>
              <a:t>A random population of feasible </a:t>
            </a:r>
          </a:p>
          <a:p>
            <a:pPr>
              <a:lnSpc>
                <a:spcPct val="120000"/>
              </a:lnSpc>
              <a:spcBef>
                <a:spcPct val="0"/>
              </a:spcBef>
            </a:pPr>
            <a:r>
              <a:rPr lang="en-GB" altLang="en-US" sz="2400" smtClean="0">
                <a:solidFill>
                  <a:schemeClr val="accent2"/>
                </a:solidFill>
              </a:rPr>
              <a:t>timetables is created</a:t>
            </a:r>
          </a:p>
          <a:p>
            <a:pPr>
              <a:lnSpc>
                <a:spcPct val="120000"/>
              </a:lnSpc>
              <a:spcBef>
                <a:spcPct val="0"/>
              </a:spcBef>
            </a:pPr>
            <a:r>
              <a:rPr lang="en-GB" altLang="en-US" sz="2400" smtClean="0">
                <a:solidFill>
                  <a:schemeClr val="accent2"/>
                </a:solidFill>
              </a:rPr>
              <a:t>Each timetable is evaluated according to chosen criteria</a:t>
            </a:r>
          </a:p>
          <a:p>
            <a:pPr>
              <a:lnSpc>
                <a:spcPct val="120000"/>
              </a:lnSpc>
              <a:spcBef>
                <a:spcPct val="0"/>
              </a:spcBef>
            </a:pPr>
            <a:r>
              <a:rPr lang="en-GB" altLang="en-US" sz="2400" smtClean="0">
                <a:solidFill>
                  <a:schemeClr val="accent2"/>
                </a:solidFill>
              </a:rPr>
              <a:t>Timetables are selected for reproduction</a:t>
            </a:r>
          </a:p>
          <a:p>
            <a:pPr>
              <a:lnSpc>
                <a:spcPct val="120000"/>
              </a:lnSpc>
              <a:spcBef>
                <a:spcPct val="0"/>
              </a:spcBef>
            </a:pPr>
            <a:r>
              <a:rPr lang="en-GB" altLang="en-US" sz="2400" smtClean="0">
                <a:solidFill>
                  <a:schemeClr val="accent2"/>
                </a:solidFill>
              </a:rPr>
              <a:t>Crossover and mutation operators are used to produce offspring </a:t>
            </a:r>
          </a:p>
          <a:p>
            <a:pPr>
              <a:lnSpc>
                <a:spcPct val="120000"/>
              </a:lnSpc>
              <a:spcBef>
                <a:spcPct val="0"/>
              </a:spcBef>
            </a:pPr>
            <a:r>
              <a:rPr lang="en-GB" altLang="en-US" sz="2400" smtClean="0">
                <a:solidFill>
                  <a:schemeClr val="accent2"/>
                </a:solidFill>
              </a:rPr>
              <a:t>The population increasingly consists of “good” timetables</a:t>
            </a:r>
          </a:p>
        </p:txBody>
      </p:sp>
      <p:pic>
        <p:nvPicPr>
          <p:cNvPr id="79876" name="Picture 5" descr="ROZVRHY_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800" y="685800"/>
            <a:ext cx="2000250"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9877"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79878" name="Klip" r:id="rId4" imgW="1423988" imgH="3055938" progId="MS_ClipArt_Gallery.2">
                  <p:embed/>
                </p:oleObj>
              </mc:Choice>
              <mc:Fallback>
                <p:oleObj name="Klip" r:id="rId4" imgW="1423988" imgH="3055938" progId="MS_ClipArt_Gallery.2">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zoom/>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1828800" y="609600"/>
            <a:ext cx="7010400" cy="1143000"/>
          </a:xfrm>
        </p:spPr>
        <p:txBody>
          <a:bodyPr/>
          <a:lstStyle/>
          <a:p>
            <a:r>
              <a:rPr lang="en-GB" altLang="en-US" sz="3600" b="1" smtClean="0">
                <a:solidFill>
                  <a:srgbClr val="FF0000"/>
                </a:solidFill>
                <a:latin typeface="Arial" panose="020B0604020202020204" pitchFamily="34" charset="0"/>
              </a:rPr>
              <a:t>Evolution of Strategies - </a:t>
            </a:r>
            <a:br>
              <a:rPr lang="en-GB" altLang="en-US" sz="3600" b="1" smtClean="0">
                <a:solidFill>
                  <a:srgbClr val="FF0000"/>
                </a:solidFill>
                <a:latin typeface="Arial" panose="020B0604020202020204" pitchFamily="34" charset="0"/>
              </a:rPr>
            </a:br>
            <a:r>
              <a:rPr lang="en-GB" altLang="en-US" sz="3600" b="1" smtClean="0">
                <a:solidFill>
                  <a:srgbClr val="FF0000"/>
                </a:solidFill>
                <a:latin typeface="Arial" panose="020B0604020202020204" pitchFamily="34" charset="0"/>
              </a:rPr>
              <a:t>Game Playing</a:t>
            </a:r>
            <a:r>
              <a:rPr lang="cs-CZ" altLang="en-US" smtClean="0"/>
              <a:t> </a:t>
            </a:r>
          </a:p>
        </p:txBody>
      </p:sp>
      <p:sp>
        <p:nvSpPr>
          <p:cNvPr id="80899" name="Rectangle 3"/>
          <p:cNvSpPr>
            <a:spLocks noGrp="1" noChangeArrowheads="1"/>
          </p:cNvSpPr>
          <p:nvPr>
            <p:ph type="body" idx="1"/>
          </p:nvPr>
        </p:nvSpPr>
        <p:spPr>
          <a:xfrm>
            <a:off x="533400" y="1981200"/>
            <a:ext cx="8305800" cy="4419600"/>
          </a:xfrm>
        </p:spPr>
        <p:txBody>
          <a:bodyPr/>
          <a:lstStyle/>
          <a:p>
            <a:pPr>
              <a:lnSpc>
                <a:spcPct val="120000"/>
              </a:lnSpc>
            </a:pPr>
            <a:r>
              <a:rPr lang="en-GB" altLang="en-US" sz="2400" smtClean="0">
                <a:solidFill>
                  <a:schemeClr val="accent2"/>
                </a:solidFill>
              </a:rPr>
              <a:t>Each chromosome represents different strategies for playing the game</a:t>
            </a:r>
          </a:p>
          <a:p>
            <a:pPr>
              <a:lnSpc>
                <a:spcPct val="120000"/>
              </a:lnSpc>
            </a:pPr>
            <a:r>
              <a:rPr lang="en-GB" altLang="en-US" sz="2400" smtClean="0">
                <a:solidFill>
                  <a:schemeClr val="accent2"/>
                </a:solidFill>
              </a:rPr>
              <a:t>Initial population is generated randomly</a:t>
            </a:r>
          </a:p>
          <a:p>
            <a:pPr>
              <a:lnSpc>
                <a:spcPct val="120000"/>
              </a:lnSpc>
            </a:pPr>
            <a:r>
              <a:rPr lang="en-GB" altLang="en-US" sz="2400" smtClean="0">
                <a:solidFill>
                  <a:schemeClr val="accent2"/>
                </a:solidFill>
              </a:rPr>
              <a:t>During the selection process each strategy is required to play a certain number of games against other strategies</a:t>
            </a:r>
          </a:p>
          <a:p>
            <a:pPr>
              <a:lnSpc>
                <a:spcPct val="120000"/>
              </a:lnSpc>
            </a:pPr>
            <a:r>
              <a:rPr lang="en-GB" altLang="en-US" sz="2400" smtClean="0">
                <a:solidFill>
                  <a:schemeClr val="accent2"/>
                </a:solidFill>
              </a:rPr>
              <a:t>The strategies with the most wins are selected for reproduction</a:t>
            </a:r>
          </a:p>
          <a:p>
            <a:pPr>
              <a:lnSpc>
                <a:spcPct val="120000"/>
              </a:lnSpc>
            </a:pPr>
            <a:r>
              <a:rPr lang="en-GB" altLang="en-US" sz="2400" smtClean="0">
                <a:solidFill>
                  <a:schemeClr val="accent2"/>
                </a:solidFill>
              </a:rPr>
              <a:t>The population increasingly consists of “good” strategies</a:t>
            </a:r>
            <a:endParaRPr lang="en-GB" altLang="en-US" sz="2800" smtClean="0">
              <a:solidFill>
                <a:schemeClr val="accent2"/>
              </a:solidFill>
            </a:endParaRPr>
          </a:p>
        </p:txBody>
      </p:sp>
      <p:graphicFrame>
        <p:nvGraphicFramePr>
          <p:cNvPr id="80900"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80901"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zoom/>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p:cNvSpPr>
            <a:spLocks noGrp="1" noChangeArrowheads="1"/>
          </p:cNvSpPr>
          <p:nvPr>
            <p:ph type="title"/>
          </p:nvPr>
        </p:nvSpPr>
        <p:spPr>
          <a:xfrm>
            <a:off x="1828800" y="609600"/>
            <a:ext cx="7010400" cy="1143000"/>
          </a:xfrm>
        </p:spPr>
        <p:txBody>
          <a:bodyPr/>
          <a:lstStyle/>
          <a:p>
            <a:r>
              <a:rPr lang="en-GB" altLang="en-US" sz="3600" b="1" smtClean="0">
                <a:solidFill>
                  <a:srgbClr val="FF0000"/>
                </a:solidFill>
                <a:latin typeface="Arial" panose="020B0604020202020204" pitchFamily="34" charset="0"/>
              </a:rPr>
              <a:t>Rule Discovery</a:t>
            </a:r>
            <a:r>
              <a:rPr lang="cs-CZ" altLang="en-US" smtClean="0"/>
              <a:t> </a:t>
            </a:r>
          </a:p>
        </p:txBody>
      </p:sp>
      <p:sp>
        <p:nvSpPr>
          <p:cNvPr id="81923" name="Rectangle 3"/>
          <p:cNvSpPr>
            <a:spLocks noGrp="1" noChangeArrowheads="1"/>
          </p:cNvSpPr>
          <p:nvPr>
            <p:ph type="body" idx="1"/>
          </p:nvPr>
        </p:nvSpPr>
        <p:spPr>
          <a:xfrm>
            <a:off x="533400" y="1981200"/>
            <a:ext cx="8305800" cy="4419600"/>
          </a:xfrm>
        </p:spPr>
        <p:txBody>
          <a:bodyPr/>
          <a:lstStyle/>
          <a:p>
            <a:pPr>
              <a:lnSpc>
                <a:spcPct val="120000"/>
              </a:lnSpc>
            </a:pPr>
            <a:r>
              <a:rPr lang="en-GB" altLang="en-US" sz="2400" smtClean="0">
                <a:solidFill>
                  <a:schemeClr val="accent2"/>
                </a:solidFill>
              </a:rPr>
              <a:t>SAMUEL system discovers rules by which a slower but more manoeuvrable aircraft can evade a faster but less agile missile until the missile runs out of fuel</a:t>
            </a:r>
          </a:p>
          <a:p>
            <a:pPr>
              <a:lnSpc>
                <a:spcPct val="120000"/>
              </a:lnSpc>
            </a:pPr>
            <a:r>
              <a:rPr lang="en-GB" altLang="en-US" sz="2400" smtClean="0">
                <a:solidFill>
                  <a:schemeClr val="accent2"/>
                </a:solidFill>
              </a:rPr>
              <a:t>The aircraft can sense the range, speed, heading and bearing of the missile</a:t>
            </a:r>
          </a:p>
          <a:p>
            <a:pPr>
              <a:lnSpc>
                <a:spcPct val="120000"/>
              </a:lnSpc>
            </a:pPr>
            <a:r>
              <a:rPr lang="en-GB" altLang="en-US" sz="2400" smtClean="0">
                <a:solidFill>
                  <a:schemeClr val="accent2"/>
                </a:solidFill>
              </a:rPr>
              <a:t>Rules are of a fairly uniform sort, such as to turn left by 90 degrees if the missile parameters are lie within certain intervals</a:t>
            </a:r>
          </a:p>
        </p:txBody>
      </p:sp>
      <p:graphicFrame>
        <p:nvGraphicFramePr>
          <p:cNvPr id="81924"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81925"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zoom/>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a:xfrm>
            <a:off x="1828800" y="609600"/>
            <a:ext cx="7010400" cy="1143000"/>
          </a:xfrm>
        </p:spPr>
        <p:txBody>
          <a:bodyPr/>
          <a:lstStyle/>
          <a:p>
            <a:r>
              <a:rPr lang="en-GB" altLang="en-US" sz="3600" b="1" smtClean="0">
                <a:solidFill>
                  <a:srgbClr val="FF0000"/>
                </a:solidFill>
                <a:latin typeface="Arial" panose="020B0604020202020204" pitchFamily="34" charset="0"/>
              </a:rPr>
              <a:t>Rule Discovery</a:t>
            </a:r>
            <a:r>
              <a:rPr lang="cs-CZ" altLang="en-US" smtClean="0"/>
              <a:t> </a:t>
            </a:r>
          </a:p>
        </p:txBody>
      </p:sp>
      <p:sp>
        <p:nvSpPr>
          <p:cNvPr id="82947" name="Rectangle 3"/>
          <p:cNvSpPr>
            <a:spLocks noGrp="1" noChangeArrowheads="1"/>
          </p:cNvSpPr>
          <p:nvPr>
            <p:ph type="body" idx="1"/>
          </p:nvPr>
        </p:nvSpPr>
        <p:spPr>
          <a:xfrm>
            <a:off x="381000" y="3352800"/>
            <a:ext cx="8305800" cy="2971800"/>
          </a:xfrm>
        </p:spPr>
        <p:txBody>
          <a:bodyPr/>
          <a:lstStyle/>
          <a:p>
            <a:pPr>
              <a:lnSpc>
                <a:spcPct val="120000"/>
              </a:lnSpc>
            </a:pPr>
            <a:r>
              <a:rPr lang="en-GB" altLang="en-US" sz="2400" smtClean="0">
                <a:solidFill>
                  <a:schemeClr val="accent2"/>
                </a:solidFill>
              </a:rPr>
              <a:t>Chromosomes are ordered sets of possible rules (if situation x occurs do action encoded within x-th gene)</a:t>
            </a:r>
          </a:p>
          <a:p>
            <a:pPr>
              <a:lnSpc>
                <a:spcPct val="120000"/>
              </a:lnSpc>
            </a:pPr>
            <a:r>
              <a:rPr lang="en-GB" altLang="en-US" sz="2400" smtClean="0">
                <a:solidFill>
                  <a:schemeClr val="accent2"/>
                </a:solidFill>
              </a:rPr>
              <a:t>Fitness evaluation is by simulation (it is examined for how long the aircraft can evade the missile using particular set of rules)</a:t>
            </a:r>
          </a:p>
          <a:p>
            <a:pPr>
              <a:lnSpc>
                <a:spcPct val="120000"/>
              </a:lnSpc>
            </a:pPr>
            <a:r>
              <a:rPr lang="en-GB" altLang="en-US" sz="2400" smtClean="0">
                <a:solidFill>
                  <a:schemeClr val="accent2"/>
                </a:solidFill>
              </a:rPr>
              <a:t>It takes hours to evaluate initial population !</a:t>
            </a:r>
          </a:p>
        </p:txBody>
      </p:sp>
      <p:sp>
        <p:nvSpPr>
          <p:cNvPr id="82948" name="Freeform 5"/>
          <p:cNvSpPr>
            <a:spLocks/>
          </p:cNvSpPr>
          <p:nvPr/>
        </p:nvSpPr>
        <p:spPr bwMode="auto">
          <a:xfrm>
            <a:off x="7391400" y="1905000"/>
            <a:ext cx="984250" cy="309563"/>
          </a:xfrm>
          <a:custGeom>
            <a:avLst/>
            <a:gdLst>
              <a:gd name="T0" fmla="*/ 2147483646 w 620"/>
              <a:gd name="T1" fmla="*/ 2147483646 h 195"/>
              <a:gd name="T2" fmla="*/ 2147483646 w 620"/>
              <a:gd name="T3" fmla="*/ 2147483646 h 195"/>
              <a:gd name="T4" fmla="*/ 0 w 620"/>
              <a:gd name="T5" fmla="*/ 0 h 195"/>
              <a:gd name="T6" fmla="*/ 2147483646 w 620"/>
              <a:gd name="T7" fmla="*/ 2147483646 h 195"/>
              <a:gd name="T8" fmla="*/ 2147483646 w 620"/>
              <a:gd name="T9" fmla="*/ 2147483646 h 195"/>
              <a:gd name="T10" fmla="*/ 2147483646 w 620"/>
              <a:gd name="T11" fmla="*/ 2147483646 h 195"/>
              <a:gd name="T12" fmla="*/ 0 60000 65536"/>
              <a:gd name="T13" fmla="*/ 0 60000 65536"/>
              <a:gd name="T14" fmla="*/ 0 60000 65536"/>
              <a:gd name="T15" fmla="*/ 0 60000 65536"/>
              <a:gd name="T16" fmla="*/ 0 60000 65536"/>
              <a:gd name="T17" fmla="*/ 0 60000 65536"/>
              <a:gd name="T18" fmla="*/ 0 w 620"/>
              <a:gd name="T19" fmla="*/ 0 h 195"/>
              <a:gd name="T20" fmla="*/ 620 w 620"/>
              <a:gd name="T21" fmla="*/ 195 h 195"/>
            </a:gdLst>
            <a:ahLst/>
            <a:cxnLst>
              <a:cxn ang="T12">
                <a:pos x="T0" y="T1"/>
              </a:cxn>
              <a:cxn ang="T13">
                <a:pos x="T2" y="T3"/>
              </a:cxn>
              <a:cxn ang="T14">
                <a:pos x="T4" y="T5"/>
              </a:cxn>
              <a:cxn ang="T15">
                <a:pos x="T6" y="T7"/>
              </a:cxn>
              <a:cxn ang="T16">
                <a:pos x="T8" y="T9"/>
              </a:cxn>
              <a:cxn ang="T17">
                <a:pos x="T10" y="T11"/>
              </a:cxn>
            </a:cxnLst>
            <a:rect l="T18" t="T19" r="T20" b="T21"/>
            <a:pathLst>
              <a:path w="620" h="195">
                <a:moveTo>
                  <a:pt x="618" y="195"/>
                </a:moveTo>
                <a:lnTo>
                  <a:pt x="73" y="195"/>
                </a:lnTo>
                <a:lnTo>
                  <a:pt x="0" y="0"/>
                </a:lnTo>
                <a:lnTo>
                  <a:pt x="132" y="101"/>
                </a:lnTo>
                <a:lnTo>
                  <a:pt x="491" y="109"/>
                </a:lnTo>
                <a:lnTo>
                  <a:pt x="620" y="184"/>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2949" name="Freeform 6"/>
          <p:cNvSpPr>
            <a:spLocks/>
          </p:cNvSpPr>
          <p:nvPr/>
        </p:nvSpPr>
        <p:spPr bwMode="auto">
          <a:xfrm>
            <a:off x="7766050" y="2133600"/>
            <a:ext cx="311150" cy="266700"/>
          </a:xfrm>
          <a:custGeom>
            <a:avLst/>
            <a:gdLst>
              <a:gd name="T0" fmla="*/ 2147483646 w 196"/>
              <a:gd name="T1" fmla="*/ 0 h 168"/>
              <a:gd name="T2" fmla="*/ 0 w 196"/>
              <a:gd name="T3" fmla="*/ 2147483646 h 168"/>
              <a:gd name="T4" fmla="*/ 2147483646 w 196"/>
              <a:gd name="T5" fmla="*/ 2147483646 h 168"/>
              <a:gd name="T6" fmla="*/ 0 60000 65536"/>
              <a:gd name="T7" fmla="*/ 0 60000 65536"/>
              <a:gd name="T8" fmla="*/ 0 60000 65536"/>
              <a:gd name="T9" fmla="*/ 0 w 196"/>
              <a:gd name="T10" fmla="*/ 0 h 168"/>
              <a:gd name="T11" fmla="*/ 196 w 196"/>
              <a:gd name="T12" fmla="*/ 168 h 168"/>
            </a:gdLst>
            <a:ahLst/>
            <a:cxnLst>
              <a:cxn ang="T6">
                <a:pos x="T0" y="T1"/>
              </a:cxn>
              <a:cxn ang="T7">
                <a:pos x="T2" y="T3"/>
              </a:cxn>
              <a:cxn ang="T8">
                <a:pos x="T4" y="T5"/>
              </a:cxn>
            </a:cxnLst>
            <a:rect l="T9" t="T10" r="T11" b="T12"/>
            <a:pathLst>
              <a:path w="196" h="168">
                <a:moveTo>
                  <a:pt x="196" y="0"/>
                </a:moveTo>
                <a:lnTo>
                  <a:pt x="0" y="168"/>
                </a:lnTo>
                <a:lnTo>
                  <a:pt x="8" y="4"/>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2950" name="Freeform 7"/>
          <p:cNvSpPr>
            <a:spLocks/>
          </p:cNvSpPr>
          <p:nvPr/>
        </p:nvSpPr>
        <p:spPr bwMode="auto">
          <a:xfrm>
            <a:off x="7766050" y="1917700"/>
            <a:ext cx="260350" cy="160338"/>
          </a:xfrm>
          <a:custGeom>
            <a:avLst/>
            <a:gdLst>
              <a:gd name="T0" fmla="*/ 2147483646 w 164"/>
              <a:gd name="T1" fmla="*/ 2147483646 h 101"/>
              <a:gd name="T2" fmla="*/ 2147483646 w 164"/>
              <a:gd name="T3" fmla="*/ 2147483646 h 101"/>
              <a:gd name="T4" fmla="*/ 0 w 164"/>
              <a:gd name="T5" fmla="*/ 0 h 101"/>
              <a:gd name="T6" fmla="*/ 2147483646 w 164"/>
              <a:gd name="T7" fmla="*/ 2147483646 h 101"/>
              <a:gd name="T8" fmla="*/ 0 60000 65536"/>
              <a:gd name="T9" fmla="*/ 0 60000 65536"/>
              <a:gd name="T10" fmla="*/ 0 60000 65536"/>
              <a:gd name="T11" fmla="*/ 0 60000 65536"/>
              <a:gd name="T12" fmla="*/ 0 w 164"/>
              <a:gd name="T13" fmla="*/ 0 h 101"/>
              <a:gd name="T14" fmla="*/ 164 w 164"/>
              <a:gd name="T15" fmla="*/ 101 h 101"/>
            </a:gdLst>
            <a:ahLst/>
            <a:cxnLst>
              <a:cxn ang="T8">
                <a:pos x="T0" y="T1"/>
              </a:cxn>
              <a:cxn ang="T9">
                <a:pos x="T2" y="T3"/>
              </a:cxn>
              <a:cxn ang="T10">
                <a:pos x="T4" y="T5"/>
              </a:cxn>
              <a:cxn ang="T11">
                <a:pos x="T6" y="T7"/>
              </a:cxn>
            </a:cxnLst>
            <a:rect l="T12" t="T13" r="T14" b="T15"/>
            <a:pathLst>
              <a:path w="164" h="101">
                <a:moveTo>
                  <a:pt x="164" y="78"/>
                </a:moveTo>
                <a:lnTo>
                  <a:pt x="148" y="86"/>
                </a:lnTo>
                <a:lnTo>
                  <a:pt x="0" y="0"/>
                </a:lnTo>
                <a:lnTo>
                  <a:pt x="8" y="101"/>
                </a:lnTo>
              </a:path>
            </a:pathLst>
          </a:cu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2951" name="Freeform 8"/>
          <p:cNvSpPr>
            <a:spLocks/>
          </p:cNvSpPr>
          <p:nvPr/>
        </p:nvSpPr>
        <p:spPr bwMode="auto">
          <a:xfrm>
            <a:off x="1905000" y="1974850"/>
            <a:ext cx="5486400" cy="1068388"/>
          </a:xfrm>
          <a:custGeom>
            <a:avLst/>
            <a:gdLst>
              <a:gd name="T0" fmla="*/ 2147483646 w 3456"/>
              <a:gd name="T1" fmla="*/ 2147483646 h 673"/>
              <a:gd name="T2" fmla="*/ 2147483646 w 3456"/>
              <a:gd name="T3" fmla="*/ 2147483646 h 673"/>
              <a:gd name="T4" fmla="*/ 2147483646 w 3456"/>
              <a:gd name="T5" fmla="*/ 2147483646 h 673"/>
              <a:gd name="T6" fmla="*/ 2147483646 w 3456"/>
              <a:gd name="T7" fmla="*/ 2147483646 h 673"/>
              <a:gd name="T8" fmla="*/ 0 w 3456"/>
              <a:gd name="T9" fmla="*/ 2147483646 h 673"/>
              <a:gd name="T10" fmla="*/ 0 60000 65536"/>
              <a:gd name="T11" fmla="*/ 0 60000 65536"/>
              <a:gd name="T12" fmla="*/ 0 60000 65536"/>
              <a:gd name="T13" fmla="*/ 0 60000 65536"/>
              <a:gd name="T14" fmla="*/ 0 60000 65536"/>
              <a:gd name="T15" fmla="*/ 0 w 3456"/>
              <a:gd name="T16" fmla="*/ 0 h 673"/>
              <a:gd name="T17" fmla="*/ 3456 w 3456"/>
              <a:gd name="T18" fmla="*/ 673 h 673"/>
            </a:gdLst>
            <a:ahLst/>
            <a:cxnLst>
              <a:cxn ang="T10">
                <a:pos x="T0" y="T1"/>
              </a:cxn>
              <a:cxn ang="T11">
                <a:pos x="T2" y="T3"/>
              </a:cxn>
              <a:cxn ang="T12">
                <a:pos x="T4" y="T5"/>
              </a:cxn>
              <a:cxn ang="T13">
                <a:pos x="T6" y="T7"/>
              </a:cxn>
              <a:cxn ang="T14">
                <a:pos x="T8" y="T9"/>
              </a:cxn>
            </a:cxnLst>
            <a:rect l="T15" t="T16" r="T17" b="T18"/>
            <a:pathLst>
              <a:path w="3456" h="673">
                <a:moveTo>
                  <a:pt x="3456" y="100"/>
                </a:moveTo>
                <a:cubicBezTo>
                  <a:pt x="3270" y="181"/>
                  <a:pt x="2498" y="592"/>
                  <a:pt x="2338" y="587"/>
                </a:cubicBezTo>
                <a:cubicBezTo>
                  <a:pt x="2178" y="582"/>
                  <a:pt x="2636" y="146"/>
                  <a:pt x="2494" y="73"/>
                </a:cubicBezTo>
                <a:cubicBezTo>
                  <a:pt x="2352" y="0"/>
                  <a:pt x="1904" y="48"/>
                  <a:pt x="1488" y="148"/>
                </a:cubicBezTo>
                <a:cubicBezTo>
                  <a:pt x="1072" y="248"/>
                  <a:pt x="310" y="564"/>
                  <a:pt x="0" y="673"/>
                </a:cubicBez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2952" name="Freeform 9"/>
          <p:cNvSpPr>
            <a:spLocks/>
          </p:cNvSpPr>
          <p:nvPr/>
        </p:nvSpPr>
        <p:spPr bwMode="auto">
          <a:xfrm flipH="1">
            <a:off x="5791200" y="1447800"/>
            <a:ext cx="457200" cy="381000"/>
          </a:xfrm>
          <a:custGeom>
            <a:avLst/>
            <a:gdLst>
              <a:gd name="T0" fmla="*/ 2147483646 w 447"/>
              <a:gd name="T1" fmla="*/ 2147483646 h 366"/>
              <a:gd name="T2" fmla="*/ 2147483646 w 447"/>
              <a:gd name="T3" fmla="*/ 2147483646 h 366"/>
              <a:gd name="T4" fmla="*/ 0 w 447"/>
              <a:gd name="T5" fmla="*/ 0 h 366"/>
              <a:gd name="T6" fmla="*/ 2147483646 w 447"/>
              <a:gd name="T7" fmla="*/ 2147483646 h 366"/>
              <a:gd name="T8" fmla="*/ 2147483646 w 447"/>
              <a:gd name="T9" fmla="*/ 2147483646 h 366"/>
              <a:gd name="T10" fmla="*/ 2147483646 w 447"/>
              <a:gd name="T11" fmla="*/ 2147483646 h 366"/>
              <a:gd name="T12" fmla="*/ 0 60000 65536"/>
              <a:gd name="T13" fmla="*/ 0 60000 65536"/>
              <a:gd name="T14" fmla="*/ 0 60000 65536"/>
              <a:gd name="T15" fmla="*/ 0 60000 65536"/>
              <a:gd name="T16" fmla="*/ 0 60000 65536"/>
              <a:gd name="T17" fmla="*/ 0 60000 65536"/>
              <a:gd name="T18" fmla="*/ 0 w 447"/>
              <a:gd name="T19" fmla="*/ 0 h 366"/>
              <a:gd name="T20" fmla="*/ 447 w 447"/>
              <a:gd name="T21" fmla="*/ 366 h 366"/>
            </a:gdLst>
            <a:ahLst/>
            <a:cxnLst>
              <a:cxn ang="T12">
                <a:pos x="T0" y="T1"/>
              </a:cxn>
              <a:cxn ang="T13">
                <a:pos x="T2" y="T3"/>
              </a:cxn>
              <a:cxn ang="T14">
                <a:pos x="T4" y="T5"/>
              </a:cxn>
              <a:cxn ang="T15">
                <a:pos x="T6" y="T7"/>
              </a:cxn>
              <a:cxn ang="T16">
                <a:pos x="T8" y="T9"/>
              </a:cxn>
              <a:cxn ang="T17">
                <a:pos x="T10" y="T11"/>
              </a:cxn>
            </a:cxnLst>
            <a:rect l="T18" t="T19" r="T20" b="T21"/>
            <a:pathLst>
              <a:path w="447" h="366">
                <a:moveTo>
                  <a:pt x="444" y="296"/>
                </a:moveTo>
                <a:lnTo>
                  <a:pt x="171" y="62"/>
                </a:lnTo>
                <a:lnTo>
                  <a:pt x="0" y="0"/>
                </a:lnTo>
                <a:lnTo>
                  <a:pt x="109" y="171"/>
                </a:lnTo>
                <a:lnTo>
                  <a:pt x="374" y="366"/>
                </a:lnTo>
                <a:lnTo>
                  <a:pt x="447" y="303"/>
                </a:lnTo>
              </a:path>
            </a:pathLst>
          </a:cu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2953" name="Freeform 10"/>
          <p:cNvSpPr>
            <a:spLocks/>
          </p:cNvSpPr>
          <p:nvPr/>
        </p:nvSpPr>
        <p:spPr bwMode="auto">
          <a:xfrm>
            <a:off x="1039813" y="1828800"/>
            <a:ext cx="6483350" cy="1320800"/>
          </a:xfrm>
          <a:custGeom>
            <a:avLst/>
            <a:gdLst>
              <a:gd name="T0" fmla="*/ 0 w 4084"/>
              <a:gd name="T1" fmla="*/ 2147483646 h 832"/>
              <a:gd name="T2" fmla="*/ 2147483646 w 4084"/>
              <a:gd name="T3" fmla="*/ 2147483646 h 832"/>
              <a:gd name="T4" fmla="*/ 2147483646 w 4084"/>
              <a:gd name="T5" fmla="*/ 2147483646 h 832"/>
              <a:gd name="T6" fmla="*/ 2147483646 w 4084"/>
              <a:gd name="T7" fmla="*/ 2147483646 h 832"/>
              <a:gd name="T8" fmla="*/ 2147483646 w 4084"/>
              <a:gd name="T9" fmla="*/ 2147483646 h 832"/>
              <a:gd name="T10" fmla="*/ 2147483646 w 4084"/>
              <a:gd name="T11" fmla="*/ 0 h 832"/>
              <a:gd name="T12" fmla="*/ 0 60000 65536"/>
              <a:gd name="T13" fmla="*/ 0 60000 65536"/>
              <a:gd name="T14" fmla="*/ 0 60000 65536"/>
              <a:gd name="T15" fmla="*/ 0 60000 65536"/>
              <a:gd name="T16" fmla="*/ 0 60000 65536"/>
              <a:gd name="T17" fmla="*/ 0 60000 65536"/>
              <a:gd name="T18" fmla="*/ 0 w 4084"/>
              <a:gd name="T19" fmla="*/ 0 h 832"/>
              <a:gd name="T20" fmla="*/ 4084 w 4084"/>
              <a:gd name="T21" fmla="*/ 832 h 832"/>
            </a:gdLst>
            <a:ahLst/>
            <a:cxnLst>
              <a:cxn ang="T12">
                <a:pos x="T0" y="T1"/>
              </a:cxn>
              <a:cxn ang="T13">
                <a:pos x="T2" y="T3"/>
              </a:cxn>
              <a:cxn ang="T14">
                <a:pos x="T4" y="T5"/>
              </a:cxn>
              <a:cxn ang="T15">
                <a:pos x="T6" y="T7"/>
              </a:cxn>
              <a:cxn ang="T16">
                <a:pos x="T8" y="T9"/>
              </a:cxn>
              <a:cxn ang="T17">
                <a:pos x="T10" y="T11"/>
              </a:cxn>
            </a:cxnLst>
            <a:rect l="T18" t="T19" r="T20" b="T21"/>
            <a:pathLst>
              <a:path w="4084" h="832">
                <a:moveTo>
                  <a:pt x="0" y="298"/>
                </a:moveTo>
                <a:cubicBezTo>
                  <a:pt x="580" y="264"/>
                  <a:pt x="2862" y="66"/>
                  <a:pt x="3473" y="96"/>
                </a:cubicBezTo>
                <a:cubicBezTo>
                  <a:pt x="4084" y="126"/>
                  <a:pt x="3817" y="360"/>
                  <a:pt x="3665" y="480"/>
                </a:cubicBezTo>
                <a:cubicBezTo>
                  <a:pt x="3513" y="600"/>
                  <a:pt x="2745" y="832"/>
                  <a:pt x="2561" y="816"/>
                </a:cubicBezTo>
                <a:cubicBezTo>
                  <a:pt x="2377" y="800"/>
                  <a:pt x="2489" y="520"/>
                  <a:pt x="2561" y="384"/>
                </a:cubicBezTo>
                <a:cubicBezTo>
                  <a:pt x="2633" y="248"/>
                  <a:pt x="2889" y="32"/>
                  <a:pt x="2993" y="0"/>
                </a:cubicBezTo>
              </a:path>
            </a:pathLst>
          </a:custGeom>
          <a:noFill/>
          <a:ln w="222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aphicFrame>
        <p:nvGraphicFramePr>
          <p:cNvPr id="82954"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82955"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zoom/>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p:cNvSpPr>
            <a:spLocks noGrp="1" noChangeArrowheads="1"/>
          </p:cNvSpPr>
          <p:nvPr>
            <p:ph type="title"/>
          </p:nvPr>
        </p:nvSpPr>
        <p:spPr>
          <a:xfrm>
            <a:off x="1828800" y="609600"/>
            <a:ext cx="7010400" cy="1143000"/>
          </a:xfrm>
        </p:spPr>
        <p:txBody>
          <a:bodyPr/>
          <a:lstStyle/>
          <a:p>
            <a:r>
              <a:rPr lang="cs-CZ" altLang="en-US" sz="3600" b="1" smtClean="0">
                <a:solidFill>
                  <a:srgbClr val="FF0000"/>
                </a:solidFill>
                <a:latin typeface="Arial" panose="020B0604020202020204" pitchFamily="34" charset="0"/>
              </a:rPr>
              <a:t>Criminal suspect recognition</a:t>
            </a:r>
            <a:r>
              <a:rPr lang="cs-CZ" altLang="en-US" smtClean="0"/>
              <a:t> </a:t>
            </a:r>
          </a:p>
        </p:txBody>
      </p:sp>
      <p:sp>
        <p:nvSpPr>
          <p:cNvPr id="83971" name="Rectangle 3"/>
          <p:cNvSpPr>
            <a:spLocks noGrp="1" noChangeArrowheads="1"/>
          </p:cNvSpPr>
          <p:nvPr>
            <p:ph type="body" idx="1"/>
          </p:nvPr>
        </p:nvSpPr>
        <p:spPr>
          <a:xfrm>
            <a:off x="533400" y="1981200"/>
            <a:ext cx="7924800" cy="4419600"/>
          </a:xfrm>
        </p:spPr>
        <p:txBody>
          <a:bodyPr/>
          <a:lstStyle/>
          <a:p>
            <a:pPr>
              <a:lnSpc>
                <a:spcPct val="120000"/>
              </a:lnSpc>
            </a:pPr>
            <a:r>
              <a:rPr lang="en-GB" altLang="en-US" sz="2800" smtClean="0">
                <a:solidFill>
                  <a:schemeClr val="accent2"/>
                </a:solidFill>
              </a:rPr>
              <a:t>It is easy to identify a criminal from photo but hard to describe his or her features </a:t>
            </a:r>
          </a:p>
          <a:p>
            <a:pPr>
              <a:lnSpc>
                <a:spcPct val="120000"/>
              </a:lnSpc>
            </a:pPr>
            <a:r>
              <a:rPr lang="en-GB" altLang="en-US" sz="2800" smtClean="0">
                <a:solidFill>
                  <a:schemeClr val="accent2"/>
                </a:solidFill>
              </a:rPr>
              <a:t>It is difficult to generate even from computer library of visual features</a:t>
            </a:r>
          </a:p>
          <a:p>
            <a:pPr>
              <a:lnSpc>
                <a:spcPct val="120000"/>
              </a:lnSpc>
            </a:pPr>
            <a:r>
              <a:rPr lang="en-GB" altLang="en-US" sz="2800" smtClean="0">
                <a:solidFill>
                  <a:schemeClr val="accent2"/>
                </a:solidFill>
              </a:rPr>
              <a:t>Idea to use genetic algorithms to help witnesses in the identification of criminal suspects</a:t>
            </a:r>
          </a:p>
        </p:txBody>
      </p:sp>
      <p:graphicFrame>
        <p:nvGraphicFramePr>
          <p:cNvPr id="83972"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83973"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zoom/>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1828800" y="609600"/>
            <a:ext cx="7010400" cy="1143000"/>
          </a:xfrm>
        </p:spPr>
        <p:txBody>
          <a:bodyPr/>
          <a:lstStyle/>
          <a:p>
            <a:r>
              <a:rPr lang="cs-CZ" altLang="en-US" sz="3600" b="1" smtClean="0">
                <a:solidFill>
                  <a:srgbClr val="FF0000"/>
                </a:solidFill>
                <a:latin typeface="Arial" panose="020B0604020202020204" pitchFamily="34" charset="0"/>
              </a:rPr>
              <a:t>Criminal suspect recognition</a:t>
            </a:r>
            <a:r>
              <a:rPr lang="cs-CZ" altLang="en-US" smtClean="0"/>
              <a:t> </a:t>
            </a:r>
          </a:p>
        </p:txBody>
      </p:sp>
      <p:sp>
        <p:nvSpPr>
          <p:cNvPr id="84995" name="Rectangle 3"/>
          <p:cNvSpPr>
            <a:spLocks noGrp="1" noChangeArrowheads="1"/>
          </p:cNvSpPr>
          <p:nvPr>
            <p:ph type="body" idx="1"/>
          </p:nvPr>
        </p:nvSpPr>
        <p:spPr>
          <a:xfrm>
            <a:off x="533400" y="1981200"/>
            <a:ext cx="8305800" cy="4419600"/>
          </a:xfrm>
        </p:spPr>
        <p:txBody>
          <a:bodyPr/>
          <a:lstStyle/>
          <a:p>
            <a:pPr>
              <a:lnSpc>
                <a:spcPct val="120000"/>
              </a:lnSpc>
              <a:buFontTx/>
              <a:buNone/>
            </a:pPr>
            <a:r>
              <a:rPr lang="en-GB" altLang="en-US" sz="2800" b="1" i="1" smtClean="0">
                <a:solidFill>
                  <a:schemeClr val="accent2"/>
                </a:solidFill>
              </a:rPr>
              <a:t>Faceprints</a:t>
            </a:r>
            <a:r>
              <a:rPr lang="en-GB" altLang="en-US" sz="2800" smtClean="0">
                <a:solidFill>
                  <a:schemeClr val="accent2"/>
                </a:solidFill>
              </a:rPr>
              <a:t> </a:t>
            </a:r>
          </a:p>
          <a:p>
            <a:pPr>
              <a:lnSpc>
                <a:spcPct val="120000"/>
              </a:lnSpc>
              <a:spcBef>
                <a:spcPct val="0"/>
              </a:spcBef>
            </a:pPr>
            <a:r>
              <a:rPr lang="en-GB" altLang="en-US" sz="2400" smtClean="0">
                <a:solidFill>
                  <a:schemeClr val="accent2"/>
                </a:solidFill>
              </a:rPr>
              <a:t>randomly generates 20 faces on </a:t>
            </a:r>
          </a:p>
          <a:p>
            <a:pPr>
              <a:lnSpc>
                <a:spcPct val="120000"/>
              </a:lnSpc>
              <a:spcBef>
                <a:spcPct val="0"/>
              </a:spcBef>
              <a:buFontTx/>
              <a:buNone/>
            </a:pPr>
            <a:r>
              <a:rPr lang="en-GB" altLang="en-US" sz="2400" smtClean="0">
                <a:solidFill>
                  <a:schemeClr val="accent2"/>
                </a:solidFill>
              </a:rPr>
              <a:t>	a computer screen</a:t>
            </a:r>
          </a:p>
          <a:p>
            <a:pPr>
              <a:lnSpc>
                <a:spcPct val="120000"/>
              </a:lnSpc>
              <a:spcBef>
                <a:spcPct val="0"/>
              </a:spcBef>
            </a:pPr>
            <a:r>
              <a:rPr lang="en-GB" altLang="en-US" sz="2400" smtClean="0">
                <a:solidFill>
                  <a:schemeClr val="accent2"/>
                </a:solidFill>
              </a:rPr>
              <a:t>witness evaluates each face </a:t>
            </a:r>
          </a:p>
          <a:p>
            <a:pPr>
              <a:lnSpc>
                <a:spcPct val="120000"/>
              </a:lnSpc>
              <a:spcBef>
                <a:spcPct val="0"/>
              </a:spcBef>
              <a:buFontTx/>
              <a:buNone/>
            </a:pPr>
            <a:r>
              <a:rPr lang="en-GB" altLang="en-US" sz="2400" smtClean="0">
                <a:solidFill>
                  <a:schemeClr val="accent2"/>
                </a:solidFill>
              </a:rPr>
              <a:t>	on a 10 point scale</a:t>
            </a:r>
          </a:p>
          <a:p>
            <a:pPr>
              <a:lnSpc>
                <a:spcPct val="120000"/>
              </a:lnSpc>
              <a:spcBef>
                <a:spcPct val="0"/>
              </a:spcBef>
            </a:pPr>
            <a:r>
              <a:rPr lang="en-GB" altLang="en-US" sz="2400" smtClean="0">
                <a:solidFill>
                  <a:schemeClr val="accent2"/>
                </a:solidFill>
              </a:rPr>
              <a:t>GA generates additional faces from 5 building blocks: eyes, mouth, nose, hair and chin (7-bit string each)</a:t>
            </a:r>
          </a:p>
          <a:p>
            <a:pPr>
              <a:lnSpc>
                <a:spcPct val="120000"/>
              </a:lnSpc>
              <a:spcBef>
                <a:spcPct val="0"/>
              </a:spcBef>
            </a:pPr>
            <a:r>
              <a:rPr lang="en-GB" altLang="en-US" sz="2400" smtClean="0">
                <a:solidFill>
                  <a:schemeClr val="accent2"/>
                </a:solidFill>
              </a:rPr>
              <a:t>Chromosome is a 35-bit binary string (34 billion faces)</a:t>
            </a:r>
          </a:p>
          <a:p>
            <a:pPr>
              <a:lnSpc>
                <a:spcPct val="120000"/>
              </a:lnSpc>
              <a:spcBef>
                <a:spcPct val="0"/>
              </a:spcBef>
            </a:pPr>
            <a:r>
              <a:rPr lang="en-GB" altLang="en-US" sz="2400" smtClean="0">
                <a:solidFill>
                  <a:schemeClr val="accent2"/>
                </a:solidFill>
              </a:rPr>
              <a:t>Witness rates successive generations with 10 point scale</a:t>
            </a:r>
          </a:p>
          <a:p>
            <a:pPr>
              <a:lnSpc>
                <a:spcPct val="120000"/>
              </a:lnSpc>
              <a:spcBef>
                <a:spcPct val="0"/>
              </a:spcBef>
            </a:pPr>
            <a:r>
              <a:rPr lang="en-GB" altLang="en-US" sz="2400" smtClean="0">
                <a:solidFill>
                  <a:schemeClr val="accent2"/>
                </a:solidFill>
              </a:rPr>
              <a:t>Convergence often occurs after 20 generations</a:t>
            </a:r>
          </a:p>
        </p:txBody>
      </p:sp>
      <p:pic>
        <p:nvPicPr>
          <p:cNvPr id="84996" name="Picture 5" descr="f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1905000"/>
            <a:ext cx="395288"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97" name="Picture 6" descr="f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7188" y="1906588"/>
            <a:ext cx="3984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98" name="Picture 7" descr="f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64388" y="1905000"/>
            <a:ext cx="395287"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99" name="Picture 8" descr="f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1588" y="1905000"/>
            <a:ext cx="3984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00" name="Picture 9" descr="f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8788" y="1905000"/>
            <a:ext cx="3984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01" name="Picture 10" descr="f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78788" y="2436813"/>
            <a:ext cx="395287"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02" name="Picture 11" descr="f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9988" y="2439988"/>
            <a:ext cx="3984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03" name="Picture 12" descr="f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07188" y="2438400"/>
            <a:ext cx="395287"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04" name="Picture 13" descr="f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64388" y="2439988"/>
            <a:ext cx="3984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05" name="Picture 14" descr="f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1588" y="2438400"/>
            <a:ext cx="3984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06" name="Picture 15" descr="f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4388" y="2971800"/>
            <a:ext cx="395287"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07" name="Picture 16" descr="f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1588" y="2971800"/>
            <a:ext cx="3984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08" name="Picture 17" descr="f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78788" y="2970213"/>
            <a:ext cx="395287"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09" name="Picture 18" descr="f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49988" y="2973388"/>
            <a:ext cx="3984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10" name="Picture 19" descr="f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07188" y="2973388"/>
            <a:ext cx="3984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11" name="Picture 20" descr="f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7188" y="3505200"/>
            <a:ext cx="395287"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12" name="Picture 21" descr="f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64388" y="3505200"/>
            <a:ext cx="3984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13" name="Picture 22" descr="f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49988" y="3505200"/>
            <a:ext cx="395287"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14" name="Picture 23" descr="f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621588" y="3505200"/>
            <a:ext cx="3984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5015" name="Picture 24" descr="f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78788" y="3505200"/>
            <a:ext cx="398462"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5016"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85017" name="Klip" r:id="rId7" imgW="1423988" imgH="3055938" progId="MS_ClipArt_Gallery.2">
                  <p:embed/>
                </p:oleObj>
              </mc:Choice>
              <mc:Fallback>
                <p:oleObj name="Klip" r:id="rId7" imgW="1423988" imgH="3055938" progId="MS_ClipArt_Gallery.2">
                  <p:embed/>
                  <p:pic>
                    <p:nvPicPr>
                      <p:cNvPr id="0" name="Object 4"/>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zoom/>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p:cNvSpPr>
            <a:spLocks noGrp="1" noChangeArrowheads="1"/>
          </p:cNvSpPr>
          <p:nvPr>
            <p:ph type="title"/>
          </p:nvPr>
        </p:nvSpPr>
        <p:spPr>
          <a:xfrm>
            <a:off x="1828800" y="609600"/>
            <a:ext cx="7010400" cy="1143000"/>
          </a:xfrm>
        </p:spPr>
        <p:txBody>
          <a:bodyPr/>
          <a:lstStyle/>
          <a:p>
            <a:r>
              <a:rPr lang="cs-CZ" altLang="en-US" sz="3600" b="1" i="1" smtClean="0">
                <a:solidFill>
                  <a:srgbClr val="FF0000"/>
                </a:solidFill>
                <a:latin typeface="Arial" panose="020B0604020202020204" pitchFamily="34" charset="0"/>
              </a:rPr>
              <a:t>Boeing 777</a:t>
            </a:r>
            <a:endParaRPr lang="cs-CZ" altLang="en-US" sz="3600" b="1" smtClean="0">
              <a:solidFill>
                <a:srgbClr val="FF0000"/>
              </a:solidFill>
              <a:latin typeface="Arial" panose="020B0604020202020204" pitchFamily="34" charset="0"/>
            </a:endParaRPr>
          </a:p>
        </p:txBody>
      </p:sp>
      <p:sp>
        <p:nvSpPr>
          <p:cNvPr id="86019" name="Rectangle 3"/>
          <p:cNvSpPr>
            <a:spLocks noGrp="1" noChangeArrowheads="1"/>
          </p:cNvSpPr>
          <p:nvPr>
            <p:ph type="body" idx="1"/>
          </p:nvPr>
        </p:nvSpPr>
        <p:spPr>
          <a:xfrm>
            <a:off x="609600" y="2057400"/>
            <a:ext cx="8077200" cy="4343400"/>
          </a:xfrm>
        </p:spPr>
        <p:txBody>
          <a:bodyPr/>
          <a:lstStyle/>
          <a:p>
            <a:pPr>
              <a:lnSpc>
                <a:spcPct val="120000"/>
              </a:lnSpc>
            </a:pPr>
            <a:r>
              <a:rPr lang="en-US" altLang="en-US" sz="2600" smtClean="0">
                <a:solidFill>
                  <a:schemeClr val="accent2"/>
                </a:solidFill>
              </a:rPr>
              <a:t>The engines were designed by classical techniques with the emphasis on efficient fuel consumption</a:t>
            </a:r>
          </a:p>
          <a:p>
            <a:pPr>
              <a:lnSpc>
                <a:spcPct val="120000"/>
              </a:lnSpc>
            </a:pPr>
            <a:r>
              <a:rPr lang="en-US" altLang="en-US" sz="2600" smtClean="0">
                <a:solidFill>
                  <a:schemeClr val="accent2"/>
                </a:solidFill>
              </a:rPr>
              <a:t>Genetic algorithms were used to fine-tuning of some parameters of the already designed engines</a:t>
            </a:r>
          </a:p>
          <a:p>
            <a:pPr>
              <a:lnSpc>
                <a:spcPct val="120000"/>
              </a:lnSpc>
            </a:pPr>
            <a:r>
              <a:rPr lang="en-US" altLang="en-US" sz="2600" smtClean="0">
                <a:solidFill>
                  <a:schemeClr val="accent2"/>
                </a:solidFill>
              </a:rPr>
              <a:t>Due to their utilization at this stage the consumption of fuel has been reduced by </a:t>
            </a:r>
            <a:r>
              <a:rPr lang="cs-CZ" altLang="en-US" sz="2600" smtClean="0">
                <a:solidFill>
                  <a:schemeClr val="accent2"/>
                </a:solidFill>
              </a:rPr>
              <a:t>2,5</a:t>
            </a:r>
            <a:r>
              <a:rPr lang="en-US" altLang="en-US" sz="2600" smtClean="0">
                <a:solidFill>
                  <a:schemeClr val="accent2"/>
                </a:solidFill>
              </a:rPr>
              <a:t>%</a:t>
            </a:r>
            <a:r>
              <a:rPr lang="cs-CZ" altLang="en-US" sz="2600" smtClean="0">
                <a:solidFill>
                  <a:schemeClr val="accent2"/>
                </a:solidFill>
              </a:rPr>
              <a:t> </a:t>
            </a:r>
          </a:p>
          <a:p>
            <a:pPr>
              <a:lnSpc>
                <a:spcPct val="120000"/>
              </a:lnSpc>
            </a:pPr>
            <a:r>
              <a:rPr lang="cs-CZ" altLang="en-US" sz="2600" smtClean="0">
                <a:solidFill>
                  <a:schemeClr val="accent2"/>
                </a:solidFill>
              </a:rPr>
              <a:t>(</a:t>
            </a:r>
            <a:r>
              <a:rPr lang="en-US" altLang="en-US" sz="2600" smtClean="0">
                <a:solidFill>
                  <a:schemeClr val="accent2"/>
                </a:solidFill>
              </a:rPr>
              <a:t>operating cost savings c</a:t>
            </a:r>
            <a:r>
              <a:rPr lang="cs-CZ" altLang="en-US" sz="2600" smtClean="0">
                <a:solidFill>
                  <a:schemeClr val="accent2"/>
                </a:solidFill>
              </a:rPr>
              <a:t>ca 2 mil </a:t>
            </a:r>
            <a:r>
              <a:rPr lang="en-US" altLang="en-US" sz="2600" smtClean="0">
                <a:solidFill>
                  <a:schemeClr val="accent2"/>
                </a:solidFill>
              </a:rPr>
              <a:t>USD at one plane per year)</a:t>
            </a:r>
            <a:endParaRPr lang="cs-CZ" altLang="en-US" sz="2600" smtClean="0">
              <a:solidFill>
                <a:schemeClr val="accent2"/>
              </a:solidFill>
            </a:endParaRPr>
          </a:p>
        </p:txBody>
      </p:sp>
      <p:pic>
        <p:nvPicPr>
          <p:cNvPr id="86020" name="Picture 5" descr="777smal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2200" y="838200"/>
            <a:ext cx="2343150"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86021"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86022" name="Klip" r:id="rId4" imgW="1423988" imgH="3055938" progId="MS_ClipArt_Gallery.2">
                  <p:embed/>
                </p:oleObj>
              </mc:Choice>
              <mc:Fallback>
                <p:oleObj name="Klip" r:id="rId4" imgW="1423988" imgH="3055938" progId="MS_ClipArt_Gallery.2">
                  <p:embed/>
                  <p:pic>
                    <p:nvPicPr>
                      <p:cNvPr id="0" name="Object 4"/>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ransition spd="slow">
    <p:zoom/>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CB7EA73E-8EFC-47EF-B2C4-56FFD166BA03}" type="slidenum">
              <a:rPr lang="en-US" altLang="en-US" sz="1200" smtClean="0">
                <a:latin typeface="Garamond" panose="02020404030301010803" pitchFamily="18" charset="0"/>
              </a:rPr>
              <a:pPr>
                <a:spcBef>
                  <a:spcPct val="0"/>
                </a:spcBef>
                <a:buClrTx/>
                <a:buSzTx/>
                <a:buFontTx/>
                <a:buNone/>
              </a:pPr>
              <a:t>76</a:t>
            </a:fld>
            <a:endParaRPr lang="en-US" altLang="en-US" sz="1200" smtClean="0">
              <a:latin typeface="Garamond" panose="02020404030301010803" pitchFamily="18" charset="0"/>
            </a:endParaRPr>
          </a:p>
        </p:txBody>
      </p:sp>
      <p:sp>
        <p:nvSpPr>
          <p:cNvPr id="87043" name="Rectangle 2"/>
          <p:cNvSpPr>
            <a:spLocks noGrp="1" noChangeArrowheads="1"/>
          </p:cNvSpPr>
          <p:nvPr>
            <p:ph type="ctrTitle"/>
          </p:nvPr>
        </p:nvSpPr>
        <p:spPr>
          <a:xfrm>
            <a:off x="533400" y="1981200"/>
            <a:ext cx="7623175" cy="1752600"/>
          </a:xfrm>
        </p:spPr>
        <p:txBody>
          <a:bodyPr/>
          <a:lstStyle/>
          <a:p>
            <a:pPr algn="ctr" eaLnBrk="1" hangingPunct="1"/>
            <a:r>
              <a:rPr lang="en-US" altLang="en-US" sz="4400" b="1" u="sng" smtClean="0"/>
              <a:t>Summary</a:t>
            </a:r>
          </a:p>
        </p:txBody>
      </p:sp>
      <p:graphicFrame>
        <p:nvGraphicFramePr>
          <p:cNvPr id="87044"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87045"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805BE8E3-92EF-4FCE-8D7E-38A462AB3A62}" type="slidenum">
              <a:rPr lang="en-US" altLang="en-US" sz="1200" smtClean="0">
                <a:latin typeface="Garamond" panose="02020404030301010803" pitchFamily="18" charset="0"/>
              </a:rPr>
              <a:pPr>
                <a:spcBef>
                  <a:spcPct val="0"/>
                </a:spcBef>
                <a:buClrTx/>
                <a:buSzTx/>
                <a:buFontTx/>
                <a:buNone/>
              </a:pPr>
              <a:t>77</a:t>
            </a:fld>
            <a:endParaRPr lang="en-US" altLang="en-US" sz="1200" smtClean="0">
              <a:latin typeface="Garamond" panose="02020404030301010803" pitchFamily="18" charset="0"/>
            </a:endParaRPr>
          </a:p>
        </p:txBody>
      </p:sp>
      <p:sp>
        <p:nvSpPr>
          <p:cNvPr id="88067" name="Rectangle 3"/>
          <p:cNvSpPr>
            <a:spLocks noGrp="1" noChangeArrowheads="1"/>
          </p:cNvSpPr>
          <p:nvPr>
            <p:ph type="body" idx="1"/>
          </p:nvPr>
        </p:nvSpPr>
        <p:spPr>
          <a:xfrm>
            <a:off x="381000" y="609600"/>
            <a:ext cx="8229600" cy="5715000"/>
          </a:xfrm>
        </p:spPr>
        <p:txBody>
          <a:bodyPr/>
          <a:lstStyle/>
          <a:p>
            <a:pPr eaLnBrk="1" hangingPunct="1">
              <a:lnSpc>
                <a:spcPct val="80000"/>
              </a:lnSpc>
            </a:pPr>
            <a:r>
              <a:rPr lang="en-US" altLang="en-US" sz="2400" i="1" smtClean="0"/>
              <a:t>Genetic Algorithms</a:t>
            </a:r>
            <a:r>
              <a:rPr lang="en-US" altLang="en-US" sz="2400" smtClean="0"/>
              <a:t> (GAs) implement optimization strategies based on simulation of the natural law of evolution of a species by </a:t>
            </a:r>
            <a:r>
              <a:rPr lang="en-US" altLang="en-US" sz="2400" i="1" smtClean="0">
                <a:solidFill>
                  <a:schemeClr val="hlink"/>
                </a:solidFill>
              </a:rPr>
              <a:t>natural selection</a:t>
            </a:r>
            <a:r>
              <a:rPr lang="en-US" altLang="en-US" sz="2400" smtClean="0"/>
              <a:t> </a:t>
            </a:r>
          </a:p>
          <a:p>
            <a:pPr eaLnBrk="1" hangingPunct="1">
              <a:lnSpc>
                <a:spcPct val="80000"/>
              </a:lnSpc>
              <a:buFont typeface="Wingdings" panose="05000000000000000000" pitchFamily="2" charset="2"/>
              <a:buNone/>
            </a:pPr>
            <a:endParaRPr lang="en-US" altLang="en-US" sz="2400" smtClean="0"/>
          </a:p>
          <a:p>
            <a:pPr eaLnBrk="1" hangingPunct="1">
              <a:lnSpc>
                <a:spcPct val="80000"/>
              </a:lnSpc>
            </a:pPr>
            <a:r>
              <a:rPr lang="en-US" altLang="en-US" sz="2400" smtClean="0"/>
              <a:t>The basic GA Operators are:</a:t>
            </a:r>
          </a:p>
          <a:p>
            <a:pPr eaLnBrk="1" hangingPunct="1">
              <a:lnSpc>
                <a:spcPct val="80000"/>
              </a:lnSpc>
              <a:buFont typeface="Wingdings" panose="05000000000000000000" pitchFamily="2" charset="2"/>
              <a:buNone/>
            </a:pPr>
            <a:r>
              <a:rPr lang="en-US" altLang="en-US" sz="2400" smtClean="0"/>
              <a:t>		</a:t>
            </a:r>
            <a:r>
              <a:rPr lang="en-US" altLang="en-US" sz="2400" smtClean="0">
                <a:solidFill>
                  <a:schemeClr val="hlink"/>
                </a:solidFill>
              </a:rPr>
              <a:t>Encoding</a:t>
            </a:r>
          </a:p>
          <a:p>
            <a:pPr eaLnBrk="1" hangingPunct="1">
              <a:lnSpc>
                <a:spcPct val="80000"/>
              </a:lnSpc>
              <a:buFont typeface="Wingdings" panose="05000000000000000000" pitchFamily="2" charset="2"/>
              <a:buNone/>
            </a:pPr>
            <a:r>
              <a:rPr lang="en-US" altLang="en-US" sz="2400" smtClean="0">
                <a:solidFill>
                  <a:schemeClr val="hlink"/>
                </a:solidFill>
              </a:rPr>
              <a:t>		Recombination</a:t>
            </a:r>
          </a:p>
          <a:p>
            <a:pPr eaLnBrk="1" hangingPunct="1">
              <a:lnSpc>
                <a:spcPct val="80000"/>
              </a:lnSpc>
              <a:buFont typeface="Wingdings" panose="05000000000000000000" pitchFamily="2" charset="2"/>
              <a:buNone/>
            </a:pPr>
            <a:r>
              <a:rPr lang="en-US" altLang="en-US" sz="2400" smtClean="0">
                <a:solidFill>
                  <a:schemeClr val="hlink"/>
                </a:solidFill>
              </a:rPr>
              <a:t>		Crossover</a:t>
            </a:r>
          </a:p>
          <a:p>
            <a:pPr eaLnBrk="1" hangingPunct="1">
              <a:lnSpc>
                <a:spcPct val="80000"/>
              </a:lnSpc>
              <a:buFont typeface="Wingdings" panose="05000000000000000000" pitchFamily="2" charset="2"/>
              <a:buNone/>
            </a:pPr>
            <a:r>
              <a:rPr lang="en-US" altLang="en-US" sz="2400" smtClean="0">
                <a:solidFill>
                  <a:schemeClr val="hlink"/>
                </a:solidFill>
              </a:rPr>
              <a:t>		Mutation</a:t>
            </a:r>
          </a:p>
          <a:p>
            <a:pPr eaLnBrk="1" hangingPunct="1">
              <a:lnSpc>
                <a:spcPct val="80000"/>
              </a:lnSpc>
              <a:buFont typeface="Wingdings" panose="05000000000000000000" pitchFamily="2" charset="2"/>
              <a:buNone/>
            </a:pPr>
            <a:endParaRPr lang="en-US" altLang="en-US" sz="2400" smtClean="0"/>
          </a:p>
          <a:p>
            <a:pPr eaLnBrk="1" hangingPunct="1">
              <a:lnSpc>
                <a:spcPct val="80000"/>
              </a:lnSpc>
            </a:pPr>
            <a:r>
              <a:rPr lang="en-US" altLang="en-US" sz="2400" smtClean="0"/>
              <a:t>GAs have been applied to a variety of function optimization problems, and have been shown to be highly effective in searching a </a:t>
            </a:r>
            <a:r>
              <a:rPr lang="en-US" altLang="en-US" sz="2400" smtClean="0">
                <a:solidFill>
                  <a:schemeClr val="hlink"/>
                </a:solidFill>
              </a:rPr>
              <a:t>large, poorly defined search space</a:t>
            </a:r>
            <a:r>
              <a:rPr lang="en-US" altLang="en-US" sz="2400" smtClean="0"/>
              <a:t> even in the presence of difficulties such as high-dimensionality, multi-modality, discontinuity and noise.</a:t>
            </a:r>
          </a:p>
          <a:p>
            <a:pPr lvl="1" eaLnBrk="1" hangingPunct="1">
              <a:lnSpc>
                <a:spcPct val="80000"/>
              </a:lnSpc>
            </a:pPr>
            <a:endParaRPr lang="en-US" altLang="en-US" sz="2400" smtClean="0"/>
          </a:p>
        </p:txBody>
      </p:sp>
      <p:graphicFrame>
        <p:nvGraphicFramePr>
          <p:cNvPr id="88068"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88069"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6"/>
          <p:cNvSpPr>
            <a:spLocks noGrp="1" noChangeArrowheads="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accent1"/>
              </a:buClr>
              <a:buSzPct val="65000"/>
              <a:buFont typeface="Wingdings" panose="05000000000000000000" pitchFamily="2" charset="2"/>
              <a:buChar char="n"/>
              <a:defRPr sz="3000">
                <a:solidFill>
                  <a:schemeClr val="tx1"/>
                </a:solidFill>
                <a:latin typeface="Arial" panose="020B0604020202020204" pitchFamily="34" charset="0"/>
              </a:defRPr>
            </a:lvl1pPr>
            <a:lvl2pPr marL="742950" indent="-285750">
              <a:spcBef>
                <a:spcPct val="20000"/>
              </a:spcBef>
              <a:buClr>
                <a:schemeClr val="accent2"/>
              </a:buClr>
              <a:buSzPct val="60000"/>
              <a:buFont typeface="Wingdings" panose="05000000000000000000" pitchFamily="2" charset="2"/>
              <a:buChar char="q"/>
              <a:defRPr sz="2600">
                <a:solidFill>
                  <a:schemeClr val="tx1"/>
                </a:solidFill>
                <a:latin typeface="Arial" panose="020B0604020202020204" pitchFamily="34" charset="0"/>
              </a:defRPr>
            </a:lvl2pPr>
            <a:lvl3pPr marL="1143000" indent="-228600">
              <a:spcBef>
                <a:spcPct val="20000"/>
              </a:spcBef>
              <a:buClr>
                <a:schemeClr val="accent1"/>
              </a:buClr>
              <a:buSzPct val="65000"/>
              <a:buFont typeface="Wingdings" panose="05000000000000000000" pitchFamily="2" charset="2"/>
              <a:buChar char="n"/>
              <a:defRPr sz="22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q"/>
              <a:defRPr sz="2000">
                <a:solidFill>
                  <a:schemeClr val="tx1"/>
                </a:solidFill>
                <a:latin typeface="Arial" panose="020B0604020202020204" pitchFamily="34" charset="0"/>
              </a:defRPr>
            </a:lvl4pPr>
            <a:lvl5pPr marL="2057400" indent="-228600">
              <a:spcBef>
                <a:spcPct val="20000"/>
              </a:spcBef>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tx1"/>
                </a:solidFill>
                <a:latin typeface="Arial" panose="020B0604020202020204" pitchFamily="34" charset="0"/>
              </a:defRPr>
            </a:lvl9pPr>
          </a:lstStyle>
          <a:p>
            <a:pPr>
              <a:spcBef>
                <a:spcPct val="0"/>
              </a:spcBef>
              <a:buClrTx/>
              <a:buSzTx/>
              <a:buFontTx/>
              <a:buNone/>
            </a:pPr>
            <a:fld id="{F3AE936D-9454-479D-BF86-0DC108783CE7}" type="slidenum">
              <a:rPr lang="en-US" altLang="en-US" sz="1200" smtClean="0">
                <a:latin typeface="Garamond" panose="02020404030301010803" pitchFamily="18" charset="0"/>
              </a:rPr>
              <a:pPr>
                <a:spcBef>
                  <a:spcPct val="0"/>
                </a:spcBef>
                <a:buClrTx/>
                <a:buSzTx/>
                <a:buFontTx/>
                <a:buNone/>
              </a:pPr>
              <a:t>78</a:t>
            </a:fld>
            <a:endParaRPr lang="en-US" altLang="en-US" sz="1200" smtClean="0">
              <a:latin typeface="Garamond" panose="02020404030301010803" pitchFamily="18" charset="0"/>
            </a:endParaRPr>
          </a:p>
        </p:txBody>
      </p:sp>
      <p:sp>
        <p:nvSpPr>
          <p:cNvPr id="89091" name="Rectangle 2"/>
          <p:cNvSpPr>
            <a:spLocks noGrp="1" noChangeArrowheads="1"/>
          </p:cNvSpPr>
          <p:nvPr>
            <p:ph type="ctrTitle"/>
          </p:nvPr>
        </p:nvSpPr>
        <p:spPr>
          <a:xfrm>
            <a:off x="914400" y="1905000"/>
            <a:ext cx="7623175" cy="1752600"/>
          </a:xfrm>
        </p:spPr>
        <p:txBody>
          <a:bodyPr/>
          <a:lstStyle/>
          <a:p>
            <a:pPr algn="ctr" eaLnBrk="1" hangingPunct="1"/>
            <a:r>
              <a:rPr lang="en-US" altLang="en-US" sz="5400" b="1" u="sng" smtClean="0"/>
              <a:t>Questions ?</a:t>
            </a:r>
          </a:p>
        </p:txBody>
      </p:sp>
      <p:graphicFrame>
        <p:nvGraphicFramePr>
          <p:cNvPr id="89092" name="Object 4"/>
          <p:cNvGraphicFramePr>
            <a:graphicFrameLocks/>
          </p:cNvGraphicFramePr>
          <p:nvPr/>
        </p:nvGraphicFramePr>
        <p:xfrm>
          <a:off x="76200" y="76200"/>
          <a:ext cx="457200" cy="838200"/>
        </p:xfrm>
        <a:graphic>
          <a:graphicData uri="http://schemas.openxmlformats.org/presentationml/2006/ole">
            <mc:AlternateContent xmlns:mc="http://schemas.openxmlformats.org/markup-compatibility/2006">
              <mc:Choice xmlns:v="urn:schemas-microsoft-com:vml" Requires="v">
                <p:oleObj spid="_x0000_s89093" name="Klip" r:id="rId3" imgW="1423988" imgH="3055938" progId="MS_ClipArt_Gallery.2">
                  <p:embed/>
                </p:oleObj>
              </mc:Choice>
              <mc:Fallback>
                <p:oleObj name="Klip" r:id="rId3" imgW="1423988" imgH="3055938" progId="MS_ClipArt_Gallery.2">
                  <p:embed/>
                  <p:pic>
                    <p:nvPicPr>
                      <p:cNvPr id="0" name="Object 4"/>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200" y="76200"/>
                        <a:ext cx="457200" cy="838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Edge">
  <a:themeElements>
    <a:clrScheme name="Edge 10">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CC3300"/>
      </a:hlink>
      <a:folHlink>
        <a:srgbClr val="AFBF39"/>
      </a:folHlink>
    </a:clrScheme>
    <a:fontScheme name="Edge">
      <a:majorFont>
        <a:latin typeface="Garamond"/>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rgbClr val="FFFFFF"/>
        </a:solidFill>
        <a:ln w="9525" cap="flat" cmpd="sng" algn="ctr">
          <a:solidFill>
            <a:srgbClr val="000000"/>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4000" b="1" i="0" u="none" strike="noStrike" cap="none" normalizeH="0" baseline="0" smtClean="0">
            <a:ln>
              <a:noFill/>
            </a:ln>
            <a:solidFill>
              <a:schemeClr val="tx1"/>
            </a:solidFill>
            <a:effectLst/>
            <a:latin typeface="Arial" charset="0"/>
          </a:defRPr>
        </a:defPPr>
      </a:lstStyle>
    </a:lnDef>
  </a:objectDefaults>
  <a:extraClrSchemeLst>
    <a:extraClrScheme>
      <a:clrScheme name="Edge 1">
        <a:dk1>
          <a:srgbClr val="333333"/>
        </a:dk1>
        <a:lt1>
          <a:srgbClr val="FFFFFF"/>
        </a:lt1>
        <a:dk2>
          <a:srgbClr val="820000"/>
        </a:dk2>
        <a:lt2>
          <a:srgbClr val="FFFFFF"/>
        </a:lt2>
        <a:accent1>
          <a:srgbClr val="FF9900"/>
        </a:accent1>
        <a:accent2>
          <a:srgbClr val="CC3300"/>
        </a:accent2>
        <a:accent3>
          <a:srgbClr val="C1AAAA"/>
        </a:accent3>
        <a:accent4>
          <a:srgbClr val="DADADA"/>
        </a:accent4>
        <a:accent5>
          <a:srgbClr val="FFCAAA"/>
        </a:accent5>
        <a:accent6>
          <a:srgbClr val="B92D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2">
        <a:dk1>
          <a:srgbClr val="333333"/>
        </a:dk1>
        <a:lt1>
          <a:srgbClr val="CCCCFF"/>
        </a:lt1>
        <a:dk2>
          <a:srgbClr val="0B0506"/>
        </a:dk2>
        <a:lt2>
          <a:srgbClr val="FFFFFF"/>
        </a:lt2>
        <a:accent1>
          <a:srgbClr val="3366CC"/>
        </a:accent1>
        <a:accent2>
          <a:srgbClr val="3333CC"/>
        </a:accent2>
        <a:accent3>
          <a:srgbClr val="AAAAAA"/>
        </a:accent3>
        <a:accent4>
          <a:srgbClr val="AEAEDA"/>
        </a:accent4>
        <a:accent5>
          <a:srgbClr val="ADB8E2"/>
        </a:accent5>
        <a:accent6>
          <a:srgbClr val="2D2DB9"/>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3">
        <a:dk1>
          <a:srgbClr val="333333"/>
        </a:dk1>
        <a:lt1>
          <a:srgbClr val="FFFFFF"/>
        </a:lt1>
        <a:dk2>
          <a:srgbClr val="221013"/>
        </a:dk2>
        <a:lt2>
          <a:srgbClr val="FFFFFF"/>
        </a:lt2>
        <a:accent1>
          <a:srgbClr val="CC3300"/>
        </a:accent1>
        <a:accent2>
          <a:srgbClr val="CC9900"/>
        </a:accent2>
        <a:accent3>
          <a:srgbClr val="ABAAAA"/>
        </a:accent3>
        <a:accent4>
          <a:srgbClr val="DADADA"/>
        </a:accent4>
        <a:accent5>
          <a:srgbClr val="E2ADAA"/>
        </a:accent5>
        <a:accent6>
          <a:srgbClr val="B98A00"/>
        </a:accent6>
        <a:hlink>
          <a:srgbClr val="808080"/>
        </a:hlink>
        <a:folHlink>
          <a:srgbClr val="666633"/>
        </a:folHlink>
      </a:clrScheme>
      <a:clrMap bg1="dk2" tx1="lt1" bg2="dk1" tx2="lt2" accent1="accent1" accent2="accent2" accent3="accent3" accent4="accent4" accent5="accent5" accent6="accent6" hlink="hlink" folHlink="folHlink"/>
    </a:extraClrScheme>
    <a:extraClrScheme>
      <a:clrScheme name="Edge 4">
        <a:dk1>
          <a:srgbClr val="11054B"/>
        </a:dk1>
        <a:lt1>
          <a:srgbClr val="FFFFFF"/>
        </a:lt1>
        <a:dk2>
          <a:srgbClr val="0000CC"/>
        </a:dk2>
        <a:lt2>
          <a:srgbClr val="FFFFFF"/>
        </a:lt2>
        <a:accent1>
          <a:srgbClr val="FF6600"/>
        </a:accent1>
        <a:accent2>
          <a:srgbClr val="FF3300"/>
        </a:accent2>
        <a:accent3>
          <a:srgbClr val="AAAAE2"/>
        </a:accent3>
        <a:accent4>
          <a:srgbClr val="DADADA"/>
        </a:accent4>
        <a:accent5>
          <a:srgbClr val="FFB8AA"/>
        </a:accent5>
        <a:accent6>
          <a:srgbClr val="E72D00"/>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dge 5">
        <a:dk1>
          <a:srgbClr val="9B8D65"/>
        </a:dk1>
        <a:lt1>
          <a:srgbClr val="F8F8F8"/>
        </a:lt1>
        <a:dk2>
          <a:srgbClr val="002600"/>
        </a:dk2>
        <a:lt2>
          <a:srgbClr val="FAFACC"/>
        </a:lt2>
        <a:accent1>
          <a:srgbClr val="CC9933"/>
        </a:accent1>
        <a:accent2>
          <a:srgbClr val="8F9967"/>
        </a:accent2>
        <a:accent3>
          <a:srgbClr val="AAACAA"/>
        </a:accent3>
        <a:accent4>
          <a:srgbClr val="D4D4D4"/>
        </a:accent4>
        <a:accent5>
          <a:srgbClr val="E2CAAD"/>
        </a:accent5>
        <a:accent6>
          <a:srgbClr val="818A5D"/>
        </a:accent6>
        <a:hlink>
          <a:srgbClr val="336600"/>
        </a:hlink>
        <a:folHlink>
          <a:srgbClr val="808000"/>
        </a:folHlink>
      </a:clrScheme>
      <a:clrMap bg1="dk2" tx1="lt1" bg2="dk1" tx2="lt2" accent1="accent1" accent2="accent2" accent3="accent3" accent4="accent4" accent5="accent5" accent6="accent6" hlink="hlink" folHlink="folHlink"/>
    </a:extraClrScheme>
    <a:extraClrScheme>
      <a:clrScheme name="Edge 6">
        <a:dk1>
          <a:srgbClr val="333333"/>
        </a:dk1>
        <a:lt1>
          <a:srgbClr val="FFFFFF"/>
        </a:lt1>
        <a:dk2>
          <a:srgbClr val="006699"/>
        </a:dk2>
        <a:lt2>
          <a:srgbClr val="FFFFFF"/>
        </a:lt2>
        <a:accent1>
          <a:srgbClr val="CC9900"/>
        </a:accent1>
        <a:accent2>
          <a:srgbClr val="FF9900"/>
        </a:accent2>
        <a:accent3>
          <a:srgbClr val="AAB8CA"/>
        </a:accent3>
        <a:accent4>
          <a:srgbClr val="DADADA"/>
        </a:accent4>
        <a:accent5>
          <a:srgbClr val="E2CAAA"/>
        </a:accent5>
        <a:accent6>
          <a:srgbClr val="E78A00"/>
        </a:accent6>
        <a:hlink>
          <a:srgbClr val="FFCC00"/>
        </a:hlink>
        <a:folHlink>
          <a:srgbClr val="706F37"/>
        </a:folHlink>
      </a:clrScheme>
      <a:clrMap bg1="dk2" tx1="lt1" bg2="dk1" tx2="lt2" accent1="accent1" accent2="accent2" accent3="accent3" accent4="accent4" accent5="accent5" accent6="accent6" hlink="hlink" folHlink="folHlink"/>
    </a:extraClrScheme>
    <a:extraClrScheme>
      <a:clrScheme name="Edge 7">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996600"/>
        </a:hlink>
        <a:folHlink>
          <a:srgbClr val="AFBF39"/>
        </a:folHlink>
      </a:clrScheme>
      <a:clrMap bg1="lt1" tx1="dk1" bg2="lt2" tx2="dk2" accent1="accent1" accent2="accent2" accent3="accent3" accent4="accent4" accent5="accent5" accent6="accent6" hlink="hlink" folHlink="folHlink"/>
    </a:extraClrScheme>
    <a:extraClrScheme>
      <a:clrScheme name="Edge 8">
        <a:dk1>
          <a:srgbClr val="000000"/>
        </a:dk1>
        <a:lt1>
          <a:srgbClr val="FFFFFF"/>
        </a:lt1>
        <a:dk2>
          <a:srgbClr val="CC0000"/>
        </a:dk2>
        <a:lt2>
          <a:srgbClr val="666699"/>
        </a:lt2>
        <a:accent1>
          <a:srgbClr val="808080"/>
        </a:accent1>
        <a:accent2>
          <a:srgbClr val="999933"/>
        </a:accent2>
        <a:accent3>
          <a:srgbClr val="FFFFFF"/>
        </a:accent3>
        <a:accent4>
          <a:srgbClr val="000000"/>
        </a:accent4>
        <a:accent5>
          <a:srgbClr val="C0C0C0"/>
        </a:accent5>
        <a:accent6>
          <a:srgbClr val="8A8A2D"/>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9">
        <a:dk1>
          <a:srgbClr val="000000"/>
        </a:dk1>
        <a:lt1>
          <a:srgbClr val="FFFFFF"/>
        </a:lt1>
        <a:dk2>
          <a:srgbClr val="003399"/>
        </a:dk2>
        <a:lt2>
          <a:srgbClr val="666699"/>
        </a:lt2>
        <a:accent1>
          <a:srgbClr val="009999"/>
        </a:accent1>
        <a:accent2>
          <a:srgbClr val="4C6D4E"/>
        </a:accent2>
        <a:accent3>
          <a:srgbClr val="FFFFFF"/>
        </a:accent3>
        <a:accent4>
          <a:srgbClr val="000000"/>
        </a:accent4>
        <a:accent5>
          <a:srgbClr val="AACACA"/>
        </a:accent5>
        <a:accent6>
          <a:srgbClr val="446246"/>
        </a:accent6>
        <a:hlink>
          <a:srgbClr val="4C6D80"/>
        </a:hlink>
        <a:folHlink>
          <a:srgbClr val="B2B2B2"/>
        </a:folHlink>
      </a:clrScheme>
      <a:clrMap bg1="lt1" tx1="dk1" bg2="lt2" tx2="dk2" accent1="accent1" accent2="accent2" accent3="accent3" accent4="accent4" accent5="accent5" accent6="accent6" hlink="hlink" folHlink="folHlink"/>
    </a:extraClrScheme>
    <a:extraClrScheme>
      <a:clrScheme name="Edge 10">
        <a:dk1>
          <a:srgbClr val="000000"/>
        </a:dk1>
        <a:lt1>
          <a:srgbClr val="FFFFFF"/>
        </a:lt1>
        <a:dk2>
          <a:srgbClr val="006633"/>
        </a:dk2>
        <a:lt2>
          <a:srgbClr val="5F5F5F"/>
        </a:lt2>
        <a:accent1>
          <a:srgbClr val="CC9900"/>
        </a:accent1>
        <a:accent2>
          <a:srgbClr val="3B812F"/>
        </a:accent2>
        <a:accent3>
          <a:srgbClr val="FFFFFF"/>
        </a:accent3>
        <a:accent4>
          <a:srgbClr val="000000"/>
        </a:accent4>
        <a:accent5>
          <a:srgbClr val="E2CAAA"/>
        </a:accent5>
        <a:accent6>
          <a:srgbClr val="35742A"/>
        </a:accent6>
        <a:hlink>
          <a:srgbClr val="CC3300"/>
        </a:hlink>
        <a:folHlink>
          <a:srgbClr val="AFBF39"/>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Edge</Template>
  <TotalTime>1207</TotalTime>
  <Words>4049</Words>
  <Application>Microsoft Office PowerPoint</Application>
  <PresentationFormat>On-screen Show (4:3)</PresentationFormat>
  <Paragraphs>768</Paragraphs>
  <Slides>78</Slides>
  <Notes>6</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2</vt:i4>
      </vt:variant>
      <vt:variant>
        <vt:lpstr>Slide Titles</vt:lpstr>
      </vt:variant>
      <vt:variant>
        <vt:i4>78</vt:i4>
      </vt:variant>
    </vt:vector>
  </HeadingPairs>
  <TitlesOfParts>
    <vt:vector size="88" baseType="lpstr">
      <vt:lpstr>Arial</vt:lpstr>
      <vt:lpstr>Garamond</vt:lpstr>
      <vt:lpstr>Wingdings</vt:lpstr>
      <vt:lpstr>Courier New</vt:lpstr>
      <vt:lpstr>Times New Roman</vt:lpstr>
      <vt:lpstr>Symbol</vt:lpstr>
      <vt:lpstr>Bookshelf Symbol 5</vt:lpstr>
      <vt:lpstr>Edge</vt:lpstr>
      <vt:lpstr>Microsoft Clip Gallery</vt:lpstr>
      <vt:lpstr>Microsoft Word Picture</vt:lpstr>
      <vt:lpstr>Genetic Algorithms  Prof. Dr. Md. Aminul Haque Akhand Dept. of CSE, KUET       </vt:lpstr>
      <vt:lpstr>Overview</vt:lpstr>
      <vt:lpstr>References </vt:lpstr>
      <vt:lpstr>Introduction To Genetic Algorithms (GAs) </vt:lpstr>
      <vt:lpstr>History Of Genetic Algorithms</vt:lpstr>
      <vt:lpstr>PowerPoint Presentation</vt:lpstr>
      <vt:lpstr>Basic Idea Of Principle Of Natural Selection</vt:lpstr>
      <vt:lpstr> Darwin’s Principle Of Natural Selection </vt:lpstr>
      <vt:lpstr>An Example of Natural Selection</vt:lpstr>
      <vt:lpstr>Evolution Through Natural Selection </vt:lpstr>
      <vt:lpstr>What Are Genetic Algorithms (GAs)?</vt:lpstr>
      <vt:lpstr>PowerPoint Presentation</vt:lpstr>
      <vt:lpstr>Working Mechanism Of GAs </vt:lpstr>
      <vt:lpstr>Simple Genetic Algorithm</vt:lpstr>
      <vt:lpstr>Nature to Computer Mapping</vt:lpstr>
      <vt:lpstr>GA Operators and Parameters</vt:lpstr>
      <vt:lpstr>Encoding</vt:lpstr>
      <vt:lpstr>Encoding Methods</vt:lpstr>
      <vt:lpstr>Encoding Methods (contd.)</vt:lpstr>
      <vt:lpstr>Encoding Methods (contd.)</vt:lpstr>
      <vt:lpstr>Fitness Function </vt:lpstr>
      <vt:lpstr>Recombination </vt:lpstr>
      <vt:lpstr>Recombination</vt:lpstr>
      <vt:lpstr>Roulette Wheel Selection </vt:lpstr>
      <vt:lpstr>Example Of Roulette Wheel Selection</vt:lpstr>
      <vt:lpstr>Roulette Wheel For Example</vt:lpstr>
      <vt:lpstr>Crossover </vt:lpstr>
      <vt:lpstr>Crossover Methods</vt:lpstr>
      <vt:lpstr>Crossover Methods (contd.)</vt:lpstr>
      <vt:lpstr>Crossover  Methods (contd.)</vt:lpstr>
      <vt:lpstr>Crossover Methods (contd.)</vt:lpstr>
      <vt:lpstr>Crossover (contd.)</vt:lpstr>
      <vt:lpstr>Elitism </vt:lpstr>
      <vt:lpstr>Mutation</vt:lpstr>
      <vt:lpstr>Example Of Mutation</vt:lpstr>
      <vt:lpstr>Advantages Of GAs</vt:lpstr>
      <vt:lpstr>Advantages of GAs (contd.)</vt:lpstr>
      <vt:lpstr>Advantages of GAs (contd.)</vt:lpstr>
      <vt:lpstr>Advantages of GAs (contd.)</vt:lpstr>
      <vt:lpstr>Simple Example  (Goldberg98)</vt:lpstr>
      <vt:lpstr>Selection</vt:lpstr>
      <vt:lpstr>Crossover</vt:lpstr>
      <vt:lpstr>Mutation</vt:lpstr>
      <vt:lpstr>Hard Problems</vt:lpstr>
      <vt:lpstr>Genetic Algorithms To Solve The Traveling Salesman Problem (TSP)</vt:lpstr>
      <vt:lpstr>The Problem </vt:lpstr>
      <vt:lpstr>Encoding</vt:lpstr>
      <vt:lpstr>Encoding (contd.)</vt:lpstr>
      <vt:lpstr>Fitness Function</vt:lpstr>
      <vt:lpstr>Distance/Cost Matrix For TSP</vt:lpstr>
      <vt:lpstr>Fitness Function (contd.)</vt:lpstr>
      <vt:lpstr>Selection Operator</vt:lpstr>
      <vt:lpstr>Tournament Selection (contd.)</vt:lpstr>
      <vt:lpstr>Why we cannot use single-point crossover: </vt:lpstr>
      <vt:lpstr>Crossover Operator </vt:lpstr>
      <vt:lpstr>Edge Table</vt:lpstr>
      <vt:lpstr>Finding The Edge Table</vt:lpstr>
      <vt:lpstr>Enhanced Edge Recombination Algorithm</vt:lpstr>
      <vt:lpstr>Example Of Enhanced Edge Recombination Operator</vt:lpstr>
      <vt:lpstr>Example Of Enhanced Edge Recombination Operator (contd.)</vt:lpstr>
      <vt:lpstr>Example Of Enhanced Edge Recombination Operator (contd.)</vt:lpstr>
      <vt:lpstr>Mutation Operator </vt:lpstr>
      <vt:lpstr>PowerPoint Presentation</vt:lpstr>
      <vt:lpstr>PowerPoint Presentation</vt:lpstr>
      <vt:lpstr>PowerPoint Presentation</vt:lpstr>
      <vt:lpstr> Other Typical applications: </vt:lpstr>
      <vt:lpstr>Extremes of multimodal functions</vt:lpstr>
      <vt:lpstr>Extremes of multimodal functions</vt:lpstr>
      <vt:lpstr>Timetabling </vt:lpstr>
      <vt:lpstr>Evolution of Strategies -  Game Playing </vt:lpstr>
      <vt:lpstr>Rule Discovery </vt:lpstr>
      <vt:lpstr>Rule Discovery </vt:lpstr>
      <vt:lpstr>Criminal suspect recognition </vt:lpstr>
      <vt:lpstr>Criminal suspect recognition </vt:lpstr>
      <vt:lpstr>Boeing 777</vt:lpstr>
      <vt:lpstr>Summary</vt:lpstr>
      <vt:lpstr>PowerPoint Presentation</vt:lpstr>
      <vt:lpstr>Questions ?</vt:lpstr>
    </vt:vector>
  </TitlesOfParts>
  <Company>Stony Brook</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Are Genetic Algorithms (GAs)?</dc:title>
  <dc:creator>Chhavi Kashyap</dc:creator>
  <cp:lastModifiedBy>Aminul</cp:lastModifiedBy>
  <cp:revision>295</cp:revision>
  <cp:lastPrinted>2014-05-14T04:01:47Z</cp:lastPrinted>
  <dcterms:created xsi:type="dcterms:W3CDTF">2005-03-26T20:12:36Z</dcterms:created>
  <dcterms:modified xsi:type="dcterms:W3CDTF">2019-04-11T05:45:59Z</dcterms:modified>
</cp:coreProperties>
</file>