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86" r:id="rId6"/>
    <p:sldId id="263" r:id="rId7"/>
    <p:sldId id="266" r:id="rId8"/>
    <p:sldId id="267" r:id="rId9"/>
    <p:sldId id="260" r:id="rId10"/>
    <p:sldId id="268" r:id="rId11"/>
    <p:sldId id="261" r:id="rId12"/>
    <p:sldId id="262" r:id="rId13"/>
    <p:sldId id="289" r:id="rId14"/>
    <p:sldId id="270" r:id="rId15"/>
    <p:sldId id="276" r:id="rId16"/>
    <p:sldId id="277" r:id="rId17"/>
    <p:sldId id="287" r:id="rId18"/>
    <p:sldId id="278" r:id="rId19"/>
    <p:sldId id="272" r:id="rId20"/>
    <p:sldId id="279" r:id="rId21"/>
    <p:sldId id="280" r:id="rId22"/>
    <p:sldId id="281" r:id="rId23"/>
    <p:sldId id="288" r:id="rId24"/>
    <p:sldId id="290" r:id="rId25"/>
    <p:sldId id="291" r:id="rId26"/>
    <p:sldId id="283" r:id="rId27"/>
    <p:sldId id="282" r:id="rId28"/>
    <p:sldId id="285" r:id="rId29"/>
    <p:sldId id="27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2BCB1-7F59-474B-B516-7BE7CF59B49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9B990-DEC8-4B8C-A28C-4587DC5E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8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9B990-DEC8-4B8C-A28C-4587DC5E56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72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9B990-DEC8-4B8C-A28C-4587DC5E56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59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9B990-DEC8-4B8C-A28C-4587DC5E56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78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9B990-DEC8-4B8C-A28C-4587DC5E56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5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9B990-DEC8-4B8C-A28C-4587DC5E563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51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9B990-DEC8-4B8C-A28C-4587DC5E563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800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9B990-DEC8-4B8C-A28C-4587DC5E563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34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C78F-535C-3FAA-53CE-67BE1D83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6334B-7EC8-9F02-2D94-0CA13E605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7D6E-0D86-771A-7546-286830FF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584C-AA7B-4F92-A751-3F91CFCA9FF6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E7273-BB46-4FD2-569F-FBBA5A00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96A27-7FE2-7868-3C0C-E2D1F7F7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24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AA81-B6A1-956C-BF9C-F41A92DF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346C6-7D60-3793-6016-F68636F67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B0A98-764B-088C-F9EB-D5C6E5E4B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62180-7777-43CC-BBB1-5E40D253606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BC6E2-A7A3-3116-CAD2-25276B85D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BCAD8-0768-EB04-0CF8-3A87CB6B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2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2626-B86B-5890-4547-35A61D8B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B3652-FC7B-09F4-B71F-DEA9CE140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07579-D47B-F330-56D9-EEE0EA47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0D749-5330-4A38-9C3C-C39201A98231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8A83C-3287-C909-C583-DE116699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1A7F4-F05A-C15F-5251-BBAD2835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3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6289-D3D7-FF24-DEC2-91505840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0A64F-D96B-9F03-7B32-A54FBED07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913F7-9E2C-99BB-0EC7-7186398AB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834C4-787B-5914-1C90-C44DC724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479A-FB37-4B49-8F43-28E59BFABF6F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5CA21-A8D9-44B3-0339-2EA6DB2C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054AE-5F83-B5D9-009E-BE651C04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2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9D3D-A697-D50D-8B82-00E261B4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BC9E5-5838-AB21-3E2B-B869FF03F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3FAD8-E3E5-CCAC-DE06-E43140860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A5E4AF-A6CC-9D2E-0E9E-239E10C6F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41515-3FB9-535A-2A79-4E03432DF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2C6D2-A62F-7128-AF07-70D2514A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2BBD-9A75-4351-A01C-8FD6F4966EC3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A2DE96-0173-3F94-50BD-00191BD3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C0044-D129-0C74-8C8C-25DBFEA2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9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FCBA-B4B3-7DDF-5C1B-96CC2219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DE2DB-C7ED-C6F3-3E7C-A378EDCDB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3F553-A31B-4611-A6A8-23A0CBE55812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DD51D1-EDC2-E5B8-4AE3-A2A8E85F3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38870-00F4-20AA-7597-1D40D83C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5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181BBD-330F-96D3-E84E-F3D4ADAC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6BA3-EFCE-40DC-A635-B151665BA0CE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17C34-A7E2-A633-A529-D99A8211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3EE02-9D05-5B9C-E26F-852474E8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56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AB5C-7156-583C-A3AA-F85B58701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3704-2076-657A-76D5-E8A0365BE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1D48B-54A0-C4DC-C42E-C4AF18399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D7FD1-8A90-E82A-9D8F-217504726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F0A-FEBE-43BD-9BDD-6FA7EAE9519C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BFE09-F6CF-3795-5F5D-825AEE72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CBC7E-CBC9-4744-7432-F61A3D06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71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078E-CACF-4826-9C88-6E1E555B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673B9-455B-43F8-974B-41F9D9B26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AB9E3-6BE0-3813-D53A-8A7A1277A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28014-6964-9BDE-25F6-DE79D873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74607-1451-495D-BC14-0C7C22D41C1D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033B5-2217-9761-75A7-8DF651D7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BC4BB-7AAF-20F0-A87E-1D77FA81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2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FE39-C90B-7FFC-C8C5-36C9C5CE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47D52-B9E9-8984-CE87-A9476593C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F3693-BB40-3849-B7CC-434D0685A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24527-3E55-43E0-A0B4-4DCB6FDA9A9D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A3EDF-E53F-EA4A-F200-7FFC6175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3E1A3-ADBF-A30F-4F79-08F04517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2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842988-7A9E-2C03-94D0-75638B56B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707EB-EEEC-48E7-A826-CAC447374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97387-924E-2A73-E05D-D030D9DB1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ECBDF-543A-4E72-93B6-8AAC73BA37E4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4BC12-0E13-45AB-3A0F-D8B99DA9F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852C6-9D0B-76CC-147E-F0A263C5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92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39141-7451-711C-9779-C31EF8D3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43394-51F5-A038-CB83-DBCD29604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528DF-53E4-EA2B-E223-CEE3C48D9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9D4CD-D703-4B3E-8D19-A15CF29AA6EE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ADF48-EC9E-DE53-9124-C5958C87B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D4A14-1A07-3643-25D4-8B834EAE8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65B8A-CAF7-4235-ADDE-AFB48A5BF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9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F40155-8C43-BF56-037E-68C5791FE2A3}"/>
              </a:ext>
            </a:extLst>
          </p:cNvPr>
          <p:cNvSpPr txBox="1"/>
          <p:nvPr/>
        </p:nvSpPr>
        <p:spPr>
          <a:xfrm>
            <a:off x="0" y="1657709"/>
            <a:ext cx="12192000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1"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1"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CSE 4000: Project/Thesis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9267C-A153-44A2-FB93-4221461D3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1" y="189385"/>
            <a:ext cx="1123950" cy="12755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A9E566-8AB1-E5C0-97A9-AB82F7A81707}"/>
              </a:ext>
            </a:extLst>
          </p:cNvPr>
          <p:cNvSpPr txBox="1"/>
          <p:nvPr/>
        </p:nvSpPr>
        <p:spPr>
          <a:xfrm>
            <a:off x="1504950" y="189385"/>
            <a:ext cx="10877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Khulna University of Engineering &amp; Technology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BFCB48-9EFC-BB67-CB05-5BC31D98E009}"/>
              </a:ext>
            </a:extLst>
          </p:cNvPr>
          <p:cNvSpPr txBox="1"/>
          <p:nvPr/>
        </p:nvSpPr>
        <p:spPr>
          <a:xfrm>
            <a:off x="2200274" y="835716"/>
            <a:ext cx="89249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9F9C2B-F04D-9557-C29D-995EF5BF3B1F}"/>
              </a:ext>
            </a:extLst>
          </p:cNvPr>
          <p:cNvSpPr txBox="1"/>
          <p:nvPr/>
        </p:nvSpPr>
        <p:spPr>
          <a:xfrm>
            <a:off x="0" y="2511824"/>
            <a:ext cx="126873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MULTI-AGENT SCHEDULING USING NON-COOPERATIVE </a:t>
            </a:r>
          </a:p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GAME THEORY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B700F8-572E-1A92-2264-39698B97A400}"/>
              </a:ext>
            </a:extLst>
          </p:cNvPr>
          <p:cNvSpPr txBox="1"/>
          <p:nvPr/>
        </p:nvSpPr>
        <p:spPr>
          <a:xfrm>
            <a:off x="1800226" y="4390160"/>
            <a:ext cx="3114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Supervised By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C78A45-12D8-E618-2FB9-E920CA8110C3}"/>
              </a:ext>
            </a:extLst>
          </p:cNvPr>
          <p:cNvSpPr txBox="1"/>
          <p:nvPr/>
        </p:nvSpPr>
        <p:spPr>
          <a:xfrm>
            <a:off x="442916" y="5114333"/>
            <a:ext cx="6834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Dr. Muhammad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Aminul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Haque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Akhand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Professor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Dept. of CSE, KUET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497AE1-1BC9-C451-6D60-593C0D240D2F}"/>
              </a:ext>
            </a:extLst>
          </p:cNvPr>
          <p:cNvSpPr txBox="1"/>
          <p:nvPr/>
        </p:nvSpPr>
        <p:spPr>
          <a:xfrm>
            <a:off x="6743700" y="4467104"/>
            <a:ext cx="4781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1A5F53-5ED0-5702-B6AF-7B01C1CFDD3C}"/>
              </a:ext>
            </a:extLst>
          </p:cNvPr>
          <p:cNvSpPr txBox="1"/>
          <p:nvPr/>
        </p:nvSpPr>
        <p:spPr>
          <a:xfrm>
            <a:off x="7953374" y="5183099"/>
            <a:ext cx="3571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Tirtho Mondal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Roll No: 2007117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CC67DE76-0C12-7DA9-815F-5427DF82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1B30D-2900-469D-B38D-AFF48B1A7CFD}" type="datetime1">
              <a:rPr lang="en-US" smtClean="0"/>
              <a:t>12/14/2025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B284147-974E-6ED0-3996-F5256172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86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E3F41-B94B-7C32-6A4C-99539A3EF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r>
              <a:rPr lang="en-US" sz="3600" b="1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EA4FB-95A9-6C20-553E-1FC36726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FC69-D971-4484-8183-3658FC5A774B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2D1B7-B9D5-8366-6770-4F0E6C26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486D6-178C-D398-6259-CF59DDDE3033}"/>
              </a:ext>
            </a:extLst>
          </p:cNvPr>
          <p:cNvSpPr txBox="1"/>
          <p:nvPr/>
        </p:nvSpPr>
        <p:spPr>
          <a:xfrm>
            <a:off x="1468120" y="1968252"/>
            <a:ext cx="4043680" cy="389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Introduction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Problem Statement</a:t>
            </a:r>
            <a:endParaRPr lang="en-US" sz="2800" b="1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Literature Review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Objectives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Background Study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5C32A-4F95-8A07-EA92-0A441E8B533A}"/>
              </a:ext>
            </a:extLst>
          </p:cNvPr>
          <p:cNvSpPr txBox="1"/>
          <p:nvPr/>
        </p:nvSpPr>
        <p:spPr>
          <a:xfrm>
            <a:off x="6680202" y="1968252"/>
            <a:ext cx="4765040" cy="324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Proposed Methodology</a:t>
            </a:r>
            <a:endParaRPr lang="en-US" sz="2800" b="0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 Plan</a:t>
            </a:r>
            <a:endParaRPr lang="en-US" sz="2800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endParaRPr lang="en-US" sz="2800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800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2800" b="0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41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CD3C-E913-4EBD-65AB-B2E27226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 </a:t>
            </a:r>
            <a:endParaRPr lang="en-US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C58B2F-EBC2-0578-541B-BFD42BA09804}"/>
              </a:ext>
            </a:extLst>
          </p:cNvPr>
          <p:cNvGrpSpPr/>
          <p:nvPr/>
        </p:nvGrpSpPr>
        <p:grpSpPr>
          <a:xfrm>
            <a:off x="7051078" y="1240955"/>
            <a:ext cx="4970808" cy="4690104"/>
            <a:chOff x="7048997" y="1221612"/>
            <a:chExt cx="4970808" cy="469010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4C456AE-E032-1A64-86F2-0CA138EC1CD8}"/>
                </a:ext>
              </a:extLst>
            </p:cNvPr>
            <p:cNvSpPr/>
            <p:nvPr/>
          </p:nvSpPr>
          <p:spPr>
            <a:xfrm>
              <a:off x="9048997" y="1221612"/>
              <a:ext cx="1068779" cy="938151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Agent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AB71C02-DE05-8B9F-BA9A-F9CC52111364}"/>
                </a:ext>
              </a:extLst>
            </p:cNvPr>
            <p:cNvSpPr/>
            <p:nvPr/>
          </p:nvSpPr>
          <p:spPr>
            <a:xfrm>
              <a:off x="7048997" y="3054926"/>
              <a:ext cx="1068779" cy="938151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Agent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B456254-53C5-E1DA-E80D-468863A008CF}"/>
                </a:ext>
              </a:extLst>
            </p:cNvPr>
            <p:cNvSpPr/>
            <p:nvPr/>
          </p:nvSpPr>
          <p:spPr>
            <a:xfrm>
              <a:off x="9048996" y="4973565"/>
              <a:ext cx="1068779" cy="938151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Agent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A246FD1-015E-C349-99D9-C51454EE594C}"/>
                </a:ext>
              </a:extLst>
            </p:cNvPr>
            <p:cNvSpPr/>
            <p:nvPr/>
          </p:nvSpPr>
          <p:spPr>
            <a:xfrm>
              <a:off x="10951026" y="3054926"/>
              <a:ext cx="1068779" cy="938151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Agent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FA23DE7-6ACE-99CD-3FE9-2669DF981F86}"/>
                </a:ext>
              </a:extLst>
            </p:cNvPr>
            <p:cNvSpPr/>
            <p:nvPr/>
          </p:nvSpPr>
          <p:spPr>
            <a:xfrm>
              <a:off x="8793676" y="2869192"/>
              <a:ext cx="1579418" cy="1325563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Shared Resources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125BDE4-0695-FFC8-202F-939BBB9EE3BE}"/>
                </a:ext>
              </a:extLst>
            </p:cNvPr>
            <p:cNvCxnSpPr>
              <a:stCxn id="8" idx="4"/>
              <a:endCxn id="12" idx="0"/>
            </p:cNvCxnSpPr>
            <p:nvPr/>
          </p:nvCxnSpPr>
          <p:spPr>
            <a:xfrm flipH="1">
              <a:off x="9583385" y="2159763"/>
              <a:ext cx="2" cy="70942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2E885D1-55E0-B159-E6CE-D5CEFDF31C7A}"/>
                </a:ext>
              </a:extLst>
            </p:cNvPr>
            <p:cNvCxnSpPr>
              <a:cxnSpLocks/>
              <a:stCxn id="9" idx="6"/>
              <a:endCxn id="12" idx="1"/>
            </p:cNvCxnSpPr>
            <p:nvPr/>
          </p:nvCxnSpPr>
          <p:spPr>
            <a:xfrm>
              <a:off x="8117776" y="3524002"/>
              <a:ext cx="675900" cy="797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223FA00-3B98-BCE1-2ACD-585BC9E01BF6}"/>
                </a:ext>
              </a:extLst>
            </p:cNvPr>
            <p:cNvCxnSpPr>
              <a:stCxn id="10" idx="0"/>
              <a:endCxn id="12" idx="2"/>
            </p:cNvCxnSpPr>
            <p:nvPr/>
          </p:nvCxnSpPr>
          <p:spPr>
            <a:xfrm flipH="1" flipV="1">
              <a:off x="9583385" y="4194755"/>
              <a:ext cx="1" cy="77881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8EDA974-9A2A-F9A7-E2C3-56209417F861}"/>
                </a:ext>
              </a:extLst>
            </p:cNvPr>
            <p:cNvCxnSpPr>
              <a:cxnSpLocks/>
              <a:stCxn id="11" idx="2"/>
              <a:endCxn id="12" idx="3"/>
            </p:cNvCxnSpPr>
            <p:nvPr/>
          </p:nvCxnSpPr>
          <p:spPr>
            <a:xfrm flipH="1">
              <a:off x="10373094" y="3524002"/>
              <a:ext cx="577932" cy="797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460809E8-7428-C1C3-321A-F754EE74C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0D81-D692-4B25-8EE2-B189D80F6ADB}" type="datetime1">
              <a:rPr lang="en-US" smtClean="0"/>
              <a:t>12/14/2025</a:t>
            </a:fld>
            <a:endParaRPr lang="en-US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D8953478-DAA8-D4EF-992D-EAE4A1535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231789-D01D-B157-B576-3BFFB20B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631" y="1664219"/>
            <a:ext cx="5522886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Conflicting goals arise in multi-agent scheduling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algorithms struggle with large, complex search spaces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changes frequently disrupt schedules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unified equilibrium-based solution exists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93228-3262-F74B-6965-FB5F7AEF798B}"/>
              </a:ext>
            </a:extLst>
          </p:cNvPr>
          <p:cNvSpPr txBox="1"/>
          <p:nvPr/>
        </p:nvSpPr>
        <p:spPr>
          <a:xfrm>
            <a:off x="6538252" y="6066755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1: Multi-Agent System with Shared Resources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36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8098-9D4D-F741-1FC6-61554C2E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696" y="3294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A45B22-8766-0604-8406-474D04AA2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25" y="2301601"/>
            <a:ext cx="4286753" cy="3181723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7FAA1F8F-9E1C-906A-F67F-35B2BAD6E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409" y="2181952"/>
            <a:ext cx="6404291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NP-hard scheduling problem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UCS, CVRP, or NRP)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Scheduling involves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conflicts among multiple agents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Find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efficient, fair, and stable solution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game theory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78C7C36-D824-8098-2959-782FA492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CBF-A706-4784-8042-158774F462E8}" type="datetime1">
              <a:rPr lang="en-US" smtClean="0"/>
              <a:t>12/14/2025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041CE3C-E093-5D75-883C-F11994F2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18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A9D0-FFC0-0A50-939C-9E94BFED0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3E1E2-A65D-C37A-3282-512B8D8D7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3F553-A31B-4611-A6A8-23A0CBE55812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7799B-462B-6721-25BC-5B02AA9F8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5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94F3F31-254F-AA3E-BAE2-7F61EB01A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322" y="4913262"/>
            <a:ext cx="107284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Gap: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existing solution uses non-cooperative game theory to achieve stable, conflict-free scheduling.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7F48E75-23FD-F838-7692-55C49D441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322" y="1310313"/>
            <a:ext cx="1088874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methods (GA, SA, PSO) are centralized and struggle with large NP-hard problems.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Multi-agent scheduling improves scalability but often lacks stability.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Game-theoretic approaches mostly handle static or limited cases.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Evolutionary game-based methods aid real-time and efficient scheduling.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NRP and similar problems(CVRP, UCSP) are studied separately without a unified approach.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4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Objective Images - Free Download on Freepik">
            <a:extLst>
              <a:ext uri="{FF2B5EF4-FFF2-40B4-BE49-F238E27FC236}">
                <a16:creationId xmlns:a16="http://schemas.microsoft.com/office/drawing/2014/main" id="{B8D00197-7420-6F36-A01D-EDD8FC5A1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3149"/>
            <a:ext cx="3123210" cy="312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828B9E-1597-2327-6BB8-28484E1E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22122-1F43-E254-1BBD-8DB9DB1E2A8E}"/>
              </a:ext>
            </a:extLst>
          </p:cNvPr>
          <p:cNvSpPr txBox="1"/>
          <p:nvPr/>
        </p:nvSpPr>
        <p:spPr>
          <a:xfrm>
            <a:off x="3585854" y="2256542"/>
            <a:ext cx="8455726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Global Objective:</a:t>
            </a:r>
            <a:endParaRPr lang="en-US" sz="2400" dirty="0"/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Develop a </a:t>
            </a:r>
            <a:r>
              <a:rPr lang="en-US" sz="2400" b="1" dirty="0"/>
              <a:t>multi-agent scheduling solution</a:t>
            </a:r>
          </a:p>
          <a:p>
            <a:pPr lvl="1"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b="1" dirty="0"/>
              <a:t>Specific Objectives: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Model the problem as a </a:t>
            </a:r>
            <a:r>
              <a:rPr lang="en-US" sz="2400" b="1" dirty="0"/>
              <a:t>non-cooperative game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Define </a:t>
            </a:r>
            <a:r>
              <a:rPr lang="en-US" sz="2400" b="1" dirty="0"/>
              <a:t>strategies &amp; payoffs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Find </a:t>
            </a:r>
            <a:r>
              <a:rPr lang="en-US" sz="2400" b="1" dirty="0"/>
              <a:t>Nash Equilibrium</a:t>
            </a: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B11C2-89E0-58B5-729A-9914B0EA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B876C-FE80-4613-9E94-C6EF04C82686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31CF8-F102-BDD0-7734-A53ACE74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59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8B9E-1597-2327-6BB8-28484E1E9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53" y="9588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Background Study</a:t>
            </a:r>
          </a:p>
        </p:txBody>
      </p:sp>
      <p:pic>
        <p:nvPicPr>
          <p:cNvPr id="3" name="Picture 2" descr="What is the Background of a Study and How Should it be Written? | Elsevier  Author Services">
            <a:extLst>
              <a:ext uri="{FF2B5EF4-FFF2-40B4-BE49-F238E27FC236}">
                <a16:creationId xmlns:a16="http://schemas.microsoft.com/office/drawing/2014/main" id="{472B4A0B-4AFF-C86A-D7B6-66EBB2499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844" y="2399680"/>
            <a:ext cx="6185818" cy="300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8A070-ADE6-3A44-A1C3-C929BC41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60C3-AF68-41D8-A678-9F10AD2E4A19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890A9-EC83-6F67-E2A0-5617CA75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6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AB305EFF-4724-4130-A7F6-622B9DD935F4}"/>
              </a:ext>
            </a:extLst>
          </p:cNvPr>
          <p:cNvSpPr/>
          <p:nvPr/>
        </p:nvSpPr>
        <p:spPr>
          <a:xfrm>
            <a:off x="8488221" y="2965863"/>
            <a:ext cx="2119076" cy="19514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ACD3C-E913-4EBD-65AB-B2E27226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Multi-Agent Scheduling?</a:t>
            </a:r>
            <a:endParaRPr lang="en-US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C58B2F-EBC2-0578-541B-BFD42BA09804}"/>
              </a:ext>
            </a:extLst>
          </p:cNvPr>
          <p:cNvGrpSpPr/>
          <p:nvPr/>
        </p:nvGrpSpPr>
        <p:grpSpPr>
          <a:xfrm>
            <a:off x="7013371" y="1621733"/>
            <a:ext cx="4970808" cy="4690104"/>
            <a:chOff x="7048997" y="1221612"/>
            <a:chExt cx="4970808" cy="469010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4C456AE-E032-1A64-86F2-0CA138EC1CD8}"/>
                </a:ext>
              </a:extLst>
            </p:cNvPr>
            <p:cNvSpPr/>
            <p:nvPr/>
          </p:nvSpPr>
          <p:spPr>
            <a:xfrm>
              <a:off x="9048997" y="1221612"/>
              <a:ext cx="1068779" cy="938151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Agent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AB71C02-DE05-8B9F-BA9A-F9CC52111364}"/>
                </a:ext>
              </a:extLst>
            </p:cNvPr>
            <p:cNvSpPr/>
            <p:nvPr/>
          </p:nvSpPr>
          <p:spPr>
            <a:xfrm>
              <a:off x="7048997" y="3054926"/>
              <a:ext cx="1068779" cy="938151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Agent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B456254-53C5-E1DA-E80D-468863A008CF}"/>
                </a:ext>
              </a:extLst>
            </p:cNvPr>
            <p:cNvSpPr/>
            <p:nvPr/>
          </p:nvSpPr>
          <p:spPr>
            <a:xfrm>
              <a:off x="9048996" y="4973565"/>
              <a:ext cx="1068779" cy="938151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Agent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A246FD1-015E-C349-99D9-C51454EE594C}"/>
                </a:ext>
              </a:extLst>
            </p:cNvPr>
            <p:cNvSpPr/>
            <p:nvPr/>
          </p:nvSpPr>
          <p:spPr>
            <a:xfrm>
              <a:off x="10951026" y="3054926"/>
              <a:ext cx="1068779" cy="938151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Agent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FA23DE7-6ACE-99CD-3FE9-2669DF981F86}"/>
                </a:ext>
              </a:extLst>
            </p:cNvPr>
            <p:cNvSpPr/>
            <p:nvPr/>
          </p:nvSpPr>
          <p:spPr>
            <a:xfrm>
              <a:off x="8793676" y="2869192"/>
              <a:ext cx="1579418" cy="1325563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Shared Resources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125BDE4-0695-FFC8-202F-939BBB9EE3BE}"/>
                </a:ext>
              </a:extLst>
            </p:cNvPr>
            <p:cNvCxnSpPr>
              <a:stCxn id="8" idx="4"/>
              <a:endCxn id="12" idx="0"/>
            </p:cNvCxnSpPr>
            <p:nvPr/>
          </p:nvCxnSpPr>
          <p:spPr>
            <a:xfrm flipH="1">
              <a:off x="9583385" y="2159763"/>
              <a:ext cx="2" cy="70942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2E885D1-55E0-B159-E6CE-D5CEFDF31C7A}"/>
                </a:ext>
              </a:extLst>
            </p:cNvPr>
            <p:cNvCxnSpPr>
              <a:cxnSpLocks/>
              <a:stCxn id="9" idx="6"/>
              <a:endCxn id="12" idx="1"/>
            </p:cNvCxnSpPr>
            <p:nvPr/>
          </p:nvCxnSpPr>
          <p:spPr>
            <a:xfrm>
              <a:off x="8117776" y="3524002"/>
              <a:ext cx="675900" cy="797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223FA00-3B98-BCE1-2ACD-585BC9E01BF6}"/>
                </a:ext>
              </a:extLst>
            </p:cNvPr>
            <p:cNvCxnSpPr>
              <a:stCxn id="10" idx="0"/>
              <a:endCxn id="12" idx="2"/>
            </p:cNvCxnSpPr>
            <p:nvPr/>
          </p:nvCxnSpPr>
          <p:spPr>
            <a:xfrm flipH="1" flipV="1">
              <a:off x="9583385" y="4194755"/>
              <a:ext cx="1" cy="77881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8EDA974-9A2A-F9A7-E2C3-56209417F861}"/>
                </a:ext>
              </a:extLst>
            </p:cNvPr>
            <p:cNvCxnSpPr>
              <a:cxnSpLocks/>
              <a:stCxn id="11" idx="2"/>
              <a:endCxn id="12" idx="3"/>
            </p:cNvCxnSpPr>
            <p:nvPr/>
          </p:nvCxnSpPr>
          <p:spPr>
            <a:xfrm flipH="1">
              <a:off x="10373094" y="3524002"/>
              <a:ext cx="577932" cy="797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B2EE75-0663-4356-0010-16D5C65B845E}"/>
              </a:ext>
            </a:extLst>
          </p:cNvPr>
          <p:cNvCxnSpPr>
            <a:cxnSpLocks/>
            <a:stCxn id="7" idx="2"/>
            <a:endCxn id="3" idx="7"/>
          </p:cNvCxnSpPr>
          <p:nvPr/>
        </p:nvCxnSpPr>
        <p:spPr>
          <a:xfrm flipH="1">
            <a:off x="10296966" y="2643253"/>
            <a:ext cx="863858" cy="6083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A1B2CA-F2F7-77E2-5A83-95AA442EC44E}"/>
              </a:ext>
            </a:extLst>
          </p:cNvPr>
          <p:cNvSpPr/>
          <p:nvPr/>
        </p:nvSpPr>
        <p:spPr>
          <a:xfrm>
            <a:off x="10337468" y="2392302"/>
            <a:ext cx="1646711" cy="250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Conflict arises</a:t>
            </a: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24625D49-BCB2-C75F-7B12-2B91E0FB4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661" y="2172533"/>
            <a:ext cx="6154392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Scheduling tasks among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independent agents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agent has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 own goals and preferences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Conflicts arise when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 are shared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8EB32524-4F19-D8C6-974C-9CF025DC2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F757C-1459-410E-8C5D-4A0C0789C2D6}" type="datetime1">
              <a:rPr lang="en-US" smtClean="0"/>
              <a:t>12/14/2025</a:t>
            </a:fld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A5EA916-04D4-6A28-C792-99FEA9D7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C2AFF6-C8C5-ED21-68B9-41B17F49992C}"/>
              </a:ext>
            </a:extLst>
          </p:cNvPr>
          <p:cNvSpPr txBox="1"/>
          <p:nvPr/>
        </p:nvSpPr>
        <p:spPr>
          <a:xfrm>
            <a:off x="6934986" y="6242882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2: Multi-Agent Resource </a:t>
            </a:r>
            <a:r>
              <a:rPr lang="fr-FR" sz="1600" i="0" dirty="0" err="1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Competition</a:t>
            </a:r>
            <a:r>
              <a:rPr lang="fr-FR" sz="160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261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8B9E-1597-2327-6BB8-28484E1E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What is Game Theory?</a:t>
            </a:r>
          </a:p>
        </p:txBody>
      </p:sp>
      <p:pic>
        <p:nvPicPr>
          <p:cNvPr id="2050" name="Picture 2" descr="Tic Tac Toe Board Game ,Tic Tac Toe ...">
            <a:extLst>
              <a:ext uri="{FF2B5EF4-FFF2-40B4-BE49-F238E27FC236}">
                <a16:creationId xmlns:a16="http://schemas.microsoft.com/office/drawing/2014/main" id="{62DED08C-52F2-0843-A67F-367DD565E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729" y="2196266"/>
            <a:ext cx="4312197" cy="325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3BCC7C5F-EA30-A761-8477-51FD200FF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29" y="1874957"/>
            <a:ext cx="7048500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trategic decision-making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among multiple agents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 depends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choices of all players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player tries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maximize their own benefit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and analyze conflicts and cooperation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67E77-031F-C897-1E5E-D4778A0D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B99D-FA1F-46C9-94B9-0C564BCFC2F8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4FB1D-88E7-0623-81CD-C06EAC004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93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7C4B7-6AA1-4D3C-7F81-64717D3A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Strategies &amp; Payoffs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0" name="Picture 2" descr="180+ Antique Weighing Scales Cartoon Stock Illustrations, Royalty-Free  Vector Graphics &amp; Clip Art - iStock">
            <a:extLst>
              <a:ext uri="{FF2B5EF4-FFF2-40B4-BE49-F238E27FC236}">
                <a16:creationId xmlns:a16="http://schemas.microsoft.com/office/drawing/2014/main" id="{0B1E288C-59C8-22A8-1BD1-171A497A1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05" y="2339440"/>
            <a:ext cx="3131980" cy="271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FA2B3F40-5F27-059A-1480-5762397A8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2623" y="2752795"/>
            <a:ext cx="7053944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Plan of action a player can choose.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Payoff: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Reward/outcome based on all players’ choices.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810DB-C1FB-3377-85E8-64AC4300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3C01-8EA9-45C1-A9FA-80F1AE4CF6C7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551F3-BF7F-044D-A40D-F1E83E65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18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8B9E-1597-2327-6BB8-28484E1E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Nash Equilibrium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8B584E1-9614-EB8F-E0DC-C561EEB25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1" y="1855168"/>
            <a:ext cx="6781799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situation in a game where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player can improve their payoff by changing their strategy alone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Every player’s choice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optimal given the choices of others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Represents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stable state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multi-agent interactions</a:t>
            </a:r>
          </a:p>
        </p:txBody>
      </p:sp>
      <p:pic>
        <p:nvPicPr>
          <p:cNvPr id="3077" name="Picture 5" descr="The response curve and the Nash Equilibrium  ">
            <a:extLst>
              <a:ext uri="{FF2B5EF4-FFF2-40B4-BE49-F238E27FC236}">
                <a16:creationId xmlns:a16="http://schemas.microsoft.com/office/drawing/2014/main" id="{900A30E9-A85D-8486-46C3-F84843CD9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914" y="3725439"/>
            <a:ext cx="3111971" cy="27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EC060-86B2-4CC5-0809-A020E9FE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9696-F372-47B4-A379-C8B5F865136E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F37BF-139B-BEE3-7943-E7A58F06A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11</a:t>
            </a:fld>
            <a:endParaRPr lang="en-US"/>
          </a:p>
        </p:txBody>
      </p:sp>
      <p:pic>
        <p:nvPicPr>
          <p:cNvPr id="5122" name="Picture 2" descr="John Nash | Biography, Game Theory, Nobel Prize, &amp; Facts | Britannica">
            <a:extLst>
              <a:ext uri="{FF2B5EF4-FFF2-40B4-BE49-F238E27FC236}">
                <a16:creationId xmlns:a16="http://schemas.microsoft.com/office/drawing/2014/main" id="{0DD50C67-BCD3-EC37-CAEC-199F44E46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6416" y="252904"/>
            <a:ext cx="2848469" cy="3204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A7407F-7A5A-D738-6AF6-89A8BF2CBE9B}"/>
              </a:ext>
            </a:extLst>
          </p:cNvPr>
          <p:cNvSpPr txBox="1"/>
          <p:nvPr/>
        </p:nvSpPr>
        <p:spPr>
          <a:xfrm>
            <a:off x="7972914" y="6492875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3:Nash Equilibrium Diagram</a:t>
            </a:r>
          </a:p>
        </p:txBody>
      </p:sp>
    </p:spTree>
    <p:extLst>
      <p:ext uri="{BB962C8B-B14F-4D97-AF65-F5344CB8AC3E}">
        <p14:creationId xmlns:p14="http://schemas.microsoft.com/office/powerpoint/2010/main" val="359897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C42BC14E-AC8E-D3C7-305C-026B7E52E594}"/>
              </a:ext>
            </a:extLst>
          </p:cNvPr>
          <p:cNvSpPr/>
          <p:nvPr/>
        </p:nvSpPr>
        <p:spPr>
          <a:xfrm>
            <a:off x="9583387" y="4168239"/>
            <a:ext cx="1021278" cy="605642"/>
          </a:xfrm>
          <a:prstGeom prst="ellipse">
            <a:avLst/>
          </a:prstGeom>
          <a:solidFill>
            <a:schemeClr val="lt1"/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28B9E-1597-2327-6BB8-28484E1E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Non-Cooperative Game 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D97E6F7-391E-4FEF-D174-226654F31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61" y="1773922"/>
            <a:ext cx="6103916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 independently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maximize their own payoff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binding agreements or collaboration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players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is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behavior and competition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in situations where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 compete for shared resources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B4EFA7-7B3F-C1A9-227E-4885CDA6F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141274"/>
              </p:ext>
            </p:extLst>
          </p:nvPr>
        </p:nvGraphicFramePr>
        <p:xfrm>
          <a:off x="6923315" y="2519567"/>
          <a:ext cx="5121300" cy="303579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03121">
                  <a:extLst>
                    <a:ext uri="{9D8B030D-6E8A-4147-A177-3AD203B41FA5}">
                      <a16:colId xmlns:a16="http://schemas.microsoft.com/office/drawing/2014/main" val="1882118830"/>
                    </a:ext>
                  </a:extLst>
                </a:gridCol>
                <a:gridCol w="928945">
                  <a:extLst>
                    <a:ext uri="{9D8B030D-6E8A-4147-A177-3AD203B41FA5}">
                      <a16:colId xmlns:a16="http://schemas.microsoft.com/office/drawing/2014/main" val="474180639"/>
                    </a:ext>
                  </a:extLst>
                </a:gridCol>
                <a:gridCol w="1294617">
                  <a:extLst>
                    <a:ext uri="{9D8B030D-6E8A-4147-A177-3AD203B41FA5}">
                      <a16:colId xmlns:a16="http://schemas.microsoft.com/office/drawing/2014/main" val="2529335358"/>
                    </a:ext>
                  </a:extLst>
                </a:gridCol>
                <a:gridCol w="1294617">
                  <a:extLst>
                    <a:ext uri="{9D8B030D-6E8A-4147-A177-3AD203B41FA5}">
                      <a16:colId xmlns:a16="http://schemas.microsoft.com/office/drawing/2014/main" val="917793994"/>
                    </a:ext>
                  </a:extLst>
                </a:gridCol>
              </a:tblGrid>
              <a:tr h="678783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/>
                        <a:t>profits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/>
                        <a:t>(in $ millions) 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B0F0"/>
                          </a:solidFill>
                          <a:effectLst/>
                        </a:rPr>
                        <a:t>Company A</a:t>
                      </a:r>
                      <a:endParaRPr lang="en-US" sz="2400" kern="100" dirty="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067873"/>
                  </a:ext>
                </a:extLst>
              </a:tr>
              <a:tr h="83911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Build New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 NO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9487893"/>
                  </a:ext>
                </a:extLst>
              </a:tr>
              <a:tr h="83911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B050"/>
                          </a:solidFill>
                          <a:effectLst/>
                        </a:rPr>
                        <a:t>Company B</a:t>
                      </a:r>
                      <a:endParaRPr lang="en-US" sz="2400" kern="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Build New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B050"/>
                          </a:solidFill>
                          <a:effectLst/>
                        </a:rPr>
                        <a:t>16</a:t>
                      </a:r>
                      <a:r>
                        <a:rPr lang="en-US" sz="2400" kern="100" dirty="0">
                          <a:effectLst/>
                        </a:rPr>
                        <a:t>,</a:t>
                      </a:r>
                      <a:r>
                        <a:rPr lang="en-US" sz="2400" kern="100" dirty="0">
                          <a:solidFill>
                            <a:srgbClr val="00B0F0"/>
                          </a:solidFill>
                          <a:effectLst/>
                        </a:rPr>
                        <a:t>16</a:t>
                      </a: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B050"/>
                          </a:solidFill>
                          <a:effectLst/>
                        </a:rPr>
                        <a:t>20</a:t>
                      </a:r>
                      <a:r>
                        <a:rPr lang="en-US" sz="2400" kern="100" dirty="0">
                          <a:effectLst/>
                        </a:rPr>
                        <a:t>,</a:t>
                      </a:r>
                      <a:r>
                        <a:rPr lang="en-US" sz="2400" kern="100" dirty="0">
                          <a:solidFill>
                            <a:srgbClr val="00B0F0"/>
                          </a:solidFill>
                          <a:effectLst/>
                        </a:rPr>
                        <a:t>15</a:t>
                      </a: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1192919"/>
                  </a:ext>
                </a:extLst>
              </a:tr>
              <a:tr h="6787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No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B050"/>
                          </a:solidFill>
                          <a:effectLst/>
                        </a:rPr>
                        <a:t>15</a:t>
                      </a:r>
                      <a:r>
                        <a:rPr lang="en-US" sz="2400" kern="100" dirty="0">
                          <a:effectLst/>
                        </a:rPr>
                        <a:t>,</a:t>
                      </a:r>
                      <a:r>
                        <a:rPr lang="en-US" sz="2400" kern="100" dirty="0">
                          <a:solidFill>
                            <a:srgbClr val="00B0F0"/>
                          </a:solidFill>
                          <a:effectLst/>
                        </a:rPr>
                        <a:t>20</a:t>
                      </a: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B050"/>
                          </a:solidFill>
                          <a:effectLst/>
                        </a:rPr>
                        <a:t>18</a:t>
                      </a:r>
                      <a:r>
                        <a:rPr lang="en-US" sz="2400" kern="100" dirty="0">
                          <a:effectLst/>
                        </a:rPr>
                        <a:t>,</a:t>
                      </a:r>
                      <a:r>
                        <a:rPr lang="en-US" sz="2400" kern="100" dirty="0">
                          <a:solidFill>
                            <a:srgbClr val="00B0F0"/>
                          </a:solidFill>
                          <a:effectLst/>
                        </a:rPr>
                        <a:t>18</a:t>
                      </a: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1506480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4CDBF5-D820-0FAB-F5F6-68C166F3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3EFE2-2FDE-4B9A-B729-B9F1140858C4}" type="datetime1">
              <a:rPr lang="en-US" smtClean="0"/>
              <a:t>12/14/2025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8408C-DEA5-7C9E-F51F-0C41EF48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71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3E33-FC4A-CB47-4A7C-4D94C667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Scheduling Problems</a:t>
            </a:r>
            <a:endParaRPr lang="en-US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37E043-262D-3A3F-938C-40F09A0A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3F553-A31B-4611-A6A8-23A0CBE55812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0F77F-C894-41FE-53B1-7A5A0B04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3ED924-9CA3-CF59-8479-ED5E0F6DF2DA}"/>
              </a:ext>
            </a:extLst>
          </p:cNvPr>
          <p:cNvSpPr txBox="1"/>
          <p:nvPr/>
        </p:nvSpPr>
        <p:spPr>
          <a:xfrm>
            <a:off x="4851400" y="2235879"/>
            <a:ext cx="6903720" cy="293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Three NP-hard problems considered are: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Nurse Rostering Problem (NRP)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University Class Scheduling Problem (UCSP)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Capacitated Vehicle Routing Problem (CVRP)</a:t>
            </a:r>
          </a:p>
        </p:txBody>
      </p:sp>
      <p:sp>
        <p:nvSpPr>
          <p:cNvPr id="10" name="AutoShape 3" descr="Plan Schedule Vector Hd PNG Images, Schedule People Planning Time ...">
            <a:extLst>
              <a:ext uri="{FF2B5EF4-FFF2-40B4-BE49-F238E27FC236}">
                <a16:creationId xmlns:a16="http://schemas.microsoft.com/office/drawing/2014/main" id="{E114BCB5-53F3-78E3-4648-B140B29B1E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1" name="Picture 5" descr="Keeping a Schedule - Me Plus More">
            <a:extLst>
              <a:ext uri="{FF2B5EF4-FFF2-40B4-BE49-F238E27FC236}">
                <a16:creationId xmlns:a16="http://schemas.microsoft.com/office/drawing/2014/main" id="{2692469D-777B-C66E-995E-1F986723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" y="1690688"/>
            <a:ext cx="4234180" cy="423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23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53B2-4E38-D0AD-54BD-199637DD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50" y="136525"/>
            <a:ext cx="116713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NRP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1BF4AB-ECA0-DF22-6A0D-0FCB38ED4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450015"/>
              </p:ext>
            </p:extLst>
          </p:nvPr>
        </p:nvGraphicFramePr>
        <p:xfrm>
          <a:off x="453390" y="1322706"/>
          <a:ext cx="7390130" cy="5144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0715">
                  <a:extLst>
                    <a:ext uri="{9D8B030D-6E8A-4147-A177-3AD203B41FA5}">
                      <a16:colId xmlns:a16="http://schemas.microsoft.com/office/drawing/2014/main" val="3427749694"/>
                    </a:ext>
                  </a:extLst>
                </a:gridCol>
                <a:gridCol w="5209415">
                  <a:extLst>
                    <a:ext uri="{9D8B030D-6E8A-4147-A177-3AD203B41FA5}">
                      <a16:colId xmlns:a16="http://schemas.microsoft.com/office/drawing/2014/main" val="2393390997"/>
                    </a:ext>
                  </a:extLst>
                </a:gridCol>
              </a:tblGrid>
              <a:tr h="826418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 nurses to shifts efficiently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2651892"/>
                  </a:ext>
                </a:extLst>
              </a:tr>
              <a:tr h="826418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Nurses, Shifts, Days, Departments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62690"/>
                  </a:ext>
                </a:extLst>
              </a:tr>
              <a:tr h="1522348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Max/min working hours, rest periods, skill coverage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982439"/>
                  </a:ext>
                </a:extLst>
              </a:tr>
              <a:tr h="984636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 Rules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Nurse preferences, balanced workload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011731"/>
                  </a:ext>
                </a:extLst>
              </a:tr>
              <a:tr h="984636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Feasible, fair, and preference-satisfying roster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44191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F1A04-806D-D78C-379C-0ED0D12BC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CE74-A3F7-496D-A8F1-3D4B40DB6AC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9BF45-FE2F-33B0-2481-CDDC42D95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26E76F-9D08-E7DE-4180-B83D15774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440" y="1322706"/>
            <a:ext cx="4607560" cy="503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33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8B9E-1597-2327-6BB8-28484E1E9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46372"/>
            <a:ext cx="113538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UCSP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4DCCF3-5EAA-7B17-37BD-1EB641BAA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24033"/>
              </p:ext>
            </p:extLst>
          </p:nvPr>
        </p:nvGraphicFramePr>
        <p:xfrm>
          <a:off x="529441" y="1490151"/>
          <a:ext cx="11243459" cy="455104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605645">
                  <a:extLst>
                    <a:ext uri="{9D8B030D-6E8A-4147-A177-3AD203B41FA5}">
                      <a16:colId xmlns:a16="http://schemas.microsoft.com/office/drawing/2014/main" val="1829468466"/>
                    </a:ext>
                  </a:extLst>
                </a:gridCol>
                <a:gridCol w="8637814">
                  <a:extLst>
                    <a:ext uri="{9D8B030D-6E8A-4147-A177-3AD203B41FA5}">
                      <a16:colId xmlns:a16="http://schemas.microsoft.com/office/drawing/2014/main" val="4294654755"/>
                    </a:ext>
                  </a:extLst>
                </a:gridCol>
              </a:tblGrid>
              <a:tr h="104837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b="1" dirty="0"/>
                        <a:t>Objective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dirty="0"/>
                        <a:t>Assign courses, teachers, and students to time slots &amp; rooms conflict-free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626779"/>
                  </a:ext>
                </a:extLst>
              </a:tr>
              <a:tr h="5352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b="1" dirty="0"/>
                        <a:t>Components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dirty="0"/>
                        <a:t>Courses, Teachers, Students, Rooms, Time Slots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955206"/>
                  </a:ext>
                </a:extLst>
              </a:tr>
              <a:tr h="5352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b="1"/>
                        <a:t>Hard Constraints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dirty="0"/>
                        <a:t>No overlaps, room capacity, specific room requirements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607483"/>
                  </a:ext>
                </a:extLst>
              </a:tr>
              <a:tr h="104837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b="1" dirty="0"/>
                        <a:t>Soft Constraints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dirty="0"/>
                        <a:t>Preferred time slots, minimize gaps, spread courses evenly, department rules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680404"/>
                  </a:ext>
                </a:extLst>
              </a:tr>
              <a:tr h="104837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b="1"/>
                        <a:t>Goals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dirty="0"/>
                        <a:t>Conflict-free timetable, preference satisfaction, efficient resource use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494511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17D82-E6EB-FF60-0393-9934940B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8515-AB9D-46D6-9F02-F97272E0A722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623C9-20F9-2794-621E-A8ADB085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37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8B9E-1597-2327-6BB8-28484E1E9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46372"/>
            <a:ext cx="113538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CVRP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4DCCF3-5EAA-7B17-37BD-1EB641BAA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550654"/>
              </p:ext>
            </p:extLst>
          </p:nvPr>
        </p:nvGraphicFramePr>
        <p:xfrm>
          <a:off x="529441" y="1717048"/>
          <a:ext cx="11243459" cy="426465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605645">
                  <a:extLst>
                    <a:ext uri="{9D8B030D-6E8A-4147-A177-3AD203B41FA5}">
                      <a16:colId xmlns:a16="http://schemas.microsoft.com/office/drawing/2014/main" val="1829468466"/>
                    </a:ext>
                  </a:extLst>
                </a:gridCol>
                <a:gridCol w="8637814">
                  <a:extLst>
                    <a:ext uri="{9D8B030D-6E8A-4147-A177-3AD203B41FA5}">
                      <a16:colId xmlns:a16="http://schemas.microsoft.com/office/drawing/2014/main" val="4294654755"/>
                    </a:ext>
                  </a:extLst>
                </a:gridCol>
              </a:tblGrid>
              <a:tr h="6280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Optimize vehicle routes to serve all customers efficiently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955206"/>
                  </a:ext>
                </a:extLst>
              </a:tr>
              <a:tr h="6280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Vehicles, Customers, Depot, Demand, Vehicle capacity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607483"/>
                  </a:ext>
                </a:extLst>
              </a:tr>
              <a:tr h="12301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 Constraints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Capacity limits, each customer visited once, routes start/end at depot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680404"/>
                  </a:ext>
                </a:extLst>
              </a:tr>
              <a:tr h="115051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 Constraints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Minimize distance, balance workload, preferred routes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494511"/>
                  </a:ext>
                </a:extLst>
              </a:tr>
              <a:tr h="6280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Efficient, cost-effective, timely deliveries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23934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548C5-A662-2CCD-9E2F-BFD70B48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F4FF-09CE-4B33-899A-72F77307A75E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4E8F9-7767-4191-962C-6B6C8336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59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D970D-452D-7831-5B7E-CF3BC02CB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0304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4BD341-09DF-843C-984B-50452257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3F553-A31B-4611-A6A8-23A0CBE55812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57EAE-29A8-7D38-FB74-1BA42E76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17</a:t>
            </a:fld>
            <a:endParaRPr lang="en-US"/>
          </a:p>
        </p:txBody>
      </p:sp>
      <p:pic>
        <p:nvPicPr>
          <p:cNvPr id="3074" name="Picture 2" descr="Methodology icon and logo for effective research">
            <a:extLst>
              <a:ext uri="{FF2B5EF4-FFF2-40B4-BE49-F238E27FC236}">
                <a16:creationId xmlns:a16="http://schemas.microsoft.com/office/drawing/2014/main" id="{A6EB7EA2-E1A7-353E-000C-66381B07A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680" y="2828608"/>
            <a:ext cx="3662680" cy="366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009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447A-FD12-4D55-8D3D-66BA352B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Multi-Agent Architecture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51E05F9-0FC4-269C-0151-26BAE2B4A176}"/>
              </a:ext>
            </a:extLst>
          </p:cNvPr>
          <p:cNvGrpSpPr/>
          <p:nvPr/>
        </p:nvGrpSpPr>
        <p:grpSpPr>
          <a:xfrm>
            <a:off x="466725" y="2505075"/>
            <a:ext cx="11429998" cy="2228880"/>
            <a:chOff x="466725" y="2505075"/>
            <a:chExt cx="11429998" cy="222888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26F7244-9C37-E2ED-4CCF-8B2235634C3A}"/>
                </a:ext>
              </a:extLst>
            </p:cNvPr>
            <p:cNvSpPr/>
            <p:nvPr/>
          </p:nvSpPr>
          <p:spPr>
            <a:xfrm>
              <a:off x="2914648" y="2994363"/>
              <a:ext cx="2305051" cy="672584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Decision-making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C127488-BEEF-5B81-9639-28C1FE120064}"/>
                </a:ext>
              </a:extLst>
            </p:cNvPr>
            <p:cNvSpPr txBox="1"/>
            <p:nvPr/>
          </p:nvSpPr>
          <p:spPr>
            <a:xfrm>
              <a:off x="666750" y="2705100"/>
              <a:ext cx="14179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Preferences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C3833A-7C9B-B0A2-B20C-B15821142F97}"/>
                </a:ext>
              </a:extLst>
            </p:cNvPr>
            <p:cNvSpPr txBox="1"/>
            <p:nvPr/>
          </p:nvSpPr>
          <p:spPr>
            <a:xfrm>
              <a:off x="666750" y="3659744"/>
              <a:ext cx="13619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Constraints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9880CEE-4F13-27C8-4E63-2252BB962347}"/>
                </a:ext>
              </a:extLst>
            </p:cNvPr>
            <p:cNvCxnSpPr>
              <a:cxnSpLocks/>
              <a:stCxn id="4" idx="3"/>
              <a:endCxn id="3" idx="1"/>
            </p:cNvCxnSpPr>
            <p:nvPr/>
          </p:nvCxnSpPr>
          <p:spPr>
            <a:xfrm>
              <a:off x="2084702" y="2905155"/>
              <a:ext cx="829946" cy="4255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898E676-1D56-E4D6-B5BC-4C2C5795054E}"/>
                </a:ext>
              </a:extLst>
            </p:cNvPr>
            <p:cNvCxnSpPr>
              <a:cxnSpLocks/>
              <a:stCxn id="5" idx="3"/>
              <a:endCxn id="3" idx="1"/>
            </p:cNvCxnSpPr>
            <p:nvPr/>
          </p:nvCxnSpPr>
          <p:spPr>
            <a:xfrm flipV="1">
              <a:off x="2028726" y="3330655"/>
              <a:ext cx="885922" cy="529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2E28D0-8B6E-1088-41A9-9444099AC744}"/>
                </a:ext>
              </a:extLst>
            </p:cNvPr>
            <p:cNvSpPr/>
            <p:nvPr/>
          </p:nvSpPr>
          <p:spPr>
            <a:xfrm>
              <a:off x="5924550" y="2987161"/>
              <a:ext cx="1876426" cy="67258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Strategy update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AF5E7B1-F442-4FE7-D015-327A6E790A87}"/>
                </a:ext>
              </a:extLst>
            </p:cNvPr>
            <p:cNvCxnSpPr>
              <a:cxnSpLocks/>
              <a:stCxn id="3" idx="3"/>
              <a:endCxn id="14" idx="1"/>
            </p:cNvCxnSpPr>
            <p:nvPr/>
          </p:nvCxnSpPr>
          <p:spPr>
            <a:xfrm flipV="1">
              <a:off x="5219699" y="3323453"/>
              <a:ext cx="704851" cy="72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C27680-9C0C-326D-7114-B71A13630332}"/>
                </a:ext>
              </a:extLst>
            </p:cNvPr>
            <p:cNvSpPr/>
            <p:nvPr/>
          </p:nvSpPr>
          <p:spPr>
            <a:xfrm>
              <a:off x="8353425" y="2987161"/>
              <a:ext cx="1876426" cy="67258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Equilibrium computation</a:t>
              </a:r>
              <a:endPara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EA9B693-C8EC-B719-40A2-C15D50109AC1}"/>
                </a:ext>
              </a:extLst>
            </p:cNvPr>
            <p:cNvCxnSpPr>
              <a:cxnSpLocks/>
              <a:stCxn id="14" idx="3"/>
              <a:endCxn id="17" idx="1"/>
            </p:cNvCxnSpPr>
            <p:nvPr/>
          </p:nvCxnSpPr>
          <p:spPr>
            <a:xfrm>
              <a:off x="7800976" y="3323453"/>
              <a:ext cx="5524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9216676-CABB-CB0F-D02B-7D7F1959CBAB}"/>
                </a:ext>
              </a:extLst>
            </p:cNvPr>
            <p:cNvCxnSpPr>
              <a:stCxn id="17" idx="3"/>
            </p:cNvCxnSpPr>
            <p:nvPr/>
          </p:nvCxnSpPr>
          <p:spPr>
            <a:xfrm flipV="1">
              <a:off x="10229851" y="3323452"/>
              <a:ext cx="50482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E4A0509-C062-6DCD-6AE7-9DEA0AC7FB9D}"/>
                </a:ext>
              </a:extLst>
            </p:cNvPr>
            <p:cNvSpPr txBox="1"/>
            <p:nvPr/>
          </p:nvSpPr>
          <p:spPr>
            <a:xfrm>
              <a:off x="10726660" y="3013413"/>
              <a:ext cx="10374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Stable </a:t>
              </a:r>
            </a:p>
            <a:p>
              <a:pPr algn="ctr"/>
              <a:r>
                <a:rPr lang="en-US" dirty="0"/>
                <a:t>Schedule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C874BFB-D202-A2BD-82B9-276D1C432AA9}"/>
                </a:ext>
              </a:extLst>
            </p:cNvPr>
            <p:cNvSpPr/>
            <p:nvPr/>
          </p:nvSpPr>
          <p:spPr>
            <a:xfrm>
              <a:off x="466725" y="2505075"/>
              <a:ext cx="1895474" cy="1828800"/>
            </a:xfrm>
            <a:prstGeom prst="roundRect">
              <a:avLst/>
            </a:prstGeom>
            <a:noFill/>
            <a:ln w="9525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E398E8-430B-7DC2-0766-77334EE1DF4F}"/>
                </a:ext>
              </a:extLst>
            </p:cNvPr>
            <p:cNvSpPr txBox="1"/>
            <p:nvPr/>
          </p:nvSpPr>
          <p:spPr>
            <a:xfrm>
              <a:off x="978085" y="4333845"/>
              <a:ext cx="7393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Input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256317C-5C85-1FDF-2430-BF477E889AC4}"/>
                </a:ext>
              </a:extLst>
            </p:cNvPr>
            <p:cNvSpPr/>
            <p:nvPr/>
          </p:nvSpPr>
          <p:spPr>
            <a:xfrm>
              <a:off x="10601324" y="2705100"/>
              <a:ext cx="1295399" cy="1325561"/>
            </a:xfrm>
            <a:prstGeom prst="roundRect">
              <a:avLst/>
            </a:prstGeom>
            <a:noFill/>
            <a:ln w="9525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FF246CD-A7DA-2964-8F93-7626F9BF87B2}"/>
                </a:ext>
              </a:extLst>
            </p:cNvPr>
            <p:cNvSpPr txBox="1"/>
            <p:nvPr/>
          </p:nvSpPr>
          <p:spPr>
            <a:xfrm>
              <a:off x="10779558" y="4059854"/>
              <a:ext cx="9316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Output</a:t>
              </a:r>
            </a:p>
          </p:txBody>
        </p:sp>
      </p:grpSp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DD7D7219-A518-8B9D-CFDD-F380561E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44DE8-2E22-450E-A320-6A64049878C7}" type="datetime1">
              <a:rPr lang="en-US" smtClean="0"/>
              <a:t>12/14/2025</a:t>
            </a:fld>
            <a:endParaRPr lang="en-US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7CB4FBA7-A845-EEB6-0ED6-F5248AD5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F9811D-FC40-6C52-C316-D5E463FD12B2}"/>
              </a:ext>
            </a:extLst>
          </p:cNvPr>
          <p:cNvSpPr txBox="1"/>
          <p:nvPr/>
        </p:nvSpPr>
        <p:spPr>
          <a:xfrm>
            <a:off x="3301739" y="5097473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4 : Multi-Agent Game-Theoretic Scheduling Architecture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354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A7FB-500B-C7F9-B29C-54647313E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38" y="2216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BFC078-4BFF-DADE-3066-D5CBC48FA41F}"/>
              </a:ext>
            </a:extLst>
          </p:cNvPr>
          <p:cNvGrpSpPr/>
          <p:nvPr/>
        </p:nvGrpSpPr>
        <p:grpSpPr>
          <a:xfrm>
            <a:off x="838200" y="1359860"/>
            <a:ext cx="10698596" cy="4383136"/>
            <a:chOff x="838200" y="1359860"/>
            <a:chExt cx="10698596" cy="43831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04FEBD-BFF1-DA54-9E32-64EE968C51BE}"/>
                </a:ext>
              </a:extLst>
            </p:cNvPr>
            <p:cNvSpPr/>
            <p:nvPr/>
          </p:nvSpPr>
          <p:spPr>
            <a:xfrm>
              <a:off x="838200" y="2013959"/>
              <a:ext cx="1612900" cy="37290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0EB7BEF-E013-3465-7508-F1951348D40F}"/>
                </a:ext>
              </a:extLst>
            </p:cNvPr>
            <p:cNvSpPr/>
            <p:nvPr/>
          </p:nvSpPr>
          <p:spPr>
            <a:xfrm>
              <a:off x="1068965" y="2313997"/>
              <a:ext cx="1133475" cy="46672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Agent 1 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87BC730-033E-85B8-27F2-43FD701965F2}"/>
                </a:ext>
              </a:extLst>
            </p:cNvPr>
            <p:cNvSpPr/>
            <p:nvPr/>
          </p:nvSpPr>
          <p:spPr>
            <a:xfrm>
              <a:off x="1068965" y="3080759"/>
              <a:ext cx="1133475" cy="46672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Agent 2 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8C790D1-F348-A8AD-DF32-0D886B2B5B89}"/>
                </a:ext>
              </a:extLst>
            </p:cNvPr>
            <p:cNvSpPr/>
            <p:nvPr/>
          </p:nvSpPr>
          <p:spPr>
            <a:xfrm>
              <a:off x="1068965" y="4723822"/>
              <a:ext cx="1133475" cy="46672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Agent n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270C8A-55D1-9404-B540-2BF964B6B322}"/>
                </a:ext>
              </a:extLst>
            </p:cNvPr>
            <p:cNvSpPr/>
            <p:nvPr/>
          </p:nvSpPr>
          <p:spPr>
            <a:xfrm>
              <a:off x="3126365" y="2013960"/>
              <a:ext cx="1612900" cy="372903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36E14F5-1846-CEBF-A38D-67C0BB738216}"/>
                </a:ext>
              </a:extLst>
            </p:cNvPr>
            <p:cNvSpPr/>
            <p:nvPr/>
          </p:nvSpPr>
          <p:spPr>
            <a:xfrm>
              <a:off x="3297815" y="2313997"/>
              <a:ext cx="1270000" cy="46672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Strategy 1 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3BA53BF-9243-15B1-7550-FC3F257F2ACB}"/>
                </a:ext>
              </a:extLst>
            </p:cNvPr>
            <p:cNvSpPr/>
            <p:nvPr/>
          </p:nvSpPr>
          <p:spPr>
            <a:xfrm>
              <a:off x="3297815" y="3080758"/>
              <a:ext cx="1270000" cy="46672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Strategy 2 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855F87E-9BD1-BE5F-DA18-FC570748FEEA}"/>
                </a:ext>
              </a:extLst>
            </p:cNvPr>
            <p:cNvSpPr/>
            <p:nvPr/>
          </p:nvSpPr>
          <p:spPr>
            <a:xfrm>
              <a:off x="3297815" y="4723822"/>
              <a:ext cx="1270000" cy="46672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Strategy s 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353C79-AFC5-1BF4-984B-93EA853798A4}"/>
                </a:ext>
              </a:extLst>
            </p:cNvPr>
            <p:cNvSpPr/>
            <p:nvPr/>
          </p:nvSpPr>
          <p:spPr>
            <a:xfrm>
              <a:off x="5414530" y="3314119"/>
              <a:ext cx="1466417" cy="624324"/>
            </a:xfrm>
            <a:prstGeom prst="ellipse">
              <a:avLst/>
            </a:prstGeom>
            <a:solidFill>
              <a:srgbClr val="FF5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Conflicts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333213A-C802-4DB5-4FFC-41C1BC1710B8}"/>
                </a:ext>
              </a:extLst>
            </p:cNvPr>
            <p:cNvCxnSpPr>
              <a:cxnSpLocks/>
              <a:stCxn id="10" idx="3"/>
              <a:endCxn id="16" idx="2"/>
            </p:cNvCxnSpPr>
            <p:nvPr/>
          </p:nvCxnSpPr>
          <p:spPr>
            <a:xfrm>
              <a:off x="4567815" y="2547360"/>
              <a:ext cx="846715" cy="10789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7D6B2E0-8433-3F76-BCC9-F48E99D2DE16}"/>
                </a:ext>
              </a:extLst>
            </p:cNvPr>
            <p:cNvCxnSpPr>
              <a:cxnSpLocks/>
              <a:stCxn id="13" idx="3"/>
              <a:endCxn id="16" idx="2"/>
            </p:cNvCxnSpPr>
            <p:nvPr/>
          </p:nvCxnSpPr>
          <p:spPr>
            <a:xfrm>
              <a:off x="4567815" y="3314121"/>
              <a:ext cx="846715" cy="3121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AEEAFA8-4EB4-6080-2FD8-E5BFFCA63B98}"/>
                </a:ext>
              </a:extLst>
            </p:cNvPr>
            <p:cNvCxnSpPr>
              <a:cxnSpLocks/>
              <a:stCxn id="14" idx="3"/>
              <a:endCxn id="16" idx="2"/>
            </p:cNvCxnSpPr>
            <p:nvPr/>
          </p:nvCxnSpPr>
          <p:spPr>
            <a:xfrm flipV="1">
              <a:off x="4567815" y="3626281"/>
              <a:ext cx="846715" cy="13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A20397A-8D93-E999-0869-567CAB6230E7}"/>
                </a:ext>
              </a:extLst>
            </p:cNvPr>
            <p:cNvCxnSpPr>
              <a:endCxn id="10" idx="1"/>
            </p:cNvCxnSpPr>
            <p:nvPr/>
          </p:nvCxnSpPr>
          <p:spPr>
            <a:xfrm>
              <a:off x="2202440" y="2547359"/>
              <a:ext cx="109537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5356DA9-AC5A-7DDE-65D3-B44C3B4DA7FC}"/>
                </a:ext>
              </a:extLst>
            </p:cNvPr>
            <p:cNvCxnSpPr/>
            <p:nvPr/>
          </p:nvCxnSpPr>
          <p:spPr>
            <a:xfrm>
              <a:off x="2187575" y="3314119"/>
              <a:ext cx="109537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8B19C9C-FE15-1F4D-776B-71E7AA2DD60E}"/>
                </a:ext>
              </a:extLst>
            </p:cNvPr>
            <p:cNvCxnSpPr/>
            <p:nvPr/>
          </p:nvCxnSpPr>
          <p:spPr>
            <a:xfrm>
              <a:off x="2202440" y="4957183"/>
              <a:ext cx="109537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5C5D11A-EF2B-ACB6-488D-8307FDBED4F3}"/>
                </a:ext>
              </a:extLst>
            </p:cNvPr>
            <p:cNvSpPr/>
            <p:nvPr/>
          </p:nvSpPr>
          <p:spPr>
            <a:xfrm>
              <a:off x="1553152" y="3847521"/>
              <a:ext cx="149225" cy="76120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2D5B0F8-1ECA-B65B-BE7F-F27653698260}"/>
                </a:ext>
              </a:extLst>
            </p:cNvPr>
            <p:cNvSpPr/>
            <p:nvPr/>
          </p:nvSpPr>
          <p:spPr>
            <a:xfrm>
              <a:off x="3851853" y="3847519"/>
              <a:ext cx="149225" cy="76120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1262144-0110-45B9-307A-01EE2F38C731}"/>
                </a:ext>
              </a:extLst>
            </p:cNvPr>
            <p:cNvSpPr/>
            <p:nvPr/>
          </p:nvSpPr>
          <p:spPr>
            <a:xfrm>
              <a:off x="7556212" y="3314119"/>
              <a:ext cx="1466417" cy="624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Payoffs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240CCDDB-BEE4-9659-360E-573FB8563AFE}"/>
                </a:ext>
              </a:extLst>
            </p:cNvPr>
            <p:cNvCxnSpPr>
              <a:stCxn id="16" idx="6"/>
              <a:endCxn id="52" idx="1"/>
            </p:cNvCxnSpPr>
            <p:nvPr/>
          </p:nvCxnSpPr>
          <p:spPr>
            <a:xfrm>
              <a:off x="6880947" y="3626281"/>
              <a:ext cx="6752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905BFE0-A0B4-6665-DFA6-30F74DD1CA5C}"/>
                </a:ext>
              </a:extLst>
            </p:cNvPr>
            <p:cNvSpPr/>
            <p:nvPr/>
          </p:nvSpPr>
          <p:spPr>
            <a:xfrm>
              <a:off x="1402340" y="5352472"/>
              <a:ext cx="476250" cy="3048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AF0897A-99EB-4D4A-7A30-06BF9E8247EE}"/>
                </a:ext>
              </a:extLst>
            </p:cNvPr>
            <p:cNvSpPr/>
            <p:nvPr/>
          </p:nvSpPr>
          <p:spPr>
            <a:xfrm>
              <a:off x="3694690" y="5342947"/>
              <a:ext cx="476250" cy="3048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A8AD782-5077-94E3-98E1-27A60D28D8A5}"/>
                </a:ext>
              </a:extLst>
            </p:cNvPr>
            <p:cNvSpPr/>
            <p:nvPr/>
          </p:nvSpPr>
          <p:spPr>
            <a:xfrm>
              <a:off x="8051295" y="3986933"/>
              <a:ext cx="476250" cy="3048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8BF3C82-EEA0-19C6-E87F-FA5BC8A9C5B1}"/>
                </a:ext>
              </a:extLst>
            </p:cNvPr>
            <p:cNvSpPr/>
            <p:nvPr/>
          </p:nvSpPr>
          <p:spPr>
            <a:xfrm>
              <a:off x="10070379" y="3289874"/>
              <a:ext cx="1466417" cy="672814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/>
              <a:r>
                <a:rPr lang="en-US" sz="1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Nash Equilibrium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AB9540D-C4D8-BB6E-640F-90E4938521C2}"/>
                </a:ext>
              </a:extLst>
            </p:cNvPr>
            <p:cNvCxnSpPr>
              <a:stCxn id="52" idx="3"/>
              <a:endCxn id="61" idx="1"/>
            </p:cNvCxnSpPr>
            <p:nvPr/>
          </p:nvCxnSpPr>
          <p:spPr>
            <a:xfrm>
              <a:off x="9022629" y="3626281"/>
              <a:ext cx="10477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D2F4812-8035-CB80-1B80-3E4218250905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8289421" y="1674559"/>
              <a:ext cx="0" cy="16395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1F1235B-4A69-E396-912B-DED14091C0F8}"/>
                </a:ext>
              </a:extLst>
            </p:cNvPr>
            <p:cNvCxnSpPr>
              <a:cxnSpLocks/>
            </p:cNvCxnSpPr>
            <p:nvPr/>
          </p:nvCxnSpPr>
          <p:spPr>
            <a:xfrm>
              <a:off x="1644650" y="1674559"/>
              <a:ext cx="66447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F7631DF1-0803-7A5A-BF7F-60C14D303275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1644650" y="1674559"/>
              <a:ext cx="0" cy="339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584381A-6040-582C-A83D-CFC773603DEC}"/>
                </a:ext>
              </a:extLst>
            </p:cNvPr>
            <p:cNvSpPr txBox="1"/>
            <p:nvPr/>
          </p:nvSpPr>
          <p:spPr>
            <a:xfrm rot="16200000">
              <a:off x="6665648" y="2920382"/>
              <a:ext cx="10424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Calculate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314BB74-B19A-A6EA-BF45-68D3175DEC6E}"/>
                </a:ext>
              </a:extLst>
            </p:cNvPr>
            <p:cNvSpPr txBox="1"/>
            <p:nvPr/>
          </p:nvSpPr>
          <p:spPr>
            <a:xfrm>
              <a:off x="4567815" y="1359860"/>
              <a:ext cx="1813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R="0" lvl="0">
                <a:buSzPts val="1000"/>
                <a:tabLst>
                  <a:tab pos="457200" algn="l"/>
                </a:tabLst>
              </a:pPr>
              <a:r>
                <a:rPr lang="en-US" sz="18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Strategy update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1C136CA-DD1A-3305-2F74-F4F6E1FC5CC6}"/>
                </a:ext>
              </a:extLst>
            </p:cNvPr>
            <p:cNvSpPr/>
            <p:nvPr/>
          </p:nvSpPr>
          <p:spPr>
            <a:xfrm>
              <a:off x="10638848" y="3986933"/>
              <a:ext cx="476250" cy="3048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</p:grpSp>
      <p:sp>
        <p:nvSpPr>
          <p:cNvPr id="79" name="Date Placeholder 78">
            <a:extLst>
              <a:ext uri="{FF2B5EF4-FFF2-40B4-BE49-F238E27FC236}">
                <a16:creationId xmlns:a16="http://schemas.microsoft.com/office/drawing/2014/main" id="{07891AB3-D56B-A2E6-CB62-A727726B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D101-98DC-41DE-BDC2-F202CC2F329A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CC536C65-EC0C-7E8F-DDB0-F4BE8BB6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19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858444-3A52-3B7D-BD98-7D0DF18C1C24}"/>
              </a:ext>
            </a:extLst>
          </p:cNvPr>
          <p:cNvSpPr txBox="1"/>
          <p:nvPr/>
        </p:nvSpPr>
        <p:spPr>
          <a:xfrm>
            <a:off x="3452076" y="6017486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5: Nash Equilibrium Convergence Methodology</a:t>
            </a:r>
          </a:p>
        </p:txBody>
      </p:sp>
    </p:spTree>
    <p:extLst>
      <p:ext uri="{BB962C8B-B14F-4D97-AF65-F5344CB8AC3E}">
        <p14:creationId xmlns:p14="http://schemas.microsoft.com/office/powerpoint/2010/main" val="1670526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0E02-DDDF-DC5B-147E-DE76E3BA3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Game Formulation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71EDA6-5C38-47E3-5FB7-F44A997A4118}"/>
                  </a:ext>
                </a:extLst>
              </p:cNvPr>
              <p:cNvSpPr txBox="1"/>
              <p:nvPr/>
            </p:nvSpPr>
            <p:spPr>
              <a:xfrm>
                <a:off x="668042" y="1919178"/>
                <a:ext cx="60985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Agents (A):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m:rPr>
                        <m:lit/>
                      </m:rP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…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71EDA6-5C38-47E3-5FB7-F44A997A4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42" y="1919178"/>
                <a:ext cx="6098582" cy="461665"/>
              </a:xfrm>
              <a:prstGeom prst="rect">
                <a:avLst/>
              </a:prstGeom>
              <a:blipFill>
                <a:blip r:embed="rId2"/>
                <a:stretch>
                  <a:fillRect l="-1600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69F064-4794-E291-CB66-F63E5E52D88B}"/>
              </a:ext>
            </a:extLst>
          </p:cNvPr>
          <p:cNvSpPr txBox="1"/>
          <p:nvPr/>
        </p:nvSpPr>
        <p:spPr>
          <a:xfrm>
            <a:off x="668042" y="2609334"/>
            <a:ext cx="7929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Strategy Space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Sᵢ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All feasible actions for agent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25E54-4528-E610-DB91-11E7B2341D71}"/>
              </a:ext>
            </a:extLst>
          </p:cNvPr>
          <p:cNvSpPr txBox="1"/>
          <p:nvPr/>
        </p:nvSpPr>
        <p:spPr>
          <a:xfrm>
            <a:off x="1943100" y="3114933"/>
            <a:ext cx="8305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e.g.,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time-slot + room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route option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shift assignment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20180-E38A-A46C-FA16-FBC39829B428}"/>
              </a:ext>
            </a:extLst>
          </p:cNvPr>
          <p:cNvSpPr txBox="1"/>
          <p:nvPr/>
        </p:nvSpPr>
        <p:spPr>
          <a:xfrm>
            <a:off x="668042" y="38049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Game Definition: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BEAC6A-EF4E-D43B-1486-6369E6C025AB}"/>
                  </a:ext>
                </a:extLst>
              </p:cNvPr>
              <p:cNvSpPr txBox="1"/>
              <p:nvPr/>
            </p:nvSpPr>
            <p:spPr>
              <a:xfrm>
                <a:off x="1584971" y="4382488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BEAC6A-EF4E-D43B-1486-6369E6C02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71" y="4382488"/>
                <a:ext cx="6096000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67F5057-74A3-33D7-31FF-7776CC3D108C}"/>
              </a:ext>
            </a:extLst>
          </p:cNvPr>
          <p:cNvSpPr txBox="1"/>
          <p:nvPr/>
        </p:nvSpPr>
        <p:spPr>
          <a:xfrm>
            <a:off x="668042" y="494630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Joint Strategy Profile: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9325C6-0B5D-1A22-4A08-94DA9BA82DA0}"/>
                  </a:ext>
                </a:extLst>
              </p:cNvPr>
              <p:cNvSpPr txBox="1"/>
              <p:nvPr/>
            </p:nvSpPr>
            <p:spPr>
              <a:xfrm>
                <a:off x="1193800" y="5625974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9325C6-0B5D-1A22-4A08-94DA9BA82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800" y="5625974"/>
                <a:ext cx="60960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33CB355-28D7-C1E6-609C-63800381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56C0E-DB8F-4582-82F5-9E5B46E91F3A}" type="datetime1">
              <a:rPr lang="en-US" smtClean="0"/>
              <a:t>12/14/2025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DED1E2F-5E4D-1E0C-270F-7CFD7681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81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ACC5A-78A4-4BBC-3219-6F167515D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Payoff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8D40A2-5621-C64D-6D51-513DBA0343F6}"/>
                  </a:ext>
                </a:extLst>
              </p:cNvPr>
              <p:cNvSpPr txBox="1"/>
              <p:nvPr/>
            </p:nvSpPr>
            <p:spPr>
              <a:xfrm>
                <a:off x="2755900" y="2253734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8D40A2-5621-C64D-6D51-513DBA034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900" y="2253734"/>
                <a:ext cx="6096000" cy="461665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BCB0AC5-0AED-9C76-A7DC-AB278285003E}"/>
              </a:ext>
            </a:extLst>
          </p:cNvPr>
          <p:cNvSpPr txBox="1"/>
          <p:nvPr/>
        </p:nvSpPr>
        <p:spPr>
          <a:xfrm>
            <a:off x="673100" y="1459855"/>
            <a:ext cx="7861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Measures how beneficial a strategy is for agent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CAF0113-6555-0625-FB15-18AAE032EF47}"/>
              </a:ext>
            </a:extLst>
          </p:cNvPr>
          <p:cNvSpPr/>
          <p:nvPr/>
        </p:nvSpPr>
        <p:spPr>
          <a:xfrm rot="16200000">
            <a:off x="5100251" y="2426901"/>
            <a:ext cx="315098" cy="86360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2DC158C-9F0E-8CB5-89A7-466194365CA3}"/>
              </a:ext>
            </a:extLst>
          </p:cNvPr>
          <p:cNvSpPr/>
          <p:nvPr/>
        </p:nvSpPr>
        <p:spPr>
          <a:xfrm rot="16200000">
            <a:off x="6468676" y="2207826"/>
            <a:ext cx="315098" cy="130175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CE911AE3-D0BD-3524-3D72-365D9E9E0E78}"/>
              </a:ext>
            </a:extLst>
          </p:cNvPr>
          <p:cNvSpPr/>
          <p:nvPr/>
        </p:nvSpPr>
        <p:spPr>
          <a:xfrm rot="16200000">
            <a:off x="7837101" y="2413813"/>
            <a:ext cx="315098" cy="86360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C771B4-F60E-8BC1-B822-77B4DA960BA0}"/>
              </a:ext>
            </a:extLst>
          </p:cNvPr>
          <p:cNvSpPr/>
          <p:nvPr/>
        </p:nvSpPr>
        <p:spPr>
          <a:xfrm>
            <a:off x="1330209" y="3967374"/>
            <a:ext cx="2471057" cy="21194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Higher score for preferred slot/route/shift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874D3-1827-3739-521B-1A361713D8E4}"/>
              </a:ext>
            </a:extLst>
          </p:cNvPr>
          <p:cNvSpPr txBox="1"/>
          <p:nvPr/>
        </p:nvSpPr>
        <p:spPr>
          <a:xfrm>
            <a:off x="1272153" y="6086814"/>
            <a:ext cx="25871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Preference Reward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9B527F-E6F5-87F3-2BBC-EFD78A8D49F6}"/>
              </a:ext>
            </a:extLst>
          </p:cNvPr>
          <p:cNvSpPr/>
          <p:nvPr/>
        </p:nvSpPr>
        <p:spPr>
          <a:xfrm>
            <a:off x="5288643" y="3967374"/>
            <a:ext cx="2471057" cy="21194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Negative payoff for resource clashes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B19862-9606-A02F-E4F8-9FD027C9E1B4}"/>
              </a:ext>
            </a:extLst>
          </p:cNvPr>
          <p:cNvSpPr txBox="1"/>
          <p:nvPr/>
        </p:nvSpPr>
        <p:spPr>
          <a:xfrm>
            <a:off x="5230587" y="6086814"/>
            <a:ext cx="2587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Conflict Penalty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C11BA0-14D2-C536-4759-C6D6AA4D5CE5}"/>
              </a:ext>
            </a:extLst>
          </p:cNvPr>
          <p:cNvSpPr/>
          <p:nvPr/>
        </p:nvSpPr>
        <p:spPr>
          <a:xfrm>
            <a:off x="9046397" y="3978318"/>
            <a:ext cx="2471057" cy="21194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55C750-EC1C-4BC8-2326-71B846E62C89}"/>
              </a:ext>
            </a:extLst>
          </p:cNvPr>
          <p:cNvSpPr txBox="1"/>
          <p:nvPr/>
        </p:nvSpPr>
        <p:spPr>
          <a:xfrm>
            <a:off x="9046397" y="6117632"/>
            <a:ext cx="2723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Constraint Penalty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D032226F-23D7-306E-38B1-E276AB2BA966}"/>
              </a:ext>
            </a:extLst>
          </p:cNvPr>
          <p:cNvCxnSpPr>
            <a:cxnSpLocks/>
            <a:stCxn id="7" idx="1"/>
            <a:endCxn id="12" idx="0"/>
          </p:cNvCxnSpPr>
          <p:nvPr/>
        </p:nvCxnSpPr>
        <p:spPr>
          <a:xfrm rot="5400000">
            <a:off x="3436207" y="2145781"/>
            <a:ext cx="951124" cy="26920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F4913FFB-0914-10F3-C69F-04DE394331A7}"/>
              </a:ext>
            </a:extLst>
          </p:cNvPr>
          <p:cNvCxnSpPr>
            <a:cxnSpLocks/>
            <a:stCxn id="8" idx="1"/>
            <a:endCxn id="17" idx="0"/>
          </p:cNvCxnSpPr>
          <p:nvPr/>
        </p:nvCxnSpPr>
        <p:spPr>
          <a:xfrm rot="5400000">
            <a:off x="6099637" y="3440786"/>
            <a:ext cx="951124" cy="10205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96917F1-5E58-790D-3C8D-61EFEDB4FC22}"/>
              </a:ext>
            </a:extLst>
          </p:cNvPr>
          <p:cNvSpPr/>
          <p:nvPr/>
        </p:nvSpPr>
        <p:spPr>
          <a:xfrm>
            <a:off x="9247077" y="4157259"/>
            <a:ext cx="2106723" cy="7195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Hard Constraint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(Large Penalty)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43EA39-6053-BB3C-5A62-B6BD2936BDF1}"/>
              </a:ext>
            </a:extLst>
          </p:cNvPr>
          <p:cNvSpPr/>
          <p:nvPr/>
        </p:nvSpPr>
        <p:spPr>
          <a:xfrm>
            <a:off x="9247077" y="5127508"/>
            <a:ext cx="2106723" cy="7195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 Constraint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(Small Penalty)</a:t>
            </a: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2EEE5490-9B48-18C7-1C5B-555C85C803F9}"/>
              </a:ext>
            </a:extLst>
          </p:cNvPr>
          <p:cNvCxnSpPr>
            <a:stCxn id="9" idx="1"/>
            <a:endCxn id="19" idx="0"/>
          </p:cNvCxnSpPr>
          <p:nvPr/>
        </p:nvCxnSpPr>
        <p:spPr>
          <a:xfrm rot="16200000" flipH="1">
            <a:off x="8650710" y="2347102"/>
            <a:ext cx="975156" cy="228727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B5101641-231C-F346-E08E-98522CED9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7EFA1-A84B-4CC1-BA32-2F52A8D73E3F}" type="datetime1">
              <a:rPr lang="en-US" smtClean="0"/>
              <a:t>12/14/2025</a:t>
            </a:fld>
            <a:endParaRPr lang="en-US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D2207D62-FBE1-542B-7B0D-9563BB49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52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FF05-7C1B-7C24-8218-00CF7B6A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0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Nash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76A194-2A40-5E1A-4E6A-937F0C1D1523}"/>
                  </a:ext>
                </a:extLst>
              </p:cNvPr>
              <p:cNvSpPr txBox="1"/>
              <p:nvPr/>
            </p:nvSpPr>
            <p:spPr>
              <a:xfrm>
                <a:off x="711200" y="1229023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strategy profile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where: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76A194-2A40-5E1A-4E6A-937F0C1D1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1229023"/>
                <a:ext cx="6096000" cy="461665"/>
              </a:xfrm>
              <a:prstGeom prst="rect">
                <a:avLst/>
              </a:prstGeom>
              <a:blipFill>
                <a:blip r:embed="rId2"/>
                <a:stretch>
                  <a:fillRect l="-1600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6808188-E479-CDA3-57E9-1CBDB1329B98}"/>
              </a:ext>
            </a:extLst>
          </p:cNvPr>
          <p:cNvSpPr txBox="1"/>
          <p:nvPr/>
        </p:nvSpPr>
        <p:spPr>
          <a:xfrm>
            <a:off x="622300" y="5591569"/>
            <a:ext cx="812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agent can improve its payoff by changing alone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Produces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stable, conflict-free schedule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7C0BE43-8212-EEDC-02A9-81118307D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40F5B-66F9-4606-9679-234DF4DBB9C4}" type="datetime1">
              <a:rPr lang="en-US" smtClean="0"/>
              <a:t>12/14/2025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02ABD9-4FE9-706F-EA9F-B819870C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9FAE04-1769-4038-6EFC-867782F7E2BA}"/>
                  </a:ext>
                </a:extLst>
              </p:cNvPr>
              <p:cNvSpPr txBox="1"/>
              <p:nvPr/>
            </p:nvSpPr>
            <p:spPr>
              <a:xfrm>
                <a:off x="2921000" y="1738240"/>
                <a:ext cx="6096000" cy="461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,∀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400" i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: 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9FAE04-1769-4038-6EFC-867782F7E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0" y="1738240"/>
                <a:ext cx="6096000" cy="461921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D95D6D5-8D83-4A30-957B-D1D931E70713}"/>
              </a:ext>
            </a:extLst>
          </p:cNvPr>
          <p:cNvSpPr txBox="1"/>
          <p:nvPr/>
        </p:nvSpPr>
        <p:spPr>
          <a:xfrm>
            <a:off x="711200" y="22769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sz="2400" b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Best Response of agent </a:t>
            </a:r>
            <a:r>
              <a:rPr lang="en-US" sz="24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639EA-8097-D2FE-ED22-409CD60E92FE}"/>
              </a:ext>
            </a:extLst>
          </p:cNvPr>
          <p:cNvSpPr txBox="1"/>
          <p:nvPr/>
        </p:nvSpPr>
        <p:spPr>
          <a:xfrm>
            <a:off x="711200" y="335332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 Strategy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CA5EC60-7DCC-0345-478B-33B3FBC93916}"/>
                  </a:ext>
                </a:extLst>
              </p:cNvPr>
              <p:cNvSpPr txBox="1"/>
              <p:nvPr/>
            </p:nvSpPr>
            <p:spPr>
              <a:xfrm>
                <a:off x="1311638" y="3884959"/>
                <a:ext cx="9136924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/>
                        <m:t>B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/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/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 </m:t>
                      </m:r>
                      <m:r>
                        <m:rPr>
                          <m:nor/>
                        </m:rPr>
                        <a:rPr lang="en-US" sz="2000"/>
                        <m:t>if</m:t>
                      </m:r>
                      <m:r>
                        <m:rPr>
                          <m:nor/>
                        </m:rPr>
                        <a:rPr lang="en-US" sz="2000"/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/>
                            <m:t>B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/>
                                <m:t>R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/>
                                <m:t>i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, </m:t>
                      </m:r>
                      <m:r>
                        <m:rPr>
                          <m:nor/>
                        </m:rPr>
                        <a:rPr lang="en-US" sz="2000"/>
                        <m:t>otherwise</m:t>
                      </m:r>
                      <m:r>
                        <m:rPr>
                          <m:nor/>
                        </m:rPr>
                        <a:rPr lang="en-US" sz="2000"/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CA5EC60-7DCC-0345-478B-33B3FBC93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638" y="3884959"/>
                <a:ext cx="9136924" cy="4606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5362E02-7A58-D6F0-0C2A-1F0AF90DFBF2}"/>
              </a:ext>
            </a:extLst>
          </p:cNvPr>
          <p:cNvSpPr txBox="1"/>
          <p:nvPr/>
        </p:nvSpPr>
        <p:spPr>
          <a:xfrm>
            <a:off x="711200" y="4365062"/>
            <a:ext cx="6096000" cy="482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Repeat until convergence to s∗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17758C-E40B-80F1-F1E7-EC877C82C3E2}"/>
                  </a:ext>
                </a:extLst>
              </p:cNvPr>
              <p:cNvSpPr txBox="1"/>
              <p:nvPr/>
            </p:nvSpPr>
            <p:spPr>
              <a:xfrm>
                <a:off x="4355828" y="4923332"/>
                <a:ext cx="24640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17758C-E40B-80F1-F1E7-EC877C82C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828" y="4923332"/>
                <a:ext cx="2464072" cy="369332"/>
              </a:xfrm>
              <a:prstGeom prst="rect">
                <a:avLst/>
              </a:prstGeom>
              <a:blipFill>
                <a:blip r:embed="rId5"/>
                <a:stretch>
                  <a:fillRect l="-123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0EEEF4-4F7F-5AD1-2113-031BD2CD8CEB}"/>
                  </a:ext>
                </a:extLst>
              </p:cNvPr>
              <p:cNvSpPr txBox="1"/>
              <p:nvPr/>
            </p:nvSpPr>
            <p:spPr>
              <a:xfrm>
                <a:off x="4355828" y="2807175"/>
                <a:ext cx="3930371" cy="528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/>
                        <m:t>B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/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/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0EEEF4-4F7F-5AD1-2113-031BD2CD8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828" y="2807175"/>
                <a:ext cx="3930371" cy="528414"/>
              </a:xfrm>
              <a:prstGeom prst="rect">
                <a:avLst/>
              </a:prstGeom>
              <a:blipFill>
                <a:blip r:embed="rId6"/>
                <a:stretch>
                  <a:fillRect l="-1242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0326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5228-877E-9D47-31C1-F682DCB6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NRP as Game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3CD8C6-B985-80F3-2CB1-2C37C7FF4BF7}"/>
              </a:ext>
            </a:extLst>
          </p:cNvPr>
          <p:cNvGraphicFramePr>
            <a:graphicFrameLocks noGrp="1"/>
          </p:cNvGraphicFramePr>
          <p:nvPr/>
        </p:nvGraphicFramePr>
        <p:xfrm>
          <a:off x="4004010" y="1610690"/>
          <a:ext cx="7680632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7951">
                  <a:extLst>
                    <a:ext uri="{9D8B030D-6E8A-4147-A177-3AD203B41FA5}">
                      <a16:colId xmlns:a16="http://schemas.microsoft.com/office/drawing/2014/main" val="3206960941"/>
                    </a:ext>
                  </a:extLst>
                </a:gridCol>
                <a:gridCol w="5492681">
                  <a:extLst>
                    <a:ext uri="{9D8B030D-6E8A-4147-A177-3AD203B41FA5}">
                      <a16:colId xmlns:a16="http://schemas.microsoft.com/office/drawing/2014/main" val="1899648492"/>
                    </a:ext>
                  </a:extLst>
                </a:gridCol>
              </a:tblGrid>
              <a:tr h="4540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Agent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/>
                        <a:t>Nurses (each nurse acts as a self-interested agent)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21370"/>
                  </a:ext>
                </a:extLst>
              </a:tr>
              <a:tr h="4540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Strategies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/>
                        <a:t>Choice of shifts to work or swap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5298928"/>
                  </a:ext>
                </a:extLst>
              </a:tr>
              <a:tr h="81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/>
                        <a:t>Constraints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/>
                        <a:t>Max/min working hours, skill requirements, shift coverage, rest periods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614222"/>
                  </a:ext>
                </a:extLst>
              </a:tr>
              <a:tr h="81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/>
                        <a:t>Payoffs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/>
                        <a:t>Satisfaction of preferences, fair workload, minimal penalties for violations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136716"/>
                  </a:ext>
                </a:extLst>
              </a:tr>
              <a:tr h="81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/>
                        <a:t>Solution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/>
                        <a:t>Nash Equilibrium – no nurse can improve satisfaction by changing shifts unilaterally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62206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FD8A6-8966-7A41-3533-CD3A6891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947CD7-6E6F-0C4C-79AB-EA23DA6286CF}"/>
              </a:ext>
            </a:extLst>
          </p:cNvPr>
          <p:cNvGrpSpPr/>
          <p:nvPr/>
        </p:nvGrpSpPr>
        <p:grpSpPr>
          <a:xfrm>
            <a:off x="353123" y="471621"/>
            <a:ext cx="3490530" cy="5818298"/>
            <a:chOff x="353123" y="471621"/>
            <a:chExt cx="3490530" cy="581829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ACE4E0D-A384-0191-08D4-C216F130E2C3}"/>
                </a:ext>
              </a:extLst>
            </p:cNvPr>
            <p:cNvSpPr/>
            <p:nvPr/>
          </p:nvSpPr>
          <p:spPr>
            <a:xfrm>
              <a:off x="698500" y="471621"/>
              <a:ext cx="1592731" cy="60063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Agents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79B8A11-5010-62E0-2D14-139CE8756104}"/>
                </a:ext>
              </a:extLst>
            </p:cNvPr>
            <p:cNvSpPr/>
            <p:nvPr/>
          </p:nvSpPr>
          <p:spPr>
            <a:xfrm>
              <a:off x="698500" y="1750058"/>
              <a:ext cx="1592731" cy="600635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Strategies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B255561-ECC0-B099-0391-0EEF848F2D84}"/>
                </a:ext>
              </a:extLst>
            </p:cNvPr>
            <p:cNvSpPr/>
            <p:nvPr/>
          </p:nvSpPr>
          <p:spPr>
            <a:xfrm>
              <a:off x="698500" y="4462893"/>
              <a:ext cx="1592731" cy="600635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Payoffs</a:t>
              </a:r>
            </a:p>
          </p:txBody>
        </p:sp>
        <p:sp>
          <p:nvSpPr>
            <p:cNvPr id="16" name="Flowchart: Decision 15">
              <a:extLst>
                <a:ext uri="{FF2B5EF4-FFF2-40B4-BE49-F238E27FC236}">
                  <a16:creationId xmlns:a16="http://schemas.microsoft.com/office/drawing/2014/main" id="{4FC0447B-65C2-A445-0076-B326C0CB6184}"/>
                </a:ext>
              </a:extLst>
            </p:cNvPr>
            <p:cNvSpPr/>
            <p:nvPr/>
          </p:nvSpPr>
          <p:spPr>
            <a:xfrm>
              <a:off x="353123" y="2838427"/>
              <a:ext cx="2283479" cy="1232684"/>
            </a:xfrm>
            <a:prstGeom prst="flowChartDecisi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Resources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E324B7D-2EF4-8F34-83BC-9201F03E9350}"/>
                </a:ext>
              </a:extLst>
            </p:cNvPr>
            <p:cNvSpPr/>
            <p:nvPr/>
          </p:nvSpPr>
          <p:spPr>
            <a:xfrm>
              <a:off x="581722" y="5569194"/>
              <a:ext cx="1826281" cy="720725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Nash Equilibrium </a:t>
              </a:r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5061CAB-D2D0-3275-C725-7C6A33FFDA4A}"/>
                </a:ext>
              </a:extLst>
            </p:cNvPr>
            <p:cNvCxnSpPr>
              <a:cxnSpLocks/>
            </p:cNvCxnSpPr>
            <p:nvPr/>
          </p:nvCxnSpPr>
          <p:spPr>
            <a:xfrm>
              <a:off x="963707" y="1103415"/>
              <a:ext cx="0" cy="646643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38F6A43-0D7E-8A96-8D3B-608F0D9BB97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732" y="1103415"/>
              <a:ext cx="0" cy="646643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BE37187-EA45-8A0C-A440-CCFB65E279B6}"/>
                </a:ext>
              </a:extLst>
            </p:cNvPr>
            <p:cNvCxnSpPr>
              <a:cxnSpLocks/>
            </p:cNvCxnSpPr>
            <p:nvPr/>
          </p:nvCxnSpPr>
          <p:spPr>
            <a:xfrm>
              <a:off x="2040032" y="1072256"/>
              <a:ext cx="0" cy="646643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67029CD-5C10-2B94-CF19-3B01A2A4AF87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887507" y="2350693"/>
              <a:ext cx="607356" cy="487734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643E626-2325-EC74-286C-5C99C05EA9E7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 flipH="1">
              <a:off x="1494863" y="2381852"/>
              <a:ext cx="534384" cy="456575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5502B1E-3DDB-7300-B316-84A9E7611257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1163732" y="2350693"/>
              <a:ext cx="331131" cy="487734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08F664-A684-67BE-75DB-9504237167CD}"/>
                </a:ext>
              </a:extLst>
            </p:cNvPr>
            <p:cNvSpPr txBox="1"/>
            <p:nvPr/>
          </p:nvSpPr>
          <p:spPr>
            <a:xfrm>
              <a:off x="1297860" y="1188298"/>
              <a:ext cx="737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 . .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FA633FE-E56B-C757-4C7D-C9DDF04D8B32}"/>
                </a:ext>
              </a:extLst>
            </p:cNvPr>
            <p:cNvSpPr txBox="1"/>
            <p:nvPr/>
          </p:nvSpPr>
          <p:spPr>
            <a:xfrm>
              <a:off x="1307385" y="2298501"/>
              <a:ext cx="627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 . 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A90BE9E-019D-EE1D-2506-5A2C3229CE6F}"/>
                </a:ext>
              </a:extLst>
            </p:cNvPr>
            <p:cNvCxnSpPr>
              <a:cxnSpLocks/>
              <a:stCxn id="16" idx="2"/>
              <a:endCxn id="14" idx="0"/>
            </p:cNvCxnSpPr>
            <p:nvPr/>
          </p:nvCxnSpPr>
          <p:spPr>
            <a:xfrm>
              <a:off x="1494863" y="4071111"/>
              <a:ext cx="3" cy="391782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7A9EFFA-7449-BFA5-44E7-692BF3A04CDA}"/>
                </a:ext>
              </a:extLst>
            </p:cNvPr>
            <p:cNvCxnSpPr>
              <a:cxnSpLocks/>
              <a:stCxn id="14" idx="2"/>
              <a:endCxn id="19" idx="0"/>
            </p:cNvCxnSpPr>
            <p:nvPr/>
          </p:nvCxnSpPr>
          <p:spPr>
            <a:xfrm flipH="1">
              <a:off x="1494863" y="5063528"/>
              <a:ext cx="3" cy="50566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FD25FC6-3AF1-6764-A54E-4EA022408BD2}"/>
                </a:ext>
              </a:extLst>
            </p:cNvPr>
            <p:cNvSpPr txBox="1"/>
            <p:nvPr/>
          </p:nvSpPr>
          <p:spPr>
            <a:xfrm>
              <a:off x="2098716" y="1226491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Choose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1AF4BB0-B94B-68B0-DFFD-ED9C22EC362A}"/>
                </a:ext>
              </a:extLst>
            </p:cNvPr>
            <p:cNvSpPr txBox="1"/>
            <p:nvPr/>
          </p:nvSpPr>
          <p:spPr>
            <a:xfrm>
              <a:off x="1806745" y="2521287"/>
              <a:ext cx="1360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Compete for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26C69E5-316E-8F01-AB95-0FEAC551BB29}"/>
                </a:ext>
              </a:extLst>
            </p:cNvPr>
            <p:cNvSpPr txBox="1"/>
            <p:nvPr/>
          </p:nvSpPr>
          <p:spPr>
            <a:xfrm>
              <a:off x="1574415" y="4084289"/>
              <a:ext cx="975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Evaluate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63B23C9-DFF9-9A47-AC62-D85578179653}"/>
                </a:ext>
              </a:extLst>
            </p:cNvPr>
            <p:cNvCxnSpPr>
              <a:stCxn id="19" idx="6"/>
            </p:cNvCxnSpPr>
            <p:nvPr/>
          </p:nvCxnSpPr>
          <p:spPr>
            <a:xfrm flipV="1">
              <a:off x="2408003" y="5929556"/>
              <a:ext cx="384331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0A5BBC5-EF60-D779-3BCA-7B8FCEC91F48}"/>
                </a:ext>
              </a:extLst>
            </p:cNvPr>
            <p:cNvSpPr txBox="1"/>
            <p:nvPr/>
          </p:nvSpPr>
          <p:spPr>
            <a:xfrm>
              <a:off x="2806190" y="5607075"/>
              <a:ext cx="10374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Stable</a:t>
              </a:r>
            </a:p>
            <a:p>
              <a:r>
                <a:rPr lang="en-US" dirty="0"/>
                <a:t>Schedule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E7E6BDA-8D5E-BE62-F630-348B93FD1092}"/>
                </a:ext>
              </a:extLst>
            </p:cNvPr>
            <p:cNvCxnSpPr>
              <a:cxnSpLocks/>
            </p:cNvCxnSpPr>
            <p:nvPr/>
          </p:nvCxnSpPr>
          <p:spPr>
            <a:xfrm>
              <a:off x="2291231" y="4763211"/>
              <a:ext cx="87620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78EB222-F0AA-CFF3-6136-A46A939E7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8013" y="2050376"/>
              <a:ext cx="19426" cy="271283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60C2E72-823D-7E71-B5EB-239B30CDE7ED}"/>
                </a:ext>
              </a:extLst>
            </p:cNvPr>
            <p:cNvCxnSpPr/>
            <p:nvPr/>
          </p:nvCxnSpPr>
          <p:spPr>
            <a:xfrm flipH="1" flipV="1">
              <a:off x="2291231" y="2050376"/>
              <a:ext cx="876208" cy="70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383D025-D585-F808-E862-A021452FFB2D}"/>
                </a:ext>
              </a:extLst>
            </p:cNvPr>
            <p:cNvSpPr txBox="1"/>
            <p:nvPr/>
          </p:nvSpPr>
          <p:spPr>
            <a:xfrm>
              <a:off x="2792334" y="3148175"/>
              <a:ext cx="461665" cy="781817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en-US" dirty="0"/>
                <a:t>Update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DA0012-5D4F-0FA3-A3E0-B5FAF4EBD69D}"/>
              </a:ext>
            </a:extLst>
          </p:cNvPr>
          <p:cNvSpPr txBox="1"/>
          <p:nvPr/>
        </p:nvSpPr>
        <p:spPr>
          <a:xfrm>
            <a:off x="1572" y="6450505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6 :Game-Theoretic NRP Solution Process</a:t>
            </a:r>
          </a:p>
        </p:txBody>
      </p:sp>
    </p:spTree>
    <p:extLst>
      <p:ext uri="{BB962C8B-B14F-4D97-AF65-F5344CB8AC3E}">
        <p14:creationId xmlns:p14="http://schemas.microsoft.com/office/powerpoint/2010/main" val="2753274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8B9E-1597-2327-6BB8-28484E1E9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UCSP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Game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6DBE77-568C-E58A-44D1-E7EFC7888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156499"/>
              </p:ext>
            </p:extLst>
          </p:nvPr>
        </p:nvGraphicFramePr>
        <p:xfrm>
          <a:off x="4470400" y="1096963"/>
          <a:ext cx="7277100" cy="525938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06404">
                  <a:extLst>
                    <a:ext uri="{9D8B030D-6E8A-4147-A177-3AD203B41FA5}">
                      <a16:colId xmlns:a16="http://schemas.microsoft.com/office/drawing/2014/main" val="125901141"/>
                    </a:ext>
                  </a:extLst>
                </a:gridCol>
                <a:gridCol w="5070696">
                  <a:extLst>
                    <a:ext uri="{9D8B030D-6E8A-4147-A177-3AD203B41FA5}">
                      <a16:colId xmlns:a16="http://schemas.microsoft.com/office/drawing/2014/main" val="1959463274"/>
                    </a:ext>
                  </a:extLst>
                </a:gridCol>
              </a:tblGrid>
              <a:tr h="54207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Agents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dirty="0"/>
                        <a:t>Courses (classes) acting as players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768943"/>
                  </a:ext>
                </a:extLst>
              </a:tr>
              <a:tr h="54207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b="1"/>
                        <a:t>Strategies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dirty="0"/>
                        <a:t>Selection of time-slot &amp; room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218862"/>
                  </a:ext>
                </a:extLst>
              </a:tr>
              <a:tr h="207147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Constraints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dirty="0"/>
                        <a:t>No overlaps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dirty="0"/>
                        <a:t>room limits 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dirty="0"/>
                        <a:t>equipment requirements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dirty="0"/>
                        <a:t>preferred slots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964782"/>
                  </a:ext>
                </a:extLst>
              </a:tr>
              <a:tr h="105187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Payoffs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dirty="0"/>
                        <a:t>Reward for conflict-free schedule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dirty="0"/>
                        <a:t>penalty for conflicts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852754"/>
                  </a:ext>
                </a:extLst>
              </a:tr>
              <a:tr h="105187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b="1" dirty="0"/>
                        <a:t>Solution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400" dirty="0"/>
                        <a:t>Nash Equilibrium → no course can improve payoff alone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53860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D488E-6CB4-EE31-39C4-39E6AA52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24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F87179-34DC-BD53-B88B-9AFA8B1DBD98}"/>
              </a:ext>
            </a:extLst>
          </p:cNvPr>
          <p:cNvGrpSpPr/>
          <p:nvPr/>
        </p:nvGrpSpPr>
        <p:grpSpPr>
          <a:xfrm>
            <a:off x="353123" y="471621"/>
            <a:ext cx="3490530" cy="5818298"/>
            <a:chOff x="353123" y="471621"/>
            <a:chExt cx="3490530" cy="581829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938B427-D055-D61F-9B57-76C01410CD41}"/>
                </a:ext>
              </a:extLst>
            </p:cNvPr>
            <p:cNvSpPr/>
            <p:nvPr/>
          </p:nvSpPr>
          <p:spPr>
            <a:xfrm>
              <a:off x="698500" y="471621"/>
              <a:ext cx="1592731" cy="60063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Agents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5766377-BEFE-CB93-DA54-E4C633544331}"/>
                </a:ext>
              </a:extLst>
            </p:cNvPr>
            <p:cNvSpPr/>
            <p:nvPr/>
          </p:nvSpPr>
          <p:spPr>
            <a:xfrm>
              <a:off x="698500" y="1750058"/>
              <a:ext cx="1592731" cy="60063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Strategies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2E196E7-4AB2-421D-B686-4E7A35EA6D7C}"/>
                </a:ext>
              </a:extLst>
            </p:cNvPr>
            <p:cNvSpPr/>
            <p:nvPr/>
          </p:nvSpPr>
          <p:spPr>
            <a:xfrm>
              <a:off x="698500" y="4462893"/>
              <a:ext cx="1592731" cy="60063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Payoffs</a:t>
              </a:r>
            </a:p>
          </p:txBody>
        </p:sp>
        <p:sp>
          <p:nvSpPr>
            <p:cNvPr id="9" name="Flowchart: Decision 8">
              <a:extLst>
                <a:ext uri="{FF2B5EF4-FFF2-40B4-BE49-F238E27FC236}">
                  <a16:creationId xmlns:a16="http://schemas.microsoft.com/office/drawing/2014/main" id="{EA33251D-0F3B-4979-D4F9-D3851EFC1A6F}"/>
                </a:ext>
              </a:extLst>
            </p:cNvPr>
            <p:cNvSpPr/>
            <p:nvPr/>
          </p:nvSpPr>
          <p:spPr>
            <a:xfrm>
              <a:off x="353123" y="2838427"/>
              <a:ext cx="2283479" cy="1232684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Resources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7AF98C1-301E-B55F-CB4D-A7C74141C032}"/>
                </a:ext>
              </a:extLst>
            </p:cNvPr>
            <p:cNvSpPr/>
            <p:nvPr/>
          </p:nvSpPr>
          <p:spPr>
            <a:xfrm>
              <a:off x="581722" y="5569194"/>
              <a:ext cx="1826281" cy="72072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Nash Equilibrium </a:t>
              </a:r>
              <a:endParaRPr lang="en-US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602B775-4501-9E93-B794-7040FEE477B8}"/>
                </a:ext>
              </a:extLst>
            </p:cNvPr>
            <p:cNvCxnSpPr>
              <a:cxnSpLocks/>
            </p:cNvCxnSpPr>
            <p:nvPr/>
          </p:nvCxnSpPr>
          <p:spPr>
            <a:xfrm>
              <a:off x="963707" y="1103415"/>
              <a:ext cx="0" cy="646643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309A2F-8C4C-DEAC-2978-B56E436EFEF1}"/>
                </a:ext>
              </a:extLst>
            </p:cNvPr>
            <p:cNvCxnSpPr>
              <a:cxnSpLocks/>
            </p:cNvCxnSpPr>
            <p:nvPr/>
          </p:nvCxnSpPr>
          <p:spPr>
            <a:xfrm>
              <a:off x="1163732" y="1103415"/>
              <a:ext cx="0" cy="646643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C77DE15-9F23-0B4C-D46C-5C56A17DF21C}"/>
                </a:ext>
              </a:extLst>
            </p:cNvPr>
            <p:cNvCxnSpPr>
              <a:cxnSpLocks/>
            </p:cNvCxnSpPr>
            <p:nvPr/>
          </p:nvCxnSpPr>
          <p:spPr>
            <a:xfrm>
              <a:off x="2040032" y="1072256"/>
              <a:ext cx="0" cy="646643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07122C-2541-0FF3-F1CA-569AEB1B7931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887507" y="2350693"/>
              <a:ext cx="607356" cy="487734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D5DC6F7-9BAC-57DB-66D5-5297B381A44F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 flipH="1">
              <a:off x="1494863" y="2381852"/>
              <a:ext cx="534384" cy="456575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1E4088F-9001-0A54-2284-7F8F075CA721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1163732" y="2350693"/>
              <a:ext cx="331131" cy="487734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2A9BA76-88F4-E54C-4E54-6C338C0A4E02}"/>
                </a:ext>
              </a:extLst>
            </p:cNvPr>
            <p:cNvSpPr txBox="1"/>
            <p:nvPr/>
          </p:nvSpPr>
          <p:spPr>
            <a:xfrm>
              <a:off x="1297860" y="1188298"/>
              <a:ext cx="737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 . .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A7BBA2-20A5-BC9D-36F2-A30C9FD0A129}"/>
                </a:ext>
              </a:extLst>
            </p:cNvPr>
            <p:cNvSpPr txBox="1"/>
            <p:nvPr/>
          </p:nvSpPr>
          <p:spPr>
            <a:xfrm>
              <a:off x="1307385" y="2298501"/>
              <a:ext cx="627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 . 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258AA32-CAD0-FB27-FEAF-751065A8D8A9}"/>
                </a:ext>
              </a:extLst>
            </p:cNvPr>
            <p:cNvCxnSpPr>
              <a:cxnSpLocks/>
              <a:stCxn id="9" idx="2"/>
              <a:endCxn id="8" idx="0"/>
            </p:cNvCxnSpPr>
            <p:nvPr/>
          </p:nvCxnSpPr>
          <p:spPr>
            <a:xfrm>
              <a:off x="1494863" y="4071111"/>
              <a:ext cx="3" cy="391782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3869CA7-3442-762A-A533-B32D9D3E7A8F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flipH="1">
              <a:off x="1494863" y="5063528"/>
              <a:ext cx="3" cy="50566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54A0E3-B5D9-DAE5-6736-92CB2108F347}"/>
                </a:ext>
              </a:extLst>
            </p:cNvPr>
            <p:cNvSpPr txBox="1"/>
            <p:nvPr/>
          </p:nvSpPr>
          <p:spPr>
            <a:xfrm>
              <a:off x="2098716" y="1226491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Choose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5F42F53-3CEF-B626-D78E-0CA797D842CB}"/>
                </a:ext>
              </a:extLst>
            </p:cNvPr>
            <p:cNvSpPr txBox="1"/>
            <p:nvPr/>
          </p:nvSpPr>
          <p:spPr>
            <a:xfrm>
              <a:off x="1806745" y="2521287"/>
              <a:ext cx="1360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Compete for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B036C1-CCF1-E8F2-1497-C0B0A901957A}"/>
                </a:ext>
              </a:extLst>
            </p:cNvPr>
            <p:cNvSpPr txBox="1"/>
            <p:nvPr/>
          </p:nvSpPr>
          <p:spPr>
            <a:xfrm>
              <a:off x="1574415" y="4084289"/>
              <a:ext cx="975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Evaluate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7490A3D-B0EC-E8A3-9C4A-F765C26ED993}"/>
                </a:ext>
              </a:extLst>
            </p:cNvPr>
            <p:cNvCxnSpPr>
              <a:stCxn id="10" idx="6"/>
            </p:cNvCxnSpPr>
            <p:nvPr/>
          </p:nvCxnSpPr>
          <p:spPr>
            <a:xfrm flipV="1">
              <a:off x="2408003" y="5929556"/>
              <a:ext cx="384331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20A1401-8834-3F24-49F9-59F019404761}"/>
                </a:ext>
              </a:extLst>
            </p:cNvPr>
            <p:cNvSpPr txBox="1"/>
            <p:nvPr/>
          </p:nvSpPr>
          <p:spPr>
            <a:xfrm>
              <a:off x="2806190" y="5607075"/>
              <a:ext cx="10374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Stable</a:t>
              </a:r>
            </a:p>
            <a:p>
              <a:r>
                <a:rPr lang="en-US" dirty="0"/>
                <a:t>Schedule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53ABB4-33D5-EFD5-C678-BCC5947C75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1231" y="4763211"/>
              <a:ext cx="87620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74DBC15-A36C-D4CD-BCE9-D0935043AC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8013" y="2050376"/>
              <a:ext cx="19426" cy="271283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122864F-7570-6C87-2535-2EB863C532A1}"/>
                </a:ext>
              </a:extLst>
            </p:cNvPr>
            <p:cNvCxnSpPr/>
            <p:nvPr/>
          </p:nvCxnSpPr>
          <p:spPr>
            <a:xfrm flipH="1" flipV="1">
              <a:off x="2291231" y="2050376"/>
              <a:ext cx="876208" cy="70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4CB8B31-AEC5-FA1F-2036-AE3D0532D59F}"/>
                </a:ext>
              </a:extLst>
            </p:cNvPr>
            <p:cNvSpPr txBox="1"/>
            <p:nvPr/>
          </p:nvSpPr>
          <p:spPr>
            <a:xfrm>
              <a:off x="2792334" y="3148175"/>
              <a:ext cx="461665" cy="781817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en-US" dirty="0"/>
                <a:t>Update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E3E0EDB-2380-B6C8-C230-CF03CE7D2FEE}"/>
              </a:ext>
            </a:extLst>
          </p:cNvPr>
          <p:cNvSpPr txBox="1"/>
          <p:nvPr/>
        </p:nvSpPr>
        <p:spPr>
          <a:xfrm>
            <a:off x="1572" y="6450505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7 :Game-Theoretic UCSP Solution Process</a:t>
            </a:r>
          </a:p>
        </p:txBody>
      </p:sp>
    </p:spTree>
    <p:extLst>
      <p:ext uri="{BB962C8B-B14F-4D97-AF65-F5344CB8AC3E}">
        <p14:creationId xmlns:p14="http://schemas.microsoft.com/office/powerpoint/2010/main" val="2020564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AA66-B108-FD6C-3AF5-3046304AF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CVRP as Game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C1E4F7-7B46-A86D-9217-821F25EC2727}"/>
              </a:ext>
            </a:extLst>
          </p:cNvPr>
          <p:cNvGraphicFramePr>
            <a:graphicFrameLocks noGrp="1"/>
          </p:cNvGraphicFramePr>
          <p:nvPr/>
        </p:nvGraphicFramePr>
        <p:xfrm>
          <a:off x="3835400" y="1690688"/>
          <a:ext cx="7886700" cy="400212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80903">
                  <a:extLst>
                    <a:ext uri="{9D8B030D-6E8A-4147-A177-3AD203B41FA5}">
                      <a16:colId xmlns:a16="http://schemas.microsoft.com/office/drawing/2014/main" val="2838425476"/>
                    </a:ext>
                  </a:extLst>
                </a:gridCol>
                <a:gridCol w="5905797">
                  <a:extLst>
                    <a:ext uri="{9D8B030D-6E8A-4147-A177-3AD203B41FA5}">
                      <a16:colId xmlns:a16="http://schemas.microsoft.com/office/drawing/2014/main" val="1213153275"/>
                    </a:ext>
                  </a:extLst>
                </a:gridCol>
              </a:tblGrid>
              <a:tr h="606383">
                <a:tc>
                  <a:txBody>
                    <a:bodyPr/>
                    <a:lstStyle/>
                    <a:p>
                      <a:pPr algn="just"/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Vehicles (each acts independently)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801746"/>
                  </a:ext>
                </a:extLst>
              </a:tr>
              <a:tr h="606383">
                <a:tc>
                  <a:txBody>
                    <a:bodyPr/>
                    <a:lstStyle/>
                    <a:p>
                      <a:pPr algn="just"/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Strategies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Choice of customer sequence/routes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533232"/>
                  </a:ext>
                </a:extLst>
              </a:tr>
              <a:tr h="1091489">
                <a:tc>
                  <a:txBody>
                    <a:bodyPr/>
                    <a:lstStyle/>
                    <a:p>
                      <a:pPr algn="just"/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Vehicle capacity, each customer visited once, routes start/end at depot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19155"/>
                  </a:ext>
                </a:extLst>
              </a:tr>
              <a:tr h="606383">
                <a:tc>
                  <a:txBody>
                    <a:bodyPr/>
                    <a:lstStyle/>
                    <a:p>
                      <a:pPr algn="just"/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Payoffs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Minimize individual route cost/distance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888345"/>
                  </a:ext>
                </a:extLst>
              </a:tr>
              <a:tr h="1091489">
                <a:tc>
                  <a:txBody>
                    <a:bodyPr/>
                    <a:lstStyle/>
                    <a:p>
                      <a:pPr algn="just"/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Solution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Nash Equilibrium – no vehicle can improve its route unilaterally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86897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9A1C3-5792-1B74-2645-7ADD860B0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4693AA-79A3-AD7D-389B-FFAC5D5E493A}"/>
              </a:ext>
            </a:extLst>
          </p:cNvPr>
          <p:cNvGrpSpPr/>
          <p:nvPr/>
        </p:nvGrpSpPr>
        <p:grpSpPr>
          <a:xfrm>
            <a:off x="353123" y="471621"/>
            <a:ext cx="3388516" cy="5818298"/>
            <a:chOff x="353123" y="471621"/>
            <a:chExt cx="3388516" cy="581829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9EAACFD-9890-0D6A-9023-687174CC8DF9}"/>
                </a:ext>
              </a:extLst>
            </p:cNvPr>
            <p:cNvSpPr/>
            <p:nvPr/>
          </p:nvSpPr>
          <p:spPr>
            <a:xfrm>
              <a:off x="698500" y="471621"/>
              <a:ext cx="1592731" cy="60063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Agents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79BEEE5-A348-35DE-423C-6E83E4F4B90B}"/>
                </a:ext>
              </a:extLst>
            </p:cNvPr>
            <p:cNvSpPr/>
            <p:nvPr/>
          </p:nvSpPr>
          <p:spPr>
            <a:xfrm>
              <a:off x="698500" y="1750058"/>
              <a:ext cx="1592731" cy="60063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Strategies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ECA3CB6-534A-DA14-1D6D-C8911AB9A44A}"/>
                </a:ext>
              </a:extLst>
            </p:cNvPr>
            <p:cNvSpPr/>
            <p:nvPr/>
          </p:nvSpPr>
          <p:spPr>
            <a:xfrm>
              <a:off x="698500" y="4462893"/>
              <a:ext cx="1592731" cy="60063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Payoffs</a:t>
              </a:r>
            </a:p>
          </p:txBody>
        </p:sp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C706B6EC-E7A7-68BB-8054-B3760E935B59}"/>
                </a:ext>
              </a:extLst>
            </p:cNvPr>
            <p:cNvSpPr/>
            <p:nvPr/>
          </p:nvSpPr>
          <p:spPr>
            <a:xfrm>
              <a:off x="353123" y="2838427"/>
              <a:ext cx="2283479" cy="1232684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Resources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F90BF6C-EC48-C551-23D0-A774CD8BB1EC}"/>
                </a:ext>
              </a:extLst>
            </p:cNvPr>
            <p:cNvSpPr/>
            <p:nvPr/>
          </p:nvSpPr>
          <p:spPr>
            <a:xfrm>
              <a:off x="581722" y="5569194"/>
              <a:ext cx="1826281" cy="72072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Nash Equilibrium </a:t>
              </a:r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35323BC-7D77-CDB4-0AE9-38C02CDD63EE}"/>
                </a:ext>
              </a:extLst>
            </p:cNvPr>
            <p:cNvCxnSpPr>
              <a:cxnSpLocks/>
            </p:cNvCxnSpPr>
            <p:nvPr/>
          </p:nvCxnSpPr>
          <p:spPr>
            <a:xfrm>
              <a:off x="963707" y="1103415"/>
              <a:ext cx="0" cy="646643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4385108-1CE0-C868-F879-08CDBBE07B0B}"/>
                </a:ext>
              </a:extLst>
            </p:cNvPr>
            <p:cNvCxnSpPr>
              <a:cxnSpLocks/>
            </p:cNvCxnSpPr>
            <p:nvPr/>
          </p:nvCxnSpPr>
          <p:spPr>
            <a:xfrm>
              <a:off x="1163732" y="1103415"/>
              <a:ext cx="0" cy="646643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1A2EDC1-D12F-0088-40EC-ADA119846640}"/>
                </a:ext>
              </a:extLst>
            </p:cNvPr>
            <p:cNvCxnSpPr>
              <a:cxnSpLocks/>
            </p:cNvCxnSpPr>
            <p:nvPr/>
          </p:nvCxnSpPr>
          <p:spPr>
            <a:xfrm>
              <a:off x="2040032" y="1072256"/>
              <a:ext cx="0" cy="646643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C175BF7-8392-1809-73FE-0F8583D940A6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887507" y="2350693"/>
              <a:ext cx="607356" cy="487734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26F5933-7DE7-5FF3-8BDA-70239BB85CEF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flipH="1">
              <a:off x="1494863" y="2381852"/>
              <a:ext cx="534384" cy="456575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567C8D5-0EDC-55F1-FADD-C7E321D15768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1163732" y="2350693"/>
              <a:ext cx="331131" cy="487734"/>
            </a:xfrm>
            <a:prstGeom prst="straightConnector1">
              <a:avLst/>
            </a:prstGeom>
            <a:ln w="2540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3739EA-FA0C-59AC-9982-660EA3594247}"/>
                </a:ext>
              </a:extLst>
            </p:cNvPr>
            <p:cNvSpPr txBox="1"/>
            <p:nvPr/>
          </p:nvSpPr>
          <p:spPr>
            <a:xfrm>
              <a:off x="1297860" y="1188298"/>
              <a:ext cx="737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 . .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3C036E-EB8B-986F-ABEC-26B6E9D190CC}"/>
                </a:ext>
              </a:extLst>
            </p:cNvPr>
            <p:cNvSpPr txBox="1"/>
            <p:nvPr/>
          </p:nvSpPr>
          <p:spPr>
            <a:xfrm>
              <a:off x="1307385" y="2298501"/>
              <a:ext cx="627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. . . . 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7ED95CE-A8F4-30C7-64A6-A38FF74FCC62}"/>
                </a:ext>
              </a:extLst>
            </p:cNvPr>
            <p:cNvCxnSpPr>
              <a:cxnSpLocks/>
              <a:stCxn id="10" idx="2"/>
              <a:endCxn id="9" idx="0"/>
            </p:cNvCxnSpPr>
            <p:nvPr/>
          </p:nvCxnSpPr>
          <p:spPr>
            <a:xfrm>
              <a:off x="1494863" y="4071111"/>
              <a:ext cx="3" cy="391782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DFF3DF-FC4B-C969-19BC-F52FF395B42B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 flipH="1">
              <a:off x="1494863" y="5063528"/>
              <a:ext cx="3" cy="50566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FCF2E7F-693F-C5E5-37BF-606871581429}"/>
                </a:ext>
              </a:extLst>
            </p:cNvPr>
            <p:cNvSpPr txBox="1"/>
            <p:nvPr/>
          </p:nvSpPr>
          <p:spPr>
            <a:xfrm>
              <a:off x="2098716" y="1226491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Choose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3094D6-5CDB-A64F-40B7-5251B1A421D3}"/>
                </a:ext>
              </a:extLst>
            </p:cNvPr>
            <p:cNvSpPr txBox="1"/>
            <p:nvPr/>
          </p:nvSpPr>
          <p:spPr>
            <a:xfrm>
              <a:off x="1806745" y="2521287"/>
              <a:ext cx="1360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Compete for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B8E2AF1-BD2C-75B9-DCD2-AF28BD8749CE}"/>
                </a:ext>
              </a:extLst>
            </p:cNvPr>
            <p:cNvSpPr txBox="1"/>
            <p:nvPr/>
          </p:nvSpPr>
          <p:spPr>
            <a:xfrm>
              <a:off x="1574415" y="4084289"/>
              <a:ext cx="975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Evaluate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C46B5C5-DF57-EEC5-9F71-64451D008192}"/>
                </a:ext>
              </a:extLst>
            </p:cNvPr>
            <p:cNvCxnSpPr>
              <a:stCxn id="11" idx="6"/>
            </p:cNvCxnSpPr>
            <p:nvPr/>
          </p:nvCxnSpPr>
          <p:spPr>
            <a:xfrm flipV="1">
              <a:off x="2408003" y="5929556"/>
              <a:ext cx="384331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532838-3307-7D1F-7BF0-2B33EA8A2FA3}"/>
                </a:ext>
              </a:extLst>
            </p:cNvPr>
            <p:cNvSpPr txBox="1"/>
            <p:nvPr/>
          </p:nvSpPr>
          <p:spPr>
            <a:xfrm>
              <a:off x="2806190" y="5607075"/>
              <a:ext cx="93544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Optimal</a:t>
              </a:r>
            </a:p>
            <a:p>
              <a:pPr algn="ctr"/>
              <a:r>
                <a:rPr lang="en-US" dirty="0"/>
                <a:t>Route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273AC43-F859-1552-059A-EE8E99C73288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291231" y="4763211"/>
              <a:ext cx="87620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ACBC34A-2238-9FF3-ED5C-6F7CC51EE6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8013" y="2050376"/>
              <a:ext cx="19426" cy="271283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B8C585A-200C-79AD-6E43-E03D714C079C}"/>
                </a:ext>
              </a:extLst>
            </p:cNvPr>
            <p:cNvCxnSpPr>
              <a:endCxn id="8" idx="3"/>
            </p:cNvCxnSpPr>
            <p:nvPr/>
          </p:nvCxnSpPr>
          <p:spPr>
            <a:xfrm flipH="1" flipV="1">
              <a:off x="2291231" y="2050376"/>
              <a:ext cx="876208" cy="70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90B43A5-0860-E879-D4A3-1DF79A5A5B4D}"/>
                </a:ext>
              </a:extLst>
            </p:cNvPr>
            <p:cNvSpPr txBox="1"/>
            <p:nvPr/>
          </p:nvSpPr>
          <p:spPr>
            <a:xfrm>
              <a:off x="2792334" y="3148175"/>
              <a:ext cx="461665" cy="781817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r>
                <a:rPr lang="en-US" dirty="0"/>
                <a:t>Update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94C6BFD-61DB-AA8E-2E50-31C0328C2C41}"/>
              </a:ext>
            </a:extLst>
          </p:cNvPr>
          <p:cNvSpPr txBox="1"/>
          <p:nvPr/>
        </p:nvSpPr>
        <p:spPr>
          <a:xfrm>
            <a:off x="1572" y="6450505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8 :Game-Theoretic CVRP Solution Process</a:t>
            </a:r>
          </a:p>
        </p:txBody>
      </p:sp>
    </p:spTree>
    <p:extLst>
      <p:ext uri="{BB962C8B-B14F-4D97-AF65-F5344CB8AC3E}">
        <p14:creationId xmlns:p14="http://schemas.microsoft.com/office/powerpoint/2010/main" val="2605121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59681-5C88-B0D9-C1CC-3B6A7510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Work Plan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9AEF3-4F8F-7A6B-AE3F-8C4FD4B96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8" y="2069585"/>
            <a:ext cx="10840963" cy="3524742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20483C-7572-4E2E-3E76-EE24EF79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1FB0-3D03-460B-8407-A4923D3DB7D4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AA9892-A4DF-682A-58C3-F65AA624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C603C-879C-1238-8829-1A1DC5484447}"/>
              </a:ext>
            </a:extLst>
          </p:cNvPr>
          <p:cNvSpPr txBox="1"/>
          <p:nvPr/>
        </p:nvSpPr>
        <p:spPr>
          <a:xfrm>
            <a:off x="3141483" y="6017796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9: Research Work Plan Gantt Chart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344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82E1-70BE-43DF-B046-F5059C075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2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Limitations &amp; Conclusion</a:t>
            </a:r>
            <a:endParaRPr lang="en-US" sz="19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F598B-9214-027D-3497-D59A8CCA6A84}"/>
              </a:ext>
            </a:extLst>
          </p:cNvPr>
          <p:cNvSpPr txBox="1"/>
          <p:nvPr/>
        </p:nvSpPr>
        <p:spPr>
          <a:xfrm>
            <a:off x="2594429" y="1895968"/>
            <a:ext cx="73877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Equilibrium may be suboptimal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 computational cost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Multiple equilibria possible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Convergence slow for large systems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1A503-833F-AD6C-6C03-C0E2F8AF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2466-34FE-47F7-BA0B-C93814443841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1AD9D0-E864-F5D4-B4B6-201E9B25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A627D-D57C-F589-B541-252062CB8850}"/>
              </a:ext>
            </a:extLst>
          </p:cNvPr>
          <p:cNvSpPr txBox="1"/>
          <p:nvPr/>
        </p:nvSpPr>
        <p:spPr>
          <a:xfrm>
            <a:off x="1518920" y="13111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Limitations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46939A-8B8B-A10D-541F-F5F2584CF647}"/>
              </a:ext>
            </a:extLst>
          </p:cNvPr>
          <p:cNvSpPr txBox="1"/>
          <p:nvPr/>
        </p:nvSpPr>
        <p:spPr>
          <a:xfrm>
            <a:off x="1645920" y="390251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BC7471-DA02-334E-099C-28414E6A7771}"/>
              </a:ext>
            </a:extLst>
          </p:cNvPr>
          <p:cNvSpPr txBox="1"/>
          <p:nvPr/>
        </p:nvSpPr>
        <p:spPr>
          <a:xfrm>
            <a:off x="2594429" y="4560042"/>
            <a:ext cx="9047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Game-theoretic approach enables stable multi-agent scheduling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Effective for NP-hard scheduling problems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Achieved conflict-free, stable schedules via Nash equilibrium</a:t>
            </a:r>
          </a:p>
        </p:txBody>
      </p:sp>
    </p:spTree>
    <p:extLst>
      <p:ext uri="{BB962C8B-B14F-4D97-AF65-F5344CB8AC3E}">
        <p14:creationId xmlns:p14="http://schemas.microsoft.com/office/powerpoint/2010/main" val="243292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2E38-0367-6BA3-192C-88330D4D0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D6CE8-6787-7432-B3E7-C46F194C0EDE}"/>
              </a:ext>
            </a:extLst>
          </p:cNvPr>
          <p:cNvSpPr txBox="1"/>
          <p:nvPr/>
        </p:nvSpPr>
        <p:spPr>
          <a:xfrm>
            <a:off x="693549" y="1822497"/>
            <a:ext cx="10852687" cy="454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L. Wei, J. He, Z. Guo, and Z. Hu, “A multi-objective migrating birds optimization algorithm based on game theory for dynamic flexible job shop scheduling problem,”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Expert Systems with Applications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227, p. 120268, 2023,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10.1016/j.eswa.2023.120268.</a:t>
            </a:r>
          </a:p>
          <a:p>
            <a:pPr marL="0" marR="0" algn="just"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 J. Wang, Y. Liu, S. Ren, C. Wang, and W. Wang, “Evolutionary game based real-time scheduling for energy-efficient distributed and flexible job shop,”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 of Cleaner Production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293, p. 126093, 2021,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10.1016/j.jclepro.2021.126093.</a:t>
            </a:r>
          </a:p>
          <a:p>
            <a:pPr marL="0" marR="0" algn="just"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 V. Fischer, M. Pacheco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Paneque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Legrain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R.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Bürgy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“A capacitated multi-vehicle covering tour problem on a road network and its application to waste collection,”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European Journal of Operational Research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315, no. 1, pp. 338–353, 2024,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10.1016/j.ejor.2023.11.040.</a:t>
            </a:r>
          </a:p>
          <a:p>
            <a:pPr marL="0" marR="0" algn="just"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[4] S.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Ceschia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L. Di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Gaspero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Mazzaracchio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G.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Policante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Schaerf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“Solving a real-world nurse rostering problem by Simulated Annealing,”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Operations Research for Health Care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36, p. 100379, 2023,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10.1016/j.orhc.2023.100379.</a:t>
            </a:r>
          </a:p>
          <a:p>
            <a:pPr marL="0" marR="0" algn="just"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[5] M. Davison, 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Kheiri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K. G.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Zografos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“Modelling and solving the university course timetabling problem with hybrid teaching considerations,”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 of Scheduling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28, no. 2, pp. 195–215, 2025,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10.1007/s10951-024-00817-w.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6E247-4885-8FB2-3145-6E556DED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BA67-AF1E-4B4E-A370-5D5BA782FF6A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02D72-F392-1B84-664D-EE058A2F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07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Thank you slide Vectors - Download Free High-Quality Vectors ...">
            <a:extLst>
              <a:ext uri="{FF2B5EF4-FFF2-40B4-BE49-F238E27FC236}">
                <a16:creationId xmlns:a16="http://schemas.microsoft.com/office/drawing/2014/main" id="{00D31B30-33BC-BBF5-89AB-F7641022D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302" y="2314652"/>
            <a:ext cx="3147395" cy="222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DE825-A392-459F-B332-F92D7B15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C03E-2DFD-478D-9A8E-1A5F043CF930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1BE69-3C6E-C9C5-3087-54666B163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5B8A-CAF7-4235-ADDE-AFB48A5BF7C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0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1557</Words>
  <Application>Microsoft Office PowerPoint</Application>
  <PresentationFormat>Widescreen</PresentationFormat>
  <Paragraphs>360</Paragraphs>
  <Slides>29</Slides>
  <Notes>7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Outline </vt:lpstr>
      <vt:lpstr>Introduction </vt:lpstr>
      <vt:lpstr>Problem statement</vt:lpstr>
      <vt:lpstr>Literature Review</vt:lpstr>
      <vt:lpstr>Objectives</vt:lpstr>
      <vt:lpstr>Background Study</vt:lpstr>
      <vt:lpstr>What is Multi-Agent Scheduling?</vt:lpstr>
      <vt:lpstr>What is Game Theory?</vt:lpstr>
      <vt:lpstr>Strategies &amp; Payoffs</vt:lpstr>
      <vt:lpstr>Nash Equilibrium</vt:lpstr>
      <vt:lpstr>Non-Cooperative Game </vt:lpstr>
      <vt:lpstr>Scheduling Problems</vt:lpstr>
      <vt:lpstr>NRP</vt:lpstr>
      <vt:lpstr>UCSP</vt:lpstr>
      <vt:lpstr>CVRP</vt:lpstr>
      <vt:lpstr>Proposed Methodology</vt:lpstr>
      <vt:lpstr>Multi-Agent Architecture</vt:lpstr>
      <vt:lpstr>Methodology</vt:lpstr>
      <vt:lpstr>Game Formulation </vt:lpstr>
      <vt:lpstr>Payoff Function</vt:lpstr>
      <vt:lpstr>Nash Equilibrium</vt:lpstr>
      <vt:lpstr>NRP as Game </vt:lpstr>
      <vt:lpstr>UCSP as Game</vt:lpstr>
      <vt:lpstr>CVRP as Game </vt:lpstr>
      <vt:lpstr>Work Plan</vt:lpstr>
      <vt:lpstr> Limitations &amp; 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Tirtho Mondal</dc:creator>
  <cp:lastModifiedBy>Tirtho Mondal</cp:lastModifiedBy>
  <cp:revision>77</cp:revision>
  <dcterms:created xsi:type="dcterms:W3CDTF">2025-12-12T12:32:40Z</dcterms:created>
  <dcterms:modified xsi:type="dcterms:W3CDTF">2025-12-13T20:37:29Z</dcterms:modified>
</cp:coreProperties>
</file>