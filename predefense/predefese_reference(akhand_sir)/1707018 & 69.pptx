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9" r:id="rId2"/>
    <p:sldId id="280" r:id="rId3"/>
    <p:sldId id="307" r:id="rId4"/>
    <p:sldId id="282" r:id="rId5"/>
    <p:sldId id="295" r:id="rId6"/>
    <p:sldId id="322" r:id="rId7"/>
    <p:sldId id="286" r:id="rId8"/>
    <p:sldId id="308" r:id="rId9"/>
    <p:sldId id="310" r:id="rId10"/>
    <p:sldId id="311" r:id="rId11"/>
    <p:sldId id="313" r:id="rId12"/>
    <p:sldId id="325" r:id="rId13"/>
    <p:sldId id="312" r:id="rId14"/>
    <p:sldId id="314" r:id="rId15"/>
    <p:sldId id="315" r:id="rId16"/>
    <p:sldId id="316" r:id="rId17"/>
    <p:sldId id="323" r:id="rId18"/>
    <p:sldId id="317" r:id="rId19"/>
    <p:sldId id="319" r:id="rId20"/>
    <p:sldId id="318" r:id="rId21"/>
    <p:sldId id="320" r:id="rId22"/>
    <p:sldId id="292" r:id="rId23"/>
    <p:sldId id="309" r:id="rId24"/>
    <p:sldId id="29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009AD-AB86-475D-8144-EAB993D65ABF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CA17D-8DB0-4831-94C5-7BDC94A6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0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78105-9890-459C-9994-39C7A6B05C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3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0BD7-6D27-45E2-A890-FF23797C3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62445-BF31-4D7E-A9B5-7F2687ED5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2C013-B21E-4F85-8666-FC88AF69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CEE04-00AF-419A-8441-79D1946B4ABC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D488D-5895-4457-86CB-9CC4461A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90CC-1358-41CB-BFF0-5A58A660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18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F52F-F965-44B8-8432-5DA0080D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6ACF2-F970-4B43-8E9D-4403F6120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B9B1E-6E2F-407C-BDC6-4EF7D0186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479A-726E-4C67-9D53-485AD6D040E1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FF83-D603-4566-A40C-270CC2F9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F7436-3C37-4E67-814C-20EB5C91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55C8-AFD2-4FD5-9258-98BA08C2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4EA6B-1852-44A5-B5D7-52107CA21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545B-D855-405D-A742-9E1AAC0B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D7F3-3590-41D6-8909-85DB86B7CA93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069B5-29BD-4D33-91C8-D0298BA4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B7B01-F7DE-4CBF-A44C-D8873E42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0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5020-59E5-4A92-950A-EDCC41C4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0B65-4DB5-4162-8161-98A581FBF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FA503-3933-41EC-BEDA-DB9886341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F6444-7CAD-4E7B-9A5D-FDDDC2BA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7CC5-7ABC-48A1-92A2-B19A6FC9E091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F34B0-2D70-40A7-A0D7-4D4BC3F9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F3828-1F4B-4623-8A89-549B9C6B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8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64E9-55E7-42EB-B904-7D767B3F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366-D9B7-4122-960C-BDF60B0C8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1E58B-70AA-44FB-995E-3F3DD485B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D4DEB0-6705-4CA9-9EFF-4A95CF537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46157-BAE2-4B01-9B9F-932790F4B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1CBA2-0B5C-4B0F-B829-A5C5036A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E57FF-0F55-4DFE-BB12-254A48882087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FA6E7-C982-4C41-8D55-4C97A6B63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E4B25-E1E3-4329-84C9-2DA4F9B7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0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63A3-C7FE-4BBB-BDD9-FCEA61DE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74098-F35E-4FD5-AF1D-25080AE9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B957-F6E0-4319-A7E1-F4A0FCB156D8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5FA4E-A8D0-402E-972E-DE26ADE3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41384-5A34-4442-852A-D2BE9A82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0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FD6A8-D69B-4049-BC7C-8BCD9857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2E3C-8BDA-400C-AFB8-50B3BA2291B4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6FCC4-5B91-4B2C-B7C9-191C6A63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C5BD-B6D1-4524-8C3A-D02076F8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ECCB1-A919-442F-9D97-2120CA94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5153E-3077-4EC6-9976-AD0E8937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8F63D-0D3D-44B4-B83F-5E56D8C28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E0DB3-FF1E-4E3E-879C-CC15BDEB6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C702-3FED-4A39-BAD1-DC9EA216A96E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514DC-311A-405E-8042-3201B571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F87C8-4D6A-4B23-8400-611FE745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6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B0DC-DA1A-41A6-B4DE-1B1EB0B4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C354F-E03D-4A57-95C9-700182D89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8F1E5-865F-4476-BD36-8E7F05B89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7252A-03CE-4442-BA9B-C3CD3D31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36AF-5942-4F29-9074-B5412B04080D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D4B8B-201E-4815-893E-659DC101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3651D-7470-4221-AA4B-F13D7A99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2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C37C-CE5F-4A18-955B-3D0FCE24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32296-4838-414D-965E-9D9682E72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4B2E7-100F-4C46-A617-F1133DE7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B8A8-329B-402F-B3E7-EECE2D3951B0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2B4E5-6011-42FB-82F6-B4812AD7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530A-F256-4BC9-B3D5-6F699E68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1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E5CB7-1BA3-4FC5-8353-006BAD196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BA14D-65F0-4280-8A31-2A5F2674E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D4014-DBF2-49FA-85FB-F08F88410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1F98-4F90-4940-B144-837A0814F3FA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ABBE4-E21B-40E8-9DC2-6239B460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071D-9B40-46BD-876A-44BDE067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5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3CFFF-F837-40EE-A5AB-7AF1E8668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AA212-06BC-441D-821D-A7DF7636C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AADCD-45CE-4A89-B940-8EE24E7BD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3F161-ABEE-496A-8DEC-A3E04E721267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626D3-0C50-41C1-8665-8BA52AB7F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E50B-CD1D-40FC-8BD5-279A9AD5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4F498-2F44-47C4-B2AB-2AFBB5B86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08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3.jpe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rrow-exit-right-blue-icon-1292811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computer-science/vehicular-ad-hoc-network" TargetMode="External"/><Relationship Id="rId2" Type="http://schemas.openxmlformats.org/officeDocument/2006/relationships/hyperlink" Target="https://www.flaticon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EF71B0-92BC-404D-92A8-B745F407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272" y="3005334"/>
            <a:ext cx="2063955" cy="23423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3C2CCC-36ED-4367-819F-9E73BC6C2535}"/>
              </a:ext>
            </a:extLst>
          </p:cNvPr>
          <p:cNvSpPr/>
          <p:nvPr/>
        </p:nvSpPr>
        <p:spPr>
          <a:xfrm>
            <a:off x="1948066" y="2712865"/>
            <a:ext cx="7785919" cy="1333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Argha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Chandra Dhar                         Name: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Arna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Roy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Roll: 1707069                                               Roll: 1707018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0A69A1-0400-41A6-BCF4-276C86A8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51200-2C36-4C8B-9DBF-6EFD3C945500}"/>
              </a:ext>
            </a:extLst>
          </p:cNvPr>
          <p:cNvSpPr txBox="1"/>
          <p:nvPr/>
        </p:nvSpPr>
        <p:spPr>
          <a:xfrm>
            <a:off x="0" y="214709"/>
            <a:ext cx="12192000" cy="52322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1"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1" 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CSE 4000: Project/Thesis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E860BCF-46EC-4B6F-8CC9-A5AF51F0F0B2}"/>
              </a:ext>
            </a:extLst>
          </p:cNvPr>
          <p:cNvSpPr txBox="1">
            <a:spLocks/>
          </p:cNvSpPr>
          <p:nvPr/>
        </p:nvSpPr>
        <p:spPr>
          <a:xfrm>
            <a:off x="0" y="706933"/>
            <a:ext cx="12192000" cy="142655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Vehicular Network Security Improvement by Emphasizing Malicious Data Classification Using Cascaded Machine Learning Approach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CE697-AC56-470F-B5F7-05F39A79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0E51-6BC3-49CE-BF44-2CC754D0E997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D920F-CC21-4DD9-8C5D-C9BE3829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F20B5-5DB2-4899-A5C8-A34E8D73C423}"/>
              </a:ext>
            </a:extLst>
          </p:cNvPr>
          <p:cNvSpPr txBox="1"/>
          <p:nvPr/>
        </p:nvSpPr>
        <p:spPr>
          <a:xfrm>
            <a:off x="2706621" y="4045922"/>
            <a:ext cx="626881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Supervised By: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Md.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Haque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Akhand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 University of Engineering &amp; Technology, Khulna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1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A8B6-4C69-4261-B63F-5590AE8B72DC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387C1-21C2-490C-8D02-E3D28794F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8340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Studies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Can science-based video games help kids with autism? – LearningFreely">
            <a:extLst>
              <a:ext uri="{FF2B5EF4-FFF2-40B4-BE49-F238E27FC236}">
                <a16:creationId xmlns:a16="http://schemas.microsoft.com/office/drawing/2014/main" id="{C043AEA4-EA92-427D-86BB-003A1AE05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170" y="2345636"/>
            <a:ext cx="5077384" cy="242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71CC3-92F2-4D83-BEB0-BEC4C60E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9C31-B894-429B-8912-30A9FE1F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FDDE-93D4-4144-B309-9F243E48EC35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BD4D3-E730-4C41-A5E4-7F70482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89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A8B6-4C69-4261-B63F-5590AE8B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8296"/>
            <a:ext cx="10515600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71CC3-92F2-4D83-BEB0-BEC4C60E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9C31-B894-429B-8912-30A9FE1F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FDDE-93D4-4144-B309-9F243E48EC35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BD4D3-E730-4C41-A5E4-7F70482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What is the Background of a Study and How Should it be Written? | Elsevier  Author Services">
            <a:extLst>
              <a:ext uri="{FF2B5EF4-FFF2-40B4-BE49-F238E27FC236}">
                <a16:creationId xmlns:a16="http://schemas.microsoft.com/office/drawing/2014/main" id="{7A656260-8B44-4177-85D3-A41FE3701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065" y="3036404"/>
            <a:ext cx="5681869" cy="276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83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8306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Vehicular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1DEF-AB02-418F-9EB5-743770A5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04" y="1221272"/>
            <a:ext cx="6293127" cy="513507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Vehicular Ad Hoc Networks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VANETs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 to the domain of vehicles.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as car-to-car ad-hoc mobile communication.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the communication between moving vehicles. 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exchange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information.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450C1-BD10-4364-B598-DE9088B90B13}"/>
              </a:ext>
            </a:extLst>
          </p:cNvPr>
          <p:cNvSpPr/>
          <p:nvPr/>
        </p:nvSpPr>
        <p:spPr>
          <a:xfrm>
            <a:off x="8057248" y="5873561"/>
            <a:ext cx="2743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A VANET Model.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608D4C-A199-4034-BE73-076DDC56B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031" y="1396818"/>
            <a:ext cx="5348907" cy="44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9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in VANET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1DEF-AB02-418F-9EB5-743770A5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2058"/>
            <a:ext cx="6843885" cy="507324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threat to privacy.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easy due to frequently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mobility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media usage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VANET vulnerable.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attacks such as: Impersonation, Denial of services, Hijacking, False Information etc.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Systems (IDS)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activity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network. 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Sensors | Free Full-Text | A Survey of Security Services, Attacks, and  Applications for Vehicular Ad Hoc Networks (VANETs) | HTML">
            <a:extLst>
              <a:ext uri="{FF2B5EF4-FFF2-40B4-BE49-F238E27FC236}">
                <a16:creationId xmlns:a16="http://schemas.microsoft.com/office/drawing/2014/main" id="{9C20F962-9D91-4289-A558-B2887019B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885" y="1523999"/>
            <a:ext cx="5348115" cy="435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811BF9-7894-45CD-BE6D-F7E506544FBB}"/>
              </a:ext>
            </a:extLst>
          </p:cNvPr>
          <p:cNvSpPr/>
          <p:nvPr/>
        </p:nvSpPr>
        <p:spPr>
          <a:xfrm>
            <a:off x="7968048" y="5855923"/>
            <a:ext cx="3570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A VANET Security Model.</a:t>
            </a:r>
          </a:p>
        </p:txBody>
      </p:sp>
    </p:spTree>
    <p:extLst>
      <p:ext uri="{BB962C8B-B14F-4D97-AF65-F5344CB8AC3E}">
        <p14:creationId xmlns:p14="http://schemas.microsoft.com/office/powerpoint/2010/main" val="300467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>
            <a:extLst>
              <a:ext uri="{FF2B5EF4-FFF2-40B4-BE49-F238E27FC236}">
                <a16:creationId xmlns:a16="http://schemas.microsoft.com/office/drawing/2014/main" id="{60799414-4BC0-462F-A42E-7245E3DE6DDA}"/>
              </a:ext>
            </a:extLst>
          </p:cNvPr>
          <p:cNvSpPr/>
          <p:nvPr/>
        </p:nvSpPr>
        <p:spPr>
          <a:xfrm>
            <a:off x="6096000" y="3000763"/>
            <a:ext cx="3268542" cy="89832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8FAADA-DE3E-4BAA-B8E5-8D4AD2EF0A9A}"/>
              </a:ext>
            </a:extLst>
          </p:cNvPr>
          <p:cNvSpPr/>
          <p:nvPr/>
        </p:nvSpPr>
        <p:spPr>
          <a:xfrm>
            <a:off x="6079620" y="3089027"/>
            <a:ext cx="3268542" cy="6854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Breach and Consequences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 descr="Simple Car Icon Vector Flat Hatchback Stock Vector (Royalty Free)  1069643351 | Shutterstock">
            <a:extLst>
              <a:ext uri="{FF2B5EF4-FFF2-40B4-BE49-F238E27FC236}">
                <a16:creationId xmlns:a16="http://schemas.microsoft.com/office/drawing/2014/main" id="{0B5D875A-A6C8-470C-92B6-3F419C3CE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4" t="30445" r="4268" b="36572"/>
          <a:stretch/>
        </p:blipFill>
        <p:spPr bwMode="auto">
          <a:xfrm>
            <a:off x="583334" y="3449923"/>
            <a:ext cx="2143125" cy="85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Small Car - Free transport icons">
            <a:extLst>
              <a:ext uri="{FF2B5EF4-FFF2-40B4-BE49-F238E27FC236}">
                <a16:creationId xmlns:a16="http://schemas.microsoft.com/office/drawing/2014/main" id="{A36D7A20-C1F3-4B08-AB8F-FB8549AB8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26" b="18928"/>
          <a:stretch/>
        </p:blipFill>
        <p:spPr bwMode="auto">
          <a:xfrm>
            <a:off x="9982200" y="4661849"/>
            <a:ext cx="1967533" cy="128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mall Car - Free transport icons">
            <a:extLst>
              <a:ext uri="{FF2B5EF4-FFF2-40B4-BE49-F238E27FC236}">
                <a16:creationId xmlns:a16="http://schemas.microsoft.com/office/drawing/2014/main" id="{8412D368-5AEF-4A10-83FF-496C0F9CED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26" b="18928"/>
          <a:stretch/>
        </p:blipFill>
        <p:spPr bwMode="auto">
          <a:xfrm>
            <a:off x="10015019" y="4704873"/>
            <a:ext cx="1901894" cy="124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75,989 Cyber Attack Icon Images, Stock Photos &amp; Vectors | Shutterstock">
            <a:extLst>
              <a:ext uri="{FF2B5EF4-FFF2-40B4-BE49-F238E27FC236}">
                <a16:creationId xmlns:a16="http://schemas.microsoft.com/office/drawing/2014/main" id="{B37551A8-9878-4658-963E-3C9FEC8CC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t="10739" r="10064" b="15814"/>
          <a:stretch/>
        </p:blipFill>
        <p:spPr bwMode="auto">
          <a:xfrm>
            <a:off x="716816" y="1773516"/>
            <a:ext cx="1308827" cy="131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puter - Free computer icons">
            <a:extLst>
              <a:ext uri="{FF2B5EF4-FFF2-40B4-BE49-F238E27FC236}">
                <a16:creationId xmlns:a16="http://schemas.microsoft.com/office/drawing/2014/main" id="{3AABA02D-032E-43EB-A05B-77FC1330D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508" y="1371674"/>
            <a:ext cx="731952" cy="73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omputer - Free computer icons">
            <a:extLst>
              <a:ext uri="{FF2B5EF4-FFF2-40B4-BE49-F238E27FC236}">
                <a16:creationId xmlns:a16="http://schemas.microsoft.com/office/drawing/2014/main" id="{C6755216-5F37-4D9E-8C07-6BDA54D1B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508" y="2105286"/>
            <a:ext cx="731952" cy="73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Computer - Free computer icons">
            <a:extLst>
              <a:ext uri="{FF2B5EF4-FFF2-40B4-BE49-F238E27FC236}">
                <a16:creationId xmlns:a16="http://schemas.microsoft.com/office/drawing/2014/main" id="{AB9D21A9-62B4-4F65-AFDF-91D823C94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508" y="3023412"/>
            <a:ext cx="731952" cy="73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dentity and Credential Management for Vehicular Communication Systems">
            <a:extLst>
              <a:ext uri="{FF2B5EF4-FFF2-40B4-BE49-F238E27FC236}">
                <a16:creationId xmlns:a16="http://schemas.microsoft.com/office/drawing/2014/main" id="{007F55E6-282B-4C56-9E0B-21B32E5EA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745" y="1431567"/>
            <a:ext cx="1174292" cy="193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20E453-92B1-49E4-96CE-920C4AD948B2}"/>
              </a:ext>
            </a:extLst>
          </p:cNvPr>
          <p:cNvCxnSpPr>
            <a:cxnSpLocks/>
            <a:stCxn id="1032" idx="3"/>
            <a:endCxn id="1034" idx="1"/>
          </p:cNvCxnSpPr>
          <p:nvPr/>
        </p:nvCxnSpPr>
        <p:spPr>
          <a:xfrm flipV="1">
            <a:off x="2025643" y="1737650"/>
            <a:ext cx="1973865" cy="693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C11BDB-9C2C-4111-85F5-BBFD988DE23E}"/>
              </a:ext>
            </a:extLst>
          </p:cNvPr>
          <p:cNvCxnSpPr>
            <a:cxnSpLocks/>
            <a:stCxn id="1032" idx="3"/>
            <a:endCxn id="18" idx="1"/>
          </p:cNvCxnSpPr>
          <p:nvPr/>
        </p:nvCxnSpPr>
        <p:spPr>
          <a:xfrm>
            <a:off x="2025643" y="2431272"/>
            <a:ext cx="1973865" cy="399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8DF97A-E944-49F9-BA55-5CF54DE22A00}"/>
              </a:ext>
            </a:extLst>
          </p:cNvPr>
          <p:cNvCxnSpPr>
            <a:cxnSpLocks/>
            <a:stCxn id="1032" idx="3"/>
            <a:endCxn id="19" idx="1"/>
          </p:cNvCxnSpPr>
          <p:nvPr/>
        </p:nvCxnSpPr>
        <p:spPr>
          <a:xfrm>
            <a:off x="2025643" y="2431272"/>
            <a:ext cx="1973865" cy="958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F52796C-38D1-4DBB-AAA6-7D97FB328741}"/>
              </a:ext>
            </a:extLst>
          </p:cNvPr>
          <p:cNvCxnSpPr>
            <a:cxnSpLocks/>
            <a:stCxn id="18" idx="3"/>
            <a:endCxn id="1036" idx="1"/>
          </p:cNvCxnSpPr>
          <p:nvPr/>
        </p:nvCxnSpPr>
        <p:spPr>
          <a:xfrm flipV="1">
            <a:off x="4731460" y="2397841"/>
            <a:ext cx="2395285" cy="734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41F21E-41A1-4495-B45C-8528D366D2C1}"/>
              </a:ext>
            </a:extLst>
          </p:cNvPr>
          <p:cNvCxnSpPr>
            <a:cxnSpLocks/>
            <a:stCxn id="1034" idx="3"/>
            <a:endCxn id="1036" idx="1"/>
          </p:cNvCxnSpPr>
          <p:nvPr/>
        </p:nvCxnSpPr>
        <p:spPr>
          <a:xfrm>
            <a:off x="4731460" y="1737650"/>
            <a:ext cx="2395285" cy="6601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BDB1AE-08F5-4156-B14D-6F56DC9C7EA9}"/>
              </a:ext>
            </a:extLst>
          </p:cNvPr>
          <p:cNvCxnSpPr>
            <a:cxnSpLocks/>
            <a:stCxn id="19" idx="3"/>
            <a:endCxn id="1036" idx="1"/>
          </p:cNvCxnSpPr>
          <p:nvPr/>
        </p:nvCxnSpPr>
        <p:spPr>
          <a:xfrm flipV="1">
            <a:off x="4731460" y="2397841"/>
            <a:ext cx="2395285" cy="991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2" name="Picture 2" descr="Small Car - Free transport icons">
            <a:extLst>
              <a:ext uri="{FF2B5EF4-FFF2-40B4-BE49-F238E27FC236}">
                <a16:creationId xmlns:a16="http://schemas.microsoft.com/office/drawing/2014/main" id="{9CC67888-BB74-4C2D-B2FF-417B73B09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26" b="18928"/>
          <a:stretch/>
        </p:blipFill>
        <p:spPr bwMode="auto">
          <a:xfrm>
            <a:off x="1371229" y="4762388"/>
            <a:ext cx="1814146" cy="118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4" descr="Premium Vector | Boom explosion icon vector illustration design">
            <a:extLst>
              <a:ext uri="{FF2B5EF4-FFF2-40B4-BE49-F238E27FC236}">
                <a16:creationId xmlns:a16="http://schemas.microsoft.com/office/drawing/2014/main" id="{115C6BBE-1FA0-4A73-993A-E0E80EA480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3" t="22388" r="21569" b="25942"/>
          <a:stretch/>
        </p:blipFill>
        <p:spPr bwMode="auto">
          <a:xfrm>
            <a:off x="2812694" y="4054122"/>
            <a:ext cx="768706" cy="68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B32C1375-81B8-4453-B907-DE8917956800}"/>
              </a:ext>
            </a:extLst>
          </p:cNvPr>
          <p:cNvSpPr/>
          <p:nvPr/>
        </p:nvSpPr>
        <p:spPr>
          <a:xfrm>
            <a:off x="2745091" y="4076362"/>
            <a:ext cx="1481010" cy="64470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Warning!!! Accidents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CC462C-29B8-4513-8C48-0FF219F6F0A5}"/>
              </a:ext>
            </a:extLst>
          </p:cNvPr>
          <p:cNvSpPr/>
          <p:nvPr/>
        </p:nvSpPr>
        <p:spPr>
          <a:xfrm>
            <a:off x="2165317" y="2337144"/>
            <a:ext cx="274807" cy="215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D56F47E-A033-4B6C-983B-9A350C74F9FB}"/>
              </a:ext>
            </a:extLst>
          </p:cNvPr>
          <p:cNvSpPr/>
          <p:nvPr/>
        </p:nvSpPr>
        <p:spPr>
          <a:xfrm>
            <a:off x="2165137" y="2329161"/>
            <a:ext cx="274807" cy="215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4ED2B75-96E5-4F90-A42D-668413BF798A}"/>
              </a:ext>
            </a:extLst>
          </p:cNvPr>
          <p:cNvSpPr/>
          <p:nvPr/>
        </p:nvSpPr>
        <p:spPr>
          <a:xfrm>
            <a:off x="2165318" y="2312121"/>
            <a:ext cx="274807" cy="215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CCFFBD0-75D3-4CC5-A584-18E1BC6231DF}"/>
              </a:ext>
            </a:extLst>
          </p:cNvPr>
          <p:cNvSpPr/>
          <p:nvPr/>
        </p:nvSpPr>
        <p:spPr>
          <a:xfrm>
            <a:off x="4790460" y="1694247"/>
            <a:ext cx="274807" cy="215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DE98C3-DBA0-4D6A-9F30-AA74D91ABC5E}"/>
              </a:ext>
            </a:extLst>
          </p:cNvPr>
          <p:cNvSpPr/>
          <p:nvPr/>
        </p:nvSpPr>
        <p:spPr>
          <a:xfrm>
            <a:off x="4771826" y="2353134"/>
            <a:ext cx="274807" cy="215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D7C8EDD-DAE8-493A-9212-A5569A83C651}"/>
              </a:ext>
            </a:extLst>
          </p:cNvPr>
          <p:cNvSpPr/>
          <p:nvPr/>
        </p:nvSpPr>
        <p:spPr>
          <a:xfrm>
            <a:off x="4784940" y="3210681"/>
            <a:ext cx="274807" cy="2154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4C8C74-DDF6-45F8-913A-6C98551FCD9B}"/>
              </a:ext>
            </a:extLst>
          </p:cNvPr>
          <p:cNvCxnSpPr>
            <a:cxnSpLocks/>
          </p:cNvCxnSpPr>
          <p:nvPr/>
        </p:nvCxnSpPr>
        <p:spPr>
          <a:xfrm flipV="1">
            <a:off x="7911523" y="1882575"/>
            <a:ext cx="699077" cy="512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5045114-472B-4BCA-9A38-8EA27D7F0744}"/>
              </a:ext>
            </a:extLst>
          </p:cNvPr>
          <p:cNvSpPr txBox="1"/>
          <p:nvPr/>
        </p:nvSpPr>
        <p:spPr>
          <a:xfrm>
            <a:off x="8610600" y="1638388"/>
            <a:ext cx="1901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Side Unit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C95BC7-7C12-4937-8818-7DDFDEE9E635}"/>
              </a:ext>
            </a:extLst>
          </p:cNvPr>
          <p:cNvSpPr txBox="1"/>
          <p:nvPr/>
        </p:nvSpPr>
        <p:spPr>
          <a:xfrm>
            <a:off x="7126745" y="3444493"/>
            <a:ext cx="1341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 Area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211368-36C5-495B-9E1F-CDB9A365C1D1}"/>
              </a:ext>
            </a:extLst>
          </p:cNvPr>
          <p:cNvCxnSpPr>
            <a:stCxn id="14" idx="0"/>
            <a:endCxn id="73" idx="6"/>
          </p:cNvCxnSpPr>
          <p:nvPr/>
        </p:nvCxnSpPr>
        <p:spPr>
          <a:xfrm flipH="1" flipV="1">
            <a:off x="9364542" y="3449923"/>
            <a:ext cx="1601424" cy="12549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Speech Bubble: Rectangle 74">
            <a:extLst>
              <a:ext uri="{FF2B5EF4-FFF2-40B4-BE49-F238E27FC236}">
                <a16:creationId xmlns:a16="http://schemas.microsoft.com/office/drawing/2014/main" id="{997EE404-6EA5-489B-BD83-3DDEB0AAA614}"/>
              </a:ext>
            </a:extLst>
          </p:cNvPr>
          <p:cNvSpPr/>
          <p:nvPr/>
        </p:nvSpPr>
        <p:spPr>
          <a:xfrm>
            <a:off x="9729024" y="3194823"/>
            <a:ext cx="1715630" cy="44082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Signal!!!</a:t>
            </a:r>
          </a:p>
        </p:txBody>
      </p:sp>
      <p:pic>
        <p:nvPicPr>
          <p:cNvPr id="1040" name="Picture 16" descr="Premium Vector | Boom explosion icon vector illustration design">
            <a:extLst>
              <a:ext uri="{FF2B5EF4-FFF2-40B4-BE49-F238E27FC236}">
                <a16:creationId xmlns:a16="http://schemas.microsoft.com/office/drawing/2014/main" id="{A8159108-BDAA-4C05-BC26-A17FDA3EE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9" t="20907" r="20152" b="21842"/>
          <a:stretch/>
        </p:blipFill>
        <p:spPr bwMode="auto">
          <a:xfrm>
            <a:off x="4551799" y="4472522"/>
            <a:ext cx="583920" cy="51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9FBBAA-1DF7-495F-A4DC-1E14519B4586}"/>
              </a:ext>
            </a:extLst>
          </p:cNvPr>
          <p:cNvSpPr txBox="1"/>
          <p:nvPr/>
        </p:nvSpPr>
        <p:spPr>
          <a:xfrm>
            <a:off x="2053015" y="5306668"/>
            <a:ext cx="450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6808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-0.57865 0.00023 " pathEditMode="relative" rAng="0" ptsTypes="AA">
                                      <p:cBhvr>
                                        <p:cTn id="1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2 0.00394 L 0.15352 0.145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29" y="7083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03 0.00625 L 0.15781 -0.10787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86" y="-571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16185 0.0016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8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0.16979 0.08681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4329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7037E-6 L 0.18191 -0.00417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89" y="-208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0.16666 -0.12778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85185E-6 L -0.43646 -0.00254 " pathEditMode="relative" rAng="0" ptsTypes="AA">
                                      <p:cBhvr>
                                        <p:cTn id="113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23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10" grpId="0" animBg="1"/>
      <p:bldP spid="48" grpId="0" animBg="1"/>
      <p:bldP spid="49" grpId="0" animBg="1"/>
      <p:bldP spid="49" grpId="1" animBg="1"/>
      <p:bldP spid="49" grpId="2" animBg="1"/>
      <p:bldP spid="59" grpId="0" animBg="1"/>
      <p:bldP spid="59" grpId="1" animBg="1"/>
      <p:bldP spid="59" grpId="2" animBg="1"/>
      <p:bldP spid="60" grpId="0" animBg="1"/>
      <p:bldP spid="60" grpId="1" animBg="1"/>
      <p:bldP spid="60" grpId="2" animBg="1"/>
      <p:bldP spid="69" grpId="0" animBg="1"/>
      <p:bldP spid="69" grpId="1" animBg="1"/>
      <p:bldP spid="69" grpId="2" animBg="1"/>
      <p:bldP spid="71" grpId="0" animBg="1"/>
      <p:bldP spid="71" grpId="1" animBg="1"/>
      <p:bldP spid="71" grpId="2" animBg="1"/>
      <p:bldP spid="72" grpId="0" animBg="1"/>
      <p:bldP spid="72" grpId="1" animBg="1"/>
      <p:bldP spid="72" grpId="2" animBg="1"/>
      <p:bldP spid="63" grpId="0"/>
      <p:bldP spid="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6B75-9A20-4908-BD34-97961ED0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716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Works on VANET Security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CB771-AA03-478E-B319-4E95D4EE2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09849"/>
              </p:ext>
            </p:extLst>
          </p:nvPr>
        </p:nvGraphicFramePr>
        <p:xfrm>
          <a:off x="231912" y="1114027"/>
          <a:ext cx="11728175" cy="4915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27513">
                  <a:extLst>
                    <a:ext uri="{9D8B030D-6E8A-4147-A177-3AD203B41FA5}">
                      <a16:colId xmlns:a16="http://schemas.microsoft.com/office/drawing/2014/main" val="1680598385"/>
                    </a:ext>
                  </a:extLst>
                </a:gridCol>
                <a:gridCol w="6781763">
                  <a:extLst>
                    <a:ext uri="{9D8B030D-6E8A-4147-A177-3AD203B41FA5}">
                      <a16:colId xmlns:a16="http://schemas.microsoft.com/office/drawing/2014/main" val="2197165206"/>
                    </a:ext>
                  </a:extLst>
                </a:gridCol>
                <a:gridCol w="1818899">
                  <a:extLst>
                    <a:ext uri="{9D8B030D-6E8A-4147-A177-3AD203B41FA5}">
                      <a16:colId xmlns:a16="http://schemas.microsoft.com/office/drawing/2014/main" val="538352117"/>
                    </a:ext>
                  </a:extLst>
                </a:gridCol>
              </a:tblGrid>
              <a:tr h="5687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Authors, Year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extLst>
                  <a:ext uri="{0D108BD9-81ED-4DB2-BD59-A6C34878D82A}">
                    <a16:rowId xmlns:a16="http://schemas.microsoft.com/office/drawing/2014/main" val="4141345816"/>
                  </a:ext>
                </a:extLst>
              </a:tr>
              <a:tr h="10504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baseline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Song at al., 2020 [1]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In-vehicle network intrusion detection using deep convolutional neural network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 (CNN)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extLst>
                  <a:ext uri="{0D108BD9-81ED-4DB2-BD59-A6C34878D82A}">
                    <a16:rowId xmlns:a16="http://schemas.microsoft.com/office/drawing/2014/main" val="3975562683"/>
                  </a:ext>
                </a:extLst>
              </a:tr>
              <a:tr h="763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Ullah et al., 2022 [2]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HDL-IDS: A Hybrid Deep Learning Architecture for Intrusion Detection in the Internet of Vehicles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GRU  hybrid model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extLst>
                  <a:ext uri="{0D108BD9-81ED-4DB2-BD59-A6C34878D82A}">
                    <a16:rowId xmlns:a16="http://schemas.microsoft.com/office/drawing/2014/main" val="1899397386"/>
                  </a:ext>
                </a:extLst>
              </a:tr>
              <a:tr h="7200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Nazakat</a:t>
                      </a:r>
                      <a:r>
                        <a:rPr lang="en-US" sz="2000" b="0" i="0" u="none" strike="noStrike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Khurshid, 2019 [3]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System for In-Vehicular Communication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extLst>
                  <a:ext uri="{0D108BD9-81ED-4DB2-BD59-A6C34878D82A}">
                    <a16:rowId xmlns:a16="http://schemas.microsoft.com/office/drawing/2014/main" val="3749384727"/>
                  </a:ext>
                </a:extLst>
              </a:tr>
              <a:tr h="762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Barletta et al., 2020 [4]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for in-Vehicle Communication Networks: An Unsupervised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Kohonen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SOM Approach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 Organized Map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extLst>
                  <a:ext uri="{0D108BD9-81ED-4DB2-BD59-A6C34878D82A}">
                    <a16:rowId xmlns:a16="http://schemas.microsoft.com/office/drawing/2014/main" val="1065131016"/>
                  </a:ext>
                </a:extLst>
              </a:tr>
              <a:tr h="10504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Ashraf et al., 2021 [5]</a:t>
                      </a: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Novel Deep Learning-Enabled LSTM Autoencoder Architecture for Discovering Anomalous Events From Intelligent Transportation Systems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415" marR="18415" marT="27305" marB="2730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 + Autoencoder</a:t>
                      </a:r>
                    </a:p>
                  </a:txBody>
                  <a:tcPr marL="18415" marR="18415" marT="27305" marB="27305" anchor="ctr"/>
                </a:tc>
                <a:extLst>
                  <a:ext uri="{0D108BD9-81ED-4DB2-BD59-A6C34878D82A}">
                    <a16:rowId xmlns:a16="http://schemas.microsoft.com/office/drawing/2014/main" val="173545547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67298-DC17-4B8C-8303-4761012E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6040-E90D-4B39-8648-B081EA13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4D9C4B-6050-4383-A0FE-BFCEE4FC5E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9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Shortcomings of Other Works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417FA5-527D-4407-B9B1-B4A6AF0D2F85}"/>
              </a:ext>
            </a:extLst>
          </p:cNvPr>
          <p:cNvGrpSpPr/>
          <p:nvPr/>
        </p:nvGrpSpPr>
        <p:grpSpPr>
          <a:xfrm>
            <a:off x="2002115" y="2972190"/>
            <a:ext cx="7873823" cy="977415"/>
            <a:chOff x="934731" y="2731977"/>
            <a:chExt cx="7873823" cy="97741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8789B76-E9AC-4423-B1BC-4582523296C6}"/>
                </a:ext>
              </a:extLst>
            </p:cNvPr>
            <p:cNvGrpSpPr/>
            <p:nvPr/>
          </p:nvGrpSpPr>
          <p:grpSpPr>
            <a:xfrm>
              <a:off x="2255352" y="2731977"/>
              <a:ext cx="6553202" cy="977415"/>
              <a:chOff x="5188224" y="1887628"/>
              <a:chExt cx="6553202" cy="1273504"/>
            </a:xfrm>
          </p:grpSpPr>
          <p:pic>
            <p:nvPicPr>
              <p:cNvPr id="29" name="Picture 2" descr="Simple Style Ppt Flow Chart Element, Information Flow, Business Work,  Vectors Graphic PNG and Vector with Transparent Background for Free Download">
                <a:extLst>
                  <a:ext uri="{FF2B5EF4-FFF2-40B4-BE49-F238E27FC236}">
                    <a16:creationId xmlns:a16="http://schemas.microsoft.com/office/drawing/2014/main" id="{AC92AA4A-8D42-4350-9B1B-F6A50A7FE6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719" t="11193" r="11703" b="69237"/>
              <a:stretch/>
            </p:blipFill>
            <p:spPr bwMode="auto">
              <a:xfrm>
                <a:off x="5188224" y="1887628"/>
                <a:ext cx="6553202" cy="12735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F6EA40-2132-425B-876E-54F0D17E0098}"/>
                  </a:ext>
                </a:extLst>
              </p:cNvPr>
              <p:cNvSpPr txBox="1"/>
              <p:nvPr/>
            </p:nvSpPr>
            <p:spPr>
              <a:xfrm>
                <a:off x="5342715" y="2207590"/>
                <a:ext cx="6241737" cy="601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Existing methods are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p:grpSp>
        <p:pic>
          <p:nvPicPr>
            <p:cNvPr id="26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D35070BA-2EB6-41F1-BC0F-4EB4F6F3E8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731" y="2748292"/>
              <a:ext cx="1320621" cy="9064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6F4D0E-3FFA-4137-B5A9-8F6C2276A47D}"/>
              </a:ext>
            </a:extLst>
          </p:cNvPr>
          <p:cNvGrpSpPr/>
          <p:nvPr/>
        </p:nvGrpSpPr>
        <p:grpSpPr>
          <a:xfrm>
            <a:off x="2028869" y="4381768"/>
            <a:ext cx="8134261" cy="922719"/>
            <a:chOff x="1087131" y="2884377"/>
            <a:chExt cx="8134261" cy="92271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C9CF018-E039-4B89-ADFC-494AD7F0DC5E}"/>
                </a:ext>
              </a:extLst>
            </p:cNvPr>
            <p:cNvGrpSpPr/>
            <p:nvPr/>
          </p:nvGrpSpPr>
          <p:grpSpPr>
            <a:xfrm>
              <a:off x="2405270" y="2884377"/>
              <a:ext cx="6816122" cy="758308"/>
              <a:chOff x="5185742" y="1887629"/>
              <a:chExt cx="6816122" cy="988023"/>
            </a:xfrm>
          </p:grpSpPr>
          <p:pic>
            <p:nvPicPr>
              <p:cNvPr id="38" name="Picture 2" descr="Simple Style Ppt Flow Chart Element, Information Flow, Business Work,  Vectors Graphic PNG and Vector with Transparent Background for Free Download">
                <a:extLst>
                  <a:ext uri="{FF2B5EF4-FFF2-40B4-BE49-F238E27FC236}">
                    <a16:creationId xmlns:a16="http://schemas.microsoft.com/office/drawing/2014/main" id="{8BED7B63-304A-425E-BDCC-20D1012415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719" t="11193" r="11703" b="69237"/>
              <a:stretch/>
            </p:blipFill>
            <p:spPr bwMode="auto">
              <a:xfrm>
                <a:off x="5185742" y="1887629"/>
                <a:ext cx="6555684" cy="9880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394D2BB-174C-4419-B018-4AE86A32CEAB}"/>
                  </a:ext>
                </a:extLst>
              </p:cNvPr>
              <p:cNvSpPr txBox="1"/>
              <p:nvPr/>
            </p:nvSpPr>
            <p:spPr>
              <a:xfrm>
                <a:off x="5760127" y="2092180"/>
                <a:ext cx="6241737" cy="601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</a:t>
                </a:r>
                <a:r>
                  <a:rPr 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attack 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emphasize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0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E16A97F9-B44A-443E-80FF-7A7B7ADEB7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131" y="2900692"/>
              <a:ext cx="1320621" cy="9064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AA0525-B439-43EF-938F-0F3E172C4E23}"/>
              </a:ext>
            </a:extLst>
          </p:cNvPr>
          <p:cNvGrpSpPr/>
          <p:nvPr/>
        </p:nvGrpSpPr>
        <p:grpSpPr>
          <a:xfrm>
            <a:off x="2002115" y="1350215"/>
            <a:ext cx="7873823" cy="1147119"/>
            <a:chOff x="934731" y="1250300"/>
            <a:chExt cx="7873823" cy="114711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7C3B9E8-8FDA-42B6-925F-7CDBA7816C37}"/>
                </a:ext>
              </a:extLst>
            </p:cNvPr>
            <p:cNvGrpSpPr/>
            <p:nvPr/>
          </p:nvGrpSpPr>
          <p:grpSpPr>
            <a:xfrm>
              <a:off x="2255352" y="1250300"/>
              <a:ext cx="6553202" cy="1147119"/>
              <a:chOff x="5188224" y="1887628"/>
              <a:chExt cx="6553202" cy="1147119"/>
            </a:xfrm>
          </p:grpSpPr>
          <p:pic>
            <p:nvPicPr>
              <p:cNvPr id="24" name="Picture 2" descr="Simple Style Ppt Flow Chart Element, Information Flow, Business Work,  Vectors Graphic PNG and Vector with Transparent Background for Free Download">
                <a:extLst>
                  <a:ext uri="{FF2B5EF4-FFF2-40B4-BE49-F238E27FC236}">
                    <a16:creationId xmlns:a16="http://schemas.microsoft.com/office/drawing/2014/main" id="{D28F419E-91AF-4593-9398-6A1BADA99E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719" t="11193" r="11703" b="69237"/>
              <a:stretch/>
            </p:blipFill>
            <p:spPr bwMode="auto">
              <a:xfrm>
                <a:off x="5188224" y="1887628"/>
                <a:ext cx="6553202" cy="11471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BFD5F6-ADD2-4850-8784-E5ED56ECDF53}"/>
                  </a:ext>
                </a:extLst>
              </p:cNvPr>
              <p:cNvSpPr txBox="1"/>
              <p:nvPr/>
            </p:nvSpPr>
            <p:spPr>
              <a:xfrm>
                <a:off x="5578347" y="2229267"/>
                <a:ext cx="6045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work on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perspective of Bangladesh</a:t>
                </a:r>
              </a:p>
            </p:txBody>
          </p:sp>
        </p:grpSp>
        <p:pic>
          <p:nvPicPr>
            <p:cNvPr id="25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7538591C-734C-4DFC-AB90-F7C210F70E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731" y="1418833"/>
              <a:ext cx="1320621" cy="9064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2179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Motivations for this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Arrow Pointing Right PPT Slide 1">
            <a:extLst>
              <a:ext uri="{FF2B5EF4-FFF2-40B4-BE49-F238E27FC236}">
                <a16:creationId xmlns:a16="http://schemas.microsoft.com/office/drawing/2014/main" id="{4C4B8C7F-1C7C-47DD-A0A7-7B8068936D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t="17076" r="69670" b="62474"/>
          <a:stretch/>
        </p:blipFill>
        <p:spPr bwMode="auto">
          <a:xfrm>
            <a:off x="1462286" y="1095989"/>
            <a:ext cx="1133712" cy="88000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2DB7795-197F-4712-8A19-12862FB35130}"/>
              </a:ext>
            </a:extLst>
          </p:cNvPr>
          <p:cNvGrpSpPr/>
          <p:nvPr/>
        </p:nvGrpSpPr>
        <p:grpSpPr>
          <a:xfrm>
            <a:off x="2940533" y="975550"/>
            <a:ext cx="7667831" cy="1093354"/>
            <a:chOff x="2625586" y="1419236"/>
            <a:chExt cx="7356614" cy="1482989"/>
          </a:xfrm>
        </p:grpSpPr>
        <p:pic>
          <p:nvPicPr>
            <p:cNvPr id="12" name="Picture 2" descr="Arrow Pointing Right PPT Slide 1">
              <a:extLst>
                <a:ext uri="{FF2B5EF4-FFF2-40B4-BE49-F238E27FC236}">
                  <a16:creationId xmlns:a16="http://schemas.microsoft.com/office/drawing/2014/main" id="{0EFF8BEB-DBB9-46C2-8D43-9666C792BA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3" t="17564" r="28437" b="61807"/>
            <a:stretch/>
          </p:blipFill>
          <p:spPr bwMode="auto">
            <a:xfrm>
              <a:off x="2625586" y="1419236"/>
              <a:ext cx="7356614" cy="1482989"/>
            </a:xfrm>
            <a:prstGeom prst="homePlat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D65186-8F76-4199-AC5D-CEFDBAF7D18D}"/>
                </a:ext>
              </a:extLst>
            </p:cNvPr>
            <p:cNvSpPr/>
            <p:nvPr/>
          </p:nvSpPr>
          <p:spPr>
            <a:xfrm>
              <a:off x="2756135" y="1446826"/>
              <a:ext cx="6345307" cy="139219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Cascaded Machine Learning (ML) Model emphasis on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learning attacks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two a step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</a:t>
              </a:r>
            </a:p>
          </p:txBody>
        </p:sp>
      </p:grpSp>
      <p:pic>
        <p:nvPicPr>
          <p:cNvPr id="14" name="Picture 2" descr="Arrow Pointing Right PPT Slide 1">
            <a:extLst>
              <a:ext uri="{FF2B5EF4-FFF2-40B4-BE49-F238E27FC236}">
                <a16:creationId xmlns:a16="http://schemas.microsoft.com/office/drawing/2014/main" id="{BE09C0D4-62B7-41C2-886D-F5084D790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t="17076" r="69670" b="62474"/>
          <a:stretch/>
        </p:blipFill>
        <p:spPr bwMode="auto">
          <a:xfrm>
            <a:off x="1462286" y="2197492"/>
            <a:ext cx="1133712" cy="88000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6DD5DC5-F104-4DF1-9D16-A65BD2597BBE}"/>
              </a:ext>
            </a:extLst>
          </p:cNvPr>
          <p:cNvGrpSpPr/>
          <p:nvPr/>
        </p:nvGrpSpPr>
        <p:grpSpPr>
          <a:xfrm>
            <a:off x="2940532" y="2147709"/>
            <a:ext cx="7667831" cy="1000690"/>
            <a:chOff x="2625586" y="1383084"/>
            <a:chExt cx="7356614" cy="1482989"/>
          </a:xfrm>
        </p:grpSpPr>
        <p:pic>
          <p:nvPicPr>
            <p:cNvPr id="16" name="Picture 2" descr="Arrow Pointing Right PPT Slide 1">
              <a:extLst>
                <a:ext uri="{FF2B5EF4-FFF2-40B4-BE49-F238E27FC236}">
                  <a16:creationId xmlns:a16="http://schemas.microsoft.com/office/drawing/2014/main" id="{6ECB1568-DB1C-4248-9CF7-FCAB92826D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3" t="17564" r="28437" b="61807"/>
            <a:stretch/>
          </p:blipFill>
          <p:spPr bwMode="auto">
            <a:xfrm>
              <a:off x="2625586" y="1383084"/>
              <a:ext cx="7356614" cy="1482989"/>
            </a:xfrm>
            <a:prstGeom prst="homePlat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FDD5E9-E6DB-4BC9-94B1-430B330C71E6}"/>
                </a:ext>
              </a:extLst>
            </p:cNvPr>
            <p:cNvSpPr/>
            <p:nvPr/>
          </p:nvSpPr>
          <p:spPr>
            <a:xfrm>
              <a:off x="2756136" y="1513156"/>
              <a:ext cx="6345307" cy="11700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given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not to misclassify attacks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 Normal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D796C9-68B1-43CF-984B-CB5C21D98E98}"/>
              </a:ext>
            </a:extLst>
          </p:cNvPr>
          <p:cNvGrpSpPr/>
          <p:nvPr/>
        </p:nvGrpSpPr>
        <p:grpSpPr>
          <a:xfrm>
            <a:off x="2940532" y="3227204"/>
            <a:ext cx="7664518" cy="1000690"/>
            <a:chOff x="2625586" y="1419236"/>
            <a:chExt cx="7356614" cy="1482989"/>
          </a:xfrm>
        </p:grpSpPr>
        <p:pic>
          <p:nvPicPr>
            <p:cNvPr id="22" name="Picture 2" descr="Arrow Pointing Right PPT Slide 1">
              <a:extLst>
                <a:ext uri="{FF2B5EF4-FFF2-40B4-BE49-F238E27FC236}">
                  <a16:creationId xmlns:a16="http://schemas.microsoft.com/office/drawing/2014/main" id="{949C3B76-52F8-46E7-8EE4-782D27D3DF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3" t="17564" r="28437" b="61807"/>
            <a:stretch/>
          </p:blipFill>
          <p:spPr bwMode="auto">
            <a:xfrm>
              <a:off x="2625586" y="1419236"/>
              <a:ext cx="7356614" cy="1482989"/>
            </a:xfrm>
            <a:prstGeom prst="homePlat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B2F438-EC4B-406F-A31A-CB7CCFF1D664}"/>
                </a:ext>
              </a:extLst>
            </p:cNvPr>
            <p:cNvSpPr/>
            <p:nvPr/>
          </p:nvSpPr>
          <p:spPr>
            <a:xfrm>
              <a:off x="2758935" y="1565226"/>
              <a:ext cx="6345307" cy="11700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Simple ML model with different framework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4" name="Picture 2" descr="Arrow Pointing Right PPT Slide 1">
            <a:extLst>
              <a:ext uri="{FF2B5EF4-FFF2-40B4-BE49-F238E27FC236}">
                <a16:creationId xmlns:a16="http://schemas.microsoft.com/office/drawing/2014/main" id="{8C2401BB-D562-452C-BA7A-2D9BEBBF8E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t="17076" r="69670" b="62474"/>
          <a:stretch/>
        </p:blipFill>
        <p:spPr bwMode="auto">
          <a:xfrm>
            <a:off x="1462286" y="3263480"/>
            <a:ext cx="1133712" cy="88000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rrow Pointing Right PPT Slide 1">
            <a:extLst>
              <a:ext uri="{FF2B5EF4-FFF2-40B4-BE49-F238E27FC236}">
                <a16:creationId xmlns:a16="http://schemas.microsoft.com/office/drawing/2014/main" id="{3EAA1BD7-8F66-4801-967C-F1DEE8919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t="17076" r="69670" b="62474"/>
          <a:stretch/>
        </p:blipFill>
        <p:spPr bwMode="auto">
          <a:xfrm>
            <a:off x="1462286" y="4298735"/>
            <a:ext cx="1133712" cy="88000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D707054-5EF1-41E2-8106-DE9591EB23A9}"/>
              </a:ext>
            </a:extLst>
          </p:cNvPr>
          <p:cNvGrpSpPr/>
          <p:nvPr/>
        </p:nvGrpSpPr>
        <p:grpSpPr>
          <a:xfrm>
            <a:off x="2940532" y="4326405"/>
            <a:ext cx="7664518" cy="1000690"/>
            <a:chOff x="2625586" y="1419236"/>
            <a:chExt cx="7356614" cy="1482989"/>
          </a:xfrm>
        </p:grpSpPr>
        <p:pic>
          <p:nvPicPr>
            <p:cNvPr id="27" name="Picture 2" descr="Arrow Pointing Right PPT Slide 1">
              <a:extLst>
                <a:ext uri="{FF2B5EF4-FFF2-40B4-BE49-F238E27FC236}">
                  <a16:creationId xmlns:a16="http://schemas.microsoft.com/office/drawing/2014/main" id="{BB56A994-019C-4475-BFFA-4679FE78FD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3" t="17564" r="28437" b="61807"/>
            <a:stretch/>
          </p:blipFill>
          <p:spPr bwMode="auto">
            <a:xfrm>
              <a:off x="2625586" y="1419236"/>
              <a:ext cx="7356614" cy="1482989"/>
            </a:xfrm>
            <a:prstGeom prst="homePlat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957E33-1E45-4BD4-956D-457E55D292E4}"/>
                </a:ext>
              </a:extLst>
            </p:cNvPr>
            <p:cNvSpPr/>
            <p:nvPr/>
          </p:nvSpPr>
          <p:spPr>
            <a:xfrm>
              <a:off x="2758935" y="1565226"/>
              <a:ext cx="6345307" cy="117007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system would be applicable in Bangladesh under certain conditions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E4A8850-B50C-4106-8278-69689E34129B}"/>
              </a:ext>
            </a:extLst>
          </p:cNvPr>
          <p:cNvGrpSpPr/>
          <p:nvPr/>
        </p:nvGrpSpPr>
        <p:grpSpPr>
          <a:xfrm>
            <a:off x="321980" y="5553576"/>
            <a:ext cx="11977523" cy="576293"/>
            <a:chOff x="4737547" y="5819942"/>
            <a:chExt cx="11989283" cy="57629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264A7E-A45F-4595-8DB5-49C418E43EE9}"/>
                </a:ext>
              </a:extLst>
            </p:cNvPr>
            <p:cNvSpPr/>
            <p:nvPr/>
          </p:nvSpPr>
          <p:spPr>
            <a:xfrm>
              <a:off x="5147915" y="5819942"/>
              <a:ext cx="115789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Before going to main Methodology, we tried NSL-KDD and simulated own dataset </a:t>
              </a:r>
            </a:p>
          </p:txBody>
        </p:sp>
        <p:pic>
          <p:nvPicPr>
            <p:cNvPr id="31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E7B92521-C138-43FC-BEDF-7D792780B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7547" y="5859055"/>
              <a:ext cx="820735" cy="537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3542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A8B6-4C69-4261-B63F-5590AE8B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8296"/>
            <a:ext cx="10515600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71CC3-92F2-4D83-BEB0-BEC4C60E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10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9C31-B894-429B-8912-30A9FE1F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FDDE-93D4-4144-B309-9F243E48EC35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BD4D3-E730-4C41-A5E4-7F70482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Training on Research Methodology - Data Management and Analysis | Devimpact  Institute">
            <a:extLst>
              <a:ext uri="{FF2B5EF4-FFF2-40B4-BE49-F238E27FC236}">
                <a16:creationId xmlns:a16="http://schemas.microsoft.com/office/drawing/2014/main" id="{3D234CB7-60CB-4FDF-8576-4C00B66E4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03" y="2951921"/>
            <a:ext cx="6130994" cy="306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081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37" y="77292"/>
            <a:ext cx="10515600" cy="81134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390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Procedure </a:t>
            </a:r>
            <a:r>
              <a:rPr lang="en-US" sz="39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Experiment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848" y="6418953"/>
            <a:ext cx="2743200" cy="365125"/>
          </a:xfrm>
        </p:spPr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3646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321D8B-61C5-4CCC-8C75-73D19C507B60}"/>
              </a:ext>
            </a:extLst>
          </p:cNvPr>
          <p:cNvGrpSpPr/>
          <p:nvPr/>
        </p:nvGrpSpPr>
        <p:grpSpPr>
          <a:xfrm>
            <a:off x="255159" y="1515595"/>
            <a:ext cx="2533066" cy="2143482"/>
            <a:chOff x="255159" y="1515595"/>
            <a:chExt cx="2533066" cy="21434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1BF44B6-3C33-4473-9D55-A9841C47C9D0}"/>
                </a:ext>
              </a:extLst>
            </p:cNvPr>
            <p:cNvSpPr/>
            <p:nvPr/>
          </p:nvSpPr>
          <p:spPr>
            <a:xfrm>
              <a:off x="255159" y="3228190"/>
              <a:ext cx="2533066" cy="430887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 Hacking Dataset</a:t>
              </a:r>
            </a:p>
          </p:txBody>
        </p:sp>
        <p:pic>
          <p:nvPicPr>
            <p:cNvPr id="3076" name="Picture 4" descr="dataset Icon - Free PNG &amp; SVG 2200230 - Noun Project">
              <a:extLst>
                <a:ext uri="{FF2B5EF4-FFF2-40B4-BE49-F238E27FC236}">
                  <a16:creationId xmlns:a16="http://schemas.microsoft.com/office/drawing/2014/main" id="{1C258711-9D45-4EE4-A1C4-2DBED4B7D8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31" t="3564" r="8261" b="8088"/>
            <a:stretch/>
          </p:blipFill>
          <p:spPr bwMode="auto">
            <a:xfrm>
              <a:off x="757537" y="1515595"/>
              <a:ext cx="1497495" cy="16830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61967A-6832-4505-9800-2572D0169769}"/>
              </a:ext>
            </a:extLst>
          </p:cNvPr>
          <p:cNvGrpSpPr/>
          <p:nvPr/>
        </p:nvGrpSpPr>
        <p:grpSpPr>
          <a:xfrm>
            <a:off x="10167158" y="3663950"/>
            <a:ext cx="1871378" cy="2235885"/>
            <a:chOff x="10086965" y="3668196"/>
            <a:chExt cx="1871378" cy="2235885"/>
          </a:xfrm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01802538-49C3-4513-AA77-F2EE33B5C263}"/>
                </a:ext>
              </a:extLst>
            </p:cNvPr>
            <p:cNvSpPr/>
            <p:nvPr/>
          </p:nvSpPr>
          <p:spPr>
            <a:xfrm rot="5400000">
              <a:off x="10683622" y="3793128"/>
              <a:ext cx="470676" cy="2208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90" name="Picture 18" descr="RAM's Machine Learning techniques">
              <a:extLst>
                <a:ext uri="{FF2B5EF4-FFF2-40B4-BE49-F238E27FC236}">
                  <a16:creationId xmlns:a16="http://schemas.microsoft.com/office/drawing/2014/main" id="{63795932-818D-45FE-8C91-1A50524A9A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31" t="24167" r="59902" b="796"/>
            <a:stretch/>
          </p:blipFill>
          <p:spPr bwMode="auto">
            <a:xfrm>
              <a:off x="10238587" y="4247096"/>
              <a:ext cx="1489998" cy="1249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10FE23F-2A9F-4818-B750-E8E3CFC31E6F}"/>
                </a:ext>
              </a:extLst>
            </p:cNvPr>
            <p:cNvSpPr/>
            <p:nvPr/>
          </p:nvSpPr>
          <p:spPr>
            <a:xfrm>
              <a:off x="10086965" y="5473194"/>
              <a:ext cx="1871378" cy="43088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CFED8B-6E67-4CB7-91CF-B5B0E60F02E7}"/>
              </a:ext>
            </a:extLst>
          </p:cNvPr>
          <p:cNvGrpSpPr/>
          <p:nvPr/>
        </p:nvGrpSpPr>
        <p:grpSpPr>
          <a:xfrm>
            <a:off x="4228271" y="4247096"/>
            <a:ext cx="5723855" cy="1441540"/>
            <a:chOff x="4228271" y="4247096"/>
            <a:chExt cx="5723855" cy="1441540"/>
          </a:xfrm>
        </p:grpSpPr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2B7D22E7-5D90-412A-BD14-938B223DE244}"/>
                </a:ext>
              </a:extLst>
            </p:cNvPr>
            <p:cNvSpPr/>
            <p:nvPr/>
          </p:nvSpPr>
          <p:spPr>
            <a:xfrm flipH="1">
              <a:off x="8892208" y="4918604"/>
              <a:ext cx="1059918" cy="3651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848429B-42EF-4950-99B9-2469C0921635}"/>
                </a:ext>
              </a:extLst>
            </p:cNvPr>
            <p:cNvGrpSpPr/>
            <p:nvPr/>
          </p:nvGrpSpPr>
          <p:grpSpPr>
            <a:xfrm>
              <a:off x="4228271" y="4247096"/>
              <a:ext cx="4623778" cy="1441540"/>
              <a:chOff x="4597893" y="4443400"/>
              <a:chExt cx="4292278" cy="960954"/>
            </a:xfrm>
          </p:grpSpPr>
          <p:pic>
            <p:nvPicPr>
              <p:cNvPr id="31" name="Picture 14" descr="RAM's Machine Learning techniques">
                <a:extLst>
                  <a:ext uri="{FF2B5EF4-FFF2-40B4-BE49-F238E27FC236}">
                    <a16:creationId xmlns:a16="http://schemas.microsoft.com/office/drawing/2014/main" id="{0817A19E-E9F3-4D81-A160-896317EC9D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750" t="17811" r="34512" b="4234"/>
              <a:stretch/>
            </p:blipFill>
            <p:spPr bwMode="auto">
              <a:xfrm rot="16200000">
                <a:off x="7928043" y="3951948"/>
                <a:ext cx="470675" cy="14535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14" descr="RAM's Machine Learning techniques">
                <a:extLst>
                  <a:ext uri="{FF2B5EF4-FFF2-40B4-BE49-F238E27FC236}">
                    <a16:creationId xmlns:a16="http://schemas.microsoft.com/office/drawing/2014/main" id="{864AB7F6-A488-46E4-B9BF-70F5F03F3D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750" t="17811" r="34512" b="4234"/>
              <a:stretch/>
            </p:blipFill>
            <p:spPr bwMode="auto">
              <a:xfrm rot="16200000">
                <a:off x="7928043" y="4442227"/>
                <a:ext cx="470675" cy="14535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7EC45A5-96EE-4708-9874-50F572339738}"/>
                  </a:ext>
                </a:extLst>
              </p:cNvPr>
              <p:cNvSpPr/>
              <p:nvPr/>
            </p:nvSpPr>
            <p:spPr>
              <a:xfrm>
                <a:off x="4597893" y="4502618"/>
                <a:ext cx="2801415" cy="2872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 ML Model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2E70A93-87FC-4BD8-BEEF-EE6A91C77C2F}"/>
                  </a:ext>
                </a:extLst>
              </p:cNvPr>
              <p:cNvSpPr/>
              <p:nvPr/>
            </p:nvSpPr>
            <p:spPr>
              <a:xfrm>
                <a:off x="5029279" y="5044643"/>
                <a:ext cx="2370029" cy="2872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Cascaded ML Model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2D526F-EF85-426F-975B-630029DB186D}"/>
              </a:ext>
            </a:extLst>
          </p:cNvPr>
          <p:cNvGrpSpPr/>
          <p:nvPr/>
        </p:nvGrpSpPr>
        <p:grpSpPr>
          <a:xfrm>
            <a:off x="39628" y="3838318"/>
            <a:ext cx="3576640" cy="1955327"/>
            <a:chOff x="39628" y="3838318"/>
            <a:chExt cx="2917374" cy="1955327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32EBDEF6-3CB7-426B-953D-2E9F5F263402}"/>
                </a:ext>
              </a:extLst>
            </p:cNvPr>
            <p:cNvSpPr/>
            <p:nvPr/>
          </p:nvSpPr>
          <p:spPr>
            <a:xfrm flipH="1">
              <a:off x="2154289" y="4856452"/>
              <a:ext cx="802713" cy="3651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720EA13-B04D-4098-98D6-3A539B488284}"/>
                </a:ext>
              </a:extLst>
            </p:cNvPr>
            <p:cNvGrpSpPr/>
            <p:nvPr/>
          </p:nvGrpSpPr>
          <p:grpSpPr>
            <a:xfrm>
              <a:off x="39628" y="3838318"/>
              <a:ext cx="2200246" cy="1955327"/>
              <a:chOff x="39628" y="3851722"/>
              <a:chExt cx="2019489" cy="2150358"/>
            </a:xfrm>
          </p:grpSpPr>
          <p:pic>
            <p:nvPicPr>
              <p:cNvPr id="3092" name="Picture 20" descr="Classification Algorithm in Machine Learning - Javatpoint">
                <a:extLst>
                  <a:ext uri="{FF2B5EF4-FFF2-40B4-BE49-F238E27FC236}">
                    <a16:creationId xmlns:a16="http://schemas.microsoft.com/office/drawing/2014/main" id="{539A5704-0B9D-4C0F-8AA9-80A1040B8F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09" r="3054" b="6494"/>
              <a:stretch/>
            </p:blipFill>
            <p:spPr bwMode="auto">
              <a:xfrm>
                <a:off x="39628" y="3851722"/>
                <a:ext cx="2019489" cy="1686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DE04A93-62E7-4A22-B24E-33DB2A03E7F9}"/>
                  </a:ext>
                </a:extLst>
              </p:cNvPr>
              <p:cNvSpPr/>
              <p:nvPr/>
            </p:nvSpPr>
            <p:spPr>
              <a:xfrm>
                <a:off x="376752" y="5571193"/>
                <a:ext cx="1345240" cy="43088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Prediction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233BFB-868A-4747-B18F-6AE014F16EAE}"/>
              </a:ext>
            </a:extLst>
          </p:cNvPr>
          <p:cNvGrpSpPr/>
          <p:nvPr/>
        </p:nvGrpSpPr>
        <p:grpSpPr>
          <a:xfrm>
            <a:off x="2400811" y="5855643"/>
            <a:ext cx="7390379" cy="563309"/>
            <a:chOff x="3670918" y="5855644"/>
            <a:chExt cx="7390379" cy="56330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308F207-2D6E-4AF9-A3B0-6662283D5723}"/>
                </a:ext>
              </a:extLst>
            </p:cNvPr>
            <p:cNvSpPr/>
            <p:nvPr/>
          </p:nvSpPr>
          <p:spPr>
            <a:xfrm>
              <a:off x="4538486" y="5913456"/>
              <a:ext cx="65228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Cascaded ML Model is the proposed model </a:t>
              </a:r>
            </a:p>
          </p:txBody>
        </p:sp>
        <p:pic>
          <p:nvPicPr>
            <p:cNvPr id="49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048A26C9-B66C-427E-9339-9C38E012A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0918" y="5855644"/>
              <a:ext cx="820735" cy="563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4E3588-E474-40FD-9545-617767A29786}"/>
              </a:ext>
            </a:extLst>
          </p:cNvPr>
          <p:cNvGrpSpPr/>
          <p:nvPr/>
        </p:nvGrpSpPr>
        <p:grpSpPr>
          <a:xfrm>
            <a:off x="2093042" y="925814"/>
            <a:ext cx="7068839" cy="2914403"/>
            <a:chOff x="2093042" y="925814"/>
            <a:chExt cx="7068839" cy="29144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F17DB5C-BEF5-468F-A9B0-A826EB5DE0DA}"/>
                </a:ext>
              </a:extLst>
            </p:cNvPr>
            <p:cNvGrpSpPr/>
            <p:nvPr/>
          </p:nvGrpSpPr>
          <p:grpSpPr>
            <a:xfrm>
              <a:off x="2093042" y="925814"/>
              <a:ext cx="7068839" cy="2914403"/>
              <a:chOff x="2093042" y="925814"/>
              <a:chExt cx="7068839" cy="291440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223BBAE-DAC9-4E7B-B054-9C3C5DF2C2C6}"/>
                  </a:ext>
                </a:extLst>
              </p:cNvPr>
              <p:cNvGrpSpPr/>
              <p:nvPr/>
            </p:nvGrpSpPr>
            <p:grpSpPr>
              <a:xfrm>
                <a:off x="2093042" y="925814"/>
                <a:ext cx="7068839" cy="2914403"/>
                <a:chOff x="1929532" y="927065"/>
                <a:chExt cx="7068839" cy="2914403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1ADD521-C19C-450C-8FEF-415893AF0D14}"/>
                    </a:ext>
                  </a:extLst>
                </p:cNvPr>
                <p:cNvSpPr/>
                <p:nvPr/>
              </p:nvSpPr>
              <p:spPr>
                <a:xfrm>
                  <a:off x="2793492" y="927065"/>
                  <a:ext cx="6204879" cy="2914403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078" name="Picture 6" descr="Deep NLP: Word Vectors with Word2Vec | by Harsha Bommana | Deep Learning  Demystified | Medium">
                  <a:extLst>
                    <a:ext uri="{FF2B5EF4-FFF2-40B4-BE49-F238E27FC236}">
                      <a16:creationId xmlns:a16="http://schemas.microsoft.com/office/drawing/2014/main" id="{274FA8BA-A6F1-4873-857B-0A77218E3DE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510" t="27534" r="82617" b="5441"/>
                <a:stretch/>
              </p:blipFill>
              <p:spPr bwMode="auto">
                <a:xfrm>
                  <a:off x="7803004" y="1307146"/>
                  <a:ext cx="689430" cy="175007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FDB59422-D99D-433B-B17E-C080E950FA61}"/>
                    </a:ext>
                  </a:extLst>
                </p:cNvPr>
                <p:cNvSpPr/>
                <p:nvPr/>
              </p:nvSpPr>
              <p:spPr>
                <a:xfrm>
                  <a:off x="7263633" y="3083800"/>
                  <a:ext cx="1681862" cy="738664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One hot Encoding</a:t>
                  </a:r>
                </a:p>
              </p:txBody>
            </p:sp>
            <p:sp>
              <p:nvSpPr>
                <p:cNvPr id="13" name="Arrow: Right 12">
                  <a:extLst>
                    <a:ext uri="{FF2B5EF4-FFF2-40B4-BE49-F238E27FC236}">
                      <a16:creationId xmlns:a16="http://schemas.microsoft.com/office/drawing/2014/main" id="{FFF1DAB3-78F3-4BFD-A6F0-AFB7850C186A}"/>
                    </a:ext>
                  </a:extLst>
                </p:cNvPr>
                <p:cNvSpPr/>
                <p:nvPr/>
              </p:nvSpPr>
              <p:spPr>
                <a:xfrm>
                  <a:off x="1929532" y="2275817"/>
                  <a:ext cx="1178512" cy="36512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080" name="Picture 8" descr="Normalization in Deep learning">
                  <a:extLst>
                    <a:ext uri="{FF2B5EF4-FFF2-40B4-BE49-F238E27FC236}">
                      <a16:creationId xmlns:a16="http://schemas.microsoft.com/office/drawing/2014/main" id="{8C76665F-BD88-47EE-8738-07430F66A6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511" t="31282" r="9734" b="18704"/>
                <a:stretch/>
              </p:blipFill>
              <p:spPr bwMode="auto">
                <a:xfrm>
                  <a:off x="5650052" y="1901037"/>
                  <a:ext cx="1289008" cy="10796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679C0CF-5766-46F2-A8D7-7484066AF396}"/>
                    </a:ext>
                  </a:extLst>
                </p:cNvPr>
                <p:cNvSpPr/>
                <p:nvPr/>
              </p:nvSpPr>
              <p:spPr>
                <a:xfrm>
                  <a:off x="5447070" y="3138669"/>
                  <a:ext cx="1548822" cy="415498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1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Normalizing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6F68469-BFD4-49D8-874E-C32BF5783DBE}"/>
                    </a:ext>
                  </a:extLst>
                </p:cNvPr>
                <p:cNvSpPr/>
                <p:nvPr/>
              </p:nvSpPr>
              <p:spPr>
                <a:xfrm>
                  <a:off x="4637499" y="992500"/>
                  <a:ext cx="2589981" cy="430887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 Preprocessing</a:t>
                  </a:r>
                </a:p>
              </p:txBody>
            </p:sp>
            <p:sp>
              <p:nvSpPr>
                <p:cNvPr id="15" name="Arrow: Right 14">
                  <a:extLst>
                    <a:ext uri="{FF2B5EF4-FFF2-40B4-BE49-F238E27FC236}">
                      <a16:creationId xmlns:a16="http://schemas.microsoft.com/office/drawing/2014/main" id="{2C3476EB-2468-44E6-BCEE-4291F65DBE9F}"/>
                    </a:ext>
                  </a:extLst>
                </p:cNvPr>
                <p:cNvSpPr/>
                <p:nvPr/>
              </p:nvSpPr>
              <p:spPr>
                <a:xfrm>
                  <a:off x="5098775" y="2359976"/>
                  <a:ext cx="511627" cy="365125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2050" name="Picture 2" descr="Account, alert, attention, check, invalid, profile, warning icon - Download  on Iconfinder">
                <a:extLst>
                  <a:ext uri="{FF2B5EF4-FFF2-40B4-BE49-F238E27FC236}">
                    <a16:creationId xmlns:a16="http://schemas.microsoft.com/office/drawing/2014/main" id="{F0B93A3B-D2EC-4EE5-915D-D19C4F068D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1202" y="1837153"/>
                <a:ext cx="1751435" cy="11268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B238007-D735-4405-A1B4-ED6C79569375}"/>
                  </a:ext>
                </a:extLst>
              </p:cNvPr>
              <p:cNvSpPr/>
              <p:nvPr/>
            </p:nvSpPr>
            <p:spPr>
              <a:xfrm>
                <a:off x="3189400" y="3038838"/>
                <a:ext cx="2295294" cy="73866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Invalid Data Remove</a:t>
                </a:r>
              </a:p>
            </p:txBody>
          </p:sp>
        </p:grp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87E691FE-3213-4CBF-BE77-FB1B4C143705}"/>
                </a:ext>
              </a:extLst>
            </p:cNvPr>
            <p:cNvSpPr/>
            <p:nvPr/>
          </p:nvSpPr>
          <p:spPr>
            <a:xfrm>
              <a:off x="7286205" y="2386460"/>
              <a:ext cx="511627" cy="3651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AD6F84-A4F2-42E6-830A-25C243D31208}"/>
              </a:ext>
            </a:extLst>
          </p:cNvPr>
          <p:cNvGrpSpPr/>
          <p:nvPr/>
        </p:nvGrpSpPr>
        <p:grpSpPr>
          <a:xfrm>
            <a:off x="9229053" y="1595462"/>
            <a:ext cx="2958284" cy="2034047"/>
            <a:chOff x="9229053" y="1595462"/>
            <a:chExt cx="2958284" cy="203404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16575B0-B79B-4F0E-983A-B1B863E6C49F}"/>
                </a:ext>
              </a:extLst>
            </p:cNvPr>
            <p:cNvGrpSpPr/>
            <p:nvPr/>
          </p:nvGrpSpPr>
          <p:grpSpPr>
            <a:xfrm>
              <a:off x="9444137" y="1595462"/>
              <a:ext cx="2743200" cy="1405463"/>
              <a:chOff x="7991495" y="1743155"/>
              <a:chExt cx="2855632" cy="1454086"/>
            </a:xfrm>
          </p:grpSpPr>
          <p:pic>
            <p:nvPicPr>
              <p:cNvPr id="3084" name="Picture 12" descr="Machine Learning Splitting Data Store, 69% OFF | nonoo.ee">
                <a:extLst>
                  <a:ext uri="{FF2B5EF4-FFF2-40B4-BE49-F238E27FC236}">
                    <a16:creationId xmlns:a16="http://schemas.microsoft.com/office/drawing/2014/main" id="{461E909B-46A3-453C-966E-A4985861D4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4" t="-3828" r="58779" b="32103"/>
              <a:stretch/>
            </p:blipFill>
            <p:spPr bwMode="auto">
              <a:xfrm>
                <a:off x="7991495" y="1743155"/>
                <a:ext cx="2855632" cy="1454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C90E29-8C0A-46CD-80B8-5865C4A85EBA}"/>
                  </a:ext>
                </a:extLst>
              </p:cNvPr>
              <p:cNvSpPr txBox="1"/>
              <p:nvPr/>
            </p:nvSpPr>
            <p:spPr>
              <a:xfrm>
                <a:off x="9741468" y="2136836"/>
                <a:ext cx="7288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80%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5E28DD-DBCC-4E13-A680-7C2DD61296AF}"/>
                  </a:ext>
                </a:extLst>
              </p:cNvPr>
              <p:cNvSpPr txBox="1"/>
              <p:nvPr/>
            </p:nvSpPr>
            <p:spPr>
              <a:xfrm>
                <a:off x="9741468" y="2773671"/>
                <a:ext cx="8636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20%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4EBEBB-879C-4E01-A78A-2F982ECA8787}"/>
                </a:ext>
              </a:extLst>
            </p:cNvPr>
            <p:cNvSpPr/>
            <p:nvPr/>
          </p:nvSpPr>
          <p:spPr>
            <a:xfrm>
              <a:off x="10238587" y="3198622"/>
              <a:ext cx="1489998" cy="43088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Splitting</a:t>
              </a: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E013A90A-A147-449B-8679-19327C348A70}"/>
                </a:ext>
              </a:extLst>
            </p:cNvPr>
            <p:cNvSpPr/>
            <p:nvPr/>
          </p:nvSpPr>
          <p:spPr>
            <a:xfrm>
              <a:off x="9229053" y="2389729"/>
              <a:ext cx="511627" cy="3651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608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39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Technique for the Proposed Model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06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91D470-AF6F-4AD9-92D7-37CFC4B22CD3}"/>
              </a:ext>
            </a:extLst>
          </p:cNvPr>
          <p:cNvSpPr/>
          <p:nvPr/>
        </p:nvSpPr>
        <p:spPr>
          <a:xfrm>
            <a:off x="3851432" y="6084432"/>
            <a:ext cx="54869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Proposed Cascaded Framework Architecture.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F07A79C-5621-4802-9FF2-3F28D17223DF}"/>
              </a:ext>
            </a:extLst>
          </p:cNvPr>
          <p:cNvGrpSpPr/>
          <p:nvPr/>
        </p:nvGrpSpPr>
        <p:grpSpPr>
          <a:xfrm>
            <a:off x="678471" y="1030301"/>
            <a:ext cx="10216020" cy="5088835"/>
            <a:chOff x="-77730" y="252110"/>
            <a:chExt cx="10766729" cy="5987163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F7D10A9-E034-43F3-88D3-F94EB9E177CB}"/>
                </a:ext>
              </a:extLst>
            </p:cNvPr>
            <p:cNvSpPr/>
            <p:nvPr/>
          </p:nvSpPr>
          <p:spPr>
            <a:xfrm>
              <a:off x="7583560" y="1576733"/>
              <a:ext cx="1083238" cy="64694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ML</a:t>
              </a:r>
              <a:r>
                <a:rPr lang="en-US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Attack</a:t>
              </a:r>
              <a:r>
                <a:rPr lang="en-US" dirty="0"/>
                <a:t> </a:t>
              </a:r>
              <a:endPara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5" name="Picture 2" descr="Dataset Icons - Free SVG &amp; PNG Dataset Images - Noun Project">
              <a:extLst>
                <a:ext uri="{FF2B5EF4-FFF2-40B4-BE49-F238E27FC236}">
                  <a16:creationId xmlns:a16="http://schemas.microsoft.com/office/drawing/2014/main" id="{046EFCF0-DE94-43D5-AAE5-73349889C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7730" y="2845021"/>
              <a:ext cx="1235628" cy="1264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6ABDAEE-6948-4C6B-970B-8D65F12966AF}"/>
                </a:ext>
              </a:extLst>
            </p:cNvPr>
            <p:cNvSpPr txBox="1"/>
            <p:nvPr/>
          </p:nvSpPr>
          <p:spPr>
            <a:xfrm>
              <a:off x="145371" y="4077126"/>
              <a:ext cx="74662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00CE0C7B-074F-48F6-9A98-D7853788E7CD}"/>
                </a:ext>
              </a:extLst>
            </p:cNvPr>
            <p:cNvGrpSpPr/>
            <p:nvPr/>
          </p:nvGrpSpPr>
          <p:grpSpPr>
            <a:xfrm>
              <a:off x="1714043" y="1576733"/>
              <a:ext cx="1077640" cy="1179316"/>
              <a:chOff x="1182867" y="1759534"/>
              <a:chExt cx="1077640" cy="1179316"/>
            </a:xfrm>
          </p:grpSpPr>
          <p:pic>
            <p:nvPicPr>
              <p:cNvPr id="168" name="Picture 167" descr="Dataset Icons - Free SVG &amp; PNG Dataset Images - Noun Project">
                <a:extLst>
                  <a:ext uri="{FF2B5EF4-FFF2-40B4-BE49-F238E27FC236}">
                    <a16:creationId xmlns:a16="http://schemas.microsoft.com/office/drawing/2014/main" id="{696D8B99-BEFD-4B47-8D02-BB8A8D8F58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2867" y="1759534"/>
                <a:ext cx="904613" cy="9046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E8C0B26-9253-4A0A-A669-4DACBABB5B84}"/>
                  </a:ext>
                </a:extLst>
              </p:cNvPr>
              <p:cNvSpPr txBox="1"/>
              <p:nvPr/>
            </p:nvSpPr>
            <p:spPr>
              <a:xfrm>
                <a:off x="1241867" y="2615685"/>
                <a:ext cx="101864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Data</a:t>
                </a:r>
              </a:p>
            </p:txBody>
          </p:sp>
        </p:grp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3887F288-7001-4B92-B0FE-6CB438375DD7}"/>
                </a:ext>
              </a:extLst>
            </p:cNvPr>
            <p:cNvCxnSpPr>
              <a:cxnSpLocks/>
              <a:stCxn id="150" idx="2"/>
              <a:endCxn id="155" idx="0"/>
            </p:cNvCxnSpPr>
            <p:nvPr/>
          </p:nvCxnSpPr>
          <p:spPr>
            <a:xfrm flipH="1">
              <a:off x="3726487" y="2353286"/>
              <a:ext cx="0" cy="2114503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B1758917-1BF2-41E3-B996-5A98FE4FE7D5}"/>
                </a:ext>
              </a:extLst>
            </p:cNvPr>
            <p:cNvCxnSpPr>
              <a:cxnSpLocks/>
              <a:stCxn id="104" idx="2"/>
              <a:endCxn id="132" idx="0"/>
            </p:cNvCxnSpPr>
            <p:nvPr/>
          </p:nvCxnSpPr>
          <p:spPr>
            <a:xfrm>
              <a:off x="8125179" y="2223674"/>
              <a:ext cx="952" cy="2427395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D7B0957A-64CC-485C-B43E-61FE876E6157}"/>
                </a:ext>
              </a:extLst>
            </p:cNvPr>
            <p:cNvGrpSpPr/>
            <p:nvPr/>
          </p:nvGrpSpPr>
          <p:grpSpPr>
            <a:xfrm>
              <a:off x="1766188" y="4246373"/>
              <a:ext cx="8459327" cy="1594428"/>
              <a:chOff x="1287360" y="4352702"/>
              <a:chExt cx="10376846" cy="1780705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B0529ECA-E68E-48B5-9215-C0234CFA1D0E}"/>
                  </a:ext>
                </a:extLst>
              </p:cNvPr>
              <p:cNvGrpSpPr/>
              <p:nvPr/>
            </p:nvGrpSpPr>
            <p:grpSpPr>
              <a:xfrm>
                <a:off x="1287360" y="4388575"/>
                <a:ext cx="1332089" cy="1207373"/>
                <a:chOff x="1235627" y="3396144"/>
                <a:chExt cx="1332089" cy="1207373"/>
              </a:xfrm>
            </p:grpSpPr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32F69620-ED69-41C4-827F-0DF148DFE3FA}"/>
                    </a:ext>
                  </a:extLst>
                </p:cNvPr>
                <p:cNvSpPr txBox="1"/>
                <p:nvPr/>
              </p:nvSpPr>
              <p:spPr>
                <a:xfrm>
                  <a:off x="1235627" y="4242597"/>
                  <a:ext cx="1332089" cy="3609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Test Data</a:t>
                  </a:r>
                </a:p>
              </p:txBody>
            </p:sp>
            <p:pic>
              <p:nvPicPr>
                <p:cNvPr id="167" name="Picture 166" descr="Dataset Icons - Free SVG &amp; PNG Dataset Images - Noun Project">
                  <a:extLst>
                    <a:ext uri="{FF2B5EF4-FFF2-40B4-BE49-F238E27FC236}">
                      <a16:creationId xmlns:a16="http://schemas.microsoft.com/office/drawing/2014/main" id="{7FD5D141-A062-4829-A590-528E86671C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35627" y="3396144"/>
                  <a:ext cx="904613" cy="90461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0CC2AF2B-EE6E-4772-AD2A-AB573E0EA517}"/>
                  </a:ext>
                </a:extLst>
              </p:cNvPr>
              <p:cNvCxnSpPr>
                <a:cxnSpLocks/>
                <a:stCxn id="167" idx="3"/>
                <a:endCxn id="155" idx="1"/>
              </p:cNvCxnSpPr>
              <p:nvPr/>
            </p:nvCxnSpPr>
            <p:spPr>
              <a:xfrm>
                <a:off x="2191973" y="4840882"/>
                <a:ext cx="87839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A4118F4-0C7A-46C7-8AA6-B3F36208A38C}"/>
                  </a:ext>
                </a:extLst>
              </p:cNvPr>
              <p:cNvGrpSpPr/>
              <p:nvPr/>
            </p:nvGrpSpPr>
            <p:grpSpPr>
              <a:xfrm>
                <a:off x="3070368" y="4352702"/>
                <a:ext cx="8593838" cy="1780705"/>
                <a:chOff x="3074069" y="4107986"/>
                <a:chExt cx="8593839" cy="1780705"/>
              </a:xfrm>
            </p:grpSpPr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719C731B-566E-4A6F-9879-567BCDCF6C49}"/>
                    </a:ext>
                  </a:extLst>
                </p:cNvPr>
                <p:cNvSpPr/>
                <p:nvPr/>
              </p:nvSpPr>
              <p:spPr>
                <a:xfrm>
                  <a:off x="3074069" y="4355274"/>
                  <a:ext cx="1243283" cy="48178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ML</a:t>
                  </a:r>
                  <a:r>
                    <a:rPr lang="en-US" sz="1600" baseline="-250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Main</a:t>
                  </a:r>
                  <a:endParaRPr lang="en-US" sz="16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0963898E-99B8-4BB5-BFB9-0EC3E7584FAD}"/>
                    </a:ext>
                  </a:extLst>
                </p:cNvPr>
                <p:cNvGrpSpPr/>
                <p:nvPr/>
              </p:nvGrpSpPr>
              <p:grpSpPr>
                <a:xfrm>
                  <a:off x="4317352" y="4107986"/>
                  <a:ext cx="7350556" cy="1780705"/>
                  <a:chOff x="4317352" y="4107986"/>
                  <a:chExt cx="7350556" cy="1780705"/>
                </a:xfrm>
              </p:grpSpPr>
              <p:cxnSp>
                <p:nvCxnSpPr>
                  <p:cNvPr id="157" name="Straight Arrow Connector 156">
                    <a:extLst>
                      <a:ext uri="{FF2B5EF4-FFF2-40B4-BE49-F238E27FC236}">
                        <a16:creationId xmlns:a16="http://schemas.microsoft.com/office/drawing/2014/main" id="{91D3DF19-D2F6-4ADF-BB9C-82D9D9FAEEDC}"/>
                      </a:ext>
                    </a:extLst>
                  </p:cNvPr>
                  <p:cNvCxnSpPr>
                    <a:cxnSpLocks/>
                    <a:stCxn id="155" idx="3"/>
                  </p:cNvCxnSpPr>
                  <p:nvPr/>
                </p:nvCxnSpPr>
                <p:spPr>
                  <a:xfrm flipV="1">
                    <a:off x="4317352" y="4288447"/>
                    <a:ext cx="997590" cy="30771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Arrow Connector 157">
                    <a:extLst>
                      <a:ext uri="{FF2B5EF4-FFF2-40B4-BE49-F238E27FC236}">
                        <a16:creationId xmlns:a16="http://schemas.microsoft.com/office/drawing/2014/main" id="{752B3F63-CEF7-41E5-BF1B-5306C403AEC3}"/>
                      </a:ext>
                    </a:extLst>
                  </p:cNvPr>
                  <p:cNvCxnSpPr>
                    <a:cxnSpLocks/>
                    <a:stCxn id="155" idx="3"/>
                    <a:endCxn id="124" idx="1"/>
                  </p:cNvCxnSpPr>
                  <p:nvPr/>
                </p:nvCxnSpPr>
                <p:spPr>
                  <a:xfrm>
                    <a:off x="4317352" y="4596166"/>
                    <a:ext cx="956794" cy="34458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Arrow Connector 158">
                    <a:extLst>
                      <a:ext uri="{FF2B5EF4-FFF2-40B4-BE49-F238E27FC236}">
                        <a16:creationId xmlns:a16="http://schemas.microsoft.com/office/drawing/2014/main" id="{16E2EA92-AFBF-42FA-BDE5-E03404B886AF}"/>
                      </a:ext>
                    </a:extLst>
                  </p:cNvPr>
                  <p:cNvCxnSpPr>
                    <a:cxnSpLocks/>
                    <a:stCxn id="124" idx="3"/>
                    <a:endCxn id="132" idx="1"/>
                  </p:cNvCxnSpPr>
                  <p:nvPr/>
                </p:nvCxnSpPr>
                <p:spPr>
                  <a:xfrm flipV="1">
                    <a:off x="6714495" y="4921225"/>
                    <a:ext cx="1713760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60" name="Group 159">
                    <a:extLst>
                      <a:ext uri="{FF2B5EF4-FFF2-40B4-BE49-F238E27FC236}">
                        <a16:creationId xmlns:a16="http://schemas.microsoft.com/office/drawing/2014/main" id="{6272F008-1DFA-4208-BA22-4BC47B94AC7C}"/>
                      </a:ext>
                    </a:extLst>
                  </p:cNvPr>
                  <p:cNvGrpSpPr/>
                  <p:nvPr/>
                </p:nvGrpSpPr>
                <p:grpSpPr>
                  <a:xfrm>
                    <a:off x="9757036" y="4107986"/>
                    <a:ext cx="1910872" cy="1780705"/>
                    <a:chOff x="9594050" y="3669400"/>
                    <a:chExt cx="1942278" cy="2674878"/>
                  </a:xfrm>
                </p:grpSpPr>
                <p:sp>
                  <p:nvSpPr>
                    <p:cNvPr id="161" name="TextBox 160">
                      <a:extLst>
                        <a:ext uri="{FF2B5EF4-FFF2-40B4-BE49-F238E27FC236}">
                          <a16:creationId xmlns:a16="http://schemas.microsoft.com/office/drawing/2014/main" id="{0A1D95D8-42DF-4B25-8BC9-AB2F669BCA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84282" y="3669400"/>
                      <a:ext cx="1452046" cy="6176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 Attack</a:t>
                      </a:r>
                    </a:p>
                  </p:txBody>
                </p:sp>
                <p:cxnSp>
                  <p:nvCxnSpPr>
                    <p:cNvPr id="162" name="Straight Arrow Connector 161">
                      <a:extLst>
                        <a:ext uri="{FF2B5EF4-FFF2-40B4-BE49-F238E27FC236}">
                          <a16:creationId xmlns:a16="http://schemas.microsoft.com/office/drawing/2014/main" id="{CB295B31-90AA-4F67-88E0-F24C6E23EF28}"/>
                        </a:ext>
                      </a:extLst>
                    </p:cNvPr>
                    <p:cNvCxnSpPr>
                      <a:cxnSpLocks/>
                      <a:stCxn id="132" idx="3"/>
                      <a:endCxn id="161" idx="1"/>
                    </p:cNvCxnSpPr>
                    <p:nvPr/>
                  </p:nvCxnSpPr>
                  <p:spPr>
                    <a:xfrm flipV="1">
                      <a:off x="9594050" y="3978216"/>
                      <a:ext cx="490232" cy="91278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Straight Arrow Connector 162">
                      <a:extLst>
                        <a:ext uri="{FF2B5EF4-FFF2-40B4-BE49-F238E27FC236}">
                          <a16:creationId xmlns:a16="http://schemas.microsoft.com/office/drawing/2014/main" id="{125F3B2E-0EF2-4433-A712-C52A19CBAB7C}"/>
                        </a:ext>
                      </a:extLst>
                    </p:cNvPr>
                    <p:cNvCxnSpPr>
                      <a:cxnSpLocks/>
                      <a:stCxn id="132" idx="3"/>
                      <a:endCxn id="125" idx="1"/>
                    </p:cNvCxnSpPr>
                    <p:nvPr/>
                  </p:nvCxnSpPr>
                  <p:spPr>
                    <a:xfrm flipV="1">
                      <a:off x="9594050" y="4802304"/>
                      <a:ext cx="389397" cy="8870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4" name="Straight Arrow Connector 163">
                      <a:extLst>
                        <a:ext uri="{FF2B5EF4-FFF2-40B4-BE49-F238E27FC236}">
                          <a16:creationId xmlns:a16="http://schemas.microsoft.com/office/drawing/2014/main" id="{E44DB8D0-B2D7-4C07-A3EB-61EE0B459003}"/>
                        </a:ext>
                      </a:extLst>
                    </p:cNvPr>
                    <p:cNvCxnSpPr>
                      <a:cxnSpLocks/>
                      <a:stCxn id="132" idx="3"/>
                      <a:endCxn id="126" idx="1"/>
                    </p:cNvCxnSpPr>
                    <p:nvPr/>
                  </p:nvCxnSpPr>
                  <p:spPr>
                    <a:xfrm>
                      <a:off x="9594050" y="4891004"/>
                      <a:ext cx="416774" cy="76478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5" name="Straight Arrow Connector 164">
                      <a:extLst>
                        <a:ext uri="{FF2B5EF4-FFF2-40B4-BE49-F238E27FC236}">
                          <a16:creationId xmlns:a16="http://schemas.microsoft.com/office/drawing/2014/main" id="{F4415C66-C6C8-4C6A-9FE4-A4CC5A781DB5}"/>
                        </a:ext>
                      </a:extLst>
                    </p:cNvPr>
                    <p:cNvCxnSpPr>
                      <a:cxnSpLocks/>
                      <a:stCxn id="132" idx="3"/>
                      <a:endCxn id="127" idx="1"/>
                    </p:cNvCxnSpPr>
                    <p:nvPr/>
                  </p:nvCxnSpPr>
                  <p:spPr>
                    <a:xfrm>
                      <a:off x="9594050" y="4891003"/>
                      <a:ext cx="470284" cy="145327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D9F76D41-B2F1-4FE4-9A18-B25FE6EA7E08}"/>
                </a:ext>
              </a:extLst>
            </p:cNvPr>
            <p:cNvSpPr/>
            <p:nvPr/>
          </p:nvSpPr>
          <p:spPr>
            <a:xfrm>
              <a:off x="1627929" y="4015544"/>
              <a:ext cx="9059377" cy="22237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991308F-1D43-4822-AF1D-466E9CA1C21C}"/>
                </a:ext>
              </a:extLst>
            </p:cNvPr>
            <p:cNvSpPr txBox="1"/>
            <p:nvPr/>
          </p:nvSpPr>
          <p:spPr>
            <a:xfrm rot="5400000">
              <a:off x="9459773" y="5062420"/>
              <a:ext cx="20151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Recognition Stage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3B8BE8B-A4F4-42C8-8351-E652BD100FF9}"/>
                </a:ext>
              </a:extLst>
            </p:cNvPr>
            <p:cNvCxnSpPr>
              <a:cxnSpLocks/>
              <a:stCxn id="105" idx="3"/>
              <a:endCxn id="168" idx="1"/>
            </p:cNvCxnSpPr>
            <p:nvPr/>
          </p:nvCxnSpPr>
          <p:spPr>
            <a:xfrm flipV="1">
              <a:off x="1157898" y="2029040"/>
              <a:ext cx="556145" cy="1448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9BE09B14-EF76-42CE-A294-4830DF0AFA01}"/>
                </a:ext>
              </a:extLst>
            </p:cNvPr>
            <p:cNvCxnSpPr>
              <a:cxnSpLocks/>
              <a:stCxn id="105" idx="3"/>
              <a:endCxn id="167" idx="1"/>
            </p:cNvCxnSpPr>
            <p:nvPr/>
          </p:nvCxnSpPr>
          <p:spPr>
            <a:xfrm>
              <a:off x="1157898" y="3477521"/>
              <a:ext cx="608290" cy="1205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E667163-DF4C-4864-A9A7-CC7DE883F6E5}"/>
                </a:ext>
              </a:extLst>
            </p:cNvPr>
            <p:cNvGrpSpPr/>
            <p:nvPr/>
          </p:nvGrpSpPr>
          <p:grpSpPr>
            <a:xfrm>
              <a:off x="1601291" y="252110"/>
              <a:ext cx="9087708" cy="3285838"/>
              <a:chOff x="1629560" y="0"/>
              <a:chExt cx="9369324" cy="3285838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036F46CD-7D6F-4B96-97DF-F748997B4EF7}"/>
                  </a:ext>
                </a:extLst>
              </p:cNvPr>
              <p:cNvGrpSpPr/>
              <p:nvPr/>
            </p:nvGrpSpPr>
            <p:grpSpPr>
              <a:xfrm>
                <a:off x="1629560" y="0"/>
                <a:ext cx="9369324" cy="3285838"/>
                <a:chOff x="1629560" y="0"/>
                <a:chExt cx="9369324" cy="3285838"/>
              </a:xfrm>
            </p:grpSpPr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B0822422-AAEE-4323-BDF6-390C65072EC3}"/>
                    </a:ext>
                  </a:extLst>
                </p:cNvPr>
                <p:cNvGrpSpPr/>
                <p:nvPr/>
              </p:nvGrpSpPr>
              <p:grpSpPr>
                <a:xfrm>
                  <a:off x="3267013" y="107241"/>
                  <a:ext cx="7341837" cy="3012778"/>
                  <a:chOff x="2960289" y="-21336"/>
                  <a:chExt cx="9385294" cy="3510332"/>
                </a:xfrm>
              </p:grpSpPr>
              <p:grpSp>
                <p:nvGrpSpPr>
                  <p:cNvPr id="140" name="Group 139">
                    <a:extLst>
                      <a:ext uri="{FF2B5EF4-FFF2-40B4-BE49-F238E27FC236}">
                        <a16:creationId xmlns:a16="http://schemas.microsoft.com/office/drawing/2014/main" id="{8F0D1D82-7C63-45BD-B493-11398996AF4C}"/>
                      </a:ext>
                    </a:extLst>
                  </p:cNvPr>
                  <p:cNvGrpSpPr/>
                  <p:nvPr/>
                </p:nvGrpSpPr>
                <p:grpSpPr>
                  <a:xfrm>
                    <a:off x="2960289" y="1548111"/>
                    <a:ext cx="2011942" cy="753782"/>
                    <a:chOff x="2540721" y="2069587"/>
                    <a:chExt cx="2202142" cy="753782"/>
                  </a:xfrm>
                </p:grpSpPr>
                <p:sp>
                  <p:nvSpPr>
                    <p:cNvPr id="150" name="Rectangle 149">
                      <a:extLst>
                        <a:ext uri="{FF2B5EF4-FFF2-40B4-BE49-F238E27FC236}">
                          <a16:creationId xmlns:a16="http://schemas.microsoft.com/office/drawing/2014/main" id="{F7E40B62-1CC4-4339-8DAD-0F61AB36A1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40721" y="2069587"/>
                      <a:ext cx="1562611" cy="753782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  <a:r>
                        <a:rPr lang="en-US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</a:t>
                      </a:r>
                      <a:r>
                        <a:rPr lang="en-US" dirty="0"/>
                        <a:t> </a:t>
                      </a:r>
                      <a:endParaRPr lang="en-US" sz="11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151" name="Straight Arrow Connector 150">
                      <a:extLst>
                        <a:ext uri="{FF2B5EF4-FFF2-40B4-BE49-F238E27FC236}">
                          <a16:creationId xmlns:a16="http://schemas.microsoft.com/office/drawing/2014/main" id="{C2228A11-AACF-4875-8AB3-9C7C76A2200F}"/>
                        </a:ext>
                      </a:extLst>
                    </p:cNvPr>
                    <p:cNvCxnSpPr>
                      <a:cxnSpLocks/>
                      <a:stCxn id="150" idx="3"/>
                      <a:endCxn id="122" idx="1"/>
                    </p:cNvCxnSpPr>
                    <p:nvPr/>
                  </p:nvCxnSpPr>
                  <p:spPr>
                    <a:xfrm flipV="1">
                      <a:off x="4103331" y="2441877"/>
                      <a:ext cx="639532" cy="4601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1" name="Group 140">
                    <a:extLst>
                      <a:ext uri="{FF2B5EF4-FFF2-40B4-BE49-F238E27FC236}">
                        <a16:creationId xmlns:a16="http://schemas.microsoft.com/office/drawing/2014/main" id="{50068AC1-919F-4A95-9645-77C82F2260B0}"/>
                      </a:ext>
                    </a:extLst>
                  </p:cNvPr>
                  <p:cNvGrpSpPr/>
                  <p:nvPr/>
                </p:nvGrpSpPr>
                <p:grpSpPr>
                  <a:xfrm>
                    <a:off x="6456555" y="-21336"/>
                    <a:ext cx="5889028" cy="3510332"/>
                    <a:chOff x="6251537" y="509966"/>
                    <a:chExt cx="5889028" cy="3510332"/>
                  </a:xfrm>
                </p:grpSpPr>
                <p:grpSp>
                  <p:nvGrpSpPr>
                    <p:cNvPr id="142" name="Group 141">
                      <a:extLst>
                        <a:ext uri="{FF2B5EF4-FFF2-40B4-BE49-F238E27FC236}">
                          <a16:creationId xmlns:a16="http://schemas.microsoft.com/office/drawing/2014/main" id="{61DEC9D3-1C7D-4293-82A7-34646C0184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93648" y="1318483"/>
                      <a:ext cx="5746917" cy="2036182"/>
                      <a:chOff x="6818384" y="1010205"/>
                      <a:chExt cx="5830556" cy="2606196"/>
                    </a:xfrm>
                  </p:grpSpPr>
                  <p:sp>
                    <p:nvSpPr>
                      <p:cNvPr id="144" name="TextBox 143">
                        <a:extLst>
                          <a:ext uri="{FF2B5EF4-FFF2-40B4-BE49-F238E27FC236}">
                            <a16:creationId xmlns:a16="http://schemas.microsoft.com/office/drawing/2014/main" id="{297A9337-56AF-4253-A7B8-5115225749E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18384" y="2655143"/>
                        <a:ext cx="1236020" cy="39014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endPara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45" name="TextBox 144">
                        <a:extLst>
                          <a:ext uri="{FF2B5EF4-FFF2-40B4-BE49-F238E27FC236}">
                            <a16:creationId xmlns:a16="http://schemas.microsoft.com/office/drawing/2014/main" id="{27B2200A-05F1-4827-86A7-C12C001FEC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871935" y="1010205"/>
                        <a:ext cx="1777005" cy="4819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DoS Attack</a:t>
                        </a:r>
                      </a:p>
                    </p:txBody>
                  </p:sp>
                  <p:cxnSp>
                    <p:nvCxnSpPr>
                      <p:cNvPr id="146" name="Straight Arrow Connector 145">
                        <a:extLst>
                          <a:ext uri="{FF2B5EF4-FFF2-40B4-BE49-F238E27FC236}">
                            <a16:creationId xmlns:a16="http://schemas.microsoft.com/office/drawing/2014/main" id="{4AEB5305-9953-45B1-A9B4-094E60DDDA77}"/>
                          </a:ext>
                        </a:extLst>
                      </p:cNvPr>
                      <p:cNvCxnSpPr>
                        <a:cxnSpLocks/>
                        <a:stCxn id="104" idx="3"/>
                        <a:endCxn id="145" idx="1"/>
                      </p:cNvCxnSpPr>
                      <p:nvPr/>
                    </p:nvCxnSpPr>
                    <p:spPr>
                      <a:xfrm flipV="1">
                        <a:off x="10450855" y="1251177"/>
                        <a:ext cx="421081" cy="102208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7" name="Straight Arrow Connector 146">
                        <a:extLst>
                          <a:ext uri="{FF2B5EF4-FFF2-40B4-BE49-F238E27FC236}">
                            <a16:creationId xmlns:a16="http://schemas.microsoft.com/office/drawing/2014/main" id="{2AFED018-8A9E-4E2E-84CA-F872FB518CD3}"/>
                          </a:ext>
                        </a:extLst>
                      </p:cNvPr>
                      <p:cNvCxnSpPr>
                        <a:cxnSpLocks/>
                        <a:stCxn id="104" idx="3"/>
                        <a:endCxn id="119" idx="1"/>
                      </p:cNvCxnSpPr>
                      <p:nvPr/>
                    </p:nvCxnSpPr>
                    <p:spPr>
                      <a:xfrm flipV="1">
                        <a:off x="10450854" y="1953778"/>
                        <a:ext cx="395589" cy="31948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8" name="Straight Arrow Connector 147">
                        <a:extLst>
                          <a:ext uri="{FF2B5EF4-FFF2-40B4-BE49-F238E27FC236}">
                            <a16:creationId xmlns:a16="http://schemas.microsoft.com/office/drawing/2014/main" id="{318946BF-33B0-4595-92C7-C9BFA6956A72}"/>
                          </a:ext>
                        </a:extLst>
                      </p:cNvPr>
                      <p:cNvCxnSpPr>
                        <a:cxnSpLocks/>
                        <a:stCxn id="104" idx="3"/>
                        <a:endCxn id="120" idx="1"/>
                      </p:cNvCxnSpPr>
                      <p:nvPr/>
                    </p:nvCxnSpPr>
                    <p:spPr>
                      <a:xfrm>
                        <a:off x="10450854" y="2273258"/>
                        <a:ext cx="394764" cy="55676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9" name="Straight Arrow Connector 148">
                        <a:extLst>
                          <a:ext uri="{FF2B5EF4-FFF2-40B4-BE49-F238E27FC236}">
                            <a16:creationId xmlns:a16="http://schemas.microsoft.com/office/drawing/2014/main" id="{04D0AFB3-31C1-4724-B085-203AAA2B0833}"/>
                          </a:ext>
                        </a:extLst>
                      </p:cNvPr>
                      <p:cNvCxnSpPr>
                        <a:cxnSpLocks/>
                        <a:stCxn id="104" idx="3"/>
                        <a:endCxn id="121" idx="1"/>
                      </p:cNvCxnSpPr>
                      <p:nvPr/>
                    </p:nvCxnSpPr>
                    <p:spPr>
                      <a:xfrm>
                        <a:off x="10450855" y="2273258"/>
                        <a:ext cx="437358" cy="1343143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43" name="Rectangle: Rounded Corners 142">
                      <a:extLst>
                        <a:ext uri="{FF2B5EF4-FFF2-40B4-BE49-F238E27FC236}">
                          <a16:creationId xmlns:a16="http://schemas.microsoft.com/office/drawing/2014/main" id="{CDFD17EF-EFBF-44A9-8327-0065EAB568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51537" y="509966"/>
                      <a:ext cx="5729612" cy="35103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accent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17C6B7DC-3FF4-456C-80D4-04125625D5E7}"/>
                    </a:ext>
                  </a:extLst>
                </p:cNvPr>
                <p:cNvSpPr/>
                <p:nvPr/>
              </p:nvSpPr>
              <p:spPr>
                <a:xfrm>
                  <a:off x="1629560" y="0"/>
                  <a:ext cx="9340115" cy="328583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683AFB0-8E96-46C0-96A9-85E12D2EA1E7}"/>
                    </a:ext>
                  </a:extLst>
                </p:cNvPr>
                <p:cNvSpPr txBox="1"/>
                <p:nvPr/>
              </p:nvSpPr>
              <p:spPr>
                <a:xfrm rot="5400000">
                  <a:off x="9813568" y="1694208"/>
                  <a:ext cx="2015151" cy="3554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Training Stage</a:t>
                  </a:r>
                </a:p>
              </p:txBody>
            </p:sp>
          </p:grp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90B83D1F-B29D-485F-A618-605A0B2D7F61}"/>
                  </a:ext>
                </a:extLst>
              </p:cNvPr>
              <p:cNvCxnSpPr>
                <a:cxnSpLocks/>
                <a:stCxn id="168" idx="3"/>
                <a:endCxn id="150" idx="1"/>
              </p:cNvCxnSpPr>
              <p:nvPr/>
            </p:nvCxnSpPr>
            <p:spPr>
              <a:xfrm>
                <a:off x="2678452" y="1776930"/>
                <a:ext cx="588562" cy="7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12768CAC-45F7-480C-9387-3397549B18F2}"/>
                </a:ext>
              </a:extLst>
            </p:cNvPr>
            <p:cNvCxnSpPr>
              <a:cxnSpLocks/>
              <a:stCxn id="168" idx="0"/>
              <a:endCxn id="128" idx="0"/>
            </p:cNvCxnSpPr>
            <p:nvPr/>
          </p:nvCxnSpPr>
          <p:spPr>
            <a:xfrm rot="5400000" flipH="1" flipV="1">
              <a:off x="4126658" y="-435913"/>
              <a:ext cx="52338" cy="3972954"/>
            </a:xfrm>
            <a:prstGeom prst="curvedConnector3">
              <a:avLst>
                <a:gd name="adj1" fmla="val 536776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79E244E-4BFF-418B-A1E4-BCB5D772C5E0}"/>
                </a:ext>
              </a:extLst>
            </p:cNvPr>
            <p:cNvSpPr txBox="1"/>
            <p:nvPr/>
          </p:nvSpPr>
          <p:spPr>
            <a:xfrm>
              <a:off x="2611167" y="515721"/>
              <a:ext cx="25523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Major Class Classification 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47906B8-33A1-45DA-B9A4-5C0CC4EF84AF}"/>
                </a:ext>
              </a:extLst>
            </p:cNvPr>
            <p:cNvSpPr txBox="1"/>
            <p:nvPr/>
          </p:nvSpPr>
          <p:spPr>
            <a:xfrm>
              <a:off x="7039490" y="565297"/>
              <a:ext cx="25523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 Class Classification 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69BB9C5-C97C-46DA-90A5-3D9E641D5F2F}"/>
                </a:ext>
              </a:extLst>
            </p:cNvPr>
            <p:cNvSpPr txBox="1"/>
            <p:nvPr/>
          </p:nvSpPr>
          <p:spPr>
            <a:xfrm>
              <a:off x="8962648" y="1524395"/>
              <a:ext cx="119584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Gear Attack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B9B24E7-41B4-418E-A9BF-78E5DFCFBDE9}"/>
                </a:ext>
              </a:extLst>
            </p:cNvPr>
            <p:cNvSpPr txBox="1"/>
            <p:nvPr/>
          </p:nvSpPr>
          <p:spPr>
            <a:xfrm>
              <a:off x="8962031" y="2111958"/>
              <a:ext cx="119584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RPM Attack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A498DAA-430A-49D0-8BB7-E4BFE98E4696}"/>
                </a:ext>
              </a:extLst>
            </p:cNvPr>
            <p:cNvSpPr txBox="1"/>
            <p:nvPr/>
          </p:nvSpPr>
          <p:spPr>
            <a:xfrm>
              <a:off x="8993886" y="2639260"/>
              <a:ext cx="119584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Fuzzy Attack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9B4AB0B-4099-470A-AF82-DEC688AA12F8}"/>
                </a:ext>
              </a:extLst>
            </p:cNvPr>
            <p:cNvSpPr txBox="1"/>
            <p:nvPr/>
          </p:nvSpPr>
          <p:spPr>
            <a:xfrm>
              <a:off x="4716101" y="1864284"/>
              <a:ext cx="117418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Class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0307CA9-EB84-40BA-88DB-2F8AABC70A4B}"/>
                </a:ext>
              </a:extLst>
            </p:cNvPr>
            <p:cNvSpPr txBox="1"/>
            <p:nvPr/>
          </p:nvSpPr>
          <p:spPr>
            <a:xfrm>
              <a:off x="5013520" y="4224121"/>
              <a:ext cx="117418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Data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7F841EA-EE6A-4408-8A0B-65A7C5395429}"/>
                </a:ext>
              </a:extLst>
            </p:cNvPr>
            <p:cNvSpPr txBox="1"/>
            <p:nvPr/>
          </p:nvSpPr>
          <p:spPr>
            <a:xfrm>
              <a:off x="5013246" y="4830441"/>
              <a:ext cx="117418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Attack Data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A72FE16-6836-439E-93A4-5859BAB24A31}"/>
                </a:ext>
              </a:extLst>
            </p:cNvPr>
            <p:cNvSpPr txBox="1"/>
            <p:nvPr/>
          </p:nvSpPr>
          <p:spPr>
            <a:xfrm>
              <a:off x="8980058" y="4737591"/>
              <a:ext cx="1229458" cy="368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Gear Attack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C84ADAC-A1A9-400D-AD86-A5D936DCF6BC}"/>
                </a:ext>
              </a:extLst>
            </p:cNvPr>
            <p:cNvSpPr txBox="1"/>
            <p:nvPr/>
          </p:nvSpPr>
          <p:spPr>
            <a:xfrm>
              <a:off x="9002015" y="5246333"/>
              <a:ext cx="1308675" cy="368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RPM Attack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4CFBB8A-D980-4CCC-A568-71563A1DFBED}"/>
                </a:ext>
              </a:extLst>
            </p:cNvPr>
            <p:cNvSpPr txBox="1"/>
            <p:nvPr/>
          </p:nvSpPr>
          <p:spPr>
            <a:xfrm>
              <a:off x="9044931" y="5656725"/>
              <a:ext cx="1308675" cy="368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Fuzzy Attack</a:t>
              </a:r>
            </a:p>
          </p:txBody>
        </p:sp>
        <p:sp>
          <p:nvSpPr>
            <p:cNvPr id="128" name="Flowchart: Collate 127">
              <a:extLst>
                <a:ext uri="{FF2B5EF4-FFF2-40B4-BE49-F238E27FC236}">
                  <a16:creationId xmlns:a16="http://schemas.microsoft.com/office/drawing/2014/main" id="{9B285C00-E3AE-468D-8331-EF70C84082E9}"/>
                </a:ext>
              </a:extLst>
            </p:cNvPr>
            <p:cNvSpPr/>
            <p:nvPr/>
          </p:nvSpPr>
          <p:spPr>
            <a:xfrm>
              <a:off x="5871100" y="1524395"/>
              <a:ext cx="536408" cy="813832"/>
            </a:xfrm>
            <a:prstGeom prst="flowChartCol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7945B1A8-96A9-4545-9F8F-1924EE39CD38}"/>
                </a:ext>
              </a:extLst>
            </p:cNvPr>
            <p:cNvCxnSpPr>
              <a:cxnSpLocks/>
            </p:cNvCxnSpPr>
            <p:nvPr/>
          </p:nvCxnSpPr>
          <p:spPr>
            <a:xfrm>
              <a:off x="6266478" y="1931311"/>
              <a:ext cx="3778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30CBA74-2281-4F5E-A9B1-4262829D7ADB}"/>
                </a:ext>
              </a:extLst>
            </p:cNvPr>
            <p:cNvGrpSpPr/>
            <p:nvPr/>
          </p:nvGrpSpPr>
          <p:grpSpPr>
            <a:xfrm>
              <a:off x="6585369" y="1443551"/>
              <a:ext cx="1258213" cy="1234461"/>
              <a:chOff x="1182867" y="1759534"/>
              <a:chExt cx="1258213" cy="1234461"/>
            </a:xfrm>
          </p:grpSpPr>
          <p:pic>
            <p:nvPicPr>
              <p:cNvPr id="133" name="Picture 132" descr="Dataset Icons - Free SVG &amp; PNG Dataset Images - Noun Project">
                <a:extLst>
                  <a:ext uri="{FF2B5EF4-FFF2-40B4-BE49-F238E27FC236}">
                    <a16:creationId xmlns:a16="http://schemas.microsoft.com/office/drawing/2014/main" id="{62ABDB15-350A-4F83-A50C-30A31F0E12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2867" y="1759534"/>
                <a:ext cx="904613" cy="9046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102F9E8-FCD9-47F9-B244-7ECB099ECDAC}"/>
                  </a:ext>
                </a:extLst>
              </p:cNvPr>
              <p:cNvSpPr txBox="1"/>
              <p:nvPr/>
            </p:nvSpPr>
            <p:spPr>
              <a:xfrm>
                <a:off x="1300236" y="2670830"/>
                <a:ext cx="114084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Attack Data</a:t>
                </a:r>
              </a:p>
            </p:txBody>
          </p:sp>
        </p:grp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3A51D42E-04B2-424E-9D6B-9C71B5576285}"/>
                </a:ext>
              </a:extLst>
            </p:cNvPr>
            <p:cNvCxnSpPr>
              <a:cxnSpLocks/>
            </p:cNvCxnSpPr>
            <p:nvPr/>
          </p:nvCxnSpPr>
          <p:spPr>
            <a:xfrm>
              <a:off x="7301036" y="1921147"/>
              <a:ext cx="3778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5E56389-62C2-4862-A3EC-6DE7FBEA4987}"/>
                </a:ext>
              </a:extLst>
            </p:cNvPr>
            <p:cNvSpPr/>
            <p:nvPr/>
          </p:nvSpPr>
          <p:spPr>
            <a:xfrm>
              <a:off x="7584512" y="4651069"/>
              <a:ext cx="1083238" cy="64694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  <a:r>
                <a:rPr lang="en-US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ML</a:t>
              </a:r>
              <a:r>
                <a:rPr lang="en-US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Attack</a:t>
              </a:r>
              <a:r>
                <a:rPr lang="en-US" dirty="0"/>
                <a:t> </a:t>
              </a:r>
              <a:endParaRPr lang="en-US" sz="1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959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39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Technique for the Proposed Model (Cont.)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06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4" name="Picture 2" descr="Dataset Icons - Free SVG &amp; PNG Dataset Images - Noun Project">
            <a:extLst>
              <a:ext uri="{FF2B5EF4-FFF2-40B4-BE49-F238E27FC236}">
                <a16:creationId xmlns:a16="http://schemas.microsoft.com/office/drawing/2014/main" id="{8CFC230E-4342-4654-BAEF-BF43A8215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355" y="2996489"/>
            <a:ext cx="1172427" cy="107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C279D4-1D5F-4487-B670-61AC88300A0B}"/>
              </a:ext>
            </a:extLst>
          </p:cNvPr>
          <p:cNvCxnSpPr>
            <a:cxnSpLocks/>
            <a:stCxn id="74" idx="3"/>
            <a:endCxn id="86" idx="1"/>
          </p:cNvCxnSpPr>
          <p:nvPr/>
        </p:nvCxnSpPr>
        <p:spPr>
          <a:xfrm>
            <a:off x="1050072" y="3534087"/>
            <a:ext cx="1429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EEC4B428-E4B6-4341-A388-D32D07985E10}"/>
              </a:ext>
            </a:extLst>
          </p:cNvPr>
          <p:cNvSpPr/>
          <p:nvPr/>
        </p:nvSpPr>
        <p:spPr>
          <a:xfrm>
            <a:off x="2479986" y="2584137"/>
            <a:ext cx="2304136" cy="18998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dirty="0"/>
              <a:t> </a:t>
            </a:r>
            <a:endParaRPr lang="en-US" sz="11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69DFA5C-816F-476C-8353-AD236A56D23A}"/>
              </a:ext>
            </a:extLst>
          </p:cNvPr>
          <p:cNvSpPr/>
          <p:nvPr/>
        </p:nvSpPr>
        <p:spPr>
          <a:xfrm>
            <a:off x="673836" y="3399686"/>
            <a:ext cx="328727" cy="26879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828A70-7072-4622-8584-D21784AE9382}"/>
              </a:ext>
            </a:extLst>
          </p:cNvPr>
          <p:cNvCxnSpPr>
            <a:cxnSpLocks/>
            <a:stCxn id="86" idx="3"/>
            <a:endCxn id="99" idx="1"/>
          </p:cNvCxnSpPr>
          <p:nvPr/>
        </p:nvCxnSpPr>
        <p:spPr>
          <a:xfrm flipV="1">
            <a:off x="4784122" y="2565264"/>
            <a:ext cx="848052" cy="9688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231FD533-76C5-409F-8249-4959CF48EA72}"/>
              </a:ext>
            </a:extLst>
          </p:cNvPr>
          <p:cNvSpPr txBox="1"/>
          <p:nvPr/>
        </p:nvSpPr>
        <p:spPr>
          <a:xfrm>
            <a:off x="5632174" y="2365209"/>
            <a:ext cx="166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Data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B061E46D-4E4E-4BC3-9AB3-3DBE0B124049}"/>
              </a:ext>
            </a:extLst>
          </p:cNvPr>
          <p:cNvCxnSpPr>
            <a:cxnSpLocks/>
            <a:stCxn id="86" idx="3"/>
            <a:endCxn id="172" idx="1"/>
          </p:cNvCxnSpPr>
          <p:nvPr/>
        </p:nvCxnSpPr>
        <p:spPr>
          <a:xfrm>
            <a:off x="4784122" y="3534087"/>
            <a:ext cx="848052" cy="746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18297C1C-A36D-443E-B4BA-162247FE7492}"/>
              </a:ext>
            </a:extLst>
          </p:cNvPr>
          <p:cNvSpPr txBox="1"/>
          <p:nvPr/>
        </p:nvSpPr>
        <p:spPr>
          <a:xfrm>
            <a:off x="5632174" y="4080456"/>
            <a:ext cx="166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Data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A9F324A-572F-4593-AA67-67FA4859D14A}"/>
              </a:ext>
            </a:extLst>
          </p:cNvPr>
          <p:cNvSpPr/>
          <p:nvPr/>
        </p:nvSpPr>
        <p:spPr>
          <a:xfrm>
            <a:off x="4598808" y="3384096"/>
            <a:ext cx="304713" cy="34880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73C96348-BAF7-422B-9584-5B5741E9291C}"/>
              </a:ext>
            </a:extLst>
          </p:cNvPr>
          <p:cNvSpPr/>
          <p:nvPr/>
        </p:nvSpPr>
        <p:spPr>
          <a:xfrm>
            <a:off x="4611973" y="3384096"/>
            <a:ext cx="304713" cy="34880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36F3AD-A1CE-4446-A1A2-B2DC60610D2F}"/>
              </a:ext>
            </a:extLst>
          </p:cNvPr>
          <p:cNvCxnSpPr>
            <a:cxnSpLocks/>
            <a:endCxn id="174" idx="1"/>
          </p:cNvCxnSpPr>
          <p:nvPr/>
        </p:nvCxnSpPr>
        <p:spPr>
          <a:xfrm flipV="1">
            <a:off x="7022343" y="3437348"/>
            <a:ext cx="913967" cy="843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5D97C4C-8618-4CFF-9A35-3309F0CE9A9C}"/>
              </a:ext>
            </a:extLst>
          </p:cNvPr>
          <p:cNvSpPr/>
          <p:nvPr/>
        </p:nvSpPr>
        <p:spPr>
          <a:xfrm>
            <a:off x="7936310" y="2487398"/>
            <a:ext cx="2304136" cy="18998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28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lang="en-US" dirty="0"/>
              <a:t> </a:t>
            </a:r>
            <a:endParaRPr lang="en-US" sz="11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1ACC106-C34E-4766-9C42-57507DE64768}"/>
              </a:ext>
            </a:extLst>
          </p:cNvPr>
          <p:cNvSpPr/>
          <p:nvPr/>
        </p:nvSpPr>
        <p:spPr>
          <a:xfrm>
            <a:off x="6981368" y="4098248"/>
            <a:ext cx="406372" cy="3068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F976EE-AA34-4CF2-A94A-72F2226169E1}"/>
              </a:ext>
            </a:extLst>
          </p:cNvPr>
          <p:cNvCxnSpPr/>
          <p:nvPr/>
        </p:nvCxnSpPr>
        <p:spPr>
          <a:xfrm>
            <a:off x="10240446" y="2600619"/>
            <a:ext cx="8251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56283C3-4EF3-4153-850E-EDCE43F56F1C}"/>
              </a:ext>
            </a:extLst>
          </p:cNvPr>
          <p:cNvCxnSpPr/>
          <p:nvPr/>
        </p:nvCxnSpPr>
        <p:spPr>
          <a:xfrm>
            <a:off x="10240446" y="3150621"/>
            <a:ext cx="8251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3D852C0-2192-4FF0-BE36-78D378923974}"/>
              </a:ext>
            </a:extLst>
          </p:cNvPr>
          <p:cNvCxnSpPr/>
          <p:nvPr/>
        </p:nvCxnSpPr>
        <p:spPr>
          <a:xfrm>
            <a:off x="10240446" y="3732898"/>
            <a:ext cx="8251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608A0160-8F4F-48E7-8C04-387F084449D4}"/>
              </a:ext>
            </a:extLst>
          </p:cNvPr>
          <p:cNvCxnSpPr/>
          <p:nvPr/>
        </p:nvCxnSpPr>
        <p:spPr>
          <a:xfrm>
            <a:off x="10240446" y="4270585"/>
            <a:ext cx="8251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1C48A002-738A-4E46-B27E-C26F2B4CC021}"/>
              </a:ext>
            </a:extLst>
          </p:cNvPr>
          <p:cNvSpPr txBox="1"/>
          <p:nvPr/>
        </p:nvSpPr>
        <p:spPr>
          <a:xfrm>
            <a:off x="11065565" y="2400564"/>
            <a:ext cx="73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C6551-F741-437D-A1C7-01B3687633B4}"/>
              </a:ext>
            </a:extLst>
          </p:cNvPr>
          <p:cNvSpPr txBox="1"/>
          <p:nvPr/>
        </p:nvSpPr>
        <p:spPr>
          <a:xfrm>
            <a:off x="11071901" y="2938251"/>
            <a:ext cx="73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786C88B-DAA9-463F-A546-A06106A82468}"/>
              </a:ext>
            </a:extLst>
          </p:cNvPr>
          <p:cNvSpPr txBox="1"/>
          <p:nvPr/>
        </p:nvSpPr>
        <p:spPr>
          <a:xfrm>
            <a:off x="11045397" y="3519640"/>
            <a:ext cx="73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1B9B71A-A03A-43D5-B282-5615BAC38AAF}"/>
              </a:ext>
            </a:extLst>
          </p:cNvPr>
          <p:cNvSpPr txBox="1"/>
          <p:nvPr/>
        </p:nvSpPr>
        <p:spPr>
          <a:xfrm>
            <a:off x="11071901" y="4051613"/>
            <a:ext cx="825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F6744E4-CCE8-4A54-9A5C-4C5A3572D5BD}"/>
              </a:ext>
            </a:extLst>
          </p:cNvPr>
          <p:cNvSpPr/>
          <p:nvPr/>
        </p:nvSpPr>
        <p:spPr>
          <a:xfrm>
            <a:off x="10134429" y="2500597"/>
            <a:ext cx="185530" cy="2000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C2C3E55C-5C48-4093-A088-AFD594E6BD24}"/>
              </a:ext>
            </a:extLst>
          </p:cNvPr>
          <p:cNvSpPr/>
          <p:nvPr/>
        </p:nvSpPr>
        <p:spPr>
          <a:xfrm>
            <a:off x="10130945" y="3065936"/>
            <a:ext cx="185530" cy="20004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8428F8DD-45D7-49D6-B357-65A4CFD930BA}"/>
              </a:ext>
            </a:extLst>
          </p:cNvPr>
          <p:cNvSpPr/>
          <p:nvPr/>
        </p:nvSpPr>
        <p:spPr>
          <a:xfrm>
            <a:off x="10125719" y="3633511"/>
            <a:ext cx="185530" cy="20004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028871DC-64C4-43EC-8A37-B463333C8615}"/>
              </a:ext>
            </a:extLst>
          </p:cNvPr>
          <p:cNvSpPr/>
          <p:nvPr/>
        </p:nvSpPr>
        <p:spPr>
          <a:xfrm>
            <a:off x="10127776" y="4150484"/>
            <a:ext cx="185530" cy="20004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001">
            <a:schemeClr val="dk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7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2.22222E-6 L 0.20768 0.008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78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59259E-6 L 0.07122 -0.1419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-7153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0 L 0.07227 0.1053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59259E-6 L 0.06862 -0.12107 " pathEditMode="relative" rAng="0" ptsTypes="AA">
                                      <p:cBhvr>
                                        <p:cTn id="5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4" y="-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250"/>
                            </p:stCondLst>
                            <p:childTnLst>
                              <p:par>
                                <p:cTn id="5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25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25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25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25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25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25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25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25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25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25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25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25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250"/>
                            </p:stCondLst>
                            <p:childTnLst>
                              <p:par>
                                <p:cTn id="9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3.33333E-6 L 0.07539 -0.00047 " pathEditMode="relative" rAng="0" ptsTypes="AA">
                                      <p:cBhvr>
                                        <p:cTn id="99" dur="1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3" y="-23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0.0763 -4.07407E-6 " pathEditMode="relative" rAng="0" ptsTypes="AA">
                                      <p:cBhvr>
                                        <p:cTn id="101" dur="125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0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0.0737 -0.00023 " pathEditMode="relative" rAng="0" ptsTypes="AA">
                                      <p:cBhvr>
                                        <p:cTn id="103" dur="125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5" y="-23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07407E-6 L 0.07656 0.00439 " pathEditMode="relative" rAng="0" ptsTypes="AA">
                                      <p:cBhvr>
                                        <p:cTn id="105" dur="125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28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99" grpId="0"/>
      <p:bldP spid="172" grpId="0"/>
      <p:bldP spid="38" grpId="0" animBg="1"/>
      <p:bldP spid="38" grpId="1" animBg="1"/>
      <p:bldP spid="38" grpId="2" animBg="1"/>
      <p:bldP spid="173" grpId="0" animBg="1"/>
      <p:bldP spid="173" grpId="1" animBg="1"/>
      <p:bldP spid="173" grpId="2" animBg="1"/>
      <p:bldP spid="174" grpId="0" animBg="1"/>
      <p:bldP spid="45" grpId="0" animBg="1"/>
      <p:bldP spid="45" grpId="1" animBg="1"/>
      <p:bldP spid="45" grpId="2" animBg="1"/>
      <p:bldP spid="178" grpId="0"/>
      <p:bldP spid="179" grpId="0"/>
      <p:bldP spid="180" grpId="0"/>
      <p:bldP spid="181" grpId="0"/>
      <p:bldP spid="48" grpId="0" animBg="1"/>
      <p:bldP spid="48" grpId="1" animBg="1"/>
      <p:bldP spid="183" grpId="0" animBg="1"/>
      <p:bldP spid="183" grpId="1" animBg="1"/>
      <p:bldP spid="184" grpId="0" animBg="1"/>
      <p:bldP spid="184" grpId="1" animBg="1"/>
      <p:bldP spid="185" grpId="0" animBg="1"/>
      <p:bldP spid="18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Technique for the Proposed Model (Cont.)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06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FD247E-A337-4812-A507-8441F5CBC2CD}"/>
              </a:ext>
            </a:extLst>
          </p:cNvPr>
          <p:cNvGrpSpPr/>
          <p:nvPr/>
        </p:nvGrpSpPr>
        <p:grpSpPr>
          <a:xfrm>
            <a:off x="1689652" y="1731123"/>
            <a:ext cx="8812696" cy="901646"/>
            <a:chOff x="675861" y="1582695"/>
            <a:chExt cx="8812696" cy="9016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210214-42E4-4C54-8C7B-FE1483DC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5861" y="1582695"/>
              <a:ext cx="1184915" cy="901646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5F1464D-1461-47F7-A0FD-20EF0C5B48CB}"/>
                </a:ext>
              </a:extLst>
            </p:cNvPr>
            <p:cNvSpPr/>
            <p:nvPr/>
          </p:nvSpPr>
          <p:spPr>
            <a:xfrm>
              <a:off x="2358887" y="1582695"/>
              <a:ext cx="7129670" cy="90164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Neural Network at the core of the Model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44D613-8E1D-4DF5-AF5A-1B1D1EBE1F54}"/>
              </a:ext>
            </a:extLst>
          </p:cNvPr>
          <p:cNvGrpSpPr/>
          <p:nvPr/>
        </p:nvGrpSpPr>
        <p:grpSpPr>
          <a:xfrm>
            <a:off x="1689652" y="2895623"/>
            <a:ext cx="8812696" cy="901646"/>
            <a:chOff x="675861" y="1582695"/>
            <a:chExt cx="8812696" cy="90164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E45147-1103-4D70-B5D8-7103B3AF5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5861" y="1582695"/>
              <a:ext cx="1184915" cy="901646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F1CB0BD-7EB9-4C35-8606-9200979C5E25}"/>
                </a:ext>
              </a:extLst>
            </p:cNvPr>
            <p:cNvSpPr/>
            <p:nvPr/>
          </p:nvSpPr>
          <p:spPr>
            <a:xfrm>
              <a:off x="2358887" y="1582695"/>
              <a:ext cx="7129670" cy="90164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 input features and three hidden layers with 50,20 and 10 neurons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2F30F-60CB-4430-9BFF-1B4554988840}"/>
              </a:ext>
            </a:extLst>
          </p:cNvPr>
          <p:cNvGrpSpPr/>
          <p:nvPr/>
        </p:nvGrpSpPr>
        <p:grpSpPr>
          <a:xfrm>
            <a:off x="1689652" y="4060123"/>
            <a:ext cx="8812696" cy="901646"/>
            <a:chOff x="675861" y="1582695"/>
            <a:chExt cx="8812696" cy="90164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C03FD0-618F-404A-ADB5-A48B3216B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5861" y="1582695"/>
              <a:ext cx="1184915" cy="901646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52187A2-74DC-456A-BDA8-9A8810D1F86F}"/>
                </a:ext>
              </a:extLst>
            </p:cNvPr>
            <p:cNvSpPr/>
            <p:nvPr/>
          </p:nvSpPr>
          <p:spPr>
            <a:xfrm>
              <a:off x="2358887" y="1582695"/>
              <a:ext cx="7129670" cy="90164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 of output layer based on attack 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737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A8B6-4C69-4261-B63F-5590AE8B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8296"/>
            <a:ext cx="10515600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Studies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71CC3-92F2-4D83-BEB0-BEC4C60E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15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9C31-B894-429B-8912-30A9FE1F6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FDDE-93D4-4144-B309-9F243E48EC35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BD4D3-E730-4C41-A5E4-7F70482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y Scientists Should Celebrate Failed Experiments | Time">
            <a:extLst>
              <a:ext uri="{FF2B5EF4-FFF2-40B4-BE49-F238E27FC236}">
                <a16:creationId xmlns:a16="http://schemas.microsoft.com/office/drawing/2014/main" id="{81D0A63D-5E85-4663-B6BE-938347E62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87" y="2982568"/>
            <a:ext cx="5493426" cy="287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397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06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AD12271-AF73-49D1-98C0-E45F9B26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1" y="136525"/>
            <a:ext cx="11254798" cy="10737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9A08F7B-C1F3-4B54-A711-1BFA4CB5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960345"/>
              </p:ext>
            </p:extLst>
          </p:nvPr>
        </p:nvGraphicFramePr>
        <p:xfrm>
          <a:off x="249940" y="1459248"/>
          <a:ext cx="11692120" cy="4702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1958">
                  <a:extLst>
                    <a:ext uri="{9D8B030D-6E8A-4147-A177-3AD203B41FA5}">
                      <a16:colId xmlns:a16="http://schemas.microsoft.com/office/drawing/2014/main" val="324799352"/>
                    </a:ext>
                  </a:extLst>
                </a:gridCol>
                <a:gridCol w="1635579">
                  <a:extLst>
                    <a:ext uri="{9D8B030D-6E8A-4147-A177-3AD203B41FA5}">
                      <a16:colId xmlns:a16="http://schemas.microsoft.com/office/drawing/2014/main" val="102308524"/>
                    </a:ext>
                  </a:extLst>
                </a:gridCol>
                <a:gridCol w="1821741">
                  <a:extLst>
                    <a:ext uri="{9D8B030D-6E8A-4147-A177-3AD203B41FA5}">
                      <a16:colId xmlns:a16="http://schemas.microsoft.com/office/drawing/2014/main" val="3900706044"/>
                    </a:ext>
                  </a:extLst>
                </a:gridCol>
                <a:gridCol w="1741958">
                  <a:extLst>
                    <a:ext uri="{9D8B030D-6E8A-4147-A177-3AD203B41FA5}">
                      <a16:colId xmlns:a16="http://schemas.microsoft.com/office/drawing/2014/main" val="3809343545"/>
                    </a:ext>
                  </a:extLst>
                </a:gridCol>
                <a:gridCol w="1396226">
                  <a:extLst>
                    <a:ext uri="{9D8B030D-6E8A-4147-A177-3AD203B41FA5}">
                      <a16:colId xmlns:a16="http://schemas.microsoft.com/office/drawing/2014/main" val="186768448"/>
                    </a:ext>
                  </a:extLst>
                </a:gridCol>
                <a:gridCol w="1901527">
                  <a:extLst>
                    <a:ext uri="{9D8B030D-6E8A-4147-A177-3AD203B41FA5}">
                      <a16:colId xmlns:a16="http://schemas.microsoft.com/office/drawing/2014/main" val="3750908594"/>
                    </a:ext>
                  </a:extLst>
                </a:gridCol>
                <a:gridCol w="1453131">
                  <a:extLst>
                    <a:ext uri="{9D8B030D-6E8A-4147-A177-3AD203B41FA5}">
                      <a16:colId xmlns:a16="http://schemas.microsoft.com/office/drawing/2014/main" val="4005962033"/>
                    </a:ext>
                  </a:extLst>
                </a:gridCol>
              </a:tblGrid>
              <a:tr h="5722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Names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Timestamp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ID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Data Bytes 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[0-7]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Class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Samples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338478451"/>
                  </a:ext>
                </a:extLst>
              </a:tr>
              <a:tr h="5266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hex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0-8 (but all are 8)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 (Normal Data)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988872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53330030"/>
                  </a:ext>
                </a:extLst>
              </a:tr>
              <a:tr h="6261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Denial of Service (DoS)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0.3 millisecond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Dominant value “0000”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0-8 (but all are 8)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(Injected Data)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587521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124528770"/>
                  </a:ext>
                </a:extLst>
              </a:tr>
              <a:tr h="1081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 Attack (Spoofing type)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1 millisecond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hex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0-8 (but all are 8)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value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(Injected Data)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597252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894784749"/>
                  </a:ext>
                </a:extLst>
              </a:tr>
              <a:tr h="7250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 Attack (Spoofing Type)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1 millisecond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hex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0-8 (but all are 8)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(Injected Data)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654897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7753842"/>
                  </a:ext>
                </a:extLst>
              </a:tr>
              <a:tr h="7059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 Attack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0.5 millisecond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hex 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0-8 (but all are 8)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indent="1397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value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(Injected Data)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491847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61244980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5EA772C-0DE3-4FA3-9415-89BE1F0EE460}"/>
              </a:ext>
            </a:extLst>
          </p:cNvPr>
          <p:cNvSpPr txBox="1"/>
          <p:nvPr/>
        </p:nvSpPr>
        <p:spPr>
          <a:xfrm>
            <a:off x="2525481" y="1035335"/>
            <a:ext cx="714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Attributes and Number of Samples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Hacking [7]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Dataset.</a:t>
            </a:r>
          </a:p>
        </p:txBody>
      </p:sp>
    </p:spTree>
    <p:extLst>
      <p:ext uri="{BB962C8B-B14F-4D97-AF65-F5344CB8AC3E}">
        <p14:creationId xmlns:p14="http://schemas.microsoft.com/office/powerpoint/2010/main" val="306061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706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F01B92E-E16B-48BD-B273-5D54EA8AF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12228"/>
              </p:ext>
            </p:extLst>
          </p:nvPr>
        </p:nvGraphicFramePr>
        <p:xfrm>
          <a:off x="909430" y="1752233"/>
          <a:ext cx="10373139" cy="3396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7145">
                  <a:extLst>
                    <a:ext uri="{9D8B030D-6E8A-4147-A177-3AD203B41FA5}">
                      <a16:colId xmlns:a16="http://schemas.microsoft.com/office/drawing/2014/main" val="2561716720"/>
                    </a:ext>
                  </a:extLst>
                </a:gridCol>
                <a:gridCol w="2011522">
                  <a:extLst>
                    <a:ext uri="{9D8B030D-6E8A-4147-A177-3AD203B41FA5}">
                      <a16:colId xmlns:a16="http://schemas.microsoft.com/office/drawing/2014/main" val="2284999724"/>
                    </a:ext>
                  </a:extLst>
                </a:gridCol>
                <a:gridCol w="1675704">
                  <a:extLst>
                    <a:ext uri="{9D8B030D-6E8A-4147-A177-3AD203B41FA5}">
                      <a16:colId xmlns:a16="http://schemas.microsoft.com/office/drawing/2014/main" val="582766318"/>
                    </a:ext>
                  </a:extLst>
                </a:gridCol>
                <a:gridCol w="1787131">
                  <a:extLst>
                    <a:ext uri="{9D8B030D-6E8A-4147-A177-3AD203B41FA5}">
                      <a16:colId xmlns:a16="http://schemas.microsoft.com/office/drawing/2014/main" val="3592210192"/>
                    </a:ext>
                  </a:extLst>
                </a:gridCol>
                <a:gridCol w="2501637">
                  <a:extLst>
                    <a:ext uri="{9D8B030D-6E8A-4147-A177-3AD203B41FA5}">
                      <a16:colId xmlns:a16="http://schemas.microsoft.com/office/drawing/2014/main" val="1627541425"/>
                    </a:ext>
                  </a:extLst>
                </a:gridCol>
              </a:tblGrid>
              <a:tr h="1430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(%)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(%)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(%)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7151093"/>
                  </a:ext>
                </a:extLst>
              </a:tr>
              <a:tr h="934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ML Model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7705429"/>
                  </a:ext>
                </a:extLst>
              </a:tr>
              <a:tr h="9572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Cascaded ML Model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99.99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99.99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653259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7A8DD980-6BAF-4EE1-859B-88E6AE6516F1}"/>
              </a:ext>
            </a:extLst>
          </p:cNvPr>
          <p:cNvSpPr txBox="1"/>
          <p:nvPr/>
        </p:nvSpPr>
        <p:spPr>
          <a:xfrm>
            <a:off x="3078271" y="1382486"/>
            <a:ext cx="603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Overall Performance of the Two Implemented Models.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2C9F4DC-D91D-400D-8BA0-33B56AD8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1" y="136525"/>
            <a:ext cx="11254798" cy="10737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8B6946-CD1D-4DEA-932A-02A50A77DCC1}"/>
              </a:ext>
            </a:extLst>
          </p:cNvPr>
          <p:cNvGrpSpPr/>
          <p:nvPr/>
        </p:nvGrpSpPr>
        <p:grpSpPr>
          <a:xfrm>
            <a:off x="795821" y="5505465"/>
            <a:ext cx="10600358" cy="563309"/>
            <a:chOff x="4737547" y="5793813"/>
            <a:chExt cx="11832545" cy="56330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2D616F-36A7-4A8B-A863-239B1F9103BB}"/>
                </a:ext>
              </a:extLst>
            </p:cNvPr>
            <p:cNvSpPr/>
            <p:nvPr/>
          </p:nvSpPr>
          <p:spPr>
            <a:xfrm>
              <a:off x="4991177" y="5821384"/>
              <a:ext cx="115789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Improvement is minimal but significant in terms of VANET security</a:t>
              </a:r>
            </a:p>
          </p:txBody>
        </p:sp>
        <p:pic>
          <p:nvPicPr>
            <p:cNvPr id="30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7BDB39A9-8A86-4CFE-B8D5-2DC0C8661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7547" y="5793813"/>
              <a:ext cx="820735" cy="563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5434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C19A3EF-06E2-4ECC-B3C0-9AC08EA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1" y="136525"/>
            <a:ext cx="11254798" cy="10737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 (Cont.)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C7B9141-4F9B-4FD5-92CF-622A630E6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460159"/>
              </p:ext>
            </p:extLst>
          </p:nvPr>
        </p:nvGraphicFramePr>
        <p:xfrm>
          <a:off x="578856" y="1562968"/>
          <a:ext cx="11034288" cy="4104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1303">
                  <a:extLst>
                    <a:ext uri="{9D8B030D-6E8A-4147-A177-3AD203B41FA5}">
                      <a16:colId xmlns:a16="http://schemas.microsoft.com/office/drawing/2014/main" val="2438737223"/>
                    </a:ext>
                  </a:extLst>
                </a:gridCol>
                <a:gridCol w="1091303">
                  <a:extLst>
                    <a:ext uri="{9D8B030D-6E8A-4147-A177-3AD203B41FA5}">
                      <a16:colId xmlns:a16="http://schemas.microsoft.com/office/drawing/2014/main" val="3274944570"/>
                    </a:ext>
                  </a:extLst>
                </a:gridCol>
                <a:gridCol w="1091303">
                  <a:extLst>
                    <a:ext uri="{9D8B030D-6E8A-4147-A177-3AD203B41FA5}">
                      <a16:colId xmlns:a16="http://schemas.microsoft.com/office/drawing/2014/main" val="4232281865"/>
                    </a:ext>
                  </a:extLst>
                </a:gridCol>
                <a:gridCol w="970048">
                  <a:extLst>
                    <a:ext uri="{9D8B030D-6E8A-4147-A177-3AD203B41FA5}">
                      <a16:colId xmlns:a16="http://schemas.microsoft.com/office/drawing/2014/main" val="3660469556"/>
                    </a:ext>
                  </a:extLst>
                </a:gridCol>
                <a:gridCol w="1091303">
                  <a:extLst>
                    <a:ext uri="{9D8B030D-6E8A-4147-A177-3AD203B41FA5}">
                      <a16:colId xmlns:a16="http://schemas.microsoft.com/office/drawing/2014/main" val="4291996147"/>
                    </a:ext>
                  </a:extLst>
                </a:gridCol>
                <a:gridCol w="1091303">
                  <a:extLst>
                    <a:ext uri="{9D8B030D-6E8A-4147-A177-3AD203B41FA5}">
                      <a16:colId xmlns:a16="http://schemas.microsoft.com/office/drawing/2014/main" val="186177498"/>
                    </a:ext>
                  </a:extLst>
                </a:gridCol>
                <a:gridCol w="1697584">
                  <a:extLst>
                    <a:ext uri="{9D8B030D-6E8A-4147-A177-3AD203B41FA5}">
                      <a16:colId xmlns:a16="http://schemas.microsoft.com/office/drawing/2014/main" val="3338896829"/>
                    </a:ext>
                  </a:extLst>
                </a:gridCol>
                <a:gridCol w="1818838">
                  <a:extLst>
                    <a:ext uri="{9D8B030D-6E8A-4147-A177-3AD203B41FA5}">
                      <a16:colId xmlns:a16="http://schemas.microsoft.com/office/drawing/2014/main" val="707785121"/>
                    </a:ext>
                  </a:extLst>
                </a:gridCol>
                <a:gridCol w="1091303">
                  <a:extLst>
                    <a:ext uri="{9D8B030D-6E8A-4147-A177-3AD203B41FA5}">
                      <a16:colId xmlns:a16="http://schemas.microsoft.com/office/drawing/2014/main" val="4242022602"/>
                    </a:ext>
                  </a:extLst>
                </a:gridCol>
              </a:tblGrid>
              <a:tr h="12173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Attacks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Misclassified as Normal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Misclassified as Other Classes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7837311"/>
                  </a:ext>
                </a:extLst>
              </a:tr>
              <a:tr h="3720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185623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185628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3602854"/>
                  </a:ext>
                </a:extLst>
              </a:tr>
              <a:tr h="3720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117505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117505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0053997"/>
                  </a:ext>
                </a:extLst>
              </a:tr>
              <a:tr h="3720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2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98277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98370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2065479"/>
                  </a:ext>
                </a:extLst>
              </a:tr>
              <a:tr h="3720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119451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119451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0152528"/>
                  </a:ext>
                </a:extLst>
              </a:tr>
              <a:tr h="3720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130978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130978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3100158"/>
                  </a:ext>
                </a:extLst>
              </a:tr>
              <a:tr h="3720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2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2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651932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641407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0615DF2-AA88-4387-B57E-9B4008FD8511}"/>
              </a:ext>
            </a:extLst>
          </p:cNvPr>
          <p:cNvSpPr txBox="1"/>
          <p:nvPr/>
        </p:nvSpPr>
        <p:spPr>
          <a:xfrm>
            <a:off x="3195432" y="1193636"/>
            <a:ext cx="580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3: Confusion Matrix for Single ML Model.</a:t>
            </a:r>
          </a:p>
        </p:txBody>
      </p:sp>
    </p:spTree>
    <p:extLst>
      <p:ext uri="{BB962C8B-B14F-4D97-AF65-F5344CB8AC3E}">
        <p14:creationId xmlns:p14="http://schemas.microsoft.com/office/powerpoint/2010/main" val="2227143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1305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C19A3EF-06E2-4ECC-B3C0-9AC08EA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1" y="136525"/>
            <a:ext cx="11254798" cy="10737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 (Cont.)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15DF2-AA88-4387-B57E-9B4008FD8511}"/>
              </a:ext>
            </a:extLst>
          </p:cNvPr>
          <p:cNvSpPr txBox="1"/>
          <p:nvPr/>
        </p:nvSpPr>
        <p:spPr>
          <a:xfrm>
            <a:off x="3195432" y="1109650"/>
            <a:ext cx="580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4: Confusion Matrix for Cascaded ML Model.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C948E3-AB4D-426F-93BC-CFD9FC5C4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986445"/>
              </p:ext>
            </p:extLst>
          </p:nvPr>
        </p:nvGraphicFramePr>
        <p:xfrm>
          <a:off x="302108" y="1429555"/>
          <a:ext cx="11598341" cy="4104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9834">
                  <a:extLst>
                    <a:ext uri="{9D8B030D-6E8A-4147-A177-3AD203B41FA5}">
                      <a16:colId xmlns:a16="http://schemas.microsoft.com/office/drawing/2014/main" val="1553364054"/>
                    </a:ext>
                  </a:extLst>
                </a:gridCol>
                <a:gridCol w="1159834">
                  <a:extLst>
                    <a:ext uri="{9D8B030D-6E8A-4147-A177-3AD203B41FA5}">
                      <a16:colId xmlns:a16="http://schemas.microsoft.com/office/drawing/2014/main" val="2430616135"/>
                    </a:ext>
                  </a:extLst>
                </a:gridCol>
                <a:gridCol w="1159834">
                  <a:extLst>
                    <a:ext uri="{9D8B030D-6E8A-4147-A177-3AD203B41FA5}">
                      <a16:colId xmlns:a16="http://schemas.microsoft.com/office/drawing/2014/main" val="1507165838"/>
                    </a:ext>
                  </a:extLst>
                </a:gridCol>
                <a:gridCol w="1030963">
                  <a:extLst>
                    <a:ext uri="{9D8B030D-6E8A-4147-A177-3AD203B41FA5}">
                      <a16:colId xmlns:a16="http://schemas.microsoft.com/office/drawing/2014/main" val="1572169775"/>
                    </a:ext>
                  </a:extLst>
                </a:gridCol>
                <a:gridCol w="1159834">
                  <a:extLst>
                    <a:ext uri="{9D8B030D-6E8A-4147-A177-3AD203B41FA5}">
                      <a16:colId xmlns:a16="http://schemas.microsoft.com/office/drawing/2014/main" val="3418320918"/>
                    </a:ext>
                  </a:extLst>
                </a:gridCol>
                <a:gridCol w="1159834">
                  <a:extLst>
                    <a:ext uri="{9D8B030D-6E8A-4147-A177-3AD203B41FA5}">
                      <a16:colId xmlns:a16="http://schemas.microsoft.com/office/drawing/2014/main" val="2983679575"/>
                    </a:ext>
                  </a:extLst>
                </a:gridCol>
                <a:gridCol w="1804187">
                  <a:extLst>
                    <a:ext uri="{9D8B030D-6E8A-4147-A177-3AD203B41FA5}">
                      <a16:colId xmlns:a16="http://schemas.microsoft.com/office/drawing/2014/main" val="3708134799"/>
                    </a:ext>
                  </a:extLst>
                </a:gridCol>
                <a:gridCol w="1804187">
                  <a:extLst>
                    <a:ext uri="{9D8B030D-6E8A-4147-A177-3AD203B41FA5}">
                      <a16:colId xmlns:a16="http://schemas.microsoft.com/office/drawing/2014/main" val="963491531"/>
                    </a:ext>
                  </a:extLst>
                </a:gridCol>
                <a:gridCol w="1159834">
                  <a:extLst>
                    <a:ext uri="{9D8B030D-6E8A-4147-A177-3AD203B41FA5}">
                      <a16:colId xmlns:a16="http://schemas.microsoft.com/office/drawing/2014/main" val="3685963640"/>
                    </a:ext>
                  </a:extLst>
                </a:gridCol>
              </a:tblGrid>
              <a:tr h="13293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Attacks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Misclassified as Normal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Misclassified as Other Classes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9256498"/>
                  </a:ext>
                </a:extLst>
              </a:tr>
              <a:tr h="406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185628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185628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1794987"/>
                  </a:ext>
                </a:extLst>
              </a:tr>
              <a:tr h="406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DoS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117505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117505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8074546"/>
                  </a:ext>
                </a:extLst>
              </a:tr>
              <a:tr h="406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Fuzzy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US" sz="2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98309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98370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5012939"/>
                  </a:ext>
                </a:extLst>
              </a:tr>
              <a:tr h="406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119451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119451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5108731"/>
                  </a:ext>
                </a:extLst>
              </a:tr>
              <a:tr h="406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RPM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130978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130978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9900768"/>
                  </a:ext>
                </a:extLst>
              </a:tr>
              <a:tr h="406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US" sz="2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651932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585074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6B20D369-3BFF-403E-86C5-BA49DEEBBEE0}"/>
              </a:ext>
            </a:extLst>
          </p:cNvPr>
          <p:cNvGrpSpPr/>
          <p:nvPr/>
        </p:nvGrpSpPr>
        <p:grpSpPr>
          <a:xfrm>
            <a:off x="164221" y="5611104"/>
            <a:ext cx="12148309" cy="830997"/>
            <a:chOff x="3796642" y="5770867"/>
            <a:chExt cx="12148309" cy="83099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45D549-677F-4A37-BFC2-4EFC069058BF}"/>
                </a:ext>
              </a:extLst>
            </p:cNvPr>
            <p:cNvSpPr/>
            <p:nvPr/>
          </p:nvSpPr>
          <p:spPr>
            <a:xfrm>
              <a:off x="4366036" y="5770867"/>
              <a:ext cx="11578915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Attack misclassified as Normal was reduced to 61 and Overall misclassification was also reduced</a:t>
              </a:r>
            </a:p>
          </p:txBody>
        </p:sp>
        <p:pic>
          <p:nvPicPr>
            <p:cNvPr id="11" name="Picture 6" descr="Free Pointing Finger, Download Free Pointing Finger png images, Free  ClipArts on Clipart Library">
              <a:extLst>
                <a:ext uri="{FF2B5EF4-FFF2-40B4-BE49-F238E27FC236}">
                  <a16:creationId xmlns:a16="http://schemas.microsoft.com/office/drawing/2014/main" id="{43B89722-73A9-4480-9AE9-00E68271D0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6642" y="5863915"/>
              <a:ext cx="820735" cy="563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6784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450C1-BD10-4364-B598-DE9088B90B13}"/>
              </a:ext>
            </a:extLst>
          </p:cNvPr>
          <p:cNvSpPr/>
          <p:nvPr/>
        </p:nvSpPr>
        <p:spPr>
          <a:xfrm>
            <a:off x="626165" y="4881969"/>
            <a:ext cx="5318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Misclassification Chart for Single ML Model.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C19A3EF-06E2-4ECC-B3C0-9AC08EA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1" y="136525"/>
            <a:ext cx="11254798" cy="10737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 (Cont.)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B6439E-435B-4251-8181-55DBA09EEE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39" y="1796680"/>
            <a:ext cx="5450009" cy="2960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822651-0556-4499-9C0D-55AE683C47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948070"/>
            <a:ext cx="5627398" cy="28094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2C21E02-B700-4BAC-8428-860B59CAC29C}"/>
              </a:ext>
            </a:extLst>
          </p:cNvPr>
          <p:cNvSpPr/>
          <p:nvPr/>
        </p:nvSpPr>
        <p:spPr>
          <a:xfrm>
            <a:off x="6420329" y="4881969"/>
            <a:ext cx="5613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Misclassification Chart for Cascaded ML Model.</a:t>
            </a:r>
          </a:p>
        </p:txBody>
      </p:sp>
    </p:spTree>
    <p:extLst>
      <p:ext uri="{BB962C8B-B14F-4D97-AF65-F5344CB8AC3E}">
        <p14:creationId xmlns:p14="http://schemas.microsoft.com/office/powerpoint/2010/main" val="4221349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929" y="6563979"/>
            <a:ext cx="2743200" cy="365125"/>
          </a:xfrm>
        </p:spPr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11" y="6505631"/>
            <a:ext cx="2743200" cy="365125"/>
          </a:xfrm>
        </p:spPr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8" y="653891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C19A3EF-06E2-4ECC-B3C0-9AC08EA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9" y="0"/>
            <a:ext cx="11254798" cy="10737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and Analysis (Cont.)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15DF2-AA88-4387-B57E-9B4008FD8511}"/>
              </a:ext>
            </a:extLst>
          </p:cNvPr>
          <p:cNvSpPr txBox="1"/>
          <p:nvPr/>
        </p:nvSpPr>
        <p:spPr>
          <a:xfrm>
            <a:off x="2100468" y="993366"/>
            <a:ext cx="799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5: Performance Comparison of Proposed Model with State-of-Art Models.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43029C-C5EB-4D3E-B5C6-B0F1E179C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948516"/>
              </p:ext>
            </p:extLst>
          </p:nvPr>
        </p:nvGraphicFramePr>
        <p:xfrm>
          <a:off x="225557" y="1461909"/>
          <a:ext cx="11740886" cy="46800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2979">
                  <a:extLst>
                    <a:ext uri="{9D8B030D-6E8A-4147-A177-3AD203B41FA5}">
                      <a16:colId xmlns:a16="http://schemas.microsoft.com/office/drawing/2014/main" val="2227176615"/>
                    </a:ext>
                  </a:extLst>
                </a:gridCol>
                <a:gridCol w="2057185">
                  <a:extLst>
                    <a:ext uri="{9D8B030D-6E8A-4147-A177-3AD203B41FA5}">
                      <a16:colId xmlns:a16="http://schemas.microsoft.com/office/drawing/2014/main" val="1662758973"/>
                    </a:ext>
                  </a:extLst>
                </a:gridCol>
                <a:gridCol w="3175653">
                  <a:extLst>
                    <a:ext uri="{9D8B030D-6E8A-4147-A177-3AD203B41FA5}">
                      <a16:colId xmlns:a16="http://schemas.microsoft.com/office/drawing/2014/main" val="1195954907"/>
                    </a:ext>
                  </a:extLst>
                </a:gridCol>
                <a:gridCol w="1857458">
                  <a:extLst>
                    <a:ext uri="{9D8B030D-6E8A-4147-A177-3AD203B41FA5}">
                      <a16:colId xmlns:a16="http://schemas.microsoft.com/office/drawing/2014/main" val="2237307531"/>
                    </a:ext>
                  </a:extLst>
                </a:gridCol>
                <a:gridCol w="1941107">
                  <a:extLst>
                    <a:ext uri="{9D8B030D-6E8A-4147-A177-3AD203B41FA5}">
                      <a16:colId xmlns:a16="http://schemas.microsoft.com/office/drawing/2014/main" val="1061226850"/>
                    </a:ext>
                  </a:extLst>
                </a:gridCol>
                <a:gridCol w="1526504">
                  <a:extLst>
                    <a:ext uri="{9D8B030D-6E8A-4147-A177-3AD203B41FA5}">
                      <a16:colId xmlns:a16="http://schemas.microsoft.com/office/drawing/2014/main" val="3631408848"/>
                    </a:ext>
                  </a:extLst>
                </a:gridCol>
              </a:tblGrid>
              <a:tr h="6583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Ref.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Data for Performance Evaluation 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of Classification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Emphasized 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794759937"/>
                  </a:ext>
                </a:extLst>
              </a:tr>
              <a:tr h="6583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 (LSTM + GRU)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of combined Car Hacking and DDoS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99.70%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Class Only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1100650299"/>
                  </a:ext>
                </a:extLst>
              </a:tr>
              <a:tr h="379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 of own generated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Mentioned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Class Only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1635627612"/>
                  </a:ext>
                </a:extLst>
              </a:tr>
              <a:tr h="45196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 marL="29318" marR="29318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Autoencoder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of the Car Hacking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Class Only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1020038174"/>
                  </a:ext>
                </a:extLst>
              </a:tr>
              <a:tr h="3082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of UNSW-NB15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956239"/>
                  </a:ext>
                </a:extLst>
              </a:tr>
              <a:tr h="379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99.99%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Class Only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1532025349"/>
                  </a:ext>
                </a:extLst>
              </a:tr>
              <a:tr h="6923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 Kohonen Self-Organizing Map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of the Car Hacking dataset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Class Only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3863478639"/>
                  </a:ext>
                </a:extLst>
              </a:tr>
              <a:tr h="45196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ML 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of the Total Car Hacking Dataset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indent="1397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99.98%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 rowSpan="2">
                  <a:txBody>
                    <a:bodyPr/>
                    <a:lstStyle/>
                    <a:p>
                      <a:pPr marL="0" marR="0" indent="1397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of Attacks and Major Attack Classes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extLst>
                  <a:ext uri="{0D108BD9-81ED-4DB2-BD59-A6C34878D82A}">
                    <a16:rowId xmlns:a16="http://schemas.microsoft.com/office/drawing/2014/main" val="2991796806"/>
                  </a:ext>
                </a:extLst>
              </a:tr>
              <a:tr h="6274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Cascaded ML 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 of the Total Car Hacking Dataset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>
                  <a:txBody>
                    <a:bodyPr/>
                    <a:lstStyle/>
                    <a:p>
                      <a:pPr marL="0" marR="0" indent="1397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99.99%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18" marR="29318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16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235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587"/>
            <a:ext cx="10515600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80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48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1DEF-AB02-418F-9EB5-743770A5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5843"/>
            <a:ext cx="12085982" cy="345421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is to build a network security system blended with a Machine Learning (ML) model.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Cascaded ML-based IDS in this study copes with a dataset by emphasizing that attacks should not go into the Normal class while classifying them further in attack levels.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work to use this model in real-time.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7D8222-0114-44CD-B939-25E05616299E}"/>
              </a:ext>
            </a:extLst>
          </p:cNvPr>
          <p:cNvGrpSpPr/>
          <p:nvPr/>
        </p:nvGrpSpPr>
        <p:grpSpPr>
          <a:xfrm>
            <a:off x="4232412" y="4558748"/>
            <a:ext cx="3621157" cy="1797602"/>
            <a:chOff x="2716696" y="2588712"/>
            <a:chExt cx="6655903" cy="3811260"/>
          </a:xfrm>
        </p:grpSpPr>
        <p:pic>
          <p:nvPicPr>
            <p:cNvPr id="5" name="Picture 2" descr="https://o.remove.bg/downloads/d8c7f7a1-fecb-4eab-9607-e0453879d70a/Bot-Human-Handoff-Featured-Image-removebg-preview.png">
              <a:extLst>
                <a:ext uri="{FF2B5EF4-FFF2-40B4-BE49-F238E27FC236}">
                  <a16:creationId xmlns:a16="http://schemas.microsoft.com/office/drawing/2014/main" id="{17788538-9C09-40CD-9CE0-E1678E4082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399" y="2951922"/>
              <a:ext cx="6553200" cy="344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Speech Bubble: Oval 5">
              <a:extLst>
                <a:ext uri="{FF2B5EF4-FFF2-40B4-BE49-F238E27FC236}">
                  <a16:creationId xmlns:a16="http://schemas.microsoft.com/office/drawing/2014/main" id="{B8778C34-1527-44C3-972C-2C3900592D59}"/>
                </a:ext>
              </a:extLst>
            </p:cNvPr>
            <p:cNvSpPr/>
            <p:nvPr/>
          </p:nvSpPr>
          <p:spPr>
            <a:xfrm>
              <a:off x="2716696" y="2588712"/>
              <a:ext cx="2054085" cy="1565848"/>
            </a:xfrm>
            <a:prstGeom prst="wedgeEllipseCallout">
              <a:avLst>
                <a:gd name="adj1" fmla="val -17683"/>
                <a:gd name="adj2" fmla="val 1069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Here you go.</a:t>
              </a:r>
            </a:p>
          </p:txBody>
        </p:sp>
        <p:sp>
          <p:nvSpPr>
            <p:cNvPr id="7" name="Speech Bubble: Oval 6">
              <a:extLst>
                <a:ext uri="{FF2B5EF4-FFF2-40B4-BE49-F238E27FC236}">
                  <a16:creationId xmlns:a16="http://schemas.microsoft.com/office/drawing/2014/main" id="{0AAA332B-82BB-4256-98C3-FCE9655FB24A}"/>
                </a:ext>
              </a:extLst>
            </p:cNvPr>
            <p:cNvSpPr/>
            <p:nvPr/>
          </p:nvSpPr>
          <p:spPr>
            <a:xfrm rot="20632612">
              <a:off x="6931465" y="3147392"/>
              <a:ext cx="2339008" cy="1066800"/>
            </a:xfrm>
            <a:prstGeom prst="wedgeEllipseCallout">
              <a:avLst>
                <a:gd name="adj1" fmla="val -17683"/>
                <a:gd name="adj2" fmla="val 1069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Thanks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BC296-4901-42EE-A246-F24DB7EF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22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08D2301-DC96-436F-9DF6-15AAD730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27C8B-D28B-478E-AA64-8C366F59E7D7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9DBD311-53FD-4829-8258-77C54DF0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50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4E1-3204-4DAC-9341-2DEDC51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91"/>
            <a:ext cx="10515600" cy="7319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1DEF-AB02-418F-9EB5-743770A5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43" y="947067"/>
            <a:ext cx="11966713" cy="5679417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M. Song, J. Woo, and H. K. Kim, “In-vehicle network intrusion detection using deep convolutional neural network,” </a:t>
            </a:r>
            <a:r>
              <a:rPr lang="en-US" sz="17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7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21, p. 100198, </a:t>
            </a:r>
            <a:r>
              <a:rPr lang="nl-N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Jan. 2020, doi: 10.1016/j.vehcom.2019.100198.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Ullah 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“HDL-IDS: A Hybrid Deep Learning Architecture for Intrusion Detection in the Internet of Vehicles,” 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22, no. 4, p. 1340, Feb. 2022,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10.3390/s22041340.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Nazakat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K. Khurshid, “Intrusion Detection System for In-Vehicular Communication,” in 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 15th International Conference on Emerging </a:t>
            </a:r>
            <a:r>
              <a:rPr lang="fr-FR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(ICET)</a:t>
            </a:r>
            <a:r>
              <a:rPr lang="fr-FR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fr-FR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2019, pp. 1–6, </a:t>
            </a:r>
            <a:r>
              <a:rPr lang="fr-FR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fr-FR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10.1109/ICET48972.2019.8994327.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it-IT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S. Barletta, D. Caivano, A. Nannavecchia, and M. Scalera, “Intrusion 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for in-Vehicle Communication Networks: An Unsupervised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Kohonen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 Approach,” </a:t>
            </a:r>
            <a:r>
              <a:rPr lang="en-US" sz="17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Internet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7, p. 119, Jul. 2020,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10.3390/fi12070119.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Ashraf, A. D.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Bakhshi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Moustafa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Khurshid, A.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Javed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Beheshti, “Novel Deep Learning-Enabled LSTM Autoencoder Architecture for Discovering Anomalous Events From Intelligent Transportation Systems,” 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lang="en-US" sz="175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Transp. Syst.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22, no. 7, pp. 4507–4518, Jul. 2021,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10.1109/TITS.2020.3017882.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D. Hossain, H. Inoue, H.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Ochiai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Fall, and Y.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Kadobayashi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“LSTM-Based Intrusion Detection System for In-Vehicle Can Bus Communications,” 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185489–185502, 2020,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10.1109/ACCESS.2020.3029307.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M. Song, and H. K. Kim, “GIDS: GAN based Intrusion Detection System for In-Vehicle Network,” in </a:t>
            </a:r>
            <a:r>
              <a:rPr lang="en-US" sz="17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 16th Annual Conference on Privacy, Security and Trust (PST)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Aug. 2018, pp. 1–6,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10.1109/PST.2018.8514157.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https://www.flaticon.com/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https://www.sciencedirect.com/topics/computer-science/vehicular-ad-hoc-network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B6152-2FC9-4B64-A1A3-1C8E5540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018D9-7F94-4382-8AC4-804F5EA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082BE-E781-4139-AE03-F16865B5AD66}" type="datetime2">
              <a:rPr lang="en-US" smtClean="0"/>
              <a:t>Friday, December 12,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594D5-F242-4E1A-B332-4E581D84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03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3D08E-116F-4E7A-922B-467DE294BDF8}"/>
              </a:ext>
            </a:extLst>
          </p:cNvPr>
          <p:cNvSpPr txBox="1"/>
          <p:nvPr/>
        </p:nvSpPr>
        <p:spPr>
          <a:xfrm>
            <a:off x="1126436" y="2756452"/>
            <a:ext cx="9939129" cy="17543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  <a:p>
            <a:pPr algn="ctr"/>
            <a:r>
              <a:rPr lang="en-US" sz="5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Q/A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0C016-6BEF-4CDE-86E8-606A9640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B52C-7DBF-4E5F-A4AF-C27842A60976}" type="datetime2">
              <a:rPr lang="en-US" smtClean="0"/>
              <a:t>Friday, December 12,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16353-FA3C-4775-B3FA-CE0DE587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F6BE0-EC28-4B5E-A3D4-87489597E3C7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A5597-C85B-4A38-AEC7-752DDDE7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6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3194</TotalTime>
  <Words>1688</Words>
  <Application>Microsoft Office PowerPoint</Application>
  <PresentationFormat>Widescreen</PresentationFormat>
  <Paragraphs>431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</vt:lpstr>
      <vt:lpstr>Background Study</vt:lpstr>
      <vt:lpstr>Vehicular Network</vt:lpstr>
      <vt:lpstr>Security in VANET</vt:lpstr>
      <vt:lpstr>Security Breach and Consequences</vt:lpstr>
      <vt:lpstr>Prominent Works on VANET Security</vt:lpstr>
      <vt:lpstr>Shortcomings of Other Works </vt:lpstr>
      <vt:lpstr>Motivations for this Work</vt:lpstr>
      <vt:lpstr>Methodology</vt:lpstr>
      <vt:lpstr>The Procedure of the Experiment </vt:lpstr>
      <vt:lpstr>Working Technique for the Proposed Model </vt:lpstr>
      <vt:lpstr>Working Technique for the Proposed Model (Cont.) </vt:lpstr>
      <vt:lpstr>Working Technique for the Proposed Model (Cont.) </vt:lpstr>
      <vt:lpstr>Experimental Studies</vt:lpstr>
      <vt:lpstr>Dataset Description</vt:lpstr>
      <vt:lpstr>Experimental Results and Analysis </vt:lpstr>
      <vt:lpstr>Experimental Results and Analysis (Cont.)</vt:lpstr>
      <vt:lpstr>Experimental Results and Analysis (Cont.) </vt:lpstr>
      <vt:lpstr>Experimental Results and Analysis (Cont.) </vt:lpstr>
      <vt:lpstr>Experimental Results and Analysis (Cont.) </vt:lpstr>
      <vt:lpstr>Conclusions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SOURAV DEBNATH</cp:lastModifiedBy>
  <cp:revision>247</cp:revision>
  <dcterms:created xsi:type="dcterms:W3CDTF">2022-08-20T15:38:05Z</dcterms:created>
  <dcterms:modified xsi:type="dcterms:W3CDTF">2025-12-12T14:15:55Z</dcterms:modified>
</cp:coreProperties>
</file>