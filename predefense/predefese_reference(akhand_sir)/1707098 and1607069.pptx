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85" r:id="rId3"/>
    <p:sldId id="286" r:id="rId4"/>
    <p:sldId id="330" r:id="rId5"/>
    <p:sldId id="334" r:id="rId6"/>
    <p:sldId id="346" r:id="rId7"/>
    <p:sldId id="335" r:id="rId8"/>
    <p:sldId id="336" r:id="rId9"/>
    <p:sldId id="337" r:id="rId10"/>
    <p:sldId id="342" r:id="rId11"/>
    <p:sldId id="350" r:id="rId12"/>
    <p:sldId id="341" r:id="rId13"/>
    <p:sldId id="344" r:id="rId14"/>
    <p:sldId id="258" r:id="rId15"/>
    <p:sldId id="332" r:id="rId16"/>
    <p:sldId id="306" r:id="rId17"/>
    <p:sldId id="307" r:id="rId18"/>
    <p:sldId id="308" r:id="rId19"/>
    <p:sldId id="309" r:id="rId20"/>
    <p:sldId id="310" r:id="rId21"/>
    <p:sldId id="338" r:id="rId22"/>
    <p:sldId id="314" r:id="rId23"/>
    <p:sldId id="318" r:id="rId24"/>
    <p:sldId id="348" r:id="rId25"/>
    <p:sldId id="349" r:id="rId26"/>
    <p:sldId id="347" r:id="rId27"/>
    <p:sldId id="319" r:id="rId28"/>
    <p:sldId id="327" r:id="rId29"/>
    <p:sldId id="328" r:id="rId30"/>
    <p:sldId id="281" r:id="rId31"/>
    <p:sldId id="345" r:id="rId32"/>
    <p:sldId id="29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9" autoAdjust="0"/>
    <p:restoredTop sz="94660"/>
  </p:normalViewPr>
  <p:slideViewPr>
    <p:cSldViewPr snapToGrid="0">
      <p:cViewPr varScale="1">
        <p:scale>
          <a:sx n="80" d="100"/>
          <a:sy n="80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B472E-A102-43AE-8AEC-62CFC12AD950}" type="datetimeFigureOut">
              <a:rPr lang="en-US" smtClean="0"/>
              <a:t>14-Feb-23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DC88A-1605-4239-8673-5C1401126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37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10F39-2BD3-49E1-9139-5C30B1754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EA16E-6003-45F6-A395-01225803C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427E-D74D-4241-BB79-442F59D65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37A5B-70E3-4CD9-A72E-DCA826FE66FB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4D45-899D-4CFD-8769-9C9975ED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128F2-23A5-4BBC-86FD-81992510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8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3D5A-8923-4D96-8D33-86E703C2C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BDD9E-5CFC-458A-AC44-1D24B9829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0831E-86AC-403D-8CEE-00C093D5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7A7DB-B446-45B1-BDC4-E4388016F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5C5FB-F6C6-48A1-BA79-EA46595A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5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9343-502A-4F51-ABBD-89A8CBC4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295CA-5B93-4A44-96E8-14AFAFF5D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E2F20-A03C-4FA9-BE29-00E14C27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43E23-79D8-497F-9D63-E063CD8C13EA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33E15-E845-4FDE-B3AB-BD8FF9024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2A516-3490-42A6-8E3B-9FA44964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25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DFEE-5EFC-4F0E-8D0B-514110F6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68236-15A9-4610-8F03-82842D0A5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A0805-16DD-4610-927B-0CA7BEDAB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74912-8711-45B6-B3F0-C18973F0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7DE2-9D7A-441E-BBA1-FBF5975A7B76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A3038-2337-406F-A500-00B6C7075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79890-4D0D-4062-98B4-68190364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0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1FA2-CBDA-490D-B076-25B413EB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837AC-1247-40ED-ABEB-4EB5996CA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C9776-4AEA-4F8B-AA3E-747040866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3879F4-210C-4C49-BC74-168E23F4B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83282-B7D9-4790-82CB-A16E94F5D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AEFD8-EA94-47DC-93FE-69BE1655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0191-749C-452A-9B44-B5F7114FEEE6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881BF3-FA38-4DDE-9716-98D19816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1AE3E-D5E6-4E93-9150-23EE4935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68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23C65-F16D-4685-9C45-98E5D6FA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C7821-D7E3-4852-AD8B-7EDE98877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1940-4D3E-442B-9C0F-231928C1A69E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806CB-A78E-4883-B260-476BDE97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C431A-3C03-48A4-9D1C-CD5A557AC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84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854B9-6B08-4A49-9D7C-97B8DAF5D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9F30-B964-4FE4-9B12-15CC7646CCAC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670E2-FAFE-46DE-9268-BF28BBBD1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8257D-F481-4845-94F5-33D12D63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50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FBC98-E3CB-4B0B-8D52-28D2C289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4956D-FAC5-4F89-825D-99AC1D48C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D6F6F-1518-4331-8B84-D1814427A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6E874-14C5-4F2C-956E-A621E9C1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F18BF-0ADB-43A9-A047-449ED6F4C833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985C9-6D84-407D-9921-73E80221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F61CF-EE38-481C-A2CB-DADC507D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97AC-68F0-4292-B7ED-C428F225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2A519-07D7-4731-AFFB-E352DDB925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8EDAC-22AC-4E51-85B8-6F467C4A1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22B7B-4BEB-4DBB-B783-ECAE44FF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F2B74-2426-4E6B-BD9C-9EF0FD1C1334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FAB60-09A5-42B0-84A8-F4D8100F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9DD9C-1592-43B4-B025-54337661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81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8455-5B1A-4444-A46F-EDE7A322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F0E90-C12E-4809-AD25-B93CA827B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6B9D8-7C31-4E8E-9B39-E2C600AC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C0F0-3BF1-4412-AF0B-2C16AB895F1F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9ED1-F62F-41EB-9ABF-A37EC158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AC9D6-CB5F-483C-B387-E42792EB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65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35C2AA-9E56-451C-A80E-5BB9AA574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C53BB-1BEA-4E91-9E68-5B5FCEAE3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80EA-2AC9-43E0-A970-1BD7D4E6A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62AFC-FD06-4803-8035-F9A776832B60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48A24-CEE3-4044-B400-DF7416E8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F46A-3E76-4491-B7A8-5065F468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2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9B2B0B-1982-40B0-8BEF-CF966EE30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F5FD9-284C-4155-A0C1-93BF030BC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5DCDF-0D94-4998-85F7-157361A61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F5607-A2E2-45C9-81BE-0DFAAF179EF2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5E8E2-87FE-4DF0-8927-6E75A1CDF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005F3-4A33-4F30-9480-7ED2FA796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340C9-34B4-40A1-A23F-717B73D58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3" Type="http://schemas.microsoft.com/office/2007/relationships/media" Target="../media/media2.wav"/><Relationship Id="rId7" Type="http://schemas.microsoft.com/office/2007/relationships/media" Target="../media/media4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5" Type="http://schemas.microsoft.com/office/2007/relationships/media" Target="../media/media3.wav"/><Relationship Id="rId10" Type="http://schemas.openxmlformats.org/officeDocument/2006/relationships/image" Target="../media/image3.png"/><Relationship Id="rId4" Type="http://schemas.openxmlformats.org/officeDocument/2006/relationships/audio" Target="../media/media2.wav"/><Relationship Id="rId9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614A-04D8-4A1E-8119-6CF810696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802" y="0"/>
            <a:ext cx="11040798" cy="261787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 Speech Emotion Recognition With Intensity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Using Feature Transformation And Deep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12EE5A-E90F-4829-83BF-F226D6712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12286"/>
            <a:ext cx="4453467" cy="216518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just">
              <a:lnSpc>
                <a:spcPct val="1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Masum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Billah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Roll: 1707098</a:t>
            </a:r>
          </a:p>
          <a:p>
            <a:pPr algn="just">
              <a:lnSpc>
                <a:spcPct val="1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Md. Likhon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Sarker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Roll: 1607069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0" y="3812286"/>
            <a:ext cx="6096000" cy="252376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Md.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Haque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Akhand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Khulna University of Engineering &amp; Technology, Khulna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932E-B179-4827-9C16-593799A62EE5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 February 2023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78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58"/>
    </mc:Choice>
    <mc:Fallback xmlns="">
      <p:transition spd="slow" advTm="3658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914D-6A76-48CD-861C-A75B51AA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AF22C-6790-461B-9B5A-6F073600D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90292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Description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and Analysis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13451-666A-4E7B-9161-59A390D583CE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29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08"/>
    </mc:Choice>
    <mc:Fallback xmlns="">
      <p:transition spd="slow" advTm="4208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E6C1-4FBB-443E-8FB4-B9F1F6B3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354"/>
            <a:ext cx="10515600" cy="188908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08A44-B19D-4ADF-8085-52FBA0A31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9815"/>
            <a:ext cx="10515600" cy="413714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Bangla language, there is still the lacking of a useful linguistics resource for emotion recognition.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purpose is to make a Bangla language dataset that can be used to recognize emotional state from speech signals.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BBA35-44B7-48FE-B5DC-351AFF78EADE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 February 2023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45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5639855"/>
            <a:ext cx="10871200" cy="553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</a:t>
            </a: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that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support by </a:t>
            </a: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activities in speech </a:t>
            </a: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 February 2023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51479"/>
            <a:ext cx="9854184" cy="2526792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990600" y="191875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model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the supportive system to take necessary actions when any unusual activity occurs. </a:t>
            </a:r>
          </a:p>
        </p:txBody>
      </p:sp>
    </p:spTree>
    <p:extLst>
      <p:ext uri="{BB962C8B-B14F-4D97-AF65-F5344CB8AC3E}">
        <p14:creationId xmlns:p14="http://schemas.microsoft.com/office/powerpoint/2010/main" val="157869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16205"/>
            <a:ext cx="11174129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Emotion Recognition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task involves identifying and categorizing emotional elements of speech.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 process involves two stages which are extracting features from the speech signal and classifying emotions.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deep learning models based on neural networks have been explored for SER, including Convolutional Neural Networks (CNN), Long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 Term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(LSTM), and Recurrent Neural Networks (RNN).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 February 2023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64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lang="en-US" sz="40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30948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emotional speech corpus for the Bangla language in a realistic environment.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emotions and their intensity level from Bangla speech 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4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CBE8-1E8D-4233-93D1-CCD9271D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05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722D8-A7D2-4793-8E88-D08A2A4F7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673" y="1528175"/>
            <a:ext cx="10684021" cy="51933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collected 900 speeches from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 actors from various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 resources.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named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(Bangla Emotional Speech Corpus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are separated according to five emotions such as Neutral, Happy, Sad, Angry, Disgust.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emotion can have two intensity level except neutral.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Angry, Very angry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13273-DC3B-4756-AC31-7BB25409F2EA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4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 of the </a:t>
            </a:r>
            <a:r>
              <a:rPr lang="en-US" sz="36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BESCK</a:t>
            </a:r>
            <a:r>
              <a:rPr lang="en-US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Preparation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383" y="1299514"/>
            <a:ext cx="2720752" cy="529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EF52-D2B4-4F1C-81D9-CFD0B3C22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807" y="123229"/>
            <a:ext cx="10515600" cy="931994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of Our </a:t>
            </a:r>
            <a:r>
              <a:rPr lang="en-US" sz="400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BESCK</a:t>
            </a:r>
            <a:r>
              <a:rPr lang="en-US" sz="4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endParaRPr lang="en-US"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5ACD7-AFB5-4E3C-AB03-456D30466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119"/>
            <a:ext cx="10515600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1C62-09BB-49D0-8D02-1238D7969DB5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781539"/>
              </p:ext>
            </p:extLst>
          </p:nvPr>
        </p:nvGraphicFramePr>
        <p:xfrm>
          <a:off x="2211302" y="1004421"/>
          <a:ext cx="7874910" cy="5666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455">
                  <a:extLst>
                    <a:ext uri="{9D8B030D-6E8A-4147-A177-3AD203B41FA5}">
                      <a16:colId xmlns:a16="http://schemas.microsoft.com/office/drawing/2014/main" val="2290902974"/>
                    </a:ext>
                  </a:extLst>
                </a:gridCol>
                <a:gridCol w="3937455">
                  <a:extLst>
                    <a:ext uri="{9D8B030D-6E8A-4147-A177-3AD203B41FA5}">
                      <a16:colId xmlns:a16="http://schemas.microsoft.com/office/drawing/2014/main" val="1920656788"/>
                    </a:ext>
                  </a:extLst>
                </a:gridCol>
              </a:tblGrid>
              <a:tr h="3147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Descriptions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5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Values 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1732084639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Bangla </a:t>
                      </a:r>
                      <a:r>
                        <a:rPr lang="en-US" sz="15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Natok</a:t>
                      </a:r>
                      <a:r>
                        <a:rPr lang="en-US" sz="15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Drama, Telefilm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 anchor="ctr"/>
                </a:tc>
                <a:extLst>
                  <a:ext uri="{0D108BD9-81ED-4DB2-BD59-A6C34878D82A}">
                    <a16:rowId xmlns:a16="http://schemas.microsoft.com/office/drawing/2014/main" val="4094443739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Used Language</a:t>
                      </a: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Standard Bangla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781202112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Corpus type</a:t>
                      </a: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Realistic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962185947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File type</a:t>
                      </a: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Audio only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1390151705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File format of audio clips type</a:t>
                      </a: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WAV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2530986484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Sampling rate</a:t>
                      </a: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48 kHz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2123298587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of actors</a:t>
                      </a:r>
                      <a:endParaRPr lang="en-US" sz="15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4045148807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Size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of the dataset</a:t>
                      </a:r>
                      <a:endParaRPr lang="en-US" sz="15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497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MB</a:t>
                      </a:r>
                      <a:endParaRPr lang="en-US" sz="15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2001796330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of emotions</a:t>
                      </a:r>
                      <a:endParaRPr lang="en-US" sz="15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Five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2374505506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of intensity level</a:t>
                      </a:r>
                      <a:endParaRPr lang="en-US" sz="15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Two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3515489064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Emotion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states</a:t>
                      </a:r>
                      <a:endParaRPr lang="en-US" sz="15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Neutral,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Happy, Sad, Angry, Disgust</a:t>
                      </a:r>
                      <a:endParaRPr lang="en-US" sz="15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2848384271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Intensity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states</a:t>
                      </a:r>
                      <a:endParaRPr lang="en-US" sz="15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Normal,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Strong</a:t>
                      </a:r>
                      <a:endParaRPr lang="en-US" sz="15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1693479043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of sentences</a:t>
                      </a:r>
                      <a:endParaRPr lang="en-US" sz="15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Random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891243642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Total number of audio clips</a:t>
                      </a: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900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304639613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Audio duration per clip</a:t>
                      </a: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3 seconds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2474814404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Total duration of the corpus</a:t>
                      </a: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2700 seconds</a:t>
                      </a:r>
                    </a:p>
                  </a:txBody>
                  <a:tcPr marL="75509" marR="75509" marT="37754" marB="37754"/>
                </a:tc>
                <a:extLst>
                  <a:ext uri="{0D108BD9-81ED-4DB2-BD59-A6C34878D82A}">
                    <a16:rowId xmlns:a16="http://schemas.microsoft.com/office/drawing/2014/main" val="1631102345"/>
                  </a:ext>
                </a:extLst>
              </a:tr>
              <a:tr h="314792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Utilized software</a:t>
                      </a:r>
                    </a:p>
                  </a:txBody>
                  <a:tcPr marL="75509" marR="75509" marT="37754" marB="37754"/>
                </a:tc>
                <a:tc>
                  <a:txBody>
                    <a:bodyPr/>
                    <a:lstStyle/>
                    <a:p>
                      <a:r>
                        <a:rPr lang="en-US" sz="15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VideoProc</a:t>
                      </a:r>
                      <a:r>
                        <a:rPr lang="en-US" sz="15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Converter, Any Video Converter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509" marR="75509" marT="37754" marB="37754" anchor="ctr"/>
                </a:tc>
                <a:extLst>
                  <a:ext uri="{0D108BD9-81ED-4DB2-BD59-A6C34878D82A}">
                    <a16:rowId xmlns:a16="http://schemas.microsoft.com/office/drawing/2014/main" val="2946364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58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the 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Filename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onvention</a:t>
            </a:r>
            <a:endParaRPr lang="en-US" sz="40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2040626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17715913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3230029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119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= Neutral, 2 = Happy, 3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Sad, 4 = Angry, 5 = Disgust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38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= Normal, 2 = Strong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290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= Female, 1 = 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398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 = 1</a:t>
                      </a:r>
                      <a:r>
                        <a:rPr lang="en-US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Speech, … , 050 = 50</a:t>
                      </a:r>
                      <a:r>
                        <a:rPr lang="en-US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Speech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618917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1197" y="4024775"/>
            <a:ext cx="98877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Filename "2-1-0-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001.wav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refers to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“Happy-Normal-Female-1st Speech”.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Filename "3-2-1-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002.wav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refers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“Sad-Strong-Male-2nd Speech”.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13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 of Dataset</a:t>
            </a:r>
            <a:endParaRPr lang="en-US" sz="40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11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29733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Happy Female: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Sad Female: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Angry Female: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Disgust Female: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2-2-0-04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670956" y="2100791"/>
            <a:ext cx="406400" cy="406400"/>
          </a:xfrm>
          <a:prstGeom prst="rect">
            <a:avLst/>
          </a:prstGeom>
        </p:spPr>
      </p:pic>
      <p:pic>
        <p:nvPicPr>
          <p:cNvPr id="12" name="3-2-0-034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670956" y="2847842"/>
            <a:ext cx="406400" cy="406400"/>
          </a:xfrm>
          <a:prstGeom prst="rect">
            <a:avLst/>
          </a:prstGeom>
        </p:spPr>
      </p:pic>
      <p:pic>
        <p:nvPicPr>
          <p:cNvPr id="13" name="4-2-0-049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702179" y="3594894"/>
            <a:ext cx="406400" cy="406400"/>
          </a:xfrm>
          <a:prstGeom prst="rect">
            <a:avLst/>
          </a:prstGeom>
        </p:spPr>
      </p:pic>
      <p:pic>
        <p:nvPicPr>
          <p:cNvPr id="14" name="5-2-0-040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670956" y="436192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2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1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018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01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301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43" y="264541"/>
            <a:ext cx="11689875" cy="991765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Among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iﬀerent </a:t>
            </a:r>
            <a:r>
              <a:rPr lang="en-US" sz="3600" dirty="0" err="1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atasets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36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BESCK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ataset</a:t>
            </a:r>
            <a:endParaRPr lang="en-US" sz="36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035888"/>
              </p:ext>
            </p:extLst>
          </p:nvPr>
        </p:nvGraphicFramePr>
        <p:xfrm>
          <a:off x="748212" y="1251550"/>
          <a:ext cx="10256664" cy="4818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2533">
                  <a:extLst>
                    <a:ext uri="{9D8B030D-6E8A-4147-A177-3AD203B41FA5}">
                      <a16:colId xmlns:a16="http://schemas.microsoft.com/office/drawing/2014/main" val="2047785530"/>
                    </a:ext>
                  </a:extLst>
                </a:gridCol>
                <a:gridCol w="1232988">
                  <a:extLst>
                    <a:ext uri="{9D8B030D-6E8A-4147-A177-3AD203B41FA5}">
                      <a16:colId xmlns:a16="http://schemas.microsoft.com/office/drawing/2014/main" val="500787707"/>
                    </a:ext>
                  </a:extLst>
                </a:gridCol>
                <a:gridCol w="1210734">
                  <a:extLst>
                    <a:ext uri="{9D8B030D-6E8A-4147-A177-3AD203B41FA5}">
                      <a16:colId xmlns:a16="http://schemas.microsoft.com/office/drawing/2014/main" val="872095504"/>
                    </a:ext>
                  </a:extLst>
                </a:gridCol>
                <a:gridCol w="1056517">
                  <a:extLst>
                    <a:ext uri="{9D8B030D-6E8A-4147-A177-3AD203B41FA5}">
                      <a16:colId xmlns:a16="http://schemas.microsoft.com/office/drawing/2014/main" val="729915542"/>
                    </a:ext>
                  </a:extLst>
                </a:gridCol>
                <a:gridCol w="1279601">
                  <a:extLst>
                    <a:ext uri="{9D8B030D-6E8A-4147-A177-3AD203B41FA5}">
                      <a16:colId xmlns:a16="http://schemas.microsoft.com/office/drawing/2014/main" val="668907529"/>
                    </a:ext>
                  </a:extLst>
                </a:gridCol>
                <a:gridCol w="1280503">
                  <a:extLst>
                    <a:ext uri="{9D8B030D-6E8A-4147-A177-3AD203B41FA5}">
                      <a16:colId xmlns:a16="http://schemas.microsoft.com/office/drawing/2014/main" val="4037566084"/>
                    </a:ext>
                  </a:extLst>
                </a:gridCol>
                <a:gridCol w="1336379">
                  <a:extLst>
                    <a:ext uri="{9D8B030D-6E8A-4147-A177-3AD203B41FA5}">
                      <a16:colId xmlns:a16="http://schemas.microsoft.com/office/drawing/2014/main" val="3625620166"/>
                    </a:ext>
                  </a:extLst>
                </a:gridCol>
                <a:gridCol w="1217409">
                  <a:extLst>
                    <a:ext uri="{9D8B030D-6E8A-4147-A177-3AD203B41FA5}">
                      <a16:colId xmlns:a16="http://schemas.microsoft.com/office/drawing/2014/main" val="2413062439"/>
                    </a:ext>
                  </a:extLst>
                </a:gridCol>
              </a:tblGrid>
              <a:tr h="3147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Specifications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IEMOCAP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RAVEDESS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EMO-DB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SAVEE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SUBESCO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8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BanglaSER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BESCK</a:t>
                      </a:r>
                      <a:endParaRPr lang="en-US" sz="19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extLst>
                  <a:ext uri="{0D108BD9-81ED-4DB2-BD59-A6C34878D82A}">
                    <a16:rowId xmlns:a16="http://schemas.microsoft.com/office/drawing/2014/main" val="2529877890"/>
                  </a:ext>
                </a:extLst>
              </a:tr>
              <a:tr h="6451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audio speeches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5255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1440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535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480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1467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en-US" sz="19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extLst>
                  <a:ext uri="{0D108BD9-81ED-4DB2-BD59-A6C34878D82A}">
                    <a16:rowId xmlns:a16="http://schemas.microsoft.com/office/drawing/2014/main" val="313914381"/>
                  </a:ext>
                </a:extLst>
              </a:tr>
              <a:tr h="6451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speech emotions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9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extLst>
                  <a:ext uri="{0D108BD9-81ED-4DB2-BD59-A6C34878D82A}">
                    <a16:rowId xmlns:a16="http://schemas.microsoft.com/office/drawing/2014/main" val="457088456"/>
                  </a:ext>
                </a:extLst>
              </a:tr>
              <a:tr h="6443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Intensity level of emotions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extLst>
                  <a:ext uri="{0D108BD9-81ED-4DB2-BD59-A6C34878D82A}">
                    <a16:rowId xmlns:a16="http://schemas.microsoft.com/office/drawing/2014/main" val="3848699399"/>
                  </a:ext>
                </a:extLst>
              </a:tr>
              <a:tr h="461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sentences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  <a:endParaRPr lang="en-US" sz="19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extLst>
                  <a:ext uri="{0D108BD9-81ED-4DB2-BD59-A6C34878D82A}">
                    <a16:rowId xmlns:a16="http://schemas.microsoft.com/office/drawing/2014/main" val="2978405061"/>
                  </a:ext>
                </a:extLst>
              </a:tr>
              <a:tr h="692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participating actors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19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extLst>
                  <a:ext uri="{0D108BD9-81ED-4DB2-BD59-A6C34878D82A}">
                    <a16:rowId xmlns:a16="http://schemas.microsoft.com/office/drawing/2014/main" val="1280175236"/>
                  </a:ext>
                </a:extLst>
              </a:tr>
              <a:tr h="4263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Sampling rate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kHz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kHz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kHz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44.1 kHz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kHz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44.1 kHz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kHz</a:t>
                      </a:r>
                      <a:endParaRPr lang="en-US" sz="19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extLst>
                  <a:ext uri="{0D108BD9-81ED-4DB2-BD59-A6C34878D82A}">
                    <a16:rowId xmlns:a16="http://schemas.microsoft.com/office/drawing/2014/main" val="3847590969"/>
                  </a:ext>
                </a:extLst>
              </a:tr>
              <a:tr h="2308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balance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extLst>
                  <a:ext uri="{0D108BD9-81ED-4DB2-BD59-A6C34878D82A}">
                    <a16:rowId xmlns:a16="http://schemas.microsoft.com/office/drawing/2014/main" val="1008816331"/>
                  </a:ext>
                </a:extLst>
              </a:tr>
              <a:tr h="4301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balance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extLst>
                  <a:ext uri="{0D108BD9-81ED-4DB2-BD59-A6C34878D82A}">
                    <a16:rowId xmlns:a16="http://schemas.microsoft.com/office/drawing/2014/main" val="771370985"/>
                  </a:ext>
                </a:extLst>
              </a:tr>
              <a:tr h="2308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German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</a:t>
                      </a:r>
                      <a:endParaRPr lang="en-US" sz="1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</a:t>
                      </a:r>
                      <a:endParaRPr lang="en-US" sz="19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999" marR="93999" marT="0" marB="0" anchor="ctr"/>
                </a:tc>
                <a:extLst>
                  <a:ext uri="{0D108BD9-81ED-4DB2-BD59-A6C34878D82A}">
                    <a16:rowId xmlns:a16="http://schemas.microsoft.com/office/drawing/2014/main" val="704327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30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8822-8BED-4624-9C1C-6DA2EC56C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5958"/>
            <a:ext cx="10515600" cy="74957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16C26-BCE6-4FD2-8882-452C160E7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8770"/>
            <a:ext cx="10515600" cy="369835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Transformation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Convolutional Neural Network (3D CNN)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Long Short Term Memory (Bi-LSTM)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Short Term Memory (LSTM)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 Model Framework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Cascaded 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odel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4E93F-D488-4717-B437-8CDD93329859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3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CFAD6-7EB7-4BCD-A55A-A5386C002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31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1BB2B-890C-4734-8A04-65A0D632C59A}"/>
              </a:ext>
            </a:extLst>
          </p:cNvPr>
          <p:cNvSpPr txBox="1"/>
          <p:nvPr/>
        </p:nvSpPr>
        <p:spPr>
          <a:xfrm>
            <a:off x="2154329" y="5023007"/>
            <a:ext cx="9162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General architecture of the proposed method.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8B2A-2159-45C9-AD54-50C7D9993626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14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819" y="1778152"/>
            <a:ext cx="9438531" cy="2742328"/>
          </a:xfrm>
        </p:spPr>
      </p:pic>
    </p:spTree>
    <p:extLst>
      <p:ext uri="{BB962C8B-B14F-4D97-AF65-F5344CB8AC3E}">
        <p14:creationId xmlns:p14="http://schemas.microsoft.com/office/powerpoint/2010/main" val="136713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663" y="2157840"/>
            <a:ext cx="3101653" cy="1996449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659" y="2186163"/>
            <a:ext cx="3121751" cy="19964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569" y="2157840"/>
            <a:ext cx="3121751" cy="19964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C1BB2B-890C-4734-8A04-65A0D632C59A}"/>
              </a:ext>
            </a:extLst>
          </p:cNvPr>
          <p:cNvSpPr txBox="1"/>
          <p:nvPr/>
        </p:nvSpPr>
        <p:spPr>
          <a:xfrm>
            <a:off x="1345454" y="4194595"/>
            <a:ext cx="103683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(a)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MFCC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              (b)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STFT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(c) Chroma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STFT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C1BB2B-890C-4734-8A04-65A0D632C59A}"/>
              </a:ext>
            </a:extLst>
          </p:cNvPr>
          <p:cNvSpPr txBox="1"/>
          <p:nvPr/>
        </p:nvSpPr>
        <p:spPr>
          <a:xfrm>
            <a:off x="1446661" y="5237824"/>
            <a:ext cx="96987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</a:t>
            </a:r>
            <a:r>
              <a:rPr lang="en-US" sz="28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transformation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lang="en-US" sz="28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60658" y="623920"/>
            <a:ext cx="94622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Signal Transformation</a:t>
            </a:r>
            <a:endParaRPr lang="en-US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35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789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of the Proposed Deep Learning Model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429" y="1690688"/>
            <a:ext cx="8315023" cy="360104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1BB2B-890C-4734-8A04-65A0D632C59A}"/>
              </a:ext>
            </a:extLst>
          </p:cNvPr>
          <p:cNvSpPr txBox="1"/>
          <p:nvPr/>
        </p:nvSpPr>
        <p:spPr>
          <a:xfrm>
            <a:off x="1430864" y="5586909"/>
            <a:ext cx="10677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building block structure of the proposed deep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12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1279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of the Proposed Deep Learning Model</a:t>
            </a:r>
            <a:endParaRPr lang="en-US" sz="36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642" y="2745701"/>
            <a:ext cx="9515101" cy="123719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1BB2B-890C-4734-8A04-65A0D632C59A}"/>
              </a:ext>
            </a:extLst>
          </p:cNvPr>
          <p:cNvSpPr txBox="1"/>
          <p:nvPr/>
        </p:nvSpPr>
        <p:spPr>
          <a:xfrm>
            <a:off x="2899609" y="4613945"/>
            <a:ext cx="87287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</a:t>
            </a:r>
            <a:r>
              <a:rPr lang="en-US" sz="24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the convolutional feature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6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505" y="735870"/>
            <a:ext cx="10973499" cy="999796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Hyper-parameters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 Architecture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494522"/>
              </p:ext>
            </p:extLst>
          </p:nvPr>
        </p:nvGraphicFramePr>
        <p:xfrm>
          <a:off x="528505" y="2005748"/>
          <a:ext cx="11110200" cy="36529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5019">
                  <a:extLst>
                    <a:ext uri="{9D8B030D-6E8A-4147-A177-3AD203B41FA5}">
                      <a16:colId xmlns:a16="http://schemas.microsoft.com/office/drawing/2014/main" val="317102777"/>
                    </a:ext>
                  </a:extLst>
                </a:gridCol>
                <a:gridCol w="1850453">
                  <a:extLst>
                    <a:ext uri="{9D8B030D-6E8A-4147-A177-3AD203B41FA5}">
                      <a16:colId xmlns:a16="http://schemas.microsoft.com/office/drawing/2014/main" val="3608417868"/>
                    </a:ext>
                  </a:extLst>
                </a:gridCol>
                <a:gridCol w="1923104">
                  <a:extLst>
                    <a:ext uri="{9D8B030D-6E8A-4147-A177-3AD203B41FA5}">
                      <a16:colId xmlns:a16="http://schemas.microsoft.com/office/drawing/2014/main" val="2557998626"/>
                    </a:ext>
                  </a:extLst>
                </a:gridCol>
                <a:gridCol w="1923104">
                  <a:extLst>
                    <a:ext uri="{9D8B030D-6E8A-4147-A177-3AD203B41FA5}">
                      <a16:colId xmlns:a16="http://schemas.microsoft.com/office/drawing/2014/main" val="307447181"/>
                    </a:ext>
                  </a:extLst>
                </a:gridCol>
                <a:gridCol w="1153863">
                  <a:extLst>
                    <a:ext uri="{9D8B030D-6E8A-4147-A177-3AD203B41FA5}">
                      <a16:colId xmlns:a16="http://schemas.microsoft.com/office/drawing/2014/main" val="1719984392"/>
                    </a:ext>
                  </a:extLst>
                </a:gridCol>
                <a:gridCol w="1153863">
                  <a:extLst>
                    <a:ext uri="{9D8B030D-6E8A-4147-A177-3AD203B41FA5}">
                      <a16:colId xmlns:a16="http://schemas.microsoft.com/office/drawing/2014/main" val="4026473623"/>
                    </a:ext>
                  </a:extLst>
                </a:gridCol>
                <a:gridCol w="971756">
                  <a:extLst>
                    <a:ext uri="{9D8B030D-6E8A-4147-A177-3AD203B41FA5}">
                      <a16:colId xmlns:a16="http://schemas.microsoft.com/office/drawing/2014/main" val="746014313"/>
                    </a:ext>
                  </a:extLst>
                </a:gridCol>
                <a:gridCol w="759038">
                  <a:extLst>
                    <a:ext uri="{9D8B030D-6E8A-4147-A177-3AD203B41FA5}">
                      <a16:colId xmlns:a16="http://schemas.microsoft.com/office/drawing/2014/main" val="2840290334"/>
                    </a:ext>
                  </a:extLst>
                </a:gridCol>
              </a:tblGrid>
              <a:tr h="2451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Block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Shape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Shape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Kernel Size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Strides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399439884"/>
                  </a:ext>
                </a:extLst>
              </a:tr>
              <a:tr h="24515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FB-1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Conv3D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 × 513 × 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 × 513 × 3 @ 64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× 5 × 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× 1 × 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2263892777"/>
                  </a:ext>
                </a:extLst>
              </a:tr>
              <a:tr h="2451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MaxPolling3D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 × 513 × 3 @ 64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 × 256 × 3 @ 64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× 2 × 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× 2 × 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3225599868"/>
                  </a:ext>
                </a:extLst>
              </a:tr>
              <a:tr h="24515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FB-2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Conv3D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 × 256 × 3 @ 64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 × 256 × 3 @ 64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× 5 × 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× 1 × 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3359920725"/>
                  </a:ext>
                </a:extLst>
              </a:tr>
              <a:tr h="2451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MaxPolling3D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 × 256 × 3 @ 64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× 64 × 3 @ 64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× 4 × 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× 4 × 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3787801826"/>
                  </a:ext>
                </a:extLst>
              </a:tr>
              <a:tr h="24515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FB-3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Conv3D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× 64 × 3 @ 64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× 64 × 3 @ 128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× 5 × 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× 1 × 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1125657523"/>
                  </a:ext>
                </a:extLst>
              </a:tr>
              <a:tr h="2451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MaxPolling3D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× 64 × 3 @ 128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× 16 × 3 @ 128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× 4 × 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× 4 × 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3350271249"/>
                  </a:ext>
                </a:extLst>
              </a:tr>
              <a:tr h="24515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FB-4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Conv3D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× 16 × 3 @ 128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× 16 × 3 @ 128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× 5 × 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× 1 × 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3428361253"/>
                  </a:ext>
                </a:extLst>
              </a:tr>
              <a:tr h="2451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MaxPolling3D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× 16 × 3 @ 128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× 4 × 3 @ 128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× 4 × 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× 4 × 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2283336341"/>
                  </a:ext>
                </a:extLst>
              </a:tr>
              <a:tr h="2451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TDF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× 4 × 3 @ 128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× 1536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4241353570"/>
                  </a:ext>
                </a:extLst>
              </a:tr>
              <a:tr h="2451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Bi-LSTM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× 1536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× 512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3184371743"/>
                  </a:ext>
                </a:extLst>
              </a:tr>
              <a:tr h="2451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× 512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1839238151"/>
                  </a:ext>
                </a:extLst>
              </a:tr>
              <a:tr h="2451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9/5/2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9/5/2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86" marR="115386" marT="0" marB="0" anchor="ctr"/>
                </a:tc>
                <a:extLst>
                  <a:ext uri="{0D108BD9-81ED-4DB2-BD59-A6C34878D82A}">
                    <a16:rowId xmlns:a16="http://schemas.microsoft.com/office/drawing/2014/main" val="904510820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5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Classifier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odel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ramework</a:t>
            </a:r>
            <a:endParaRPr lang="en-US" sz="40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328" y="1799687"/>
            <a:ext cx="8226856" cy="356087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19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204327" y="5442959"/>
            <a:ext cx="107853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6: Classify emotion with intensity from 3D transformed speech signal.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3769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645" y="1278534"/>
            <a:ext cx="6757777" cy="2222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72253" y="3479915"/>
            <a:ext cx="77122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Figure7 : Stage 1: Classify emotion from 3D transformed feature.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0016" y="400013"/>
            <a:ext cx="98813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Cascaded Model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ramework</a:t>
            </a:r>
            <a:endParaRPr lang="en-US" sz="4000" dirty="0"/>
          </a:p>
        </p:txBody>
      </p:sp>
      <p:pic>
        <p:nvPicPr>
          <p:cNvPr id="16" name="Content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391" y="3933665"/>
            <a:ext cx="7080505" cy="20969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144096" y="6109037"/>
            <a:ext cx="73333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8: Stage 2: Measure intensity for emotion classified in Stage 1.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3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4244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as the optimizer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is 10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 is categorical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for 64 epochs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is 16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5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526" y="570555"/>
            <a:ext cx="12167011" cy="786808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Curve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urve for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ingle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lassifier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odel</a:t>
            </a:r>
            <a:endParaRPr lang="en-US" sz="36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72" y="2499952"/>
            <a:ext cx="5219812" cy="271380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22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298521" y="5340789"/>
            <a:ext cx="47934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9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vs epochs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curve.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9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696" y="2491905"/>
            <a:ext cx="5328869" cy="27705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37867" y="5395443"/>
            <a:ext cx="528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10: Accuracy vs epochs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curve.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92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642" y="791633"/>
            <a:ext cx="11682622" cy="879891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for Single Classifier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odel with 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ntensity Level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6789715"/>
              </p:ext>
            </p:extLst>
          </p:nvPr>
        </p:nvGraphicFramePr>
        <p:xfrm>
          <a:off x="147314" y="1936221"/>
          <a:ext cx="11917680" cy="39584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4739">
                  <a:extLst>
                    <a:ext uri="{9D8B030D-6E8A-4147-A177-3AD203B41FA5}">
                      <a16:colId xmlns:a16="http://schemas.microsoft.com/office/drawing/2014/main" val="2716710809"/>
                    </a:ext>
                  </a:extLst>
                </a:gridCol>
                <a:gridCol w="934739">
                  <a:extLst>
                    <a:ext uri="{9D8B030D-6E8A-4147-A177-3AD203B41FA5}">
                      <a16:colId xmlns:a16="http://schemas.microsoft.com/office/drawing/2014/main" val="637315819"/>
                    </a:ext>
                  </a:extLst>
                </a:gridCol>
                <a:gridCol w="802606">
                  <a:extLst>
                    <a:ext uri="{9D8B030D-6E8A-4147-A177-3AD203B41FA5}">
                      <a16:colId xmlns:a16="http://schemas.microsoft.com/office/drawing/2014/main" val="4151239813"/>
                    </a:ext>
                  </a:extLst>
                </a:gridCol>
                <a:gridCol w="829733">
                  <a:extLst>
                    <a:ext uri="{9D8B030D-6E8A-4147-A177-3AD203B41FA5}">
                      <a16:colId xmlns:a16="http://schemas.microsoft.com/office/drawing/2014/main" val="3977418161"/>
                    </a:ext>
                  </a:extLst>
                </a:gridCol>
                <a:gridCol w="778933">
                  <a:extLst>
                    <a:ext uri="{9D8B030D-6E8A-4147-A177-3AD203B41FA5}">
                      <a16:colId xmlns:a16="http://schemas.microsoft.com/office/drawing/2014/main" val="1457458040"/>
                    </a:ext>
                  </a:extLst>
                </a:gridCol>
                <a:gridCol w="846667">
                  <a:extLst>
                    <a:ext uri="{9D8B030D-6E8A-4147-A177-3AD203B41FA5}">
                      <a16:colId xmlns:a16="http://schemas.microsoft.com/office/drawing/2014/main" val="414556898"/>
                    </a:ext>
                  </a:extLst>
                </a:gridCol>
                <a:gridCol w="778933">
                  <a:extLst>
                    <a:ext uri="{9D8B030D-6E8A-4147-A177-3AD203B41FA5}">
                      <a16:colId xmlns:a16="http://schemas.microsoft.com/office/drawing/2014/main" val="1791578041"/>
                    </a:ext>
                  </a:extLst>
                </a:gridCol>
                <a:gridCol w="905934">
                  <a:extLst>
                    <a:ext uri="{9D8B030D-6E8A-4147-A177-3AD203B41FA5}">
                      <a16:colId xmlns:a16="http://schemas.microsoft.com/office/drawing/2014/main" val="2297167790"/>
                    </a:ext>
                  </a:extLst>
                </a:gridCol>
                <a:gridCol w="804333">
                  <a:extLst>
                    <a:ext uri="{9D8B030D-6E8A-4147-A177-3AD203B41FA5}">
                      <a16:colId xmlns:a16="http://schemas.microsoft.com/office/drawing/2014/main" val="3331525723"/>
                    </a:ext>
                  </a:extLst>
                </a:gridCol>
                <a:gridCol w="795867">
                  <a:extLst>
                    <a:ext uri="{9D8B030D-6E8A-4147-A177-3AD203B41FA5}">
                      <a16:colId xmlns:a16="http://schemas.microsoft.com/office/drawing/2014/main" val="1079720011"/>
                    </a:ext>
                  </a:extLst>
                </a:gridCol>
                <a:gridCol w="795866">
                  <a:extLst>
                    <a:ext uri="{9D8B030D-6E8A-4147-A177-3AD203B41FA5}">
                      <a16:colId xmlns:a16="http://schemas.microsoft.com/office/drawing/2014/main" val="1798635733"/>
                    </a:ext>
                  </a:extLst>
                </a:gridCol>
                <a:gridCol w="1058334">
                  <a:extLst>
                    <a:ext uri="{9D8B030D-6E8A-4147-A177-3AD203B41FA5}">
                      <a16:colId xmlns:a16="http://schemas.microsoft.com/office/drawing/2014/main" val="814413573"/>
                    </a:ext>
                  </a:extLst>
                </a:gridCol>
                <a:gridCol w="956733">
                  <a:extLst>
                    <a:ext uri="{9D8B030D-6E8A-4147-A177-3AD203B41FA5}">
                      <a16:colId xmlns:a16="http://schemas.microsoft.com/office/drawing/2014/main" val="2825287283"/>
                    </a:ext>
                  </a:extLst>
                </a:gridCol>
                <a:gridCol w="694263">
                  <a:extLst>
                    <a:ext uri="{9D8B030D-6E8A-4147-A177-3AD203B41FA5}">
                      <a16:colId xmlns:a16="http://schemas.microsoft.com/office/drawing/2014/main" val="2942148335"/>
                    </a:ext>
                  </a:extLst>
                </a:gridCol>
              </a:tblGrid>
              <a:tr h="34601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Intensity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Neutral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Angry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Disgust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 Miss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Intensity Miss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462023962"/>
                  </a:ext>
                </a:extLst>
              </a:tr>
              <a:tr h="3010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649361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Neutral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1060492824"/>
                  </a:ext>
                </a:extLst>
              </a:tr>
              <a:tr h="30103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1495939252"/>
                  </a:ext>
                </a:extLst>
              </a:tr>
              <a:tr h="3010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3310691759"/>
                  </a:ext>
                </a:extLst>
              </a:tr>
              <a:tr h="30103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3924137090"/>
                  </a:ext>
                </a:extLst>
              </a:tr>
              <a:tr h="3010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660100972"/>
                  </a:ext>
                </a:extLst>
              </a:tr>
              <a:tr h="30103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Angry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3383746465"/>
                  </a:ext>
                </a:extLst>
              </a:tr>
              <a:tr h="3010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3959978779"/>
                  </a:ext>
                </a:extLst>
              </a:tr>
              <a:tr h="30103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Disgust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4130502881"/>
                  </a:ext>
                </a:extLst>
              </a:tr>
              <a:tr h="3010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2385252352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gridSpan="10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</a:t>
                      </a: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99122" marR="991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352914507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gridSpan="10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61.11%</a:t>
                      </a:r>
                    </a:p>
                  </a:txBody>
                  <a:tcPr marL="99122" marR="99122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9122" marR="99122" marT="0" marB="0" anchor="ctr"/>
                </a:tc>
                <a:extLst>
                  <a:ext uri="{0D108BD9-81ED-4DB2-BD59-A6C34878D82A}">
                    <a16:rowId xmlns:a16="http://schemas.microsoft.com/office/drawing/2014/main" val="2950727020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0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685" y="304003"/>
            <a:ext cx="11551448" cy="132556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atrix for Cascaded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odel </a:t>
            </a:r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Intensity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evel</a:t>
            </a:r>
            <a:endParaRPr lang="en-US" sz="36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9546680"/>
              </p:ext>
            </p:extLst>
          </p:nvPr>
        </p:nvGraphicFramePr>
        <p:xfrm>
          <a:off x="603742" y="2087132"/>
          <a:ext cx="11061017" cy="37158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8137">
                  <a:extLst>
                    <a:ext uri="{9D8B030D-6E8A-4147-A177-3AD203B41FA5}">
                      <a16:colId xmlns:a16="http://schemas.microsoft.com/office/drawing/2014/main" val="946707239"/>
                    </a:ext>
                  </a:extLst>
                </a:gridCol>
                <a:gridCol w="1229110">
                  <a:extLst>
                    <a:ext uri="{9D8B030D-6E8A-4147-A177-3AD203B41FA5}">
                      <a16:colId xmlns:a16="http://schemas.microsoft.com/office/drawing/2014/main" val="2972561906"/>
                    </a:ext>
                  </a:extLst>
                </a:gridCol>
                <a:gridCol w="1229110">
                  <a:extLst>
                    <a:ext uri="{9D8B030D-6E8A-4147-A177-3AD203B41FA5}">
                      <a16:colId xmlns:a16="http://schemas.microsoft.com/office/drawing/2014/main" val="2939221460"/>
                    </a:ext>
                  </a:extLst>
                </a:gridCol>
                <a:gridCol w="1229110">
                  <a:extLst>
                    <a:ext uri="{9D8B030D-6E8A-4147-A177-3AD203B41FA5}">
                      <a16:colId xmlns:a16="http://schemas.microsoft.com/office/drawing/2014/main" val="3537872435"/>
                    </a:ext>
                  </a:extLst>
                </a:gridCol>
                <a:gridCol w="1229110">
                  <a:extLst>
                    <a:ext uri="{9D8B030D-6E8A-4147-A177-3AD203B41FA5}">
                      <a16:colId xmlns:a16="http://schemas.microsoft.com/office/drawing/2014/main" val="1031201133"/>
                    </a:ext>
                  </a:extLst>
                </a:gridCol>
                <a:gridCol w="1229110">
                  <a:extLst>
                    <a:ext uri="{9D8B030D-6E8A-4147-A177-3AD203B41FA5}">
                      <a16:colId xmlns:a16="http://schemas.microsoft.com/office/drawing/2014/main" val="3228646830"/>
                    </a:ext>
                  </a:extLst>
                </a:gridCol>
                <a:gridCol w="1229110">
                  <a:extLst>
                    <a:ext uri="{9D8B030D-6E8A-4147-A177-3AD203B41FA5}">
                      <a16:colId xmlns:a16="http://schemas.microsoft.com/office/drawing/2014/main" val="2130355414"/>
                    </a:ext>
                  </a:extLst>
                </a:gridCol>
                <a:gridCol w="1229110">
                  <a:extLst>
                    <a:ext uri="{9D8B030D-6E8A-4147-A177-3AD203B41FA5}">
                      <a16:colId xmlns:a16="http://schemas.microsoft.com/office/drawing/2014/main" val="3272871329"/>
                    </a:ext>
                  </a:extLst>
                </a:gridCol>
                <a:gridCol w="1229110">
                  <a:extLst>
                    <a:ext uri="{9D8B030D-6E8A-4147-A177-3AD203B41FA5}">
                      <a16:colId xmlns:a16="http://schemas.microsoft.com/office/drawing/2014/main" val="1573312316"/>
                    </a:ext>
                  </a:extLst>
                </a:gridCol>
              </a:tblGrid>
              <a:tr h="8897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Neutral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Angry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Disgust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 Miss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extLst>
                  <a:ext uri="{0D108BD9-81ED-4DB2-BD59-A6C34878D82A}">
                    <a16:rowId xmlns:a16="http://schemas.microsoft.com/office/drawing/2014/main" val="310716730"/>
                  </a:ext>
                </a:extLst>
              </a:tr>
              <a:tr h="434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Neutral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extLst>
                  <a:ext uri="{0D108BD9-81ED-4DB2-BD59-A6C34878D82A}">
                    <a16:rowId xmlns:a16="http://schemas.microsoft.com/office/drawing/2014/main" val="704438705"/>
                  </a:ext>
                </a:extLst>
              </a:tr>
              <a:tr h="434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extLst>
                  <a:ext uri="{0D108BD9-81ED-4DB2-BD59-A6C34878D82A}">
                    <a16:rowId xmlns:a16="http://schemas.microsoft.com/office/drawing/2014/main" val="1995177684"/>
                  </a:ext>
                </a:extLst>
              </a:tr>
              <a:tr h="434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extLst>
                  <a:ext uri="{0D108BD9-81ED-4DB2-BD59-A6C34878D82A}">
                    <a16:rowId xmlns:a16="http://schemas.microsoft.com/office/drawing/2014/main" val="111578675"/>
                  </a:ext>
                </a:extLst>
              </a:tr>
              <a:tr h="434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Angry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extLst>
                  <a:ext uri="{0D108BD9-81ED-4DB2-BD59-A6C34878D82A}">
                    <a16:rowId xmlns:a16="http://schemas.microsoft.com/office/drawing/2014/main" val="2181001234"/>
                  </a:ext>
                </a:extLst>
              </a:tr>
              <a:tr h="434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Disgust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102" marR="105102" marT="0" marB="0" anchor="ctr"/>
                </a:tc>
                <a:extLst>
                  <a:ext uri="{0D108BD9-81ED-4DB2-BD59-A6C34878D82A}">
                    <a16:rowId xmlns:a16="http://schemas.microsoft.com/office/drawing/2014/main" val="1813853646"/>
                  </a:ext>
                </a:extLst>
              </a:tr>
              <a:tr h="26088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gridSpan="5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135</a:t>
                      </a: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marL="105102" marR="105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marL="105102" marR="105102" marT="0" marB="0" anchor="ctr"/>
                </a:tc>
                <a:extLst>
                  <a:ext uri="{0D108BD9-81ED-4DB2-BD59-A6C34878D82A}">
                    <a16:rowId xmlns:a16="http://schemas.microsoft.com/office/drawing/2014/main" val="689868626"/>
                  </a:ext>
                </a:extLst>
              </a:tr>
              <a:tr h="26088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gridSpan="5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75.00 %</a:t>
                      </a:r>
                    </a:p>
                  </a:txBody>
                  <a:tcPr marL="105102" marR="10510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5724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0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916" y="309667"/>
            <a:ext cx="11137900" cy="1050821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for Cascaded Model </a:t>
            </a:r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Intensity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evel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3851720"/>
              </p:ext>
            </p:extLst>
          </p:nvPr>
        </p:nvGraphicFramePr>
        <p:xfrm>
          <a:off x="347134" y="1538290"/>
          <a:ext cx="11556999" cy="45534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5464">
                  <a:extLst>
                    <a:ext uri="{9D8B030D-6E8A-4147-A177-3AD203B41FA5}">
                      <a16:colId xmlns:a16="http://schemas.microsoft.com/office/drawing/2014/main" val="988058464"/>
                    </a:ext>
                  </a:extLst>
                </a:gridCol>
                <a:gridCol w="882947">
                  <a:extLst>
                    <a:ext uri="{9D8B030D-6E8A-4147-A177-3AD203B41FA5}">
                      <a16:colId xmlns:a16="http://schemas.microsoft.com/office/drawing/2014/main" val="3018185919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3821774345"/>
                    </a:ext>
                  </a:extLst>
                </a:gridCol>
                <a:gridCol w="760559">
                  <a:extLst>
                    <a:ext uri="{9D8B030D-6E8A-4147-A177-3AD203B41FA5}">
                      <a16:colId xmlns:a16="http://schemas.microsoft.com/office/drawing/2014/main" val="1512230726"/>
                    </a:ext>
                  </a:extLst>
                </a:gridCol>
                <a:gridCol w="769302">
                  <a:extLst>
                    <a:ext uri="{9D8B030D-6E8A-4147-A177-3AD203B41FA5}">
                      <a16:colId xmlns:a16="http://schemas.microsoft.com/office/drawing/2014/main" val="3718616222"/>
                    </a:ext>
                  </a:extLst>
                </a:gridCol>
                <a:gridCol w="821753">
                  <a:extLst>
                    <a:ext uri="{9D8B030D-6E8A-4147-A177-3AD203B41FA5}">
                      <a16:colId xmlns:a16="http://schemas.microsoft.com/office/drawing/2014/main" val="1654545195"/>
                    </a:ext>
                  </a:extLst>
                </a:gridCol>
                <a:gridCol w="751816">
                  <a:extLst>
                    <a:ext uri="{9D8B030D-6E8A-4147-A177-3AD203B41FA5}">
                      <a16:colId xmlns:a16="http://schemas.microsoft.com/office/drawing/2014/main" val="1289603566"/>
                    </a:ext>
                  </a:extLst>
                </a:gridCol>
                <a:gridCol w="874206">
                  <a:extLst>
                    <a:ext uri="{9D8B030D-6E8A-4147-A177-3AD203B41FA5}">
                      <a16:colId xmlns:a16="http://schemas.microsoft.com/office/drawing/2014/main" val="1872576706"/>
                    </a:ext>
                  </a:extLst>
                </a:gridCol>
                <a:gridCol w="795527">
                  <a:extLst>
                    <a:ext uri="{9D8B030D-6E8A-4147-A177-3AD203B41FA5}">
                      <a16:colId xmlns:a16="http://schemas.microsoft.com/office/drawing/2014/main" val="1685316466"/>
                    </a:ext>
                  </a:extLst>
                </a:gridCol>
                <a:gridCol w="804270">
                  <a:extLst>
                    <a:ext uri="{9D8B030D-6E8A-4147-A177-3AD203B41FA5}">
                      <a16:colId xmlns:a16="http://schemas.microsoft.com/office/drawing/2014/main" val="768134037"/>
                    </a:ext>
                  </a:extLst>
                </a:gridCol>
                <a:gridCol w="760559">
                  <a:extLst>
                    <a:ext uri="{9D8B030D-6E8A-4147-A177-3AD203B41FA5}">
                      <a16:colId xmlns:a16="http://schemas.microsoft.com/office/drawing/2014/main" val="1040412470"/>
                    </a:ext>
                  </a:extLst>
                </a:gridCol>
                <a:gridCol w="970368">
                  <a:extLst>
                    <a:ext uri="{9D8B030D-6E8A-4147-A177-3AD203B41FA5}">
                      <a16:colId xmlns:a16="http://schemas.microsoft.com/office/drawing/2014/main" val="3268094700"/>
                    </a:ext>
                  </a:extLst>
                </a:gridCol>
                <a:gridCol w="909173">
                  <a:extLst>
                    <a:ext uri="{9D8B030D-6E8A-4147-A177-3AD203B41FA5}">
                      <a16:colId xmlns:a16="http://schemas.microsoft.com/office/drawing/2014/main" val="3773291674"/>
                    </a:ext>
                  </a:extLst>
                </a:gridCol>
                <a:gridCol w="673138">
                  <a:extLst>
                    <a:ext uri="{9D8B030D-6E8A-4147-A177-3AD203B41FA5}">
                      <a16:colId xmlns:a16="http://schemas.microsoft.com/office/drawing/2014/main" val="3108388501"/>
                    </a:ext>
                  </a:extLst>
                </a:gridCol>
              </a:tblGrid>
              <a:tr h="40890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Intensity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Neutral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Angry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Disgust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 Miss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Intensity Miss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extLst>
                  <a:ext uri="{0D108BD9-81ED-4DB2-BD59-A6C34878D82A}">
                    <a16:rowId xmlns:a16="http://schemas.microsoft.com/office/drawing/2014/main" val="3394422463"/>
                  </a:ext>
                </a:extLst>
              </a:tr>
              <a:tr h="3557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731939"/>
                  </a:ext>
                </a:extLst>
              </a:tr>
              <a:tr h="3557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Neutral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extLst>
                  <a:ext uri="{0D108BD9-81ED-4DB2-BD59-A6C34878D82A}">
                    <a16:rowId xmlns:a16="http://schemas.microsoft.com/office/drawing/2014/main" val="2570534953"/>
                  </a:ext>
                </a:extLst>
              </a:tr>
              <a:tr h="35575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extLst>
                  <a:ext uri="{0D108BD9-81ED-4DB2-BD59-A6C34878D82A}">
                    <a16:rowId xmlns:a16="http://schemas.microsoft.com/office/drawing/2014/main" val="1938441057"/>
                  </a:ext>
                </a:extLst>
              </a:tr>
              <a:tr h="3557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extLst>
                  <a:ext uri="{0D108BD9-81ED-4DB2-BD59-A6C34878D82A}">
                    <a16:rowId xmlns:a16="http://schemas.microsoft.com/office/drawing/2014/main" val="1727007713"/>
                  </a:ext>
                </a:extLst>
              </a:tr>
              <a:tr h="35575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extLst>
                  <a:ext uri="{0D108BD9-81ED-4DB2-BD59-A6C34878D82A}">
                    <a16:rowId xmlns:a16="http://schemas.microsoft.com/office/drawing/2014/main" val="2953457807"/>
                  </a:ext>
                </a:extLst>
              </a:tr>
              <a:tr h="3557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extLst>
                  <a:ext uri="{0D108BD9-81ED-4DB2-BD59-A6C34878D82A}">
                    <a16:rowId xmlns:a16="http://schemas.microsoft.com/office/drawing/2014/main" val="242626917"/>
                  </a:ext>
                </a:extLst>
              </a:tr>
              <a:tr h="35575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Angry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extLst>
                  <a:ext uri="{0D108BD9-81ED-4DB2-BD59-A6C34878D82A}">
                    <a16:rowId xmlns:a16="http://schemas.microsoft.com/office/drawing/2014/main" val="2335978873"/>
                  </a:ext>
                </a:extLst>
              </a:tr>
              <a:tr h="3557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extLst>
                  <a:ext uri="{0D108BD9-81ED-4DB2-BD59-A6C34878D82A}">
                    <a16:rowId xmlns:a16="http://schemas.microsoft.com/office/drawing/2014/main" val="3553666984"/>
                  </a:ext>
                </a:extLst>
              </a:tr>
              <a:tr h="35575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Disgust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extLst>
                  <a:ext uri="{0D108BD9-81ED-4DB2-BD59-A6C34878D82A}">
                    <a16:rowId xmlns:a16="http://schemas.microsoft.com/office/drawing/2014/main" val="3320150944"/>
                  </a:ext>
                </a:extLst>
              </a:tr>
              <a:tr h="3557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736" marR="96736" marT="0" marB="0" anchor="ctr"/>
                </a:tc>
                <a:extLst>
                  <a:ext uri="{0D108BD9-81ED-4DB2-BD59-A6C34878D82A}">
                    <a16:rowId xmlns:a16="http://schemas.microsoft.com/office/drawing/2014/main" val="1475811836"/>
                  </a:ext>
                </a:extLst>
              </a:tr>
              <a:tr h="1778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831" marR="112831" marT="0" marB="0" anchor="ctr"/>
                </a:tc>
                <a:tc gridSpan="10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112831" marR="112831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757" marR="9775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45</a:t>
                      </a:r>
                    </a:p>
                  </a:txBody>
                  <a:tcPr marL="112831" marR="11283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112831" marR="11283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marL="112831" marR="112831" marT="0" marB="0" anchor="ctr"/>
                </a:tc>
                <a:extLst>
                  <a:ext uri="{0D108BD9-81ED-4DB2-BD59-A6C34878D82A}">
                    <a16:rowId xmlns:a16="http://schemas.microsoft.com/office/drawing/2014/main" val="4008133638"/>
                  </a:ext>
                </a:extLst>
              </a:tr>
              <a:tr h="1778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831" marR="112831" marT="0" marB="0" anchor="ctr"/>
                </a:tc>
                <a:tc gridSpan="10"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112831" marR="112831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71.11 %</a:t>
                      </a:r>
                    </a:p>
                  </a:txBody>
                  <a:tcPr marL="112831" marR="112831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24416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5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862" y="922866"/>
            <a:ext cx="11438472" cy="110913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Single C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lassifier and Cascaded Model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038779"/>
              </p:ext>
            </p:extLst>
          </p:nvPr>
        </p:nvGraphicFramePr>
        <p:xfrm>
          <a:off x="660392" y="2755719"/>
          <a:ext cx="10938933" cy="22565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8305">
                  <a:extLst>
                    <a:ext uri="{9D8B030D-6E8A-4147-A177-3AD203B41FA5}">
                      <a16:colId xmlns:a16="http://schemas.microsoft.com/office/drawing/2014/main" val="3514762741"/>
                    </a:ext>
                  </a:extLst>
                </a:gridCol>
                <a:gridCol w="1738305">
                  <a:extLst>
                    <a:ext uri="{9D8B030D-6E8A-4147-A177-3AD203B41FA5}">
                      <a16:colId xmlns:a16="http://schemas.microsoft.com/office/drawing/2014/main" val="1762245692"/>
                    </a:ext>
                  </a:extLst>
                </a:gridCol>
                <a:gridCol w="1638934">
                  <a:extLst>
                    <a:ext uri="{9D8B030D-6E8A-4147-A177-3AD203B41FA5}">
                      <a16:colId xmlns:a16="http://schemas.microsoft.com/office/drawing/2014/main" val="3335786858"/>
                    </a:ext>
                  </a:extLst>
                </a:gridCol>
                <a:gridCol w="1441555">
                  <a:extLst>
                    <a:ext uri="{9D8B030D-6E8A-4147-A177-3AD203B41FA5}">
                      <a16:colId xmlns:a16="http://schemas.microsoft.com/office/drawing/2014/main" val="3112475805"/>
                    </a:ext>
                  </a:extLst>
                </a:gridCol>
                <a:gridCol w="1430664">
                  <a:extLst>
                    <a:ext uri="{9D8B030D-6E8A-4147-A177-3AD203B41FA5}">
                      <a16:colId xmlns:a16="http://schemas.microsoft.com/office/drawing/2014/main" val="2097607696"/>
                    </a:ext>
                  </a:extLst>
                </a:gridCol>
                <a:gridCol w="1475585">
                  <a:extLst>
                    <a:ext uri="{9D8B030D-6E8A-4147-A177-3AD203B41FA5}">
                      <a16:colId xmlns:a16="http://schemas.microsoft.com/office/drawing/2014/main" val="248053377"/>
                    </a:ext>
                  </a:extLst>
                </a:gridCol>
                <a:gridCol w="1475585">
                  <a:extLst>
                    <a:ext uri="{9D8B030D-6E8A-4147-A177-3AD203B41FA5}">
                      <a16:colId xmlns:a16="http://schemas.microsoft.com/office/drawing/2014/main" val="109292125"/>
                    </a:ext>
                  </a:extLst>
                </a:gridCol>
              </a:tblGrid>
              <a:tr h="37609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 Model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Classifier Model</a:t>
                      </a:r>
                      <a:endParaRPr lang="en-US" sz="2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Cascaded model</a:t>
                      </a:r>
                      <a:endParaRPr lang="en-US" sz="2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804820"/>
                  </a:ext>
                </a:extLst>
              </a:tr>
              <a:tr h="7521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 Miss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Intensity Miss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 Miss</a:t>
                      </a:r>
                      <a:endParaRPr lang="en-US" sz="2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Intensity Miss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US" sz="2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extLst>
                  <a:ext uri="{0D108BD9-81ED-4DB2-BD59-A6C34878D82A}">
                    <a16:rowId xmlns:a16="http://schemas.microsoft.com/office/drawing/2014/main" val="2018066193"/>
                  </a:ext>
                </a:extLst>
              </a:tr>
              <a:tr h="376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US" sz="2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64.44 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73.3</a:t>
                      </a:r>
                      <a:endParaRPr lang="en-US" sz="2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extLst>
                  <a:ext uri="{0D108BD9-81ED-4DB2-BD59-A6C34878D82A}">
                    <a16:rowId xmlns:a16="http://schemas.microsoft.com/office/drawing/2014/main" val="650637334"/>
                  </a:ext>
                </a:extLst>
              </a:tr>
              <a:tr h="376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US" sz="2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62.22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71.11</a:t>
                      </a:r>
                      <a:endParaRPr lang="en-US" sz="2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extLst>
                  <a:ext uri="{0D108BD9-81ED-4DB2-BD59-A6C34878D82A}">
                    <a16:rowId xmlns:a16="http://schemas.microsoft.com/office/drawing/2014/main" val="2127188458"/>
                  </a:ext>
                </a:extLst>
              </a:tr>
              <a:tr h="376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</a:t>
                      </a:r>
                      <a:endParaRPr lang="en-US" sz="2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</a:t>
                      </a:r>
                      <a:endParaRPr lang="en-US" sz="2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US" sz="2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61.11</a:t>
                      </a:r>
                      <a:endParaRPr lang="en-US" sz="2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2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2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71.11</a:t>
                      </a:r>
                      <a:endParaRPr lang="en-US" sz="2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3886" marR="143886" marT="0" marB="0"/>
                </a:tc>
                <a:extLst>
                  <a:ext uri="{0D108BD9-81ED-4DB2-BD59-A6C34878D82A}">
                    <a16:rowId xmlns:a16="http://schemas.microsoft.com/office/drawing/2014/main" val="3740550206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8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135" y="634021"/>
            <a:ext cx="11421534" cy="875541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Curve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urve for Cascaded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odel</a:t>
            </a:r>
            <a:endParaRPr lang="en-US" sz="40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62" y="2191351"/>
            <a:ext cx="5068810" cy="263530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27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219281" y="4987504"/>
            <a:ext cx="48851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11: Loss vs epochs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curve.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360" y="2191352"/>
            <a:ext cx="5823819" cy="26353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27434" y="4987504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12: Accuracy vs epochs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curve.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47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13" y="602045"/>
            <a:ext cx="11556820" cy="1082825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iﬀerent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ignal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ransformations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ascaded Model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8038743"/>
              </p:ext>
            </p:extLst>
          </p:nvPr>
        </p:nvGraphicFramePr>
        <p:xfrm>
          <a:off x="533584" y="1742531"/>
          <a:ext cx="11148772" cy="43753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2287">
                  <a:extLst>
                    <a:ext uri="{9D8B030D-6E8A-4147-A177-3AD203B41FA5}">
                      <a16:colId xmlns:a16="http://schemas.microsoft.com/office/drawing/2014/main" val="1780456726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866893107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560451985"/>
                    </a:ext>
                  </a:extLst>
                </a:gridCol>
                <a:gridCol w="1464733">
                  <a:extLst>
                    <a:ext uri="{9D8B030D-6E8A-4147-A177-3AD203B41FA5}">
                      <a16:colId xmlns:a16="http://schemas.microsoft.com/office/drawing/2014/main" val="409744100"/>
                    </a:ext>
                  </a:extLst>
                </a:gridCol>
                <a:gridCol w="1413934">
                  <a:extLst>
                    <a:ext uri="{9D8B030D-6E8A-4147-A177-3AD203B41FA5}">
                      <a16:colId xmlns:a16="http://schemas.microsoft.com/office/drawing/2014/main" val="49135336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768758441"/>
                    </a:ext>
                  </a:extLst>
                </a:gridCol>
                <a:gridCol w="1632418">
                  <a:extLst>
                    <a:ext uri="{9D8B030D-6E8A-4147-A177-3AD203B41FA5}">
                      <a16:colId xmlns:a16="http://schemas.microsoft.com/office/drawing/2014/main" val="2514907703"/>
                    </a:ext>
                  </a:extLst>
                </a:gridCol>
              </a:tblGrid>
              <a:tr h="6329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Combination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Transformation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Sequences</a:t>
                      </a:r>
                      <a:b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×Frames ×</a:t>
                      </a:r>
                      <a:b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Dimension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 Miss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Intensity Miss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Miss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88836897"/>
                  </a:ext>
                </a:extLst>
              </a:tr>
              <a:tr h="421332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Individual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Log-Mel spectrums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128×513×1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65.00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6594012"/>
                  </a:ext>
                </a:extLst>
              </a:tr>
              <a:tr h="315974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MFCC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128×513×1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60.00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6299952"/>
                  </a:ext>
                </a:extLst>
              </a:tr>
              <a:tr h="315974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STFT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128×513×1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52.22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4126047"/>
                  </a:ext>
                </a:extLst>
              </a:tr>
              <a:tr h="327343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CSTFT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128×513×1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45.56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8149921"/>
                  </a:ext>
                </a:extLst>
              </a:tr>
              <a:tr h="315974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Double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MFCC+STFT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128×513×2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61.11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2373694"/>
                  </a:ext>
                </a:extLst>
              </a:tr>
              <a:tr h="315974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STFT+CSTFT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128×513×2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51.11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1074605"/>
                  </a:ext>
                </a:extLst>
              </a:tr>
              <a:tr h="315974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MFCC+CSTFT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128×513×2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58.33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75200803"/>
                  </a:ext>
                </a:extLst>
              </a:tr>
              <a:tr h="84266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Log-Mel spectrums +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MFCC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STFT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CSTFT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128×513×4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4726456"/>
                  </a:ext>
                </a:extLst>
              </a:tr>
              <a:tr h="421332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MFCC+STFT+CSTFT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128×513×3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91540" algn="l"/>
                        </a:tabLs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71.11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24197667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1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468154"/>
            <a:ext cx="10515600" cy="103353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40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BESCK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 sz="40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7591542"/>
              </p:ext>
            </p:extLst>
          </p:nvPr>
        </p:nvGraphicFramePr>
        <p:xfrm>
          <a:off x="711922" y="1781095"/>
          <a:ext cx="10641878" cy="4174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4278">
                  <a:extLst>
                    <a:ext uri="{9D8B030D-6E8A-4147-A177-3AD203B41FA5}">
                      <a16:colId xmlns:a16="http://schemas.microsoft.com/office/drawing/2014/main" val="388079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744922363"/>
                    </a:ext>
                  </a:extLst>
                </a:gridCol>
              </a:tblGrid>
              <a:tr h="41744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Name</a:t>
                      </a:r>
                    </a:p>
                  </a:txBody>
                  <a:tcPr marL="92538" marR="92538" marT="46269" marB="4626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</a:p>
                  </a:txBody>
                  <a:tcPr marL="92538" marR="92538" marT="46269" marB="46269"/>
                </a:tc>
                <a:extLst>
                  <a:ext uri="{0D108BD9-81ED-4DB2-BD59-A6C34878D82A}">
                    <a16:rowId xmlns:a16="http://schemas.microsoft.com/office/drawing/2014/main" val="381641878"/>
                  </a:ext>
                </a:extLst>
              </a:tr>
              <a:tr h="417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7CNN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FC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62.22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extLst>
                  <a:ext uri="{0D108BD9-81ED-4DB2-BD59-A6C34878D82A}">
                    <a16:rowId xmlns:a16="http://schemas.microsoft.com/office/drawing/2014/main" val="2163412569"/>
                  </a:ext>
                </a:extLst>
              </a:tr>
              <a:tr h="417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7CNN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20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TDF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LSTM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67.84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extLst>
                  <a:ext uri="{0D108BD9-81ED-4DB2-BD59-A6C34878D82A}">
                    <a16:rowId xmlns:a16="http://schemas.microsoft.com/office/drawing/2014/main" val="3206013178"/>
                  </a:ext>
                </a:extLst>
              </a:tr>
              <a:tr h="417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7CNN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20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TDF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20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68.67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extLst>
                  <a:ext uri="{0D108BD9-81ED-4DB2-BD59-A6C34878D82A}">
                    <a16:rowId xmlns:a16="http://schemas.microsoft.com/office/drawing/2014/main" val="1997298747"/>
                  </a:ext>
                </a:extLst>
              </a:tr>
              <a:tr h="417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4CNN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FC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63.54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extLst>
                  <a:ext uri="{0D108BD9-81ED-4DB2-BD59-A6C34878D82A}">
                    <a16:rowId xmlns:a16="http://schemas.microsoft.com/office/drawing/2014/main" val="2577475523"/>
                  </a:ext>
                </a:extLst>
              </a:tr>
              <a:tr h="417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4CNN + LSTM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65.57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extLst>
                  <a:ext uri="{0D108BD9-81ED-4DB2-BD59-A6C34878D82A}">
                    <a16:rowId xmlns:a16="http://schemas.microsoft.com/office/drawing/2014/main" val="1819176623"/>
                  </a:ext>
                </a:extLst>
              </a:tr>
              <a:tr h="417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4CNN + TDF + LSTM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68.89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extLst>
                  <a:ext uri="{0D108BD9-81ED-4DB2-BD59-A6C34878D82A}">
                    <a16:rowId xmlns:a16="http://schemas.microsoft.com/office/drawing/2014/main" val="2709768023"/>
                  </a:ext>
                </a:extLst>
              </a:tr>
              <a:tr h="417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4CNN + BiLSTM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65.95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extLst>
                  <a:ext uri="{0D108BD9-81ED-4DB2-BD59-A6C34878D82A}">
                    <a16:rowId xmlns:a16="http://schemas.microsoft.com/office/drawing/2014/main" val="2797393009"/>
                  </a:ext>
                </a:extLst>
              </a:tr>
              <a:tr h="417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4CNN + TDF + BiLSTM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69.46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extLst>
                  <a:ext uri="{0D108BD9-81ED-4DB2-BD59-A6C34878D82A}">
                    <a16:rowId xmlns:a16="http://schemas.microsoft.com/office/drawing/2014/main" val="3646734921"/>
                  </a:ext>
                </a:extLst>
              </a:tr>
              <a:tr h="417443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Model (4CNN + TDF + BiLSTM + LSTM)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71.11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538" marR="92538" marT="46269" marB="46269" anchor="ctr"/>
                </a:tc>
                <a:extLst>
                  <a:ext uri="{0D108BD9-81ED-4DB2-BD59-A6C34878D82A}">
                    <a16:rowId xmlns:a16="http://schemas.microsoft.com/office/drawing/2014/main" val="3825749635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7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309B-A3E3-49C4-AD85-D934409A1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61234-E0C5-4192-9CF0-1746FE3DC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571"/>
            <a:ext cx="10515600" cy="470739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paper presented the development of a Bangla emotional speech corpus KUET (BESCK).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Created with 900 random speeches from different actors, making the dataset realistic.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Speech signal has been transformed into a 3D representation by integrating three separate 2D transformations.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a hybrid deep learning framework utilizing 3D CNN, Bi-LSTM, and LSTM enhance recognition performance.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accuracy for the BESCK dataset is 71.11 %.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F85F8-1F4C-4494-B83E-74DB3E0A7DCE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1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0690"/>
            <a:ext cx="11252200" cy="4973107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Sadia Sultana, M.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Shahidur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Rahman, M. Reza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Zafar Iqbal.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emotional speech corpus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SUBESCO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An audio-only emotional speech corpus 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PLOS ONE, 16(4):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e0250173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April 2021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Rakesh Kumar Das,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Nahidul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Islam,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Rayhan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Ahmed,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Salekul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Islam,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Swakkhar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Shatabda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Muzahidul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Islam.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Banglaser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speech emotion recognition dataset for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language. Data in Brief, 42:108091, 2022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Riadul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Islam, MAH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Akhand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Md Abdus Samad Kamal, and Kou Yamada. Recognition of emotion with intensity from speech signal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transformed feature and deep learning. Electronics, 11(15):2362, 2022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Sadia Sultana, M Zafar Iqbal, M Reza Selim, Md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Mijanur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Rashid, and 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Shahidur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Rahman. Bangla speech emotion recognition and cross-lingual study using deep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blstm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networks. IEEE Access, 10:564–578, 2021.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54F1-0DCC-47CB-807C-486B0F4E0761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31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8309B-A3E3-49C4-AD85-D934409A1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868"/>
            <a:ext cx="10515600" cy="72337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9463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5525" y="2954762"/>
            <a:ext cx="3827298" cy="10803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37F36-AC21-4D6B-9352-7EDA3DDF5DAD}" type="datetime3">
              <a:rPr lang="en-US" smtClean="0"/>
              <a:t>14 February 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0C9-34B4-40A1-A23F-717B73D584D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8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1951</TotalTime>
  <Words>2038</Words>
  <Application>Microsoft Office PowerPoint</Application>
  <PresentationFormat>Widescreen</PresentationFormat>
  <Paragraphs>870</Paragraphs>
  <Slides>32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Tahoma</vt:lpstr>
      <vt:lpstr>Times New Roman</vt:lpstr>
      <vt:lpstr>Office Theme</vt:lpstr>
      <vt:lpstr>Bangla Speech Emotion Recognition With Intensity Level Using Feature Transformation And Deep Learning  </vt:lpstr>
      <vt:lpstr>Outlines</vt:lpstr>
      <vt:lpstr>Purpose</vt:lpstr>
      <vt:lpstr>Purpose</vt:lpstr>
      <vt:lpstr>Background</vt:lpstr>
      <vt:lpstr>Specific Aim</vt:lpstr>
      <vt:lpstr>Data Collection and Description</vt:lpstr>
      <vt:lpstr>Workflow Diagram of the BESCK Dataset Preparation </vt:lpstr>
      <vt:lpstr>Summarization of Our BESCK Dataset</vt:lpstr>
      <vt:lpstr>Description of the Filename Convention</vt:lpstr>
      <vt:lpstr>Samples of Dataset</vt:lpstr>
      <vt:lpstr>Comparison Among Diﬀerent SER Datasets and Our BESCK Dataset</vt:lpstr>
      <vt:lpstr>Methodology</vt:lpstr>
      <vt:lpstr>Methodology</vt:lpstr>
      <vt:lpstr>PowerPoint Presentation</vt:lpstr>
      <vt:lpstr>The Architecture of the Proposed Deep Learning Model</vt:lpstr>
      <vt:lpstr>The Architecture of the Proposed Deep Learning Model</vt:lpstr>
      <vt:lpstr>The Hyper-parameters of the Proposed Model Architecture </vt:lpstr>
      <vt:lpstr>Single Classifier Model Framework</vt:lpstr>
      <vt:lpstr>PowerPoint Presentation</vt:lpstr>
      <vt:lpstr>Experimental Results and Analysis</vt:lpstr>
      <vt:lpstr>Loss Curve and Accuracy Curve for Single Classifier Model</vt:lpstr>
      <vt:lpstr>Confusion Matrix for Single Classifier Model with  Intensity Level </vt:lpstr>
      <vt:lpstr>Confusion Matrix for Cascaded Model without Intensity Level</vt:lpstr>
      <vt:lpstr>Confusion Matrix for Cascaded Model with Intensity Level</vt:lpstr>
      <vt:lpstr>Comparison Between the Single Classifier and Cascaded Model </vt:lpstr>
      <vt:lpstr>Loss Curve and Accuracy Curve for Cascaded Model</vt:lpstr>
      <vt:lpstr>Comparison with Diﬀerent Signal Transformations for Cascaded Model </vt:lpstr>
      <vt:lpstr>Model Comparison for BESCK Dataset</vt:lpstr>
      <vt:lpstr>Conclusions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Masum Pranto</dc:creator>
  <cp:lastModifiedBy>Likhon</cp:lastModifiedBy>
  <cp:revision>230</cp:revision>
  <dcterms:created xsi:type="dcterms:W3CDTF">2021-06-15T20:12:22Z</dcterms:created>
  <dcterms:modified xsi:type="dcterms:W3CDTF">2023-02-14T05:29:53Z</dcterms:modified>
</cp:coreProperties>
</file>