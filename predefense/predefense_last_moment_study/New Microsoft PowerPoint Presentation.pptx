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597" autoAdjust="0"/>
  </p:normalViewPr>
  <p:slideViewPr>
    <p:cSldViewPr snapToGrid="0">
      <p:cViewPr varScale="1">
        <p:scale>
          <a:sx n="66" d="100"/>
          <a:sy n="66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9T06:13:22.72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609DB-9F6C-48A5-B75D-19F44810626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4B94D7-A07E-48AA-8FBF-766E34CEF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87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B94D7-A07E-48AA-8FBF-766E34CEF6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31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66293-693B-461A-ABE6-88E6C40DED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4C654C-9E35-4836-A75B-66D08F9A4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08E7E-B61F-4834-97F3-82D216D43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273D4-230E-43A8-9201-1E009C3B788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D4E0D-0976-4854-9043-48BDDC9A5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150AD-6B60-4F96-BE4C-46D59E370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26D53-3591-4907-91C2-B6903EB92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7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1914D-D025-4047-BA29-16B4AFC33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204C9-C54D-4044-8616-5EF1E89AE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D1146-2CAC-41F4-B97F-CBCA2CF8F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273D4-230E-43A8-9201-1E009C3B788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0D1C-E537-4E64-BE05-0B120479D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75BE6-A8A8-4283-AC0E-941158163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26D53-3591-4907-91C2-B6903EB92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00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E1C3-CFE9-4FC3-810D-1BDFCF773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44FFC-6144-44EE-AD1A-99BF4F6F2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85407-FD51-4003-9B0B-99B730CCD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273D4-230E-43A8-9201-1E009C3B788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EC34D-402D-49AC-ABA4-CC51E6FA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26F09-795C-4656-AEBC-944C2560E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26D53-3591-4907-91C2-B6903EB92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31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66CE5-2883-4161-8435-23787842D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C0F2B-4A64-497F-B196-BF69D7B5D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67096-AF37-4F73-8A2B-F186ADA5C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5C2D4-F003-49CD-8F82-3B565786E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273D4-230E-43A8-9201-1E009C3B788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87454-39BA-46A8-827B-61635479C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E9228-ADEB-48D2-B121-BA8A93D8C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26D53-3591-4907-91C2-B6903EB92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57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A86E4-CF4D-4A3C-9FE5-831FD0534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7E98B-521C-4650-AD75-FB1DD0E8E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33179-F619-4BA0-9C01-09B57BC79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FB6BB0-CEB1-43FF-9DF4-2E1AB744E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C8E964-3125-4B9F-B4C8-4600FCB89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972A2D-865B-4C65-B836-A757AC7EA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273D4-230E-43A8-9201-1E009C3B788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E22E77-05B1-4210-A5D7-C942C3047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056D3-1C15-4791-97DF-D6A3EACB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26D53-3591-4907-91C2-B6903EB92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54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3DCD2-7BA3-4300-8095-761C8112A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988E0-2EC5-4848-AB33-236B0AD6F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273D4-230E-43A8-9201-1E009C3B788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F50F-CF9A-4489-9824-E63FA2024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37D9DB-CF5C-40ED-BD9A-014C6D1E5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26D53-3591-4907-91C2-B6903EB92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54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515AB-149E-40C2-8D83-BE2835776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273D4-230E-43A8-9201-1E009C3B788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A9B921-4639-40D1-8EA8-31D730955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22F54-42CC-430B-8BE9-D1915AFB6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26D53-3591-4907-91C2-B6903EB92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051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C90CC-77AB-4C38-A1BB-D4B805F17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F306B-96C3-4BD0-95F0-F622AB5E1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C41EA-12D7-4597-9E88-98B168FF7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120C7-7CEB-47D6-ABA4-236E112E5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273D4-230E-43A8-9201-1E009C3B788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46826-CD06-457C-89F6-6F73D3085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30433-3F70-4B29-9044-B493D8A9B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26D53-3591-4907-91C2-B6903EB92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343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F0A68-DD1A-44BD-B629-0FF2D8FA8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7B3530-B8C1-41AC-948A-F5A324A8BE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7471D7-F16F-4BF7-B897-BE7FA0324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48727-F816-4121-A850-DF69E950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273D4-230E-43A8-9201-1E009C3B788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DDF74-B199-4F36-BBE7-D782943C2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F7FC4-F843-4A82-8263-4DEF0E889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26D53-3591-4907-91C2-B6903EB92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07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8BC79-0998-487A-8A26-19140DD58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C6E7B5-D413-452C-807B-5E19A92CD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43BDE-EEC8-4003-AEA2-932831D19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273D4-230E-43A8-9201-1E009C3B788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DD437-2EAE-46DF-B34D-1C658ACDC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79144-1365-4859-B297-DC345B87F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26D53-3591-4907-91C2-B6903EB92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87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A021A1-2771-42F8-B93A-85F07D5E73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94E3DC-1741-4E54-9D13-8D56CBBD9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CECE6-134D-44DD-8115-438EC5999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273D4-230E-43A8-9201-1E009C3B788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F2295-1ADF-4D23-844B-FA3E0573D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D0FCE-D892-4AB8-9A67-B557ED88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26D53-3591-4907-91C2-B6903EB92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68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569AB3-37C1-49BD-9606-6766F6B1C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7C0CB-3382-46D7-9484-2A98DD59F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59D0D-5486-415E-806C-2842B16335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273D4-230E-43A8-9201-1E009C3B788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C58BE-E7CA-4960-9CBF-F2392CDF2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595D5-64BC-48C2-B6B7-ACFF2614F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26D53-3591-4907-91C2-B6903EB92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71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>
            <a:extLst>
              <a:ext uri="{FF2B5EF4-FFF2-40B4-BE49-F238E27FC236}">
                <a16:creationId xmlns:a16="http://schemas.microsoft.com/office/drawing/2014/main" id="{DE3257FA-73F1-477D-8CA5-23D451CC924D}"/>
              </a:ext>
            </a:extLst>
          </p:cNvPr>
          <p:cNvGrpSpPr/>
          <p:nvPr/>
        </p:nvGrpSpPr>
        <p:grpSpPr>
          <a:xfrm>
            <a:off x="101726" y="1243012"/>
            <a:ext cx="2914650" cy="4714875"/>
            <a:chOff x="685800" y="1243012"/>
            <a:chExt cx="2914650" cy="471487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B673610-8F22-450C-93D3-4CBD05240EE2}"/>
                </a:ext>
              </a:extLst>
            </p:cNvPr>
            <p:cNvSpPr/>
            <p:nvPr/>
          </p:nvSpPr>
          <p:spPr>
            <a:xfrm>
              <a:off x="685800" y="1243012"/>
              <a:ext cx="2914650" cy="4714875"/>
            </a:xfrm>
            <a:prstGeom prst="rect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815C1A8-FB48-44CB-A572-3CD82C742695}"/>
                </a:ext>
              </a:extLst>
            </p:cNvPr>
            <p:cNvSpPr/>
            <p:nvPr/>
          </p:nvSpPr>
          <p:spPr>
            <a:xfrm>
              <a:off x="685800" y="1243013"/>
              <a:ext cx="2914650" cy="871537"/>
            </a:xfrm>
            <a:prstGeom prst="rect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  <a:endParaRPr 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22AE9A7-3D86-4CC1-9926-279646320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6613" y="2338995"/>
              <a:ext cx="771220" cy="771220"/>
            </a:xfrm>
            <a:prstGeom prst="rect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20C9BD7-2BB4-4F70-A0DA-348DEDF029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572" y="3424847"/>
              <a:ext cx="771220" cy="771220"/>
            </a:xfrm>
            <a:prstGeom prst="rect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D64719A-F19A-483E-BBE8-8335EE3AB6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4413" y="4420512"/>
              <a:ext cx="871537" cy="871537"/>
            </a:xfrm>
            <a:prstGeom prst="rect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88793B7-72D0-4439-AB4A-6F0D6E4E1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14108" y="4743451"/>
              <a:ext cx="671208" cy="671208"/>
            </a:xfrm>
            <a:prstGeom prst="rect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0624E6-F210-482E-89A0-FF3267149F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5198" y="3355028"/>
              <a:ext cx="871537" cy="871537"/>
            </a:xfrm>
            <a:prstGeom prst="rect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48A0046-7129-4D2C-A24C-D4E2E56F7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4277" y="2305201"/>
              <a:ext cx="841039" cy="841039"/>
            </a:xfrm>
            <a:prstGeom prst="rect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73C7C823-9193-4A3A-BDD1-9B00EBB82BA5}"/>
              </a:ext>
            </a:extLst>
          </p:cNvPr>
          <p:cNvGrpSpPr/>
          <p:nvPr/>
        </p:nvGrpSpPr>
        <p:grpSpPr>
          <a:xfrm>
            <a:off x="4040767" y="1316945"/>
            <a:ext cx="2914651" cy="4720785"/>
            <a:chOff x="4328607" y="1243013"/>
            <a:chExt cx="2914651" cy="472078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1B5F34C-96C8-4C53-A150-659EAFE6D959}"/>
                </a:ext>
              </a:extLst>
            </p:cNvPr>
            <p:cNvSpPr/>
            <p:nvPr/>
          </p:nvSpPr>
          <p:spPr>
            <a:xfrm>
              <a:off x="4328607" y="1248923"/>
              <a:ext cx="2914650" cy="4714875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9A455B1-F26B-4311-A069-AFE409C8A7A6}"/>
                </a:ext>
              </a:extLst>
            </p:cNvPr>
            <p:cNvSpPr/>
            <p:nvPr/>
          </p:nvSpPr>
          <p:spPr>
            <a:xfrm>
              <a:off x="4328608" y="1243013"/>
              <a:ext cx="2914650" cy="871537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PROCESS</a:t>
              </a:r>
              <a:endParaRPr 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BBE951C2-33A0-494A-B03C-AF3004715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8927" y="2342233"/>
              <a:ext cx="737073" cy="737073"/>
            </a:xfrm>
            <a:prstGeom prst="rect">
              <a:avLst/>
            </a:prstGeom>
          </p:spPr>
        </p:pic>
        <p:pic>
          <p:nvPicPr>
            <p:cNvPr id="28" name="Graphic 27" descr="Single gear with solid fill">
              <a:extLst>
                <a:ext uri="{FF2B5EF4-FFF2-40B4-BE49-F238E27FC236}">
                  <a16:creationId xmlns:a16="http://schemas.microsoft.com/office/drawing/2014/main" id="{E3668817-931C-43F9-9F9D-83831D454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949052" y="2574558"/>
              <a:ext cx="387381" cy="387381"/>
            </a:xfrm>
            <a:prstGeom prst="rect">
              <a:avLst/>
            </a:prstGeom>
          </p:spPr>
        </p:pic>
        <p:sp>
          <p:nvSpPr>
            <p:cNvPr id="29" name="Flowchart: Connector 28">
              <a:extLst>
                <a:ext uri="{FF2B5EF4-FFF2-40B4-BE49-F238E27FC236}">
                  <a16:creationId xmlns:a16="http://schemas.microsoft.com/office/drawing/2014/main" id="{F80ED1F0-5FBA-474D-AB4A-B3F5E8E7F476}"/>
                </a:ext>
              </a:extLst>
            </p:cNvPr>
            <p:cNvSpPr/>
            <p:nvPr/>
          </p:nvSpPr>
          <p:spPr>
            <a:xfrm>
              <a:off x="5142743" y="2184591"/>
              <a:ext cx="1286379" cy="1080028"/>
            </a:xfrm>
            <a:prstGeom prst="flowChartConnector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FD8A48F6-5C81-48F4-B548-0A30428F2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804008">
              <a:off x="4693567" y="2272371"/>
              <a:ext cx="537291" cy="537291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B45054A5-F97C-4178-80AD-67A4AAA59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12799" y="4031690"/>
              <a:ext cx="541916" cy="541916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36456888-89D0-4D73-B880-61A66B642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9554" y="4119179"/>
              <a:ext cx="609604" cy="609604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2CC89E61-0669-4C93-B25B-F4C162AFD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247833" y="3795394"/>
              <a:ext cx="492082" cy="492082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52C337CB-772E-4239-BC1A-C764FF9C9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981946" flipH="1">
              <a:off x="5993377" y="3876128"/>
              <a:ext cx="492082" cy="492082"/>
            </a:xfrm>
            <a:prstGeom prst="rect">
              <a:avLst/>
            </a:prstGeom>
          </p:spPr>
        </p:pic>
        <p:pic>
          <p:nvPicPr>
            <p:cNvPr id="58" name="Graphic 57" descr="Single gear with solid fill">
              <a:extLst>
                <a:ext uri="{FF2B5EF4-FFF2-40B4-BE49-F238E27FC236}">
                  <a16:creationId xmlns:a16="http://schemas.microsoft.com/office/drawing/2014/main" id="{60770F35-05CB-41E8-931A-A907A07135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343665" y="4054703"/>
              <a:ext cx="609604" cy="609604"/>
            </a:xfrm>
            <a:prstGeom prst="rect">
              <a:avLst/>
            </a:prstGeom>
          </p:spPr>
        </p:pic>
        <p:sp>
          <p:nvSpPr>
            <p:cNvPr id="59" name="Flowchart: Connector 58">
              <a:extLst>
                <a:ext uri="{FF2B5EF4-FFF2-40B4-BE49-F238E27FC236}">
                  <a16:creationId xmlns:a16="http://schemas.microsoft.com/office/drawing/2014/main" id="{3530EDB5-DE0D-460E-A028-2FC201FF786A}"/>
                </a:ext>
              </a:extLst>
            </p:cNvPr>
            <p:cNvSpPr/>
            <p:nvPr/>
          </p:nvSpPr>
          <p:spPr>
            <a:xfrm>
              <a:off x="6258208" y="3790796"/>
              <a:ext cx="780518" cy="1080028"/>
            </a:xfrm>
            <a:prstGeom prst="flowChartConnector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98A7A88A-AC64-479C-9A6D-F908D9FF9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7946">
              <a:off x="6625631" y="3488927"/>
              <a:ext cx="397650" cy="397650"/>
            </a:xfrm>
            <a:prstGeom prst="rect">
              <a:avLst/>
            </a:prstGeom>
          </p:spPr>
        </p:pic>
      </p:grp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C21EA689-13B7-4712-B049-2085BFE9BA43}"/>
              </a:ext>
            </a:extLst>
          </p:cNvPr>
          <p:cNvSpPr/>
          <p:nvPr/>
        </p:nvSpPr>
        <p:spPr>
          <a:xfrm>
            <a:off x="3028197" y="3517488"/>
            <a:ext cx="1071991" cy="518730"/>
          </a:xfrm>
          <a:prstGeom prst="rightArrow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US" dirty="0"/>
              <a:t>	</a:t>
            </a:r>
          </a:p>
        </p:txBody>
      </p:sp>
      <p:pic>
        <p:nvPicPr>
          <p:cNvPr id="64" name="Graphic 63" descr="Single gear with solid fill">
            <a:extLst>
              <a:ext uri="{FF2B5EF4-FFF2-40B4-BE49-F238E27FC236}">
                <a16:creationId xmlns:a16="http://schemas.microsoft.com/office/drawing/2014/main" id="{0AC4CD28-DF4C-4832-A99A-9815F69FD0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65884" y="2997157"/>
            <a:ext cx="609604" cy="609604"/>
          </a:xfrm>
          <a:prstGeom prst="rect">
            <a:avLst/>
          </a:prstGeom>
        </p:spPr>
      </p:pic>
      <p:sp>
        <p:nvSpPr>
          <p:cNvPr id="82" name="Arrow: Right 81">
            <a:extLst>
              <a:ext uri="{FF2B5EF4-FFF2-40B4-BE49-F238E27FC236}">
                <a16:creationId xmlns:a16="http://schemas.microsoft.com/office/drawing/2014/main" id="{E5266F9D-09A5-4208-B42C-B8EE47B6EEBB}"/>
              </a:ext>
            </a:extLst>
          </p:cNvPr>
          <p:cNvSpPr/>
          <p:nvPr/>
        </p:nvSpPr>
        <p:spPr>
          <a:xfrm>
            <a:off x="6985843" y="3677338"/>
            <a:ext cx="840719" cy="518730"/>
          </a:xfrm>
          <a:prstGeom prst="rightArrow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B936578-D154-45CE-B7D4-E25B648AC52A}"/>
              </a:ext>
            </a:extLst>
          </p:cNvPr>
          <p:cNvGrpSpPr/>
          <p:nvPr/>
        </p:nvGrpSpPr>
        <p:grpSpPr>
          <a:xfrm>
            <a:off x="7788720" y="762215"/>
            <a:ext cx="3449585" cy="5325266"/>
            <a:chOff x="7900304" y="758155"/>
            <a:chExt cx="3449585" cy="5325266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CE3E777-B3F8-4789-AAF4-0AC15DF27E8F}"/>
                </a:ext>
              </a:extLst>
            </p:cNvPr>
            <p:cNvSpPr/>
            <p:nvPr/>
          </p:nvSpPr>
          <p:spPr>
            <a:xfrm>
              <a:off x="7900304" y="1368546"/>
              <a:ext cx="2914650" cy="4714875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7F7751D-47E1-4B4C-BBD0-49C092B99AAE}"/>
                </a:ext>
              </a:extLst>
            </p:cNvPr>
            <p:cNvSpPr/>
            <p:nvPr/>
          </p:nvSpPr>
          <p:spPr>
            <a:xfrm>
              <a:off x="7900304" y="1288712"/>
              <a:ext cx="2914650" cy="840138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  <a:endParaRPr 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4A788BF5-B7B0-4A35-860B-7F7A2FF01FBD}"/>
                </a:ext>
              </a:extLst>
            </p:cNvPr>
            <p:cNvGrpSpPr/>
            <p:nvPr/>
          </p:nvGrpSpPr>
          <p:grpSpPr>
            <a:xfrm>
              <a:off x="8414086" y="2263651"/>
              <a:ext cx="1909167" cy="3289332"/>
              <a:chOff x="8726838" y="2363681"/>
              <a:chExt cx="1909167" cy="3289332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6">
                <p14:nvContentPartPr>
                  <p14:cNvPr id="46" name="Ink 45">
                    <a:extLst>
                      <a:ext uri="{FF2B5EF4-FFF2-40B4-BE49-F238E27FC236}">
                        <a16:creationId xmlns:a16="http://schemas.microsoft.com/office/drawing/2014/main" id="{F56A7058-FF4A-4F44-83BB-70E2CA5033F5}"/>
                      </a:ext>
                    </a:extLst>
                  </p14:cNvPr>
                  <p14:cNvContentPartPr/>
                  <p14:nvPr/>
                </p14:nvContentPartPr>
                <p14:xfrm>
                  <a:off x="10635645" y="4556734"/>
                  <a:ext cx="360" cy="360"/>
                </p14:xfrm>
              </p:contentPart>
            </mc:Choice>
            <mc:Fallback xmlns="">
              <p:pic>
                <p:nvPicPr>
                  <p:cNvPr id="46" name="Ink 45">
                    <a:extLst>
                      <a:ext uri="{FF2B5EF4-FFF2-40B4-BE49-F238E27FC236}">
                        <a16:creationId xmlns:a16="http://schemas.microsoft.com/office/drawing/2014/main" id="{F56A7058-FF4A-4F44-83BB-70E2CA5033F5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10617645" y="4448734"/>
                    <a:ext cx="36000" cy="21600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65F26B25-A4C9-4684-A213-D6A0F029402F}"/>
                  </a:ext>
                </a:extLst>
              </p:cNvPr>
              <p:cNvSpPr/>
              <p:nvPr/>
            </p:nvSpPr>
            <p:spPr>
              <a:xfrm>
                <a:off x="8759293" y="2363681"/>
                <a:ext cx="1793768" cy="3289332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945403EE-EF02-4652-BD08-8CD6F3F2750E}"/>
                  </a:ext>
                </a:extLst>
              </p:cNvPr>
              <p:cNvCxnSpPr/>
              <p:nvPr/>
            </p:nvCxnSpPr>
            <p:spPr>
              <a:xfrm>
                <a:off x="8726838" y="5292049"/>
                <a:ext cx="1793768" cy="0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70" name="Flowchart: Terminator 69">
                <a:extLst>
                  <a:ext uri="{FF2B5EF4-FFF2-40B4-BE49-F238E27FC236}">
                    <a16:creationId xmlns:a16="http://schemas.microsoft.com/office/drawing/2014/main" id="{11A106BA-5C28-4AAC-B8A8-DF65323F0FBE}"/>
                  </a:ext>
                </a:extLst>
              </p:cNvPr>
              <p:cNvSpPr/>
              <p:nvPr/>
            </p:nvSpPr>
            <p:spPr>
              <a:xfrm>
                <a:off x="9347825" y="5391999"/>
                <a:ext cx="551793" cy="127373"/>
              </a:xfrm>
              <a:prstGeom prst="flowChartTerminator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04FCB03D-2C85-4C5F-B928-1D77B2E58BD6}"/>
                  </a:ext>
                </a:extLst>
              </p:cNvPr>
              <p:cNvCxnSpPr/>
              <p:nvPr/>
            </p:nvCxnSpPr>
            <p:spPr>
              <a:xfrm>
                <a:off x="8734095" y="2607219"/>
                <a:ext cx="1793768" cy="0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73" name="Flowchart: Terminator 72">
                <a:extLst>
                  <a:ext uri="{FF2B5EF4-FFF2-40B4-BE49-F238E27FC236}">
                    <a16:creationId xmlns:a16="http://schemas.microsoft.com/office/drawing/2014/main" id="{104C5A38-6BEB-4109-B9A4-F8C7CDC8E0EC}"/>
                  </a:ext>
                </a:extLst>
              </p:cNvPr>
              <p:cNvSpPr/>
              <p:nvPr/>
            </p:nvSpPr>
            <p:spPr>
              <a:xfrm>
                <a:off x="9389606" y="2418414"/>
                <a:ext cx="551793" cy="88856"/>
              </a:xfrm>
              <a:prstGeom prst="flowChartTerminator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5" name="Picture 74">
                <a:extLst>
                  <a:ext uri="{FF2B5EF4-FFF2-40B4-BE49-F238E27FC236}">
                    <a16:creationId xmlns:a16="http://schemas.microsoft.com/office/drawing/2014/main" id="{A8C03E6B-6F8D-4450-8A7A-6EF689182E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0800000" flipV="1">
                <a:off x="9003682" y="3195482"/>
                <a:ext cx="1240080" cy="1240080"/>
              </a:xfrm>
              <a:prstGeom prst="rect">
                <a:avLst/>
              </a:prstGeom>
            </p:spPr>
          </p:pic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063FA570-8DFB-4D55-8809-C19C36912868}"/>
                  </a:ext>
                </a:extLst>
              </p:cNvPr>
              <p:cNvSpPr/>
              <p:nvPr/>
            </p:nvSpPr>
            <p:spPr>
              <a:xfrm>
                <a:off x="8968327" y="2882796"/>
                <a:ext cx="1310790" cy="1988027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9ED074B8-18BD-4283-9EC5-DB3D902999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89606" y="4488542"/>
                <a:ext cx="609604" cy="609604"/>
              </a:xfrm>
              <a:prstGeom prst="rect">
                <a:avLst/>
              </a:prstGeom>
            </p:spPr>
          </p:pic>
        </p:grpSp>
        <p:sp>
          <p:nvSpPr>
            <p:cNvPr id="85" name="Arrow: Curved Right 84">
              <a:extLst>
                <a:ext uri="{FF2B5EF4-FFF2-40B4-BE49-F238E27FC236}">
                  <a16:creationId xmlns:a16="http://schemas.microsoft.com/office/drawing/2014/main" id="{A9FD3ADC-A649-4345-8A98-6BA947858037}"/>
                </a:ext>
              </a:extLst>
            </p:cNvPr>
            <p:cNvSpPr/>
            <p:nvPr/>
          </p:nvSpPr>
          <p:spPr>
            <a:xfrm rot="9387975">
              <a:off x="10589320" y="758155"/>
              <a:ext cx="760569" cy="1538104"/>
            </a:xfrm>
            <a:prstGeom prst="curvedRightArrow">
              <a:avLst/>
            </a:prstGeom>
            <a:noFill/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86" name="Rectangle 85">
            <a:extLst>
              <a:ext uri="{FF2B5EF4-FFF2-40B4-BE49-F238E27FC236}">
                <a16:creationId xmlns:a16="http://schemas.microsoft.com/office/drawing/2014/main" id="{EF58D1BB-0C02-407F-AE7B-BC2EF56ACF47}"/>
              </a:ext>
            </a:extLst>
          </p:cNvPr>
          <p:cNvSpPr/>
          <p:nvPr/>
        </p:nvSpPr>
        <p:spPr>
          <a:xfrm>
            <a:off x="2209538" y="3908850"/>
            <a:ext cx="2454599" cy="7595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B3E25-AD89-436A-B4BB-85AA87BADB00}"/>
              </a:ext>
            </a:extLst>
          </p:cNvPr>
          <p:cNvSpPr txBox="1"/>
          <p:nvPr/>
        </p:nvSpPr>
        <p:spPr>
          <a:xfrm>
            <a:off x="11225048" y="867103"/>
            <a:ext cx="9669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Learn</a:t>
            </a: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&amp; adapt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416449-9B23-432B-B892-62C9283D3185}"/>
              </a:ext>
            </a:extLst>
          </p:cNvPr>
          <p:cNvSpPr txBox="1"/>
          <p:nvPr/>
        </p:nvSpPr>
        <p:spPr>
          <a:xfrm>
            <a:off x="7945821" y="5557043"/>
            <a:ext cx="2629961" cy="378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Optimal path Navigate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815C7CB-BC5B-452B-9746-5C52746C3477}"/>
              </a:ext>
            </a:extLst>
          </p:cNvPr>
          <p:cNvSpPr txBox="1"/>
          <p:nvPr/>
        </p:nvSpPr>
        <p:spPr>
          <a:xfrm>
            <a:off x="4245747" y="5270468"/>
            <a:ext cx="2629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Intelligent Route Planning System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7512E5-6BBA-499D-9863-78BAC64457E8}"/>
              </a:ext>
            </a:extLst>
          </p:cNvPr>
          <p:cNvSpPr txBox="1"/>
          <p:nvPr/>
        </p:nvSpPr>
        <p:spPr>
          <a:xfrm>
            <a:off x="158404" y="5422932"/>
            <a:ext cx="2629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Urban Traffic Conditions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A0BD15C-9D97-4423-9F6F-EBA4BDA6D6FE}"/>
              </a:ext>
            </a:extLst>
          </p:cNvPr>
          <p:cNvSpPr/>
          <p:nvPr/>
        </p:nvSpPr>
        <p:spPr>
          <a:xfrm>
            <a:off x="6239327" y="4140299"/>
            <a:ext cx="2454599" cy="7595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 </a:t>
            </a:r>
          </a:p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Calculation</a:t>
            </a:r>
          </a:p>
        </p:txBody>
      </p:sp>
    </p:spTree>
    <p:extLst>
      <p:ext uri="{BB962C8B-B14F-4D97-AF65-F5344CB8AC3E}">
        <p14:creationId xmlns:p14="http://schemas.microsoft.com/office/powerpoint/2010/main" val="4044892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1F6EAE-9D66-44AA-B624-17B6D8D7A9A4}"/>
              </a:ext>
            </a:extLst>
          </p:cNvPr>
          <p:cNvSpPr/>
          <p:nvPr/>
        </p:nvSpPr>
        <p:spPr>
          <a:xfrm>
            <a:off x="1664492" y="472961"/>
            <a:ext cx="1770994" cy="28535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r>
              <a:rPr lang="en-US" sz="1600" b="1" dirty="0"/>
              <a:t>Image</a:t>
            </a:r>
          </a:p>
          <a:p>
            <a:pPr algn="ctr"/>
            <a:r>
              <a:rPr lang="en-US" sz="1600" b="1" dirty="0"/>
              <a:t>Preprocessing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Denoising,</a:t>
            </a:r>
          </a:p>
          <a:p>
            <a:pPr algn="ctr"/>
            <a:r>
              <a:rPr lang="en-US" sz="1600" dirty="0"/>
              <a:t>contrast enhancement,</a:t>
            </a:r>
          </a:p>
          <a:p>
            <a:pPr algn="ctr"/>
            <a:r>
              <a:rPr lang="en-US" sz="1600" dirty="0"/>
              <a:t>resizing,</a:t>
            </a:r>
          </a:p>
          <a:p>
            <a:pPr algn="ctr"/>
            <a:r>
              <a:rPr lang="en-US" sz="1600" dirty="0"/>
              <a:t>normalization,</a:t>
            </a:r>
          </a:p>
          <a:p>
            <a:pPr algn="ctr"/>
            <a:r>
              <a:rPr lang="en-US" sz="1600" dirty="0"/>
              <a:t> crop refinement</a:t>
            </a:r>
          </a:p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0C8ED0-E09E-4F85-A913-8ED8A7DBA325}"/>
              </a:ext>
            </a:extLst>
          </p:cNvPr>
          <p:cNvSpPr/>
          <p:nvPr/>
        </p:nvSpPr>
        <p:spPr>
          <a:xfrm>
            <a:off x="3484739" y="472961"/>
            <a:ext cx="1481959" cy="28535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YOLO Medicine ROI detection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sz="1600" dirty="0"/>
              <a:t>Single class medicine text </a:t>
            </a:r>
          </a:p>
          <a:p>
            <a:pPr algn="ctr"/>
            <a:r>
              <a:rPr lang="en-US" sz="1600" dirty="0"/>
              <a:t>Region</a:t>
            </a:r>
          </a:p>
          <a:p>
            <a:pPr algn="ctr"/>
            <a:r>
              <a:rPr lang="en-US" sz="1600" dirty="0"/>
              <a:t>detection</a:t>
            </a:r>
          </a:p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AC45BE-6D34-4448-85F5-28221EFC8020}"/>
              </a:ext>
            </a:extLst>
          </p:cNvPr>
          <p:cNvSpPr/>
          <p:nvPr/>
        </p:nvSpPr>
        <p:spPr>
          <a:xfrm>
            <a:off x="5000661" y="488722"/>
            <a:ext cx="1786759" cy="28535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/>
          </a:p>
          <a:p>
            <a:pPr algn="ctr"/>
            <a:r>
              <a:rPr lang="en-US" sz="1600" b="1" dirty="0"/>
              <a:t>Finetuned</a:t>
            </a:r>
          </a:p>
          <a:p>
            <a:pPr algn="ctr"/>
            <a:r>
              <a:rPr lang="en-US" sz="1600" b="1" dirty="0" err="1"/>
              <a:t>TrOcr</a:t>
            </a:r>
            <a:r>
              <a:rPr lang="en-US" sz="1600" b="1" dirty="0"/>
              <a:t> </a:t>
            </a:r>
            <a:r>
              <a:rPr lang="en-US" sz="1600" b="1" dirty="0" err="1"/>
              <a:t>Recognigation</a:t>
            </a:r>
            <a:endParaRPr lang="en-US" sz="1600" b="1" dirty="0"/>
          </a:p>
          <a:p>
            <a:pPr algn="ctr"/>
            <a:endParaRPr lang="en-US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 err="1"/>
              <a:t>LoRA</a:t>
            </a:r>
            <a:r>
              <a:rPr lang="en-US" sz="1600" dirty="0"/>
              <a:t> fine Tuned </a:t>
            </a:r>
            <a:r>
              <a:rPr lang="en-US" sz="1600" dirty="0" err="1"/>
              <a:t>TrOcr</a:t>
            </a:r>
            <a:r>
              <a:rPr lang="en-US" sz="1600" dirty="0"/>
              <a:t> model</a:t>
            </a:r>
          </a:p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7F80E2A-900F-4301-BF31-E933A2557E03}"/>
              </a:ext>
            </a:extLst>
          </p:cNvPr>
          <p:cNvSpPr/>
          <p:nvPr/>
        </p:nvSpPr>
        <p:spPr>
          <a:xfrm>
            <a:off x="5180631" y="1766777"/>
            <a:ext cx="656845" cy="7873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Crop </a:t>
            </a:r>
          </a:p>
          <a:p>
            <a:pPr algn="ctr"/>
            <a:r>
              <a:rPr lang="en-US" sz="1400" dirty="0"/>
              <a:t>to </a:t>
            </a:r>
          </a:p>
          <a:p>
            <a:pPr algn="ctr"/>
            <a:r>
              <a:rPr lang="en-US" sz="1400" dirty="0" err="1"/>
              <a:t>Ocr</a:t>
            </a:r>
            <a:endParaRPr lang="en-US" sz="1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D646E55-7695-47B7-8776-DA3F8A1D2BDF}"/>
              </a:ext>
            </a:extLst>
          </p:cNvPr>
          <p:cNvSpPr/>
          <p:nvPr/>
        </p:nvSpPr>
        <p:spPr>
          <a:xfrm>
            <a:off x="6084584" y="1784761"/>
            <a:ext cx="657408" cy="75141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Crop </a:t>
            </a:r>
          </a:p>
          <a:p>
            <a:pPr algn="ctr"/>
            <a:r>
              <a:rPr lang="en-US" sz="1400" dirty="0"/>
              <a:t>Raw</a:t>
            </a:r>
          </a:p>
          <a:p>
            <a:pPr algn="ctr"/>
            <a:r>
              <a:rPr lang="en-US" sz="1400" dirty="0"/>
              <a:t>Text</a:t>
            </a:r>
            <a:endParaRPr lang="en-US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50B4160-744C-43F7-A214-E7A18674FDDE}"/>
              </a:ext>
            </a:extLst>
          </p:cNvPr>
          <p:cNvSpPr/>
          <p:nvPr/>
        </p:nvSpPr>
        <p:spPr>
          <a:xfrm flipV="1">
            <a:off x="5880029" y="2070150"/>
            <a:ext cx="173419" cy="154041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0778F8-2DE1-46C7-81A0-3E5FED2BC89B}"/>
              </a:ext>
            </a:extLst>
          </p:cNvPr>
          <p:cNvSpPr/>
          <p:nvPr/>
        </p:nvSpPr>
        <p:spPr>
          <a:xfrm>
            <a:off x="6821383" y="488722"/>
            <a:ext cx="1770994" cy="2853559"/>
          </a:xfrm>
          <a:prstGeom prst="round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Text  Normalization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sz="1600" dirty="0"/>
              <a:t>Lowercasing,</a:t>
            </a:r>
          </a:p>
          <a:p>
            <a:pPr algn="ctr"/>
            <a:r>
              <a:rPr lang="en-US" sz="1600" dirty="0"/>
              <a:t>White space cleanup,</a:t>
            </a:r>
          </a:p>
          <a:p>
            <a:pPr algn="ctr"/>
            <a:r>
              <a:rPr lang="en-US" sz="1600" dirty="0"/>
              <a:t>Compact text generation</a:t>
            </a:r>
          </a:p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CFF8CA6-6E7C-41CA-B913-036D36C5F8C0}"/>
              </a:ext>
            </a:extLst>
          </p:cNvPr>
          <p:cNvSpPr/>
          <p:nvPr/>
        </p:nvSpPr>
        <p:spPr>
          <a:xfrm>
            <a:off x="8660352" y="507062"/>
            <a:ext cx="1717128" cy="28535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Dictionary </a:t>
            </a:r>
            <a:r>
              <a:rPr lang="en-US" sz="1600" b="1" dirty="0" err="1"/>
              <a:t>Maching</a:t>
            </a:r>
            <a:r>
              <a:rPr lang="en-US" sz="1600" b="1" dirty="0"/>
              <a:t> and</a:t>
            </a:r>
          </a:p>
          <a:p>
            <a:pPr algn="ctr"/>
            <a:r>
              <a:rPr lang="en-US" sz="1600" b="1" dirty="0"/>
              <a:t>Correction</a:t>
            </a:r>
          </a:p>
          <a:p>
            <a:pPr algn="ctr"/>
            <a:endParaRPr lang="en-US" sz="1600" b="1" dirty="0"/>
          </a:p>
          <a:p>
            <a:pPr algn="ctr"/>
            <a:endParaRPr lang="en-US" sz="1600" b="1" dirty="0"/>
          </a:p>
          <a:p>
            <a:pPr algn="ctr"/>
            <a:endParaRPr lang="en-US" sz="1600" b="1" dirty="0"/>
          </a:p>
          <a:p>
            <a:pPr algn="ctr"/>
            <a:endParaRPr lang="en-US" sz="1600" b="1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ACE7E17-6467-41D0-9069-32C2BF8F6E4C}"/>
              </a:ext>
            </a:extLst>
          </p:cNvPr>
          <p:cNvSpPr/>
          <p:nvPr/>
        </p:nvSpPr>
        <p:spPr>
          <a:xfrm>
            <a:off x="8819134" y="1899739"/>
            <a:ext cx="1451749" cy="124498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Exact </a:t>
            </a:r>
            <a:r>
              <a:rPr lang="en-US" sz="1100" dirty="0" err="1"/>
              <a:t>dictinary</a:t>
            </a:r>
            <a:r>
              <a:rPr lang="en-US" sz="1100" dirty="0"/>
              <a:t> compact match</a:t>
            </a:r>
          </a:p>
          <a:p>
            <a:pPr algn="ctr"/>
            <a:r>
              <a:rPr lang="en-US" sz="1100" dirty="0"/>
              <a:t> </a:t>
            </a:r>
            <a:r>
              <a:rPr lang="en-US" sz="1100" dirty="0" err="1"/>
              <a:t>Jaro</a:t>
            </a:r>
            <a:r>
              <a:rPr lang="en-US" sz="1100" dirty="0"/>
              <a:t> </a:t>
            </a:r>
            <a:r>
              <a:rPr lang="en-US" sz="1100" dirty="0" err="1"/>
              <a:t>winkler</a:t>
            </a:r>
            <a:r>
              <a:rPr lang="en-US" sz="1100" dirty="0"/>
              <a:t> shortlist </a:t>
            </a:r>
            <a:r>
              <a:rPr lang="en-US" sz="1100" dirty="0" err="1"/>
              <a:t>Lewenstein</a:t>
            </a:r>
            <a:r>
              <a:rPr lang="en-US" sz="1100" dirty="0"/>
              <a:t> </a:t>
            </a:r>
            <a:r>
              <a:rPr lang="en-US" sz="1100" dirty="0" err="1"/>
              <a:t>validation,Best</a:t>
            </a:r>
            <a:r>
              <a:rPr lang="en-US" sz="1100" dirty="0"/>
              <a:t> candidate selection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E08293C-B530-4666-BC98-3CB5FAFC0F67}"/>
              </a:ext>
            </a:extLst>
          </p:cNvPr>
          <p:cNvSpPr/>
          <p:nvPr/>
        </p:nvSpPr>
        <p:spPr>
          <a:xfrm>
            <a:off x="10415587" y="507062"/>
            <a:ext cx="1427741" cy="28535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/>
          </a:p>
          <a:p>
            <a:pPr algn="ctr"/>
            <a:r>
              <a:rPr lang="en-US" sz="1600" b="1" dirty="0"/>
              <a:t>Final Medicine Name output</a:t>
            </a:r>
          </a:p>
          <a:p>
            <a:pPr algn="ctr"/>
            <a:endParaRPr lang="en-US" dirty="0"/>
          </a:p>
          <a:p>
            <a:pPr algn="ctr"/>
            <a:r>
              <a:rPr lang="en-US" sz="1600" dirty="0"/>
              <a:t>Corrected dictionary </a:t>
            </a:r>
          </a:p>
          <a:p>
            <a:pPr algn="ctr"/>
            <a:r>
              <a:rPr lang="en-US" sz="1600" dirty="0"/>
              <a:t>Constrained medicine prediction</a:t>
            </a:r>
          </a:p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9B280EB-8B72-4B67-9B88-CDFF1F5D1EE8}"/>
              </a:ext>
            </a:extLst>
          </p:cNvPr>
          <p:cNvSpPr/>
          <p:nvPr/>
        </p:nvSpPr>
        <p:spPr>
          <a:xfrm>
            <a:off x="111126" y="3935683"/>
            <a:ext cx="2116333" cy="21082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sz="1600" b="1" dirty="0"/>
              <a:t>Labeled Finetune Test Dataset</a:t>
            </a:r>
          </a:p>
          <a:p>
            <a:pPr algn="ctr"/>
            <a:endParaRPr lang="en-US" dirty="0"/>
          </a:p>
          <a:p>
            <a:pPr algn="ctr"/>
            <a:r>
              <a:rPr lang="en-US" sz="1600" dirty="0"/>
              <a:t>Held out </a:t>
            </a:r>
            <a:r>
              <a:rPr lang="en-US" sz="1600" dirty="0" err="1"/>
              <a:t>ocr</a:t>
            </a:r>
            <a:r>
              <a:rPr lang="en-US" sz="1600" dirty="0"/>
              <a:t> test with ground truth medicine labels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12C7160-C5A3-4568-A9BE-598779736C15}"/>
              </a:ext>
            </a:extLst>
          </p:cNvPr>
          <p:cNvSpPr/>
          <p:nvPr/>
        </p:nvSpPr>
        <p:spPr>
          <a:xfrm>
            <a:off x="2725776" y="4005282"/>
            <a:ext cx="2116333" cy="21082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sz="1600" b="1" dirty="0"/>
              <a:t>Fine Tuned </a:t>
            </a:r>
            <a:r>
              <a:rPr lang="en-US" sz="1600" b="1" dirty="0" err="1"/>
              <a:t>Trocr</a:t>
            </a:r>
            <a:r>
              <a:rPr lang="en-US" sz="1600" b="1" dirty="0"/>
              <a:t> on Test Crops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sz="1600" dirty="0"/>
              <a:t>OCR prediction on labeled test set </a:t>
            </a:r>
          </a:p>
          <a:p>
            <a:pPr algn="ctr"/>
            <a:r>
              <a:rPr lang="en-US" dirty="0"/>
              <a:t>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F45DB0D-83FB-4652-9D9E-F414BE4CEDDF}"/>
              </a:ext>
            </a:extLst>
          </p:cNvPr>
          <p:cNvSpPr/>
          <p:nvPr/>
        </p:nvSpPr>
        <p:spPr>
          <a:xfrm>
            <a:off x="2481943" y="3817017"/>
            <a:ext cx="9361385" cy="2533921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7386834-AF5F-472A-9E66-86C50902FE2F}"/>
              </a:ext>
            </a:extLst>
          </p:cNvPr>
          <p:cNvSpPr/>
          <p:nvPr/>
        </p:nvSpPr>
        <p:spPr>
          <a:xfrm>
            <a:off x="4912257" y="4005283"/>
            <a:ext cx="2116333" cy="21082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sz="1600" b="1" dirty="0"/>
              <a:t>Ground Truth Comparison</a:t>
            </a:r>
          </a:p>
          <a:p>
            <a:pPr algn="ctr"/>
            <a:endParaRPr lang="en-US" sz="1600" b="1" dirty="0"/>
          </a:p>
          <a:p>
            <a:pPr algn="ctr"/>
            <a:endParaRPr lang="en-US" dirty="0"/>
          </a:p>
          <a:p>
            <a:pPr algn="ctr"/>
            <a:r>
              <a:rPr lang="en-US" sz="1600" dirty="0"/>
              <a:t>Prediction vs true medicine label</a:t>
            </a:r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FF4F059-CBD6-4869-B521-AB76A5F25E4D}"/>
              </a:ext>
            </a:extLst>
          </p:cNvPr>
          <p:cNvSpPr/>
          <p:nvPr/>
        </p:nvSpPr>
        <p:spPr>
          <a:xfrm>
            <a:off x="7076316" y="3969784"/>
            <a:ext cx="2116333" cy="21082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sz="1600" b="1" dirty="0"/>
              <a:t>Evaluation Metrices</a:t>
            </a:r>
          </a:p>
          <a:p>
            <a:pPr algn="ctr"/>
            <a:endParaRPr lang="en-US" sz="1600" b="1" dirty="0"/>
          </a:p>
          <a:p>
            <a:pPr algn="ctr"/>
            <a:endParaRPr lang="en-US" sz="1600" b="1" dirty="0"/>
          </a:p>
          <a:p>
            <a:pPr algn="ctr"/>
            <a:endParaRPr lang="en-US" sz="1600" b="1" dirty="0"/>
          </a:p>
          <a:p>
            <a:pPr algn="ctr"/>
            <a:r>
              <a:rPr lang="en-US" sz="1600" b="1" dirty="0"/>
              <a:t> </a:t>
            </a:r>
          </a:p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D455D7C-5101-485F-BAA6-E00435DECC85}"/>
              </a:ext>
            </a:extLst>
          </p:cNvPr>
          <p:cNvSpPr/>
          <p:nvPr/>
        </p:nvSpPr>
        <p:spPr>
          <a:xfrm>
            <a:off x="7213600" y="4702798"/>
            <a:ext cx="1857829" cy="124498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Exact match accuracy </a:t>
            </a:r>
          </a:p>
          <a:p>
            <a:pPr algn="ctr"/>
            <a:r>
              <a:rPr lang="en-US" sz="1400" dirty="0"/>
              <a:t>Compact match accuracy</a:t>
            </a:r>
          </a:p>
          <a:p>
            <a:pPr algn="ctr"/>
            <a:r>
              <a:rPr lang="en-US" sz="1400" dirty="0" err="1"/>
              <a:t>CER,WER,corrected</a:t>
            </a:r>
            <a:r>
              <a:rPr lang="en-US" sz="1400" dirty="0"/>
              <a:t> vs Rejected cases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EE2469F-EBBB-42C6-BDF9-0D7280364510}"/>
              </a:ext>
            </a:extLst>
          </p:cNvPr>
          <p:cNvSpPr/>
          <p:nvPr/>
        </p:nvSpPr>
        <p:spPr>
          <a:xfrm>
            <a:off x="9243400" y="4001123"/>
            <a:ext cx="2205392" cy="20427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sz="1600" b="1" dirty="0"/>
              <a:t>Pipeline verification</a:t>
            </a:r>
          </a:p>
          <a:p>
            <a:pPr algn="ctr"/>
            <a:endParaRPr lang="en-US" sz="1600" b="1" dirty="0"/>
          </a:p>
          <a:p>
            <a:pPr algn="ctr"/>
            <a:endParaRPr lang="en-US" dirty="0"/>
          </a:p>
          <a:p>
            <a:pPr algn="ctr"/>
            <a:r>
              <a:rPr lang="en-US" sz="1600" dirty="0"/>
              <a:t>Confirm OCR  and correction Performance using labeled test data </a:t>
            </a:r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D6E0D0B-91B8-4B29-B380-1F4BE9E1B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120" y="1145083"/>
            <a:ext cx="711737" cy="711737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B0213DA-4D95-4D7E-9FE6-0F8EAD511F9A}"/>
              </a:ext>
            </a:extLst>
          </p:cNvPr>
          <p:cNvSpPr/>
          <p:nvPr/>
        </p:nvSpPr>
        <p:spPr>
          <a:xfrm>
            <a:off x="168776" y="472961"/>
            <a:ext cx="1427741" cy="28535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/>
          </a:p>
          <a:p>
            <a:pPr algn="ctr"/>
            <a:r>
              <a:rPr lang="en-US" sz="1600" b="1" dirty="0"/>
              <a:t>Image Prescription images </a:t>
            </a:r>
          </a:p>
          <a:p>
            <a:pPr algn="ctr"/>
            <a:endParaRPr lang="en-US" sz="1600" b="1" dirty="0"/>
          </a:p>
          <a:p>
            <a:pPr algn="ctr"/>
            <a:endParaRPr lang="en-US" sz="1600" b="1" dirty="0"/>
          </a:p>
          <a:p>
            <a:pPr algn="ctr"/>
            <a:endParaRPr lang="en-US" dirty="0"/>
          </a:p>
          <a:p>
            <a:pPr algn="ctr"/>
            <a:r>
              <a:rPr lang="en-US" sz="1600" dirty="0"/>
              <a:t>Raw handwritten Prescription images </a:t>
            </a:r>
          </a:p>
          <a:p>
            <a:pPr algn="ctr"/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E8A9A4A-8253-4FDC-A3BA-738AAF61C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61" y="1483901"/>
            <a:ext cx="565752" cy="56575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A928957-3CEB-4678-B195-55AE57624F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267" y="1379477"/>
            <a:ext cx="565752" cy="56575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33E3CBF-744D-42C6-9A37-20510C3490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812" y="1357687"/>
            <a:ext cx="609331" cy="609331"/>
          </a:xfrm>
          <a:prstGeom prst="rect">
            <a:avLst/>
          </a:prstGeom>
        </p:spPr>
      </p:pic>
      <p:sp>
        <p:nvSpPr>
          <p:cNvPr id="40" name="Arrow: Right 39">
            <a:extLst>
              <a:ext uri="{FF2B5EF4-FFF2-40B4-BE49-F238E27FC236}">
                <a16:creationId xmlns:a16="http://schemas.microsoft.com/office/drawing/2014/main" id="{2BB9754B-F08C-424A-8D59-1D6D0DE42E1D}"/>
              </a:ext>
            </a:extLst>
          </p:cNvPr>
          <p:cNvSpPr/>
          <p:nvPr/>
        </p:nvSpPr>
        <p:spPr>
          <a:xfrm>
            <a:off x="4225718" y="1589697"/>
            <a:ext cx="233288" cy="19010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1833B68-8BE4-4EF5-BE39-CE30335DC4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7474">
            <a:off x="5774134" y="1355760"/>
            <a:ext cx="385206" cy="38520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8A50869-0098-4F7F-B5E8-A132690507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8510" y="1397573"/>
            <a:ext cx="492996" cy="49299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82BC722-A3F4-4420-A3E4-DFBD93C9D1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6080" y="4589776"/>
            <a:ext cx="469606" cy="469606"/>
          </a:xfrm>
          <a:prstGeom prst="rect">
            <a:avLst/>
          </a:prstGeom>
        </p:spPr>
      </p:pic>
      <p:sp>
        <p:nvSpPr>
          <p:cNvPr id="49" name="Arrow: Right 48">
            <a:extLst>
              <a:ext uri="{FF2B5EF4-FFF2-40B4-BE49-F238E27FC236}">
                <a16:creationId xmlns:a16="http://schemas.microsoft.com/office/drawing/2014/main" id="{CB7A6032-1E9B-4DE9-A0CF-91011A979376}"/>
              </a:ext>
            </a:extLst>
          </p:cNvPr>
          <p:cNvSpPr/>
          <p:nvPr/>
        </p:nvSpPr>
        <p:spPr>
          <a:xfrm>
            <a:off x="1480457" y="1766777"/>
            <a:ext cx="260614" cy="28287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E0C81004-8AF8-40A1-B05F-247E2AC7D2EE}"/>
              </a:ext>
            </a:extLst>
          </p:cNvPr>
          <p:cNvSpPr/>
          <p:nvPr/>
        </p:nvSpPr>
        <p:spPr>
          <a:xfrm>
            <a:off x="3372269" y="1787274"/>
            <a:ext cx="260614" cy="28287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6CE57A2D-2477-4B6C-BBD4-7030691971C7}"/>
              </a:ext>
            </a:extLst>
          </p:cNvPr>
          <p:cNvSpPr/>
          <p:nvPr/>
        </p:nvSpPr>
        <p:spPr>
          <a:xfrm>
            <a:off x="4906177" y="1749131"/>
            <a:ext cx="260614" cy="28287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A45097A3-E9D3-4F9C-AED3-9E3AFFD5C11B}"/>
              </a:ext>
            </a:extLst>
          </p:cNvPr>
          <p:cNvSpPr/>
          <p:nvPr/>
        </p:nvSpPr>
        <p:spPr>
          <a:xfrm>
            <a:off x="6773128" y="1766777"/>
            <a:ext cx="260614" cy="28287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FC29D299-9DB6-4932-BF1F-FAB3B20C07A8}"/>
              </a:ext>
            </a:extLst>
          </p:cNvPr>
          <p:cNvSpPr/>
          <p:nvPr/>
        </p:nvSpPr>
        <p:spPr>
          <a:xfrm>
            <a:off x="8539467" y="1758301"/>
            <a:ext cx="260614" cy="28287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4FB7207B-C334-479A-B982-924D5F0F1D10}"/>
              </a:ext>
            </a:extLst>
          </p:cNvPr>
          <p:cNvSpPr/>
          <p:nvPr/>
        </p:nvSpPr>
        <p:spPr>
          <a:xfrm>
            <a:off x="10297618" y="1769916"/>
            <a:ext cx="260614" cy="28287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EE3C7E48-5A3F-4A3E-9BEF-A0819AC4B3C7}"/>
              </a:ext>
            </a:extLst>
          </p:cNvPr>
          <p:cNvSpPr/>
          <p:nvPr/>
        </p:nvSpPr>
        <p:spPr>
          <a:xfrm>
            <a:off x="2195833" y="4881065"/>
            <a:ext cx="408723" cy="29900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9DAFE116-9D69-4813-9AB5-D8CA536A74E3}"/>
              </a:ext>
            </a:extLst>
          </p:cNvPr>
          <p:cNvSpPr/>
          <p:nvPr/>
        </p:nvSpPr>
        <p:spPr>
          <a:xfrm>
            <a:off x="4768781" y="4897193"/>
            <a:ext cx="260614" cy="28287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669F8E53-3CF1-4496-ABE9-455851B40E45}"/>
              </a:ext>
            </a:extLst>
          </p:cNvPr>
          <p:cNvSpPr/>
          <p:nvPr/>
        </p:nvSpPr>
        <p:spPr>
          <a:xfrm>
            <a:off x="6985369" y="4881065"/>
            <a:ext cx="260614" cy="28287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F0CD939E-627B-443D-A8B5-56606C2D4112}"/>
              </a:ext>
            </a:extLst>
          </p:cNvPr>
          <p:cNvSpPr/>
          <p:nvPr/>
        </p:nvSpPr>
        <p:spPr>
          <a:xfrm>
            <a:off x="9132490" y="4897193"/>
            <a:ext cx="260614" cy="28287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65CCC18F-48AB-4824-9D9A-9F7046BBFBE6}"/>
              </a:ext>
            </a:extLst>
          </p:cNvPr>
          <p:cNvSpPr/>
          <p:nvPr/>
        </p:nvSpPr>
        <p:spPr>
          <a:xfrm rot="10800000">
            <a:off x="3742140" y="3375765"/>
            <a:ext cx="2137887" cy="35796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Down 60">
            <a:extLst>
              <a:ext uri="{FF2B5EF4-FFF2-40B4-BE49-F238E27FC236}">
                <a16:creationId xmlns:a16="http://schemas.microsoft.com/office/drawing/2014/main" id="{2EC916F8-FD96-491B-AD9A-ECE5E881878E}"/>
              </a:ext>
            </a:extLst>
          </p:cNvPr>
          <p:cNvSpPr/>
          <p:nvPr/>
        </p:nvSpPr>
        <p:spPr>
          <a:xfrm>
            <a:off x="5844418" y="3358383"/>
            <a:ext cx="418059" cy="272014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Arrow: Down 61">
            <a:extLst>
              <a:ext uri="{FF2B5EF4-FFF2-40B4-BE49-F238E27FC236}">
                <a16:creationId xmlns:a16="http://schemas.microsoft.com/office/drawing/2014/main" id="{61F41BA5-63AB-4789-907D-472F67D6A78D}"/>
              </a:ext>
            </a:extLst>
          </p:cNvPr>
          <p:cNvSpPr/>
          <p:nvPr/>
        </p:nvSpPr>
        <p:spPr>
          <a:xfrm>
            <a:off x="3502572" y="3562129"/>
            <a:ext cx="358546" cy="456396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1B68889-682A-4F54-B2C2-760C6D81DDD0}"/>
              </a:ext>
            </a:extLst>
          </p:cNvPr>
          <p:cNvSpPr/>
          <p:nvPr/>
        </p:nvSpPr>
        <p:spPr>
          <a:xfrm>
            <a:off x="5503606" y="6399963"/>
            <a:ext cx="4015310" cy="3410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Ground Truth Verification Pipeline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1203ABA-AAD0-451D-A7A1-842F33C6F229}"/>
              </a:ext>
            </a:extLst>
          </p:cNvPr>
          <p:cNvSpPr/>
          <p:nvPr/>
        </p:nvSpPr>
        <p:spPr>
          <a:xfrm>
            <a:off x="3230673" y="77742"/>
            <a:ext cx="4015310" cy="3410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Main Inference Pipeline</a:t>
            </a:r>
          </a:p>
        </p:txBody>
      </p:sp>
    </p:spTree>
    <p:extLst>
      <p:ext uri="{BB962C8B-B14F-4D97-AF65-F5344CB8AC3E}">
        <p14:creationId xmlns:p14="http://schemas.microsoft.com/office/powerpoint/2010/main" val="3072773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1665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175</Words>
  <Application>Microsoft Office PowerPoint</Application>
  <PresentationFormat>Widescreen</PresentationFormat>
  <Paragraphs>106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SOURAV DEBNATH</dc:creator>
  <cp:lastModifiedBy>SOURAV DEBNATH</cp:lastModifiedBy>
  <cp:revision>4</cp:revision>
  <dcterms:created xsi:type="dcterms:W3CDTF">2025-12-19T05:29:11Z</dcterms:created>
  <dcterms:modified xsi:type="dcterms:W3CDTF">2026-03-11T19:15:41Z</dcterms:modified>
</cp:coreProperties>
</file>